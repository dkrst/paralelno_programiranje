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notesSlides/notesSlide18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1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41"/>
  </p:notesMasterIdLst>
  <p:sldIdLst>
    <p:sldId id="256" r:id="rId4"/>
    <p:sldId id="257" r:id="rId5"/>
    <p:sldId id="258" r:id="rId6"/>
    <p:sldId id="260" r:id="rId7"/>
    <p:sldId id="261" r:id="rId8"/>
    <p:sldId id="259" r:id="rId9"/>
    <p:sldId id="263" r:id="rId10"/>
    <p:sldId id="262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42"/>
      <p:bold r:id="rId43"/>
      <p:italic r:id="rId44"/>
      <p:boldItalic r:id="rId45"/>
    </p:embeddedFont>
    <p:embeddedFont>
      <p:font typeface="Consolas" panose="020B0609020204030204" pitchFamily="49" charset="0"/>
      <p:regular r:id="rId46"/>
      <p:bold r:id="rId47"/>
      <p:italic r:id="rId48"/>
      <p:boldItalic r:id="rId49"/>
    </p:embeddedFont>
    <p:embeddedFont>
      <p:font typeface="Quicksand" panose="020B060402020202020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0BA"/>
    <a:srgbClr val="569A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rednji stil 1 - Isticanj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Srednji stil 1 - Isticanj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7"/>
    <p:restoredTop sz="95847" autoAdjust="0"/>
  </p:normalViewPr>
  <p:slideViewPr>
    <p:cSldViewPr snapToGrid="0">
      <p:cViewPr varScale="1">
        <p:scale>
          <a:sx n="159" d="100"/>
          <a:sy n="159" d="100"/>
        </p:scale>
        <p:origin x="168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4.fntdata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3.fntdata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5.xml"/><Relationship Id="rId51" Type="http://schemas.openxmlformats.org/officeDocument/2006/relationships/font" Target="fonts/font10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5.fntdata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8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8:13:04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11222 125 24575,'-439'-11'0,"-768"-8"-861,914 20 765,-5189 0 1053,4906-8-957,-23-1 0,275 7 0,-312 3 0,571 1 0,1 3 0,-89 18 0,-202 33 0,53-10 0,-23 4 0,282-41 0,1 2 0,1 2 0,0 2 0,1 1 0,-68 42 0,102-56 0,0 0 0,0 1 0,0 0 0,1 0 0,0 0 0,0 1 0,0 0 0,1 0 0,-1 0 0,1 0 0,0 1 0,1 0 0,-1-1 0,1 1 0,0 1 0,1-1 0,-1 0 0,1 1 0,1-1 0,-1 1 0,1 0 0,0-1 0,0 1 0,1 10 0,0 4 0,0-8 0,0 1 0,5 24 0,-5-34 0,2 1 0,-1-1 0,0 0 0,1 0 0,0 0 0,0 0 0,0 0 0,0 0 0,1-1 0,-1 1 0,1-1 0,0 0 0,3 3 0,9 6 0,0-1 0,1-1 0,1 0 0,-1-1 0,1-1 0,1-1 0,-1 0 0,1-1 0,0-1 0,31 4 0,11-1 0,119-1 0,499 5 0,-183-1 0,-363-6 0,196 13 0,-235-8 0,167 21 0,-77-2 0,353 8 0,-4-24 0,-162 8 0,-35 0 0,757-19 0,-544-4 0,1454 2 0,-1723-7 0,-10 0 0,187-8 0,5 1 0,389-15 0,-520-18 0,-219 28 0,153-29 0,42-8 0,-304 56 0,179-32 0,-143 24 0,-1-2 0,62-26 0,-96 34 0,0 1 0,-1-1 0,1 0 0,0 0 0,0 0 0,-1 0 0,1 0 0,-1-1 0,0 1 0,0-1 0,0 1 0,0-1 0,0 0 0,0 0 0,-1 0 0,1 0 0,-1 0 0,0 0 0,0-1 0,0 1 0,0-6 0,1-5 0,-2 0 0,1 0 0,-4-28 0,0 11 0,2-34 0,1 24 0,-7-42 0,5 74 0,0 0 0,-1 1 0,0-1 0,0 0 0,-1 1 0,0 0 0,-1 0 0,0 0 0,0 1 0,-1-1 0,0 1 0,0 1 0,0-1 0,-1 1 0,-14-10 0,-4-2 0,-2 2 0,1 1 0,-41-17 0,25 15 0,0 2 0,-2 3 0,0 0 0,-56-5 0,-185-6 0,-328 35-52,3 42-977,361-29-1,-22 0-5050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8:15:19.6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4509 155 24575,'-42'-2'0,"-80"-15"0,49 5 0,-397-40-294,-479 7-1,272 32 295,-337 0 0,875 17 148,0 7-1,0 6 0,-256 65 0,355-71-147,1 2 0,1 1 0,0 2 0,-67 39 0,86-44 0,-17 13 0,34-22 0,0 0 0,0 0 0,1 0 0,-1 0 0,0 0 0,1 0 0,0 1 0,-1-1 0,1 0 0,0 1 0,0-1 0,0 1 0,1-1 0,-1 4 0,-5 28 0,1-1 0,3 1 0,1 49 0,2-78 0,0 0 0,1 1 0,-1-1 0,1 0 0,0 0 0,1 0 0,-1 0 0,1-1 0,0 1 0,0-1 0,0 0 0,1 1 0,0-1 0,0-1 0,0 1 0,0-1 0,5 4 0,11 7 0,0-2 0,32 16 0,-51-28 0,41 19 0,1-3 0,0-1 0,1-2 0,73 12 0,187 8 0,-157-21 0,897 34 0,-153-31 0,-424-3 0,-95 0 0,-313-11 0,825-1 0,-578-22 0,-220 11 0,127-35 0,-200 43 0,-1-1 0,0 0 0,1-1 0,16-9 0,-26 12 0,-1 0 0,1 0 0,0 0 0,-1 0 0,1 0 0,-1-1 0,1 1 0,-1-1 0,0 0 0,0 0 0,-1 0 0,1 0 0,0 0 0,-1 0 0,0 0 0,0 0 0,0 0 0,0-1 0,0 1 0,-1-1 0,1-5 0,1-27 0,0 9 0,-3-40 0,0 58 0,0 1 0,0 0 0,-1 0 0,0 0 0,-1 0 0,0 0 0,0 0 0,0 1 0,-6-9 0,-1 2 0,0 1 0,0 1 0,-2 0 0,1 1 0,-1 0 0,-1 0 0,0 2 0,-1-1 0,0 2 0,0 0 0,0 0 0,-1 2 0,-24-8 0,-14-2 0,-2 3 0,-92-10 0,-419-26-428,-7 26-62,514 21 483,-196-5-1204,19 2-4844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8:15:24.4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0 118 24575,'200'0'-17,"1747"-13"-664,-944-22 681,-920 32 0,211-12 0,144-4 0,107-6 698,-512 21-2063,-11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8:17:05.6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4637 129 24575,'-81'-3'0,"0"-3"0,-89-19 0,-660-58-301,-7 72-25,788 11 325,-1086 3 629,914 3-628,2 10 0,0 10 0,-303 76 0,374-59 0,90-24 0,55-18 0,-1 1 0,0-1 0,1 1 0,-1 0 0,1 0 0,0 0 0,-1 0 0,1 1 0,0-1 0,1 1 0,-1 0 0,0 0 0,1 0 0,-1 0 0,1 1 0,0-1 0,0 0 0,1 1 0,-1 0 0,1-1 0,-1 1 0,1 0 0,-1 7 0,0 4 0,0 0 0,2 1 0,0-1 0,3 28 0,-1-35 0,1 0 0,0 0 0,0 0 0,1-1 0,0 0 0,0 1 0,0-2 0,1 1 0,0 0 0,1-1 0,10 10 0,-5-7 0,0 0 0,0 0 0,1-1 0,0-1 0,1 0 0,14 6 0,84 26 0,-83-30 0,42 9 0,1-3 0,145 11 0,-95-13 0,167 14 0,87 11 0,-234-20 0,182-1 0,340-4 0,-177-6 0,51 0 0,-269-6 0,370-3 0,-509-5 0,-1-6 0,163-37 0,-273 47 0,-1-2 0,0 1 0,-1-2 0,1 0 0,16-10 0,-28 14 0,-1-1 0,0 0 0,0 1 0,0-1 0,0-1 0,0 1 0,-1 0 0,1-1 0,-1 0 0,0 0 0,0 0 0,-1 0 0,1-1 0,-1 1 0,0 0 0,0-1 0,0 0 0,-1 0 0,1 1 0,-1-1 0,0 0 0,0-9 0,-2 3 0,1-1 0,-2 1 0,0-1 0,0 1 0,-1 0 0,-1 0 0,-6-16 0,1 7 0,-2 0 0,-23-36 0,23 42 0,-1 1 0,0 0 0,-1 0 0,-1 1 0,0 1 0,0 0 0,-1 1 0,-1 1 0,-29-14 0,-12-1 0,-87-23 0,127 42 0,-89-24 0,-140-18 0,-111 9 0,-187 26-910,509 12 455,-60 1-6371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8:18:13.6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1285 28 24575,'-23'0'0,"-288"-11"0,-200-6 0,435 18 0,65-1 0,0 1 0,0 1 0,0 0 0,0 0 0,1 1 0,-1 0 0,-12 7 0,-69 38 0,70-35 0,2-3 0,15-8 0,0 1 0,1-1 0,-1 1 0,1 0 0,-1 0 0,1 1 0,0-1 0,-5 6 0,-1 3 0,1 1 0,0-1 0,1 2 0,0-1 0,1 1 0,1 0 0,0 0 0,1 1 0,0 0 0,1 0 0,1 0 0,1 1 0,0-1 0,1 0 0,0 25 0,3-34 0,-1-1 0,1 1 0,0 0 0,0-1 0,0 1 0,1-1 0,0 0 0,0 0 0,0 0 0,1 0 0,-1 0 0,1-1 0,0 1 0,8 5 0,0 0 0,0-1 0,0-1 0,1 0 0,22 11 0,22 6 0,1-2 0,99 24 0,-39-25 0,2-5 0,210 3 0,41-18 0,151 5 0,197 0 0,-427-9 0,3191 2 0,-3173 14 0,-48 0 0,279-12 0,176 5 0,205 0 0,-554-9 0,1006 2 0,-1230-7 0,-119 4 0,0-1 0,-1-1 0,41-14 0,-52 13 0,0 0 0,-1-1 0,0 0 0,0-1 0,-1 0 0,12-11 0,56-61 0,-75 76 0,0-1 0,0 0 0,-1 0 0,0 0 0,0 0 0,-1-1 0,1 1 0,-1-1 0,0 1 0,-1-1 0,2-11 0,-1 3 0,-1-1 0,-1 1 0,-2-26 0,1 34 0,-1 0 0,1 0 0,-1 1 0,-1-1 0,1 0 0,-1 1 0,1-1 0,-1 1 0,-1 0 0,1 0 0,-1 0 0,0 0 0,0 1 0,-1 0 0,-7-7 0,-4-1 0,1 1 0,-1 1 0,-30-15 0,10 10 0,0 1 0,-71-18 0,-82-2 0,-13 14 0,-207 7 0,322 12 0,-1543-2 0,861 5 0,582-2 0,-878-22 0,352-12 0,476 23 0,-295-7 0,-835 18 0,610 1 0,395 7 0,8-1 0,136-7 0,-493 8 0,181-2-102,383-6-1161,126 0-5563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F93A631-D410-2BB7-1196-BDED5EE4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D12CE8C9-9DDA-B935-282F-94DF32898D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D90C7892-EAEB-22B1-99EF-DD40E6367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1964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F7020BC-0242-02D0-D177-E9D4451F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B205820E-4E9F-CE7B-F99A-0323E5D4D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90E4B60A-C69D-421F-5376-AB655E1C9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944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2D4C8F5-8183-3233-DE13-C08F56DA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3BADFAD3-61CB-F093-4FFB-F728B9F12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9994A003-2CEA-3A3F-43F1-CB6BD4078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0603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34A684F9-901C-6759-A53F-31E7FAB5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1040A633-840F-B61A-4DF9-6ADED7980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28DCBCEA-E6A3-2117-7F0A-52E813A5B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3551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408785B-F96D-2DBA-AD00-16155E4B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6237D23A-38AA-A3AF-E393-95294033D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EAF0344B-0938-67AB-761B-F13A90295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9758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C682B95-693C-C780-AE53-E50085A6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A5D9C166-CD4C-520E-C376-9432EC2F2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5563B688-FE51-6E23-DFAD-923CF0C26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7795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601EA5C-169F-12A3-FE42-D2245CD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EFC7C4E4-4754-F7D6-F5BF-CF477134B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2F18DBB9-7CC5-6ED4-095E-6B369393F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5314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3585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E8457E8-B722-1645-6575-16B9EF3F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C6A4CDB0-2C40-AEBB-3CF2-029A60782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16BE6E1F-D674-F78B-E01A-11E55E36F8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204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82A8C43E-F2E6-D21B-EBB2-CE8EE765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1C7FECEE-721A-EFE9-8E7A-94FD81A6B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615DEF40-DAD6-15EB-35F7-22629BF70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4739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ACF5D77-3F08-ED1E-65F3-DFE4D058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781F4399-7CE6-CDB9-8C51-933828A30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DF30AA8-5A59-6A83-309B-A05902166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7178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2825A02-C9A9-E673-FC2B-D96875EA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5BAEBA9B-679B-C9F2-AD09-D2DF95468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C4D1CDAC-6329-EB81-800F-B01D26588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4221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B84F370F-6C80-98B5-1628-C9763B7E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7413BE53-9A68-572A-5076-F94616987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6F4D24D-4B2F-DBD9-6CFE-25EC52EC5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6084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4D9397B-E1B2-C8A6-5C67-51C1ABD6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CF28FC7B-2BE3-77D9-7BC1-F29418830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9822AE83-F8D7-6155-CDAA-3F35A2291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4987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3A3F2D5-0816-71D3-E105-BAFB10D8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0312A8ED-299D-1699-0549-28EF7C0F6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D1350559-21CB-D7AC-E546-E1359253C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1266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139BD7C-FC60-AC6A-84DF-50EA6A68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BD896ADE-35E6-A98D-82CB-EC92AD2DF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DC9F324D-3C9B-CC35-1FF9-93B507D45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3458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4C39CE41-C08C-EF05-0DC0-81A12467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7B67C829-C9C3-8955-E936-5FF790346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3E1FF02B-680A-4D81-1DC7-595839D6E2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5967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131E934-21DE-DBF8-BD7F-6BD9108F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D340C03B-7D52-2B5A-E1D1-F9AD0A84F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E2E3AB9-0B6C-3E35-3C19-D8BDFB38F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0054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5156304-CFBB-794B-B45D-9B50E09B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51456460-2995-6942-D862-D0870BC13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2A1593E-1535-E846-FE05-DE630D851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094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752B789-E99C-26D3-9F04-D77F9462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C93309CB-FDCD-CA11-7469-37ED6D82F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75CB3B32-0BAE-A841-7C95-2779420A23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7713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D57C1EC-578C-5332-62BA-534EA69A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9F05B48C-EA15-406A-48D5-F3C423971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07A35DA8-226A-8704-0211-DC375847D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03303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1F8F0B4-04F5-D4A8-4C30-3ABE5144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F55ECFE3-90BE-E34C-5BE9-E06E2E3A9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1E51F37B-55A9-2BF5-249C-B11F06F3C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600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831B94F-A862-2261-8927-220C6A87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08D1895F-037D-3652-2C05-41DCF2E4F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58883216-2944-31D4-A346-E0AE806F3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38032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947898C-36AF-93C4-4AEF-387622B1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72A1895E-6E71-90C3-7178-68A14B085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51DE81B8-AEA1-6354-CC4D-7F129F2BD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8810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0B88AF4-49E9-E706-85BF-E7358BE8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38F0C249-5C35-895A-9774-AD7E39C09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CA3E76EE-746A-53E1-2368-02A829D65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7206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92049CC-5033-2402-B1FB-49178FD83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F277D665-574C-4067-796A-C6F27F6CF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6972AE91-CA17-7230-D23F-196D3357B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65642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82A5D03-35E2-F81C-BE55-D45E5108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7D7D39F5-EE76-D8D6-7B1F-CA224CF92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81466C22-741D-9F65-3DA0-4F13F5F63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25847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5029AFD-EAC6-738E-AF5D-07A91836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F7613027-1E8C-9F50-004F-6818C42B0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1A2D1F98-6549-D2D3-93B7-A44A7C421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1065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F507663-DC77-0C54-EC4E-EB66231F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74D8AFA5-DA0D-8037-9848-04B111754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0B7A77A2-40B9-42EC-157D-AC53BBA0F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765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EE6CCA9-AF70-3C81-4CC6-F16C9809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DF35929A-378B-3ACC-D082-DD5381288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BEF5E9EE-5D9D-8CA7-A77B-7D2D98641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9295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2913399-6B0D-2054-1B57-8125F0C3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B0E09207-FE04-D98D-E39C-BB04F6E50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5560D4AE-C79B-9AD4-C260-563E015A1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62025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D547410-606D-3827-3C7E-CB60F8DC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208ABCEF-3A5D-2428-DC67-A39C191D7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5F9B07A2-39B7-65E1-BC07-00CE64548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292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06BCD2E4-31B6-7754-9B81-86BF7EFE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ECA8C832-D6B4-B638-6DC7-9560FB642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7FBB17B5-D5B8-F20E-63A0-79CE36F8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98603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8604FF74-C8D9-7961-3A77-EB83F92B3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291EE9F9-CCA8-1840-F0B9-F66DCA874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651050B5-7416-752C-28A9-B6BA472A7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1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.png"/><Relationship Id="rId5" Type="http://schemas.openxmlformats.org/officeDocument/2006/relationships/customXml" Target="../ink/ink5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60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POSIX </a:t>
            </a: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Threads</a:t>
            </a: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</a:t>
            </a:r>
            <a:r>
              <a:rPr lang="hr-HR" sz="30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threads</a:t>
            </a: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3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je to nit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)?</a:t>
            </a:r>
          </a:p>
        </p:txBody>
      </p:sp>
      <p:sp>
        <p:nvSpPr>
          <p:cNvPr id="183" name="Google Shape;183;p42"/>
          <p:cNvSpPr/>
          <p:nvPr/>
        </p:nvSpPr>
        <p:spPr>
          <a:xfrm>
            <a:off x="838210" y="1354094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Definicija: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Neovisni tok instrukcija koji može biti raspoređen od strane OS-a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Za programera: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Procedura koja se izvršava neovisno od glavnog programa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Višenitni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program = više procedura koje se izvršavaju istovremeno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Kako to funkcionira?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postoje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UNUTAR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resurse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 se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mogu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raspoređivati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neovisno</a:t>
            </a:r>
            <a:endParaRPr lang="hr-HR" sz="2000" dirty="0">
              <a:solidFill>
                <a:schemeClr val="bg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F8AC0F73-F8F1-23F8-FF5A-BD8F4140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D7036EB6-14B6-D6DC-38DE-FD827EE688D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b="1" dirty="0">
                <a:solidFill>
                  <a:srgbClr val="39C0BA"/>
                </a:solidFill>
              </a:rPr>
              <a:t>UNIX </a:t>
            </a:r>
            <a:r>
              <a:rPr lang="en-US" sz="2400" b="1" dirty="0" err="1">
                <a:solidFill>
                  <a:srgbClr val="39C0BA"/>
                </a:solidFill>
              </a:rPr>
              <a:t>Proces</a:t>
            </a:r>
            <a:r>
              <a:rPr lang="en-US" sz="2400" b="1" dirty="0">
                <a:solidFill>
                  <a:srgbClr val="39C0BA"/>
                </a:solidFill>
              </a:rPr>
              <a:t> vs Niti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35CA14D9-9ED3-8265-F461-80340A03BCAD}"/>
              </a:ext>
            </a:extLst>
          </p:cNvPr>
          <p:cNvSpPr/>
          <p:nvPr/>
        </p:nvSpPr>
        <p:spPr>
          <a:xfrm>
            <a:off x="707812" y="1261956"/>
            <a:ext cx="4085771" cy="5104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en-US" sz="1800" b="1" dirty="0">
                <a:solidFill>
                  <a:schemeClr val="bg1"/>
                </a:solidFill>
              </a:rPr>
              <a:t>UNIX </a:t>
            </a:r>
            <a:r>
              <a:rPr lang="en-US" sz="1800" b="1" dirty="0" err="1">
                <a:solidFill>
                  <a:schemeClr val="bg1"/>
                </a:solidFill>
              </a:rPr>
              <a:t>Proces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sadrži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Process ID, User ID, Group ID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Environment </a:t>
            </a:r>
            <a:r>
              <a:rPr lang="en-US" sz="1800" dirty="0" err="1">
                <a:solidFill>
                  <a:schemeClr val="bg1"/>
                </a:solidFill>
              </a:rPr>
              <a:t>varijable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Program </a:t>
            </a:r>
            <a:r>
              <a:rPr lang="en-US" sz="1800" dirty="0" err="1">
                <a:solidFill>
                  <a:schemeClr val="bg1"/>
                </a:solidFill>
              </a:rPr>
              <a:t>instrukcije</a:t>
            </a:r>
            <a:r>
              <a:rPr lang="en-US" sz="1800" dirty="0">
                <a:solidFill>
                  <a:schemeClr val="bg1"/>
                </a:solidFill>
              </a:rPr>
              <a:t> (</a:t>
            </a:r>
            <a:r>
              <a:rPr lang="en-US" sz="1800" dirty="0" err="1">
                <a:solidFill>
                  <a:schemeClr val="bg1"/>
                </a:solidFill>
              </a:rPr>
              <a:t>kod</a:t>
            </a:r>
            <a:r>
              <a:rPr lang="en-US" sz="1800" dirty="0">
                <a:solidFill>
                  <a:schemeClr val="bg1"/>
                </a:solidFill>
              </a:rPr>
              <a:t>)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CPU </a:t>
            </a:r>
            <a:r>
              <a:rPr lang="en-US" sz="1800" dirty="0" err="1">
                <a:solidFill>
                  <a:schemeClr val="bg1"/>
                </a:solidFill>
              </a:rPr>
              <a:t>stanje</a:t>
            </a:r>
            <a:r>
              <a:rPr lang="en-US" sz="1800" dirty="0">
                <a:solidFill>
                  <a:schemeClr val="bg1"/>
                </a:solidFill>
              </a:rPr>
              <a:t> (</a:t>
            </a:r>
            <a:r>
              <a:rPr lang="en-US" sz="1800" dirty="0" err="1">
                <a:solidFill>
                  <a:schemeClr val="bg1"/>
                </a:solidFill>
              </a:rPr>
              <a:t>registri</a:t>
            </a:r>
            <a:r>
              <a:rPr lang="en-US" sz="1800" dirty="0">
                <a:solidFill>
                  <a:schemeClr val="bg1"/>
                </a:solidFill>
              </a:rPr>
              <a:t>)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 err="1">
                <a:solidFill>
                  <a:schemeClr val="bg1"/>
                </a:solidFill>
              </a:rPr>
              <a:t>Memorijska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alokacija</a:t>
            </a:r>
            <a:r>
              <a:rPr lang="en-US" sz="1800" dirty="0">
                <a:solidFill>
                  <a:schemeClr val="bg1"/>
                </a:solidFill>
              </a:rPr>
              <a:t> (stack, heap)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File </a:t>
            </a:r>
            <a:r>
              <a:rPr lang="en-US" sz="1800" dirty="0" err="1">
                <a:solidFill>
                  <a:schemeClr val="bg1"/>
                </a:solidFill>
              </a:rPr>
              <a:t>descriptori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 err="1">
                <a:solidFill>
                  <a:schemeClr val="bg1"/>
                </a:solidFill>
              </a:rPr>
              <a:t>Signali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Shared libraries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IPC </a:t>
            </a:r>
            <a:r>
              <a:rPr lang="en-US" sz="1800" dirty="0" err="1">
                <a:solidFill>
                  <a:schemeClr val="bg1"/>
                </a:solidFill>
              </a:rPr>
              <a:t>resursi</a:t>
            </a:r>
            <a:endParaRPr lang="hr-HR" sz="1800" dirty="0">
              <a:solidFill>
                <a:schemeClr val="bg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pic>
        <p:nvPicPr>
          <p:cNvPr id="1026" name="Picture 2" descr="Process caption=&quot;TEST&quot;">
            <a:extLst>
              <a:ext uri="{FF2B5EF4-FFF2-40B4-BE49-F238E27FC236}">
                <a16:creationId xmlns:a16="http://schemas.microsoft.com/office/drawing/2014/main" id="{6C6BD699-5665-E699-A4D2-09817B013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232" y="1338174"/>
            <a:ext cx="4755768" cy="429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2E179A-1AEF-F95F-CB3E-8F55103A8640}"/>
              </a:ext>
            </a:extLst>
          </p:cNvPr>
          <p:cNvSpPr txBox="1"/>
          <p:nvPr/>
        </p:nvSpPr>
        <p:spPr>
          <a:xfrm>
            <a:off x="5104264" y="934380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accent6"/>
                </a:solidFill>
              </a:rPr>
              <a:t>Niti dijele većinu ovih resursa!</a:t>
            </a:r>
          </a:p>
        </p:txBody>
      </p:sp>
    </p:spTree>
    <p:extLst>
      <p:ext uri="{BB962C8B-B14F-4D97-AF65-F5344CB8AC3E}">
        <p14:creationId xmlns:p14="http://schemas.microsoft.com/office/powerpoint/2010/main" val="249946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7F1EA91E-8E70-2E29-D4AB-8970BACF0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5D6F19D4-23E7-1736-C910-9690F9CCF58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b="1" dirty="0">
                <a:solidFill>
                  <a:srgbClr val="39C0BA"/>
                </a:solidFill>
              </a:rPr>
              <a:t>Niti </a:t>
            </a:r>
            <a:r>
              <a:rPr lang="en-US" sz="2400" b="1" dirty="0" err="1">
                <a:solidFill>
                  <a:srgbClr val="39C0BA"/>
                </a:solidFill>
              </a:rPr>
              <a:t>unutar</a:t>
            </a:r>
            <a:r>
              <a:rPr lang="en-US" sz="2400" b="1" dirty="0">
                <a:solidFill>
                  <a:srgbClr val="39C0BA"/>
                </a:solidFill>
              </a:rPr>
              <a:t> </a:t>
            </a:r>
            <a:r>
              <a:rPr lang="en-US" sz="2400" b="1" dirty="0" err="1">
                <a:solidFill>
                  <a:srgbClr val="39C0BA"/>
                </a:solidFill>
              </a:rPr>
              <a:t>procesa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AB1AFF74-1182-811B-D152-DA126D33096B}"/>
              </a:ext>
            </a:extLst>
          </p:cNvPr>
          <p:cNvSpPr/>
          <p:nvPr/>
        </p:nvSpPr>
        <p:spPr>
          <a:xfrm>
            <a:off x="-1" y="1301886"/>
            <a:ext cx="7465325" cy="5556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en-US" sz="2000" dirty="0" err="1">
                <a:solidFill>
                  <a:schemeClr val="bg1"/>
                </a:solidFill>
              </a:rPr>
              <a:t>Što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svaka</a:t>
            </a:r>
            <a:r>
              <a:rPr lang="en-US" sz="2000" dirty="0">
                <a:solidFill>
                  <a:schemeClr val="bg1"/>
                </a:solidFill>
              </a:rPr>
              <a:t> nit IMA (</a:t>
            </a:r>
            <a:r>
              <a:rPr lang="en-US" sz="2000" dirty="0" err="1">
                <a:solidFill>
                  <a:schemeClr val="bg1"/>
                </a:solidFill>
              </a:rPr>
              <a:t>privatno</a:t>
            </a:r>
            <a:r>
              <a:rPr lang="en-US" sz="2000" dirty="0">
                <a:solidFill>
                  <a:schemeClr val="bg1"/>
                </a:solidFill>
              </a:rPr>
              <a:t>):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Stack pointer - </a:t>
            </a:r>
            <a:r>
              <a:rPr lang="en-US" sz="2000" dirty="0" err="1">
                <a:solidFill>
                  <a:schemeClr val="bg1"/>
                </a:solidFill>
              </a:rPr>
              <a:t>vlastiti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stog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Registri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en-US" sz="2000" dirty="0" err="1">
                <a:solidFill>
                  <a:schemeClr val="bg1"/>
                </a:solidFill>
              </a:rPr>
              <a:t>vlastito</a:t>
            </a:r>
            <a:r>
              <a:rPr lang="en-US" sz="2000" dirty="0">
                <a:solidFill>
                  <a:schemeClr val="bg1"/>
                </a:solidFill>
              </a:rPr>
              <a:t> CPU </a:t>
            </a:r>
            <a:r>
              <a:rPr lang="en-US" sz="2000" dirty="0" err="1">
                <a:solidFill>
                  <a:schemeClr val="bg1"/>
                </a:solidFill>
              </a:rPr>
              <a:t>stanje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Scheduling properties - </a:t>
            </a:r>
            <a:r>
              <a:rPr lang="en-US" sz="2000" dirty="0" err="1">
                <a:solidFill>
                  <a:schemeClr val="bg1"/>
                </a:solidFill>
              </a:rPr>
              <a:t>prioritet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Pending/blocked </a:t>
            </a:r>
            <a:r>
              <a:rPr lang="en-US" sz="2000" dirty="0" err="1">
                <a:solidFill>
                  <a:schemeClr val="bg1"/>
                </a:solidFill>
              </a:rPr>
              <a:t>signali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Thread-specific data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en-US" sz="2000" b="1" dirty="0" err="1">
                <a:solidFill>
                  <a:schemeClr val="bg1"/>
                </a:solidFill>
              </a:rPr>
              <a:t>Što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niti</a:t>
            </a:r>
            <a:r>
              <a:rPr lang="en-US" sz="2000" b="1" dirty="0">
                <a:solidFill>
                  <a:schemeClr val="bg1"/>
                </a:solidFill>
              </a:rPr>
              <a:t> DIJELE (shared):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Text segment (</a:t>
            </a:r>
            <a:r>
              <a:rPr lang="en-US" sz="2000" dirty="0" err="1">
                <a:solidFill>
                  <a:schemeClr val="bg1"/>
                </a:solidFill>
              </a:rPr>
              <a:t>kod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programa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Data segment (</a:t>
            </a:r>
            <a:r>
              <a:rPr lang="en-US" sz="2000" dirty="0" err="1">
                <a:solidFill>
                  <a:schemeClr val="bg1"/>
                </a:solidFill>
              </a:rPr>
              <a:t>globalne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varijable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Heap (</a:t>
            </a:r>
            <a:r>
              <a:rPr lang="en-US" sz="2000" dirty="0" err="1">
                <a:solidFill>
                  <a:schemeClr val="bg1"/>
                </a:solidFill>
              </a:rPr>
              <a:t>dinamička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memorija</a:t>
            </a:r>
            <a:r>
              <a:rPr lang="en-US" sz="2000" dirty="0">
                <a:solidFill>
                  <a:schemeClr val="bg1"/>
                </a:solidFill>
              </a:rPr>
              <a:t>) - Files, Locks, Sockets</a:t>
            </a:r>
            <a:endParaRPr lang="hr-HR" sz="2000" dirty="0">
              <a:solidFill>
                <a:schemeClr val="bg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pic>
        <p:nvPicPr>
          <p:cNvPr id="3074" name="Picture 2" descr="Threads caption=&quot;TEST2&quot;">
            <a:extLst>
              <a:ext uri="{FF2B5EF4-FFF2-40B4-BE49-F238E27FC236}">
                <a16:creationId xmlns:a16="http://schemas.microsoft.com/office/drawing/2014/main" id="{C49278D7-0A9E-2491-579A-A83353AC8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829" y="805219"/>
            <a:ext cx="4993171" cy="441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64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F4B9E8E0-9AE2-7509-3561-8DAF86143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473D9A72-8878-26BC-37D2-B874A57B9B7E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Zašto su niti '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lightweight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'?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1CC5A78D-DE95-7672-28BE-111D7A315A5A}"/>
              </a:ext>
            </a:extLst>
          </p:cNvPr>
          <p:cNvSpPr/>
          <p:nvPr/>
        </p:nvSpPr>
        <p:spPr>
          <a:xfrm>
            <a:off x="838210" y="1354094"/>
            <a:ext cx="7970812" cy="550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Nit u UNIX okruženju: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Postoji unutar procesa i koristi njegove resurse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Ima vlastiti neovisni tok izvršavanja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Duplicira samo esencijalne resurse potrebne za </a:t>
            </a:r>
            <a:r>
              <a:rPr lang="hr-HR" sz="19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scheduling</a:t>
            </a:r>
            <a:endParaRPr lang="hr-HR" sz="1900" b="1" dirty="0">
              <a:solidFill>
                <a:schemeClr val="bg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Dijeli resurse procesa s drugim nitima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endParaRPr lang="hr-HR" sz="1900" b="1" dirty="0">
              <a:solidFill>
                <a:schemeClr val="bg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Posljedice dijeljenja resursa: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Promjene od jedne niti vide sve druge niti 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Dva pokazivača s istom vrijednošću pokazuju na iste podatke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Čitanje/pisanje na istu memorijsku lokaciju moguće → Zahtijeva eksplicitnu sinkronizaciju!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731B31-62D1-1FEC-37B4-3D7F4AEFF22E}"/>
              </a:ext>
            </a:extLst>
          </p:cNvPr>
          <p:cNvSpPr txBox="1"/>
          <p:nvPr/>
        </p:nvSpPr>
        <p:spPr>
          <a:xfrm>
            <a:off x="2893325" y="189703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4906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84B64A8C-6581-2099-8214-913959BE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16EEE456-1957-DA8F-F778-13D32AC0D747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Zašto su niti brže od proces?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597A79A3-BD0F-3A75-CC7A-34A8EDC848F0}"/>
              </a:ext>
            </a:extLst>
          </p:cNvPr>
          <p:cNvSpPr/>
          <p:nvPr/>
        </p:nvSpPr>
        <p:spPr>
          <a:xfrm>
            <a:off x="838210" y="1354094"/>
            <a:ext cx="7970812" cy="550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Kreiranje</a:t>
            </a:r>
            <a:r>
              <a:rPr lang="en-US" sz="2000" b="1" dirty="0">
                <a:solidFill>
                  <a:schemeClr val="bg1"/>
                </a:solidFill>
              </a:rPr>
              <a:t> - </a:t>
            </a:r>
            <a:r>
              <a:rPr lang="en-US" sz="2000" b="1" dirty="0" err="1">
                <a:solidFill>
                  <a:schemeClr val="bg1"/>
                </a:solidFill>
              </a:rPr>
              <a:t>manje</a:t>
            </a:r>
            <a:r>
              <a:rPr lang="en-US" sz="2000" b="1" dirty="0">
                <a:solidFill>
                  <a:schemeClr val="bg1"/>
                </a:solidFill>
              </a:rPr>
              <a:t> overhead-a, ne </a:t>
            </a:r>
            <a:r>
              <a:rPr lang="en-US" sz="2000" b="1" dirty="0" err="1">
                <a:solidFill>
                  <a:schemeClr val="bg1"/>
                </a:solidFill>
              </a:rPr>
              <a:t>kopiramo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cijeli</a:t>
            </a:r>
            <a:r>
              <a:rPr lang="en-US" sz="2000" b="1" dirty="0">
                <a:solidFill>
                  <a:schemeClr val="bg1"/>
                </a:solidFill>
              </a:rPr>
              <a:t> address space</a:t>
            </a: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Komunikacija</a:t>
            </a:r>
            <a:r>
              <a:rPr lang="en-US" sz="2000" b="1" dirty="0">
                <a:solidFill>
                  <a:schemeClr val="bg1"/>
                </a:solidFill>
              </a:rPr>
              <a:t> - </a:t>
            </a:r>
            <a:r>
              <a:rPr lang="en-US" sz="2000" b="1" dirty="0" err="1">
                <a:solidFill>
                  <a:schemeClr val="bg1"/>
                </a:solidFill>
              </a:rPr>
              <a:t>dijele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memoriju</a:t>
            </a:r>
            <a:r>
              <a:rPr lang="en-US" sz="2000" b="1" dirty="0">
                <a:solidFill>
                  <a:schemeClr val="bg1"/>
                </a:solidFill>
              </a:rPr>
              <a:t>, ne </a:t>
            </a:r>
            <a:r>
              <a:rPr lang="en-US" sz="2000" b="1" dirty="0" err="1">
                <a:solidFill>
                  <a:schemeClr val="bg1"/>
                </a:solidFill>
              </a:rPr>
              <a:t>treba</a:t>
            </a:r>
            <a:r>
              <a:rPr lang="en-US" sz="2000" b="1" dirty="0">
                <a:solidFill>
                  <a:schemeClr val="bg1"/>
                </a:solidFill>
              </a:rPr>
              <a:t> IPC </a:t>
            </a:r>
            <a:r>
              <a:rPr lang="en-US" sz="2000" b="1" dirty="0" err="1">
                <a:solidFill>
                  <a:schemeClr val="bg1"/>
                </a:solidFill>
              </a:rPr>
              <a:t>mehanizam</a:t>
            </a:r>
            <a:endParaRPr lang="en-US" sz="2000" b="1" dirty="0">
              <a:solidFill>
                <a:schemeClr val="bg1"/>
              </a:solidFill>
            </a:endParaRPr>
          </a:p>
          <a:p>
            <a:pPr marL="41910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Context switch - </a:t>
            </a:r>
            <a:r>
              <a:rPr lang="en-US" sz="2000" b="1" dirty="0" err="1">
                <a:solidFill>
                  <a:schemeClr val="bg1"/>
                </a:solidFill>
              </a:rPr>
              <a:t>brži</a:t>
            </a:r>
            <a:r>
              <a:rPr lang="en-US" sz="2000" b="1" dirty="0">
                <a:solidFill>
                  <a:schemeClr val="bg1"/>
                </a:solidFill>
              </a:rPr>
              <a:t> je </a:t>
            </a:r>
            <a:r>
              <a:rPr lang="en-US" sz="2000" b="1" dirty="0" err="1">
                <a:solidFill>
                  <a:schemeClr val="bg1"/>
                </a:solidFill>
              </a:rPr>
              <a:t>nego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između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procesa</a:t>
            </a:r>
            <a:endParaRPr lang="en-US" sz="2000" b="1" dirty="0">
              <a:solidFill>
                <a:schemeClr val="bg1"/>
              </a:solidFill>
            </a:endParaRP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endParaRPr lang="en-US" sz="2000" b="1" dirty="0">
              <a:solidFill>
                <a:schemeClr val="bg1"/>
              </a:solidFill>
            </a:endParaRP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endParaRPr lang="en-US" sz="2000" b="1" dirty="0">
              <a:solidFill>
                <a:schemeClr val="bg1"/>
              </a:solidFill>
            </a:endParaRP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en-US" sz="2000" b="1" dirty="0">
                <a:solidFill>
                  <a:schemeClr val="bg1"/>
                </a:solidFill>
              </a:rPr>
              <a:t>Ali </a:t>
            </a:r>
            <a:r>
              <a:rPr lang="en-US" sz="2000" b="1" dirty="0" err="1">
                <a:solidFill>
                  <a:schemeClr val="bg1"/>
                </a:solidFill>
              </a:rPr>
              <a:t>nemojte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zaboraviti</a:t>
            </a:r>
            <a:r>
              <a:rPr lang="en-US" sz="2000" b="1" dirty="0">
                <a:solidFill>
                  <a:schemeClr val="bg1"/>
                </a:solidFill>
              </a:rPr>
              <a:t>! </a:t>
            </a:r>
            <a:r>
              <a:rPr lang="en-US" sz="2000" b="1" dirty="0">
                <a:solidFill>
                  <a:schemeClr val="bg1"/>
                </a:solidFill>
                <a:sym typeface="Wingdings" pitchFamily="2" charset="2"/>
              </a:rPr>
              <a:t>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brže</a:t>
            </a:r>
            <a:r>
              <a:rPr lang="en-US" sz="2000" b="1" dirty="0">
                <a:solidFill>
                  <a:schemeClr val="bg1"/>
                </a:solidFill>
              </a:rPr>
              <a:t> != </a:t>
            </a:r>
            <a:r>
              <a:rPr lang="en-US" sz="2000" b="1" dirty="0" err="1">
                <a:solidFill>
                  <a:schemeClr val="bg1"/>
                </a:solidFill>
              </a:rPr>
              <a:t>lakše</a:t>
            </a:r>
            <a:r>
              <a:rPr lang="en-US" sz="2000" b="1" dirty="0">
                <a:solidFill>
                  <a:schemeClr val="bg1"/>
                </a:solidFill>
              </a:rPr>
              <a:t>. S </a:t>
            </a:r>
            <a:r>
              <a:rPr lang="en-US" sz="2000" b="1" dirty="0" err="1">
                <a:solidFill>
                  <a:schemeClr val="bg1"/>
                </a:solidFill>
              </a:rPr>
              <a:t>nitima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dobivate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performanse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  <a:r>
              <a:rPr lang="en-US" sz="2000" b="1" dirty="0" err="1">
                <a:solidFill>
                  <a:schemeClr val="bg1"/>
                </a:solidFill>
              </a:rPr>
              <a:t>ali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kompleksnost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sinkronizacije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6E0C35-5868-BBA4-CFDB-DEDC9C8F7E72}"/>
              </a:ext>
            </a:extLst>
          </p:cNvPr>
          <p:cNvSpPr txBox="1"/>
          <p:nvPr/>
        </p:nvSpPr>
        <p:spPr>
          <a:xfrm>
            <a:off x="2893325" y="189703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r-H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71A23-16EA-AE99-E5F3-5E2A0A72EE69}"/>
              </a:ext>
            </a:extLst>
          </p:cNvPr>
          <p:cNvSpPr txBox="1"/>
          <p:nvPr/>
        </p:nvSpPr>
        <p:spPr>
          <a:xfrm>
            <a:off x="3260785" y="331254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5221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07CB797-999D-3C3A-E707-B8DC3764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00A5DF3E-E21C-2ECC-75EC-367A0DB22D7E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su POSIX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Threads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Pthreads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)?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E9A491C-0D02-795A-7EFC-310AEB747C8A}"/>
              </a:ext>
            </a:extLst>
          </p:cNvPr>
          <p:cNvSpPr/>
          <p:nvPr/>
        </p:nvSpPr>
        <p:spPr>
          <a:xfrm>
            <a:off x="838210" y="1354093"/>
            <a:ext cx="7970812" cy="533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Zašto standard?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Prije: svaki </a:t>
            </a: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vendor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vlastita implementacija → kod nije prenosiv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1995: IEEE standardizira POSIX 1003.1c za UNIX sustave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POSIX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Threads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(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pthreads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)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implementacija koja slijedi standard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Prenosiv API za programiranje s nitima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Dostupan na: Linux, </a:t>
            </a: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Unix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, </a:t>
            </a: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macOS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, BSD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Header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: </a:t>
            </a:r>
            <a:r>
              <a:rPr lang="hr-HR" sz="20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#</a:t>
            </a:r>
            <a:r>
              <a:rPr lang="hr-HR" sz="20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include</a:t>
            </a:r>
            <a:r>
              <a:rPr lang="hr-HR" sz="20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 &lt;</a:t>
            </a:r>
            <a:r>
              <a:rPr lang="hr-HR" sz="20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pthread.h</a:t>
            </a:r>
            <a:r>
              <a:rPr lang="hr-HR" sz="20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&gt;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Tx/>
              <a:buChar char="-"/>
            </a:pP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Kompajliranje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: </a:t>
            </a:r>
            <a:r>
              <a:rPr lang="hr-HR" sz="20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gcc</a:t>
            </a:r>
            <a:r>
              <a:rPr lang="hr-HR" sz="20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 -</a:t>
            </a:r>
            <a:r>
              <a:rPr lang="hr-HR" sz="20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pthread</a:t>
            </a:r>
            <a:r>
              <a:rPr lang="hr-HR" sz="20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 </a:t>
            </a:r>
            <a:r>
              <a:rPr lang="hr-HR" sz="20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program.c</a:t>
            </a:r>
            <a:r>
              <a:rPr lang="hr-HR" sz="20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Consolas" panose="020B0609020204030204" pitchFamily="49" charset="0"/>
                <a:sym typeface="Quicksand"/>
              </a:rPr>
              <a:t> -o program</a:t>
            </a:r>
          </a:p>
        </p:txBody>
      </p:sp>
    </p:spTree>
    <p:extLst>
      <p:ext uri="{BB962C8B-B14F-4D97-AF65-F5344CB8AC3E}">
        <p14:creationId xmlns:p14="http://schemas.microsoft.com/office/powerpoint/2010/main" val="238127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A171E58-D93E-2A92-528E-FB206A67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23C3DB77-60D9-00A7-8F31-4BD0453945AC}"/>
              </a:ext>
            </a:extLst>
          </p:cNvPr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r-HR" sz="3000" b="1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Osnovni tipovi podataka</a:t>
            </a:r>
          </a:p>
        </p:txBody>
      </p:sp>
      <p:sp>
        <p:nvSpPr>
          <p:cNvPr id="176" name="Google Shape;176;p41">
            <a:extLst>
              <a:ext uri="{FF2B5EF4-FFF2-40B4-BE49-F238E27FC236}">
                <a16:creationId xmlns:a16="http://schemas.microsoft.com/office/drawing/2014/main" id="{3C5C6315-0C73-C5A1-C91D-9FBCC060401F}"/>
              </a:ext>
            </a:extLst>
          </p:cNvPr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4C56E128-E458-97AC-A30A-4399231A80FC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828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6CE75CB6-60AF-666A-78A1-579C930E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08E601D8-2A4E-A96B-2E5B-0D8CCAFC79A4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Osnovni tipovi podataka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EC521A41-86FD-1013-4EF2-8859D4F0EA22}"/>
              </a:ext>
            </a:extLst>
          </p:cNvPr>
          <p:cNvSpPr/>
          <p:nvPr/>
        </p:nvSpPr>
        <p:spPr>
          <a:xfrm>
            <a:off x="838210" y="1354093"/>
            <a:ext cx="7970812" cy="533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rgbClr val="39C0BA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1.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pthread_t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-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Thread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identifier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(ID niti)</a:t>
            </a: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rgbClr val="39C0BA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2.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pthread_mutex_t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-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Mutex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lock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(brava za sinkronizaciju)</a:t>
            </a:r>
          </a:p>
          <a:p>
            <a:pPr marL="533400" indent="-457200">
              <a:lnSpc>
                <a:spcPct val="150000"/>
              </a:lnSpc>
              <a:buClr>
                <a:srgbClr val="39C0BA"/>
              </a:buClr>
              <a:buSzPts val="2400"/>
              <a:buFont typeface="Arial"/>
              <a:buAutoNum type="arabicPeriod"/>
            </a:pP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Ostali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tipovi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nećemo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obrađivati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en-US" sz="2000" b="1" dirty="0">
                <a:solidFill>
                  <a:srgbClr val="39C0BA"/>
                </a:solidFill>
              </a:rPr>
              <a:t>3. </a:t>
            </a:r>
            <a:r>
              <a:rPr lang="en-US" sz="2000" b="1" dirty="0" err="1">
                <a:solidFill>
                  <a:schemeClr val="bg1"/>
                </a:solidFill>
              </a:rPr>
              <a:t>pthread_attr_t</a:t>
            </a:r>
            <a:r>
              <a:rPr lang="en-US" sz="2000" b="1" dirty="0">
                <a:solidFill>
                  <a:schemeClr val="bg1"/>
                </a:solidFill>
              </a:rPr>
              <a:t> - Thread attributes (</a:t>
            </a:r>
            <a:r>
              <a:rPr lang="en-US" sz="2000" b="1" dirty="0" err="1">
                <a:solidFill>
                  <a:schemeClr val="bg1"/>
                </a:solidFill>
              </a:rPr>
              <a:t>naprednije</a:t>
            </a:r>
            <a:r>
              <a:rPr lang="en-US" sz="2000" b="1" dirty="0">
                <a:solidFill>
                  <a:schemeClr val="bg1"/>
                </a:solidFill>
              </a:rPr>
              <a:t>) </a:t>
            </a: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en-US" sz="2000" b="1" dirty="0">
                <a:solidFill>
                  <a:srgbClr val="39C0BA"/>
                </a:solidFill>
              </a:rPr>
              <a:t>4. </a:t>
            </a:r>
            <a:r>
              <a:rPr lang="en-US" sz="2000" b="1" dirty="0" err="1">
                <a:solidFill>
                  <a:schemeClr val="bg1"/>
                </a:solidFill>
              </a:rPr>
              <a:t>pthread_cond_t</a:t>
            </a:r>
            <a:r>
              <a:rPr lang="en-US" sz="2000" b="1" dirty="0">
                <a:solidFill>
                  <a:schemeClr val="bg1"/>
                </a:solidFill>
              </a:rPr>
              <a:t> - Condition variables (</a:t>
            </a:r>
            <a:r>
              <a:rPr lang="en-US" sz="2000" b="1" dirty="0" err="1">
                <a:solidFill>
                  <a:schemeClr val="bg1"/>
                </a:solidFill>
              </a:rPr>
              <a:t>naprednije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  <a:endParaRPr lang="hr-HR" sz="2000" b="1" dirty="0">
              <a:solidFill>
                <a:schemeClr val="bg1"/>
              </a:solidFill>
              <a:latin typeface="Consolas" panose="020B0609020204030204" pitchFamily="49" charset="0"/>
              <a:ea typeface="Quicksand"/>
              <a:cs typeface="Consolas" panose="020B0609020204030204" pitchFamily="49" charset="0"/>
              <a:sym typeface="Quicksand"/>
            </a:endParaRPr>
          </a:p>
          <a:p>
            <a:pPr marL="76200">
              <a:lnSpc>
                <a:spcPct val="150000"/>
              </a:lnSpc>
              <a:buClr>
                <a:srgbClr val="39C0BA"/>
              </a:buClr>
              <a:buSzPts val="2400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35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pthread_create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() - Prototip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/>
          <p:cNvSpPr/>
          <p:nvPr/>
        </p:nvSpPr>
        <p:spPr>
          <a:xfrm>
            <a:off x="786384" y="1176336"/>
            <a:ext cx="8485632" cy="553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pthread_create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pthread_t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*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, </a:t>
            </a:r>
            <a:r>
              <a:rPr lang="hr-HR" sz="16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//[OUT] ID stvorene niti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const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pthread_attr_t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*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attr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, </a:t>
            </a:r>
            <a:r>
              <a:rPr lang="hr-HR" sz="16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//[IN] Atributi (NULL = </a:t>
            </a:r>
            <a:r>
              <a:rPr lang="hr-HR" sz="16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default</a:t>
            </a:r>
            <a:r>
              <a:rPr lang="hr-HR" sz="16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)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*(*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start_routine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)(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*), </a:t>
            </a:r>
            <a:r>
              <a:rPr lang="hr-HR" sz="16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//[IN] Funkcija koju nit izvršava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*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arg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</a:t>
            </a:r>
            <a:r>
              <a:rPr lang="hr-HR" sz="16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//[IN] Argument za funkciju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);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  <a:ea typeface="Quicksand"/>
              <a:cs typeface="Quicksand"/>
              <a:sym typeface="Quicksand"/>
            </a:endParaRPr>
          </a:p>
          <a:p>
            <a:pPr marL="76200" lvl="1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Povratna vrijednost:</a:t>
            </a:r>
          </a:p>
          <a:p>
            <a:pPr marL="76200" lvl="4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• 0 - uspješno kreirana nit</a:t>
            </a:r>
          </a:p>
          <a:p>
            <a:pPr marL="76200" lvl="4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• EAGAIN - nedovoljno sistemskih resursa</a:t>
            </a:r>
          </a:p>
          <a:p>
            <a:pPr marL="76200" lvl="4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• EINVAL - nevaljani atributi</a:t>
            </a:r>
          </a:p>
          <a:p>
            <a:pPr marL="76200" lvl="4">
              <a:lnSpc>
                <a:spcPct val="150000"/>
              </a:lnSpc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298450">
              <a:buClr>
                <a:srgbClr val="39C0BA"/>
              </a:buClr>
              <a:buSzPts val="1100"/>
              <a:buFont typeface="Arial"/>
              <a:buChar char="●"/>
              <a:defRPr/>
            </a:pPr>
            <a:r>
              <a:rPr lang="hr-HR" sz="11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U dokumentaciji ćete vidjeti '</a:t>
            </a:r>
            <a:r>
              <a:rPr lang="hr-HR" sz="11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restrict</a:t>
            </a:r>
            <a:r>
              <a:rPr lang="hr-HR" sz="11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' </a:t>
            </a:r>
            <a:r>
              <a:rPr lang="hr-HR" sz="11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keyword</a:t>
            </a:r>
            <a:r>
              <a:rPr lang="hr-HR" sz="11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- C99 </a:t>
            </a:r>
            <a:r>
              <a:rPr lang="hr-HR" sz="11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keyword</a:t>
            </a:r>
            <a:r>
              <a:rPr lang="hr-HR" sz="11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koji omogućava </a:t>
            </a:r>
            <a:r>
              <a:rPr lang="hr-HR" sz="11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compiler</a:t>
            </a:r>
            <a:r>
              <a:rPr lang="hr-HR" sz="11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optimizacije.</a:t>
            </a:r>
          </a:p>
          <a:p>
            <a:endParaRPr lang="hr-HR" dirty="0"/>
          </a:p>
          <a:p>
            <a:pPr marL="76200" lvl="4">
              <a:lnSpc>
                <a:spcPct val="150000"/>
              </a:lnSpc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6200" lvl="0"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6200" lvl="0"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408788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5D4DFCAD-900F-908A-9F28-60AC4774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7D3208E1-D63B-D75E-1868-1E46BE50DCC7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pthread_create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() - Prototip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AD1BBB08-E043-7437-4DC0-0B2390E9A953}"/>
              </a:ext>
            </a:extLst>
          </p:cNvPr>
          <p:cNvSpPr/>
          <p:nvPr/>
        </p:nvSpPr>
        <p:spPr>
          <a:xfrm>
            <a:off x="987552" y="1164240"/>
            <a:ext cx="8247888" cy="553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  <a:ea typeface="Quicksand"/>
              <a:cs typeface="Quicksand"/>
              <a:sym typeface="Quicksand"/>
            </a:endParaRP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  <a:ea typeface="Quicksand"/>
              <a:cs typeface="Quicksand"/>
              <a:sym typeface="Quicksand"/>
            </a:endParaRPr>
          </a:p>
          <a:p>
            <a:pPr marL="76200" lvl="0"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Što radi:</a:t>
            </a:r>
          </a:p>
          <a:p>
            <a:pPr marL="361950" lvl="0" indent="-28575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Kreira novu nit unutar procesa</a:t>
            </a:r>
          </a:p>
          <a:p>
            <a:pPr marL="361950" lvl="0" indent="-28575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Nova nit izvršava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start_routine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arg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marL="361950" lvl="0" indent="-28575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ID sprema u *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thread</a:t>
            </a:r>
            <a:endParaRPr lang="hr-HR" sz="18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61950" lvl="0" indent="-28575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Ako je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attr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NULL → koriste se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default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atributi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  <a:ea typeface="Quicksand"/>
              <a:cs typeface="Quicksand"/>
              <a:sym typeface="Quicksand"/>
            </a:endParaRP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Napomena: Ako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main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()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returna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→ sve niti se terminiraju!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Rješenje: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main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() pozove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pthread_exit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(NULL) na kraju.</a:t>
            </a:r>
            <a:endParaRPr lang="hr-HR" sz="18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19316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B2D3E608-E04B-3C43-D27C-F834B096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976DBD57-977E-3290-BC7E-A18BBEC8040E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Anatomija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funkcije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697A0725-58C0-4F4E-EE4D-F89073499A2A}"/>
              </a:ext>
            </a:extLst>
          </p:cNvPr>
          <p:cNvSpPr/>
          <p:nvPr/>
        </p:nvSpPr>
        <p:spPr>
          <a:xfrm>
            <a:off x="987552" y="1164240"/>
            <a:ext cx="8247888" cy="553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*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thread_function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*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arg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) {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// 1. Funkcija MORA biti tipa: 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* 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function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*)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// 2. Prima JEDAN argument tipa 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* (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generic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pointer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)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// 3. Vraća 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void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* (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generic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pointer</a:t>
            </a:r>
            <a:r>
              <a:rPr lang="hr-HR" sz="1800" b="1" dirty="0">
                <a:solidFill>
                  <a:schemeClr val="accent6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) ili NULL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printf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("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is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running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\n");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return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 NULL;  // ili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pthread_exit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(NULL);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  <a:ea typeface="Quicksand"/>
                <a:cs typeface="Quicksand"/>
                <a:sym typeface="Quicksand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476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64E12D29-B8DA-0B88-A5B4-575C97BE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96A73D6B-45F6-B519-BDBD-7B7325551DB1}"/>
              </a:ext>
            </a:extLst>
          </p:cNvPr>
          <p:cNvSpPr txBox="1"/>
          <p:nvPr/>
        </p:nvSpPr>
        <p:spPr>
          <a:xfrm rot="16200000">
            <a:off x="-1716209" y="2932329"/>
            <a:ext cx="4501675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 1 - Jednostavna nit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2E9B5120-F520-A3CC-F546-FCED88E42F70}"/>
              </a:ext>
            </a:extLst>
          </p:cNvPr>
          <p:cNvSpPr/>
          <p:nvPr/>
        </p:nvSpPr>
        <p:spPr>
          <a:xfrm>
            <a:off x="896112" y="0"/>
            <a:ext cx="8247888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#include &lt;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pthread.h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#include &lt;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stdio.h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hello_thread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Hello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!\n");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			 NULL,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			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hello_thread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			 NULL)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	 != 0)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perror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Failed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to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created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\n");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 }</a:t>
            </a:r>
          </a:p>
        </p:txBody>
      </p:sp>
      <p:sp>
        <p:nvSpPr>
          <p:cNvPr id="2" name="Pravokutnik 1">
            <a:extLst>
              <a:ext uri="{FF2B5EF4-FFF2-40B4-BE49-F238E27FC236}">
                <a16:creationId xmlns:a16="http://schemas.microsoft.com/office/drawing/2014/main" id="{E39888EB-E8E3-0618-2558-C4300442783B}"/>
              </a:ext>
            </a:extLst>
          </p:cNvPr>
          <p:cNvSpPr/>
          <p:nvPr/>
        </p:nvSpPr>
        <p:spPr>
          <a:xfrm>
            <a:off x="914400" y="36576"/>
            <a:ext cx="2706624" cy="72350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B211FA06-6883-5717-72B7-745DF01E0898}"/>
              </a:ext>
            </a:extLst>
          </p:cNvPr>
          <p:cNvSpPr txBox="1"/>
          <p:nvPr/>
        </p:nvSpPr>
        <p:spPr>
          <a:xfrm>
            <a:off x="4413333" y="48023"/>
            <a:ext cx="1670650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 err="1">
                <a:solidFill>
                  <a:schemeClr val="accent6"/>
                </a:solidFill>
                <a:latin typeface="Quicksand" panose="020B0604020202020204" charset="0"/>
              </a:rPr>
              <a:t>Header</a:t>
            </a:r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 datoteke</a:t>
            </a:r>
          </a:p>
        </p:txBody>
      </p:sp>
      <p:cxnSp>
        <p:nvCxnSpPr>
          <p:cNvPr id="5" name="Poveznik: zakrivljeno 4">
            <a:extLst>
              <a:ext uri="{FF2B5EF4-FFF2-40B4-BE49-F238E27FC236}">
                <a16:creationId xmlns:a16="http://schemas.microsoft.com/office/drawing/2014/main" id="{80B735B4-DFFA-2C51-68B9-0EA221C476B6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>
          <a:xfrm rot="10800000" flipV="1">
            <a:off x="3621025" y="201912"/>
            <a:ext cx="792309" cy="196416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ravokutnik 9">
            <a:extLst>
              <a:ext uri="{FF2B5EF4-FFF2-40B4-BE49-F238E27FC236}">
                <a16:creationId xmlns:a16="http://schemas.microsoft.com/office/drawing/2014/main" id="{1968603F-14D2-4A09-DCC5-B81341C87CAB}"/>
              </a:ext>
            </a:extLst>
          </p:cNvPr>
          <p:cNvSpPr/>
          <p:nvPr/>
        </p:nvSpPr>
        <p:spPr>
          <a:xfrm>
            <a:off x="914400" y="911351"/>
            <a:ext cx="4562856" cy="1287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8DAAF230-3FB7-D006-B391-B5BEEB91E5B8}"/>
              </a:ext>
            </a:extLst>
          </p:cNvPr>
          <p:cNvSpPr txBox="1"/>
          <p:nvPr/>
        </p:nvSpPr>
        <p:spPr>
          <a:xfrm>
            <a:off x="5248658" y="432745"/>
            <a:ext cx="3164649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 err="1">
                <a:solidFill>
                  <a:schemeClr val="accent6"/>
                </a:solidFill>
                <a:latin typeface="Quicksand" panose="020B0604020202020204" charset="0"/>
              </a:rPr>
              <a:t>generic</a:t>
            </a:r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 </a:t>
            </a:r>
            <a:r>
              <a:rPr lang="hr-HR" b="1" dirty="0" err="1">
                <a:solidFill>
                  <a:schemeClr val="accent6"/>
                </a:solidFill>
                <a:latin typeface="Quicksand" panose="020B0604020202020204" charset="0"/>
              </a:rPr>
              <a:t>pointer</a:t>
            </a:r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 (može biti bilo što)</a:t>
            </a:r>
          </a:p>
        </p:txBody>
      </p:sp>
      <p:cxnSp>
        <p:nvCxnSpPr>
          <p:cNvPr id="13" name="Poveznik: zakrivljeno 12">
            <a:extLst>
              <a:ext uri="{FF2B5EF4-FFF2-40B4-BE49-F238E27FC236}">
                <a16:creationId xmlns:a16="http://schemas.microsoft.com/office/drawing/2014/main" id="{6B233B14-64A7-505B-1355-6148A3C56811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3639312" y="586634"/>
            <a:ext cx="1609346" cy="324718"/>
          </a:xfrm>
          <a:prstGeom prst="curvedConnector3">
            <a:avLst>
              <a:gd name="adj1" fmla="val 10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niOkvir 19">
            <a:extLst>
              <a:ext uri="{FF2B5EF4-FFF2-40B4-BE49-F238E27FC236}">
                <a16:creationId xmlns:a16="http://schemas.microsoft.com/office/drawing/2014/main" id="{F8BEF677-4BF7-C37D-2321-44CB6631741D}"/>
              </a:ext>
            </a:extLst>
          </p:cNvPr>
          <p:cNvSpPr txBox="1"/>
          <p:nvPr/>
        </p:nvSpPr>
        <p:spPr>
          <a:xfrm>
            <a:off x="5728303" y="1488948"/>
            <a:ext cx="2667718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nit ne vraća nikakav rezultat</a:t>
            </a:r>
          </a:p>
        </p:txBody>
      </p:sp>
      <p:cxnSp>
        <p:nvCxnSpPr>
          <p:cNvPr id="21" name="Poveznik: zakrivljeno 20">
            <a:extLst>
              <a:ext uri="{FF2B5EF4-FFF2-40B4-BE49-F238E27FC236}">
                <a16:creationId xmlns:a16="http://schemas.microsoft.com/office/drawing/2014/main" id="{4B6CA9B9-4A1B-BD3E-51F7-AC8445DBE559}"/>
              </a:ext>
            </a:extLst>
          </p:cNvPr>
          <p:cNvCxnSpPr>
            <a:cxnSpLocks/>
            <a:stCxn id="20" idx="1"/>
          </p:cNvCxnSpPr>
          <p:nvPr/>
        </p:nvCxnSpPr>
        <p:spPr>
          <a:xfrm rot="10800000" flipV="1">
            <a:off x="3141381" y="1642836"/>
            <a:ext cx="2586923" cy="1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niOkvir 19">
            <a:extLst>
              <a:ext uri="{FF2B5EF4-FFF2-40B4-BE49-F238E27FC236}">
                <a16:creationId xmlns:a16="http://schemas.microsoft.com/office/drawing/2014/main" id="{AD2CC403-563E-F447-1D38-933766292706}"/>
              </a:ext>
            </a:extLst>
          </p:cNvPr>
          <p:cNvSpPr txBox="1"/>
          <p:nvPr/>
        </p:nvSpPr>
        <p:spPr>
          <a:xfrm>
            <a:off x="4622930" y="2545151"/>
            <a:ext cx="2845651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Deklaracija </a:t>
            </a:r>
            <a:r>
              <a:rPr lang="hr-HR" b="1" dirty="0" err="1">
                <a:solidFill>
                  <a:schemeClr val="accent6"/>
                </a:solidFill>
                <a:latin typeface="Quicksand" panose="020B0604020202020204" charset="0"/>
              </a:rPr>
              <a:t>thread</a:t>
            </a:r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 ID varijable</a:t>
            </a:r>
          </a:p>
        </p:txBody>
      </p:sp>
      <p:cxnSp>
        <p:nvCxnSpPr>
          <p:cNvPr id="7" name="Poveznik: zakrivljeno 20">
            <a:extLst>
              <a:ext uri="{FF2B5EF4-FFF2-40B4-BE49-F238E27FC236}">
                <a16:creationId xmlns:a16="http://schemas.microsoft.com/office/drawing/2014/main" id="{7A252132-C77B-6C09-6326-4F9142CAF742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3411258" y="2699040"/>
            <a:ext cx="1211672" cy="12700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niOkvir 19">
            <a:extLst>
              <a:ext uri="{FF2B5EF4-FFF2-40B4-BE49-F238E27FC236}">
                <a16:creationId xmlns:a16="http://schemas.microsoft.com/office/drawing/2014/main" id="{E97C3BD2-0041-ABDB-CCB9-683E2BBA39A2}"/>
              </a:ext>
            </a:extLst>
          </p:cNvPr>
          <p:cNvSpPr txBox="1"/>
          <p:nvPr/>
        </p:nvSpPr>
        <p:spPr>
          <a:xfrm>
            <a:off x="4622930" y="3087108"/>
            <a:ext cx="3348994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// [OUT] ← Gdje spremiti </a:t>
            </a:r>
            <a:r>
              <a:rPr lang="hr-HR" b="1" dirty="0" err="1">
                <a:solidFill>
                  <a:schemeClr val="accent6"/>
                </a:solidFill>
                <a:latin typeface="Quicksand" panose="020B0604020202020204" charset="0"/>
              </a:rPr>
              <a:t>thread</a:t>
            </a:r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 ID?</a:t>
            </a:r>
          </a:p>
        </p:txBody>
      </p:sp>
      <p:sp>
        <p:nvSpPr>
          <p:cNvPr id="16" name="TekstniOkvir 19">
            <a:extLst>
              <a:ext uri="{FF2B5EF4-FFF2-40B4-BE49-F238E27FC236}">
                <a16:creationId xmlns:a16="http://schemas.microsoft.com/office/drawing/2014/main" id="{D228BF88-54F1-E46C-2EE7-634FF9338AD3}"/>
              </a:ext>
            </a:extLst>
          </p:cNvPr>
          <p:cNvSpPr txBox="1"/>
          <p:nvPr/>
        </p:nvSpPr>
        <p:spPr>
          <a:xfrm>
            <a:off x="4622930" y="3394518"/>
            <a:ext cx="3174267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// [IN] ← Atributi (NULL = </a:t>
            </a:r>
            <a:r>
              <a:rPr lang="hr-HR" b="1" dirty="0" err="1">
                <a:solidFill>
                  <a:schemeClr val="accent6"/>
                </a:solidFill>
                <a:latin typeface="Quicksand" panose="020B0604020202020204" charset="0"/>
              </a:rPr>
              <a:t>default</a:t>
            </a:r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)</a:t>
            </a:r>
          </a:p>
        </p:txBody>
      </p:sp>
      <p:sp>
        <p:nvSpPr>
          <p:cNvPr id="17" name="TekstniOkvir 19">
            <a:extLst>
              <a:ext uri="{FF2B5EF4-FFF2-40B4-BE49-F238E27FC236}">
                <a16:creationId xmlns:a16="http://schemas.microsoft.com/office/drawing/2014/main" id="{8E742884-49FA-9A65-D450-E39EA4FBE654}"/>
              </a:ext>
            </a:extLst>
          </p:cNvPr>
          <p:cNvSpPr txBox="1"/>
          <p:nvPr/>
        </p:nvSpPr>
        <p:spPr>
          <a:xfrm>
            <a:off x="5475028" y="3672656"/>
            <a:ext cx="2273379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// [IN] ← Koja funkcija?</a:t>
            </a:r>
          </a:p>
        </p:txBody>
      </p:sp>
      <p:sp>
        <p:nvSpPr>
          <p:cNvPr id="18" name="TekstniOkvir 19">
            <a:extLst>
              <a:ext uri="{FF2B5EF4-FFF2-40B4-BE49-F238E27FC236}">
                <a16:creationId xmlns:a16="http://schemas.microsoft.com/office/drawing/2014/main" id="{F45CAA83-4FB2-157A-1C7D-1FA26A423BAC}"/>
              </a:ext>
            </a:extLst>
          </p:cNvPr>
          <p:cNvSpPr txBox="1"/>
          <p:nvPr/>
        </p:nvSpPr>
        <p:spPr>
          <a:xfrm>
            <a:off x="5475028" y="3950427"/>
            <a:ext cx="3251211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// [IN] ← Argument (NULL = nema)</a:t>
            </a:r>
          </a:p>
        </p:txBody>
      </p:sp>
      <p:sp>
        <p:nvSpPr>
          <p:cNvPr id="19" name="TekstniOkvir 19">
            <a:extLst>
              <a:ext uri="{FF2B5EF4-FFF2-40B4-BE49-F238E27FC236}">
                <a16:creationId xmlns:a16="http://schemas.microsoft.com/office/drawing/2014/main" id="{F6BAAED8-F260-4534-7747-775D31CB6BDD}"/>
              </a:ext>
            </a:extLst>
          </p:cNvPr>
          <p:cNvSpPr txBox="1"/>
          <p:nvPr/>
        </p:nvSpPr>
        <p:spPr>
          <a:xfrm>
            <a:off x="5208359" y="4810085"/>
            <a:ext cx="3390672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ispisuje poruku + opis greške iz </a:t>
            </a:r>
            <a:r>
              <a:rPr lang="hr-HR" b="1" dirty="0" err="1">
                <a:solidFill>
                  <a:schemeClr val="accent6"/>
                </a:solidFill>
                <a:latin typeface="Quicksand" panose="020B0604020202020204" charset="0"/>
              </a:rPr>
              <a:t>errno</a:t>
            </a:r>
            <a:endParaRPr lang="hr-HR" b="1" dirty="0">
              <a:solidFill>
                <a:schemeClr val="accent6"/>
              </a:solidFill>
              <a:latin typeface="Quicksand" panose="020B0604020202020204" charset="0"/>
            </a:endParaRPr>
          </a:p>
        </p:txBody>
      </p:sp>
      <p:cxnSp>
        <p:nvCxnSpPr>
          <p:cNvPr id="22" name="Poveznik: zakrivljeno 20">
            <a:extLst>
              <a:ext uri="{FF2B5EF4-FFF2-40B4-BE49-F238E27FC236}">
                <a16:creationId xmlns:a16="http://schemas.microsoft.com/office/drawing/2014/main" id="{C19B4537-23EE-D500-0FB6-559BF46A27EF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>
            <a:off x="2661313" y="4531948"/>
            <a:ext cx="2547046" cy="432027"/>
          </a:xfrm>
          <a:prstGeom prst="curvedConnector3">
            <a:avLst>
              <a:gd name="adj1" fmla="val 46249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niOkvir 19">
            <a:extLst>
              <a:ext uri="{FF2B5EF4-FFF2-40B4-BE49-F238E27FC236}">
                <a16:creationId xmlns:a16="http://schemas.microsoft.com/office/drawing/2014/main" id="{B6C50836-B13A-7096-2C33-DAE6C092F934}"/>
              </a:ext>
            </a:extLst>
          </p:cNvPr>
          <p:cNvSpPr txBox="1"/>
          <p:nvPr/>
        </p:nvSpPr>
        <p:spPr>
          <a:xfrm>
            <a:off x="4622930" y="5864848"/>
            <a:ext cx="2252540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accent6"/>
                </a:solidFill>
                <a:latin typeface="Quicksand" panose="020B0604020202020204" charset="0"/>
              </a:rPr>
              <a:t>// Čekamo da nit završi</a:t>
            </a:r>
          </a:p>
        </p:txBody>
      </p:sp>
    </p:spTree>
    <p:extLst>
      <p:ext uri="{BB962C8B-B14F-4D97-AF65-F5344CB8AC3E}">
        <p14:creationId xmlns:p14="http://schemas.microsoft.com/office/powerpoint/2010/main" val="230514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0" grpId="0" animBg="1"/>
      <p:bldP spid="11" grpId="0"/>
      <p:bldP spid="20" grpId="0"/>
      <p:bldP spid="6" grpId="0"/>
      <p:bldP spid="15" grpId="0"/>
      <p:bldP spid="16" grpId="0"/>
      <p:bldP spid="17" grpId="0"/>
      <p:bldP spid="18" grpId="0"/>
      <p:bldP spid="19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341130BF-9B20-B86A-11CD-71E3E6AE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8679F19F-08CE-CB8D-C15A-6CABD1AD71F7}"/>
              </a:ext>
            </a:extLst>
          </p:cNvPr>
          <p:cNvSpPr txBox="1"/>
          <p:nvPr/>
        </p:nvSpPr>
        <p:spPr>
          <a:xfrm rot="16200000">
            <a:off x="-2403055" y="3249432"/>
            <a:ext cx="5870988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 2 - Slanje INTEGER argumenta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06788C89-C0AD-7245-17A5-419F07341137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840F6A55-81CE-CD30-E207-2E6B960D4A2C}"/>
              </a:ext>
            </a:extLst>
          </p:cNvPr>
          <p:cNvSpPr txBox="1"/>
          <p:nvPr/>
        </p:nvSpPr>
        <p:spPr>
          <a:xfrm>
            <a:off x="1033272" y="1382233"/>
            <a:ext cx="76549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print_number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*(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Konverzija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* →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*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Received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%d\n",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42;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print_number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543D2663-19A8-71B4-5818-29EB6240FEA7}"/>
              </a:ext>
            </a:extLst>
          </p:cNvPr>
          <p:cNvSpPr txBox="1"/>
          <p:nvPr/>
        </p:nvSpPr>
        <p:spPr>
          <a:xfrm>
            <a:off x="1912556" y="6408058"/>
            <a:ext cx="6775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DC3545"/>
                </a:solidFill>
              </a:defRPr>
            </a:pPr>
            <a:r>
              <a:rPr lang="es-ES" dirty="0"/>
              <a:t>Ključno: Šaljemo ADRESU (&amp;value) kao void*, u funkciji castamo u int*</a:t>
            </a:r>
          </a:p>
        </p:txBody>
      </p:sp>
      <p:sp>
        <p:nvSpPr>
          <p:cNvPr id="2" name="Pravokutnik 1">
            <a:extLst>
              <a:ext uri="{FF2B5EF4-FFF2-40B4-BE49-F238E27FC236}">
                <a16:creationId xmlns:a16="http://schemas.microsoft.com/office/drawing/2014/main" id="{3FAF2CB2-0166-7141-4136-19733A4713EC}"/>
              </a:ext>
            </a:extLst>
          </p:cNvPr>
          <p:cNvSpPr/>
          <p:nvPr/>
        </p:nvSpPr>
        <p:spPr>
          <a:xfrm>
            <a:off x="2471818" y="5545487"/>
            <a:ext cx="4884983" cy="833428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600" dirty="0" err="1">
                <a:solidFill>
                  <a:schemeClr val="tx1"/>
                </a:solidFill>
              </a:rPr>
              <a:t>void</a:t>
            </a:r>
            <a:r>
              <a:rPr lang="hr-HR" sz="1600" dirty="0">
                <a:solidFill>
                  <a:schemeClr val="tx1"/>
                </a:solidFill>
              </a:rPr>
              <a:t>* </a:t>
            </a:r>
            <a:r>
              <a:rPr lang="hr-HR" sz="1600" dirty="0" err="1">
                <a:solidFill>
                  <a:schemeClr val="tx1"/>
                </a:solidFill>
              </a:rPr>
              <a:t>arg</a:t>
            </a:r>
            <a:r>
              <a:rPr lang="hr-HR" sz="1600" dirty="0">
                <a:solidFill>
                  <a:schemeClr val="tx1"/>
                </a:solidFill>
              </a:rPr>
              <a:t> = &amp;</a:t>
            </a:r>
            <a:r>
              <a:rPr lang="hr-HR" sz="1600" dirty="0" err="1">
                <a:solidFill>
                  <a:schemeClr val="tx1"/>
                </a:solidFill>
              </a:rPr>
              <a:t>moj_int</a:t>
            </a:r>
            <a:r>
              <a:rPr lang="hr-HR" sz="1600" dirty="0">
                <a:solidFill>
                  <a:schemeClr val="tx1"/>
                </a:solidFill>
              </a:rPr>
              <a:t>;      // </a:t>
            </a:r>
            <a:r>
              <a:rPr lang="hr-HR" sz="1600" dirty="0" err="1">
                <a:solidFill>
                  <a:schemeClr val="tx1"/>
                </a:solidFill>
              </a:rPr>
              <a:t>int</a:t>
            </a:r>
            <a:r>
              <a:rPr lang="hr-HR" sz="1600" dirty="0">
                <a:solidFill>
                  <a:schemeClr val="tx1"/>
                </a:solidFill>
              </a:rPr>
              <a:t>* → </a:t>
            </a:r>
            <a:r>
              <a:rPr lang="hr-HR" sz="1600" dirty="0" err="1">
                <a:solidFill>
                  <a:schemeClr val="tx1"/>
                </a:solidFill>
              </a:rPr>
              <a:t>void</a:t>
            </a:r>
            <a:r>
              <a:rPr lang="hr-HR" sz="1600" dirty="0">
                <a:solidFill>
                  <a:schemeClr val="tx1"/>
                </a:solidFill>
              </a:rPr>
              <a:t>* (implicitno)</a:t>
            </a:r>
          </a:p>
          <a:p>
            <a:pPr algn="ctr"/>
            <a:r>
              <a:rPr lang="hr-HR" sz="1600" dirty="0" err="1">
                <a:solidFill>
                  <a:schemeClr val="tx1"/>
                </a:solidFill>
              </a:rPr>
              <a:t>int</a:t>
            </a:r>
            <a:r>
              <a:rPr lang="hr-HR" sz="1600" dirty="0">
                <a:solidFill>
                  <a:schemeClr val="tx1"/>
                </a:solidFill>
              </a:rPr>
              <a:t>* </a:t>
            </a:r>
            <a:r>
              <a:rPr lang="hr-HR" sz="1600" dirty="0" err="1">
                <a:solidFill>
                  <a:schemeClr val="tx1"/>
                </a:solidFill>
              </a:rPr>
              <a:t>ptr</a:t>
            </a:r>
            <a:r>
              <a:rPr lang="hr-HR" sz="1600" dirty="0">
                <a:solidFill>
                  <a:schemeClr val="tx1"/>
                </a:solidFill>
              </a:rPr>
              <a:t> = (</a:t>
            </a:r>
            <a:r>
              <a:rPr lang="hr-HR" sz="1600" dirty="0" err="1">
                <a:solidFill>
                  <a:schemeClr val="tx1"/>
                </a:solidFill>
              </a:rPr>
              <a:t>int</a:t>
            </a:r>
            <a:r>
              <a:rPr lang="hr-HR" sz="1600" dirty="0">
                <a:solidFill>
                  <a:schemeClr val="tx1"/>
                </a:solidFill>
              </a:rPr>
              <a:t>*)</a:t>
            </a:r>
            <a:r>
              <a:rPr lang="hr-HR" sz="1600" dirty="0" err="1">
                <a:solidFill>
                  <a:schemeClr val="tx1"/>
                </a:solidFill>
              </a:rPr>
              <a:t>arg</a:t>
            </a:r>
            <a:r>
              <a:rPr lang="hr-HR" sz="1600" dirty="0">
                <a:solidFill>
                  <a:schemeClr val="tx1"/>
                </a:solidFill>
              </a:rPr>
              <a:t>;      // </a:t>
            </a:r>
            <a:r>
              <a:rPr lang="hr-HR" sz="1600" dirty="0" err="1">
                <a:solidFill>
                  <a:schemeClr val="tx1"/>
                </a:solidFill>
              </a:rPr>
              <a:t>void</a:t>
            </a:r>
            <a:r>
              <a:rPr lang="hr-HR" sz="1600" dirty="0">
                <a:solidFill>
                  <a:schemeClr val="tx1"/>
                </a:solidFill>
              </a:rPr>
              <a:t>* → </a:t>
            </a:r>
            <a:r>
              <a:rPr lang="hr-HR" sz="1600" dirty="0" err="1">
                <a:solidFill>
                  <a:schemeClr val="tx1"/>
                </a:solidFill>
              </a:rPr>
              <a:t>int</a:t>
            </a:r>
            <a:r>
              <a:rPr lang="hr-HR" sz="1600" dirty="0">
                <a:solidFill>
                  <a:schemeClr val="tx1"/>
                </a:solidFill>
              </a:rPr>
              <a:t>* (eksplicitno)</a:t>
            </a:r>
          </a:p>
          <a:p>
            <a:pPr algn="ctr"/>
            <a:r>
              <a:rPr lang="hr-HR" sz="1600" dirty="0" err="1">
                <a:solidFill>
                  <a:schemeClr val="tx1"/>
                </a:solidFill>
              </a:rPr>
              <a:t>int</a:t>
            </a:r>
            <a:r>
              <a:rPr lang="hr-HR" sz="1600" dirty="0">
                <a:solidFill>
                  <a:schemeClr val="tx1"/>
                </a:solidFill>
              </a:rPr>
              <a:t> vrijednost = *</a:t>
            </a:r>
            <a:r>
              <a:rPr lang="hr-HR" sz="1600" dirty="0" err="1">
                <a:solidFill>
                  <a:schemeClr val="tx1"/>
                </a:solidFill>
              </a:rPr>
              <a:t>ptr</a:t>
            </a:r>
            <a:r>
              <a:rPr lang="hr-HR" sz="1600" dirty="0">
                <a:solidFill>
                  <a:schemeClr val="tx1"/>
                </a:solidFill>
              </a:rPr>
              <a:t>;     // </a:t>
            </a:r>
            <a:r>
              <a:rPr lang="hr-HR" sz="1600" dirty="0" err="1">
                <a:solidFill>
                  <a:schemeClr val="tx1"/>
                </a:solidFill>
              </a:rPr>
              <a:t>dereferenciraj</a:t>
            </a:r>
            <a:endParaRPr lang="hr-H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93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386B57EA-C858-890A-3DD4-37FEDA97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E70E99F9-E306-A6E1-6AD3-9529702827D2}"/>
              </a:ext>
            </a:extLst>
          </p:cNvPr>
          <p:cNvSpPr txBox="1"/>
          <p:nvPr/>
        </p:nvSpPr>
        <p:spPr>
          <a:xfrm rot="16200000">
            <a:off x="-2438406" y="3199140"/>
            <a:ext cx="5870988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 3 - Slanje STRUKTURE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AA715223-16FC-27F3-73EE-F755473191A6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87F0E9E3-1416-9CE1-D3B1-84F3D6601112}"/>
              </a:ext>
            </a:extLst>
          </p:cNvPr>
          <p:cNvSpPr txBox="1"/>
          <p:nvPr/>
        </p:nvSpPr>
        <p:spPr>
          <a:xfrm>
            <a:off x="914400" y="402336"/>
            <a:ext cx="8229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typedef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struct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double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char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[50];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WorkData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process_work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//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Cast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* →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WorkData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*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WorkData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data =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WorkData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("ID: %d,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%.2f, Name: %s\n",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data-&gt;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data-&gt;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data-&gt;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WorkData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{1, 3.14, 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Task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Alpha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"};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process_work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38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F644A7D7-ED34-BA57-A2EA-6AA99CA2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059FFF69-7CAA-E564-9FC4-FC9836F1707B}"/>
              </a:ext>
            </a:extLst>
          </p:cNvPr>
          <p:cNvSpPr txBox="1"/>
          <p:nvPr/>
        </p:nvSpPr>
        <p:spPr>
          <a:xfrm rot="16200000">
            <a:off x="-1968381" y="3072713"/>
            <a:ext cx="5354083" cy="427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FF0000"/>
                </a:solidFill>
                <a:latin typeface="Quicksand"/>
                <a:ea typeface="Quicksand"/>
                <a:cs typeface="Quicksand"/>
                <a:sym typeface="Quicksand"/>
              </a:rPr>
              <a:t>ČESTA GREŠKA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 Pokazivač na lokalnu varijablu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5AB6316B-02E6-D254-31FE-E928C8A570F0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5ECFFA73-0198-3A85-D916-F623F9BA9541}"/>
              </a:ext>
            </a:extLst>
          </p:cNvPr>
          <p:cNvSpPr txBox="1"/>
          <p:nvPr/>
        </p:nvSpPr>
        <p:spPr>
          <a:xfrm>
            <a:off x="922520" y="749801"/>
            <a:ext cx="81188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// POGREŠNO:</a:t>
            </a: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*(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%d\n",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[5];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5; i++)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&amp;i);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</a:t>
            </a: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PROBLEM: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Sve niti dobivaju pokazivač na </a:t>
            </a: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ISTU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varijablu i!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5; i++)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[i], NULL);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D7114672-2C06-174D-AFC8-2D5AC1DFF604}"/>
              </a:ext>
            </a:extLst>
          </p:cNvPr>
          <p:cNvSpPr txBox="1"/>
          <p:nvPr/>
        </p:nvSpPr>
        <p:spPr>
          <a:xfrm>
            <a:off x="1033271" y="6391023"/>
            <a:ext cx="8247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DC3545"/>
                </a:solidFill>
              </a:defRPr>
            </a:pPr>
            <a:r>
              <a:rPr lang="en-GB" sz="1800" dirty="0"/>
              <a:t>Output: Thread 3, Thread 5, Thread 5, Thread 4, Thread 5 (</a:t>
            </a:r>
            <a:r>
              <a:rPr lang="en-GB" sz="1800" dirty="0" err="1"/>
              <a:t>nedeterministički</a:t>
            </a:r>
            <a:r>
              <a:rPr lang="en-GB" sz="1800" dirty="0"/>
              <a:t>!)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0B1A62DF-0838-18F6-D41D-624E7CA72414}"/>
                  </a:ext>
                </a:extLst>
              </p14:cNvPr>
              <p14:cNvContentPartPr/>
              <p14:nvPr/>
            </p14:nvContentPartPr>
            <p14:xfrm>
              <a:off x="1265277" y="3481924"/>
              <a:ext cx="4250160" cy="362520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0B1A62DF-0838-18F6-D41D-624E7CA724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6277" y="3472924"/>
                <a:ext cx="4267800" cy="38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443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E72F5308-9B8E-7758-19FD-ACEACEF1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8B4AD6D6-B05C-9239-3DC9-90F2E0F84847}"/>
              </a:ext>
            </a:extLst>
          </p:cNvPr>
          <p:cNvSpPr txBox="1"/>
          <p:nvPr/>
        </p:nvSpPr>
        <p:spPr>
          <a:xfrm rot="16200000">
            <a:off x="-2189887" y="3212985"/>
            <a:ext cx="5354083" cy="427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ISPRAVNO - Rješenje 1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Array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2400" b="1" i="0" u="none" strike="noStrike" cap="none" dirty="0">
              <a:solidFill>
                <a:srgbClr val="39C0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7CB23F9-F04D-3930-8407-F9432D573BDF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B11001A6-1C64-F1F4-F98B-339C7C1DDCBA}"/>
              </a:ext>
            </a:extLst>
          </p:cNvPr>
          <p:cNvSpPr txBox="1"/>
          <p:nvPr/>
        </p:nvSpPr>
        <p:spPr>
          <a:xfrm>
            <a:off x="922520" y="749801"/>
            <a:ext cx="81188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threads[5];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Svaka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nit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svoj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element u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arrayu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ids[5]; 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ids[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(&amp;threads[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NULL, worker, &amp;ids[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Svaka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nit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dobiva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pokazivač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RAZLIČIT element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(threads[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NULL);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E162DA4A-44B0-0E5F-D907-6035FD6B2B9E}"/>
              </a:ext>
            </a:extLst>
          </p:cNvPr>
          <p:cNvSpPr txBox="1"/>
          <p:nvPr/>
        </p:nvSpPr>
        <p:spPr>
          <a:xfrm>
            <a:off x="1033272" y="5786036"/>
            <a:ext cx="8008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DC3545"/>
                </a:solidFill>
              </a:defRPr>
            </a:pPr>
            <a:r>
              <a:rPr lang="en-US" sz="1800" dirty="0"/>
              <a:t>Output: Thread 0, Thread 1, Thread 2, Thread 3, Thread 4 (</a:t>
            </a:r>
            <a:r>
              <a:rPr lang="en-US" sz="1800" dirty="0" err="1"/>
              <a:t>deterministički</a:t>
            </a:r>
            <a:r>
              <a:rPr lang="en-US" sz="1800" dirty="0"/>
              <a:t>!)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06923930-9A7D-4489-574B-80C27BF3531B}"/>
                  </a:ext>
                </a:extLst>
              </p14:cNvPr>
              <p14:cNvContentPartPr/>
              <p14:nvPr/>
            </p14:nvContentPartPr>
            <p14:xfrm>
              <a:off x="1848386" y="2421004"/>
              <a:ext cx="1919880" cy="301680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06923930-9A7D-4489-574B-80C27BF353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9746" y="2412364"/>
                <a:ext cx="19375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22AA1848-5267-1346-9750-E98D21664D66}"/>
                  </a:ext>
                </a:extLst>
              </p14:cNvPr>
              <p14:cNvContentPartPr/>
              <p14:nvPr/>
            </p14:nvContentPartPr>
            <p14:xfrm>
              <a:off x="1491986" y="1866604"/>
              <a:ext cx="1643400" cy="42480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22AA1848-5267-1346-9750-E98D21664D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2986" y="1857604"/>
                <a:ext cx="1661040" cy="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01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1D22BB9B-BD36-9B6E-412E-BCB7E7921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D46A712C-6180-904B-32BD-D10C4642B881}"/>
              </a:ext>
            </a:extLst>
          </p:cNvPr>
          <p:cNvSpPr txBox="1"/>
          <p:nvPr/>
        </p:nvSpPr>
        <p:spPr>
          <a:xfrm rot="16200000">
            <a:off x="-2189887" y="3212985"/>
            <a:ext cx="5354083" cy="427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ISPRAVNO - Rješenje 2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malloc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2400" b="1" i="0" u="none" strike="noStrike" cap="none" dirty="0">
              <a:solidFill>
                <a:srgbClr val="39C0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28F74B9-B715-3B2D-90B5-224CA894C006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42AADFD-5153-28AE-CC28-93A9116E5FB9}"/>
              </a:ext>
            </a:extLst>
          </p:cNvPr>
          <p:cNvSpPr txBox="1"/>
          <p:nvPr/>
        </p:nvSpPr>
        <p:spPr>
          <a:xfrm>
            <a:off x="927545" y="402336"/>
            <a:ext cx="811884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*(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%d\n",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// Oslobodi memoriju nakon korištenja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</a:t>
            </a:r>
            <a:endParaRPr lang="hr-HR" sz="18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[5];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5; i++) {</a:t>
            </a:r>
          </a:p>
          <a:p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	 // Dinamička alokacija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));  </a:t>
            </a:r>
            <a:endParaRPr lang="hr-HR" sz="18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i;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5; i++)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[i], NULL);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32AB76BC-E605-40E7-9AEE-863207E602AC}"/>
                  </a:ext>
                </a:extLst>
              </p14:cNvPr>
              <p14:cNvContentPartPr/>
              <p14:nvPr/>
            </p14:nvContentPartPr>
            <p14:xfrm>
              <a:off x="1229546" y="1541081"/>
              <a:ext cx="1881360" cy="288000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32AB76BC-E605-40E7-9AEE-863207E602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0906" y="1532441"/>
                <a:ext cx="18990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AA1C66E1-0556-7586-F480-3BEA06A3E48D}"/>
                  </a:ext>
                </a:extLst>
              </p14:cNvPr>
              <p14:cNvContentPartPr/>
              <p14:nvPr/>
            </p14:nvContentPartPr>
            <p14:xfrm>
              <a:off x="1868546" y="4003908"/>
              <a:ext cx="4086360" cy="262080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AA1C66E1-0556-7586-F480-3BEA06A3E4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9546" y="3994908"/>
                <a:ext cx="4104000" cy="27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754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10580F07-7D7C-9D40-C558-9CD5D5BB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03A33060-EAEC-8B33-3416-EBA52954E03F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Kada koristiti koje rješenje?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5F26F9DF-242C-564C-7C3C-BF4A7E0C8AEA}"/>
              </a:ext>
            </a:extLst>
          </p:cNvPr>
          <p:cNvSpPr/>
          <p:nvPr/>
        </p:nvSpPr>
        <p:spPr>
          <a:xfrm>
            <a:off x="1165320" y="1295208"/>
            <a:ext cx="8247888" cy="553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hr-HR" sz="18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Clr>
                <a:srgbClr val="39C0BA"/>
              </a:buClr>
              <a:defRPr sz="1600"/>
            </a:pPr>
            <a:r>
              <a:rPr lang="hr-HR" sz="2000" b="1" dirty="0" err="1">
                <a:solidFill>
                  <a:schemeClr val="bg1"/>
                </a:solidFill>
              </a:rPr>
              <a:t>Array</a:t>
            </a:r>
            <a:r>
              <a:rPr lang="hr-HR" sz="2000" b="1" dirty="0">
                <a:solidFill>
                  <a:schemeClr val="bg1"/>
                </a:solidFill>
              </a:rPr>
              <a:t> pristup:</a:t>
            </a:r>
          </a:p>
          <a:p>
            <a:pPr marL="342900" indent="-342900">
              <a:spcAft>
                <a:spcPts val="800"/>
              </a:spcAft>
              <a:buClr>
                <a:srgbClr val="39C0BA"/>
              </a:buClr>
              <a:buFont typeface="Arial" panose="020B0604020202020204" pitchFamily="34" charset="0"/>
              <a:buChar char="•"/>
              <a:defRPr sz="1600"/>
            </a:pPr>
            <a:r>
              <a:rPr lang="hr-HR" sz="2000" dirty="0">
                <a:solidFill>
                  <a:schemeClr val="bg1"/>
                </a:solidFill>
              </a:rPr>
              <a:t>  Broj niti poznat unaprijed</a:t>
            </a:r>
          </a:p>
          <a:p>
            <a:pPr marL="342900" indent="-342900">
              <a:spcAft>
                <a:spcPts val="800"/>
              </a:spcAft>
              <a:buClr>
                <a:srgbClr val="39C0BA"/>
              </a:buClr>
              <a:buFont typeface="Arial" panose="020B0604020202020204" pitchFamily="34" charset="0"/>
              <a:buChar char="•"/>
              <a:defRPr sz="1600"/>
            </a:pPr>
            <a:r>
              <a:rPr lang="hr-HR" sz="2000" dirty="0">
                <a:solidFill>
                  <a:schemeClr val="bg1"/>
                </a:solidFill>
              </a:rPr>
              <a:t>  Jednostavnije</a:t>
            </a:r>
          </a:p>
          <a:p>
            <a:pPr marL="342900" indent="-342900">
              <a:spcAft>
                <a:spcPts val="800"/>
              </a:spcAft>
              <a:buClr>
                <a:srgbClr val="39C0BA"/>
              </a:buClr>
              <a:buFont typeface="Arial" panose="020B0604020202020204" pitchFamily="34" charset="0"/>
              <a:buChar char="•"/>
              <a:defRPr sz="1600"/>
            </a:pPr>
            <a:r>
              <a:rPr lang="hr-HR" sz="2000" dirty="0">
                <a:solidFill>
                  <a:schemeClr val="bg1"/>
                </a:solidFill>
              </a:rPr>
              <a:t>  Automatsko čišćenje memorije</a:t>
            </a:r>
          </a:p>
          <a:p>
            <a:pPr marL="342900" indent="-342900">
              <a:spcAft>
                <a:spcPts val="800"/>
              </a:spcAft>
              <a:buClr>
                <a:srgbClr val="39C0BA"/>
              </a:buClr>
              <a:buFont typeface="Arial" panose="020B0604020202020204" pitchFamily="34" charset="0"/>
              <a:buChar char="•"/>
              <a:defRPr sz="1600"/>
            </a:pPr>
            <a:endParaRPr lang="hr-HR" sz="20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Clr>
                <a:srgbClr val="39C0BA"/>
              </a:buClr>
              <a:defRPr sz="1600"/>
            </a:pPr>
            <a:r>
              <a:rPr lang="hr-HR" sz="2000" b="1" dirty="0" err="1">
                <a:solidFill>
                  <a:schemeClr val="bg1"/>
                </a:solidFill>
              </a:rPr>
              <a:t>Malloc</a:t>
            </a:r>
            <a:r>
              <a:rPr lang="hr-HR" sz="2000" b="1" dirty="0">
                <a:solidFill>
                  <a:schemeClr val="bg1"/>
                </a:solidFill>
              </a:rPr>
              <a:t> pristup:</a:t>
            </a:r>
          </a:p>
          <a:p>
            <a:pPr marL="342900" indent="-342900">
              <a:spcAft>
                <a:spcPts val="800"/>
              </a:spcAft>
              <a:buClr>
                <a:srgbClr val="39C0BA"/>
              </a:buClr>
              <a:buFont typeface="Arial" panose="020B0604020202020204" pitchFamily="34" charset="0"/>
              <a:buChar char="•"/>
              <a:defRPr sz="1600"/>
            </a:pPr>
            <a:r>
              <a:rPr lang="hr-HR" sz="2000" dirty="0">
                <a:solidFill>
                  <a:schemeClr val="bg1"/>
                </a:solidFill>
              </a:rPr>
              <a:t>  Dinamički broj niti</a:t>
            </a:r>
          </a:p>
          <a:p>
            <a:pPr marL="342900" indent="-342900">
              <a:spcAft>
                <a:spcPts val="800"/>
              </a:spcAft>
              <a:buClr>
                <a:srgbClr val="39C0BA"/>
              </a:buClr>
              <a:buFont typeface="Arial" panose="020B0604020202020204" pitchFamily="34" charset="0"/>
              <a:buChar char="•"/>
              <a:defRPr sz="1600"/>
            </a:pPr>
            <a:r>
              <a:rPr lang="hr-HR" sz="2000" dirty="0">
                <a:solidFill>
                  <a:schemeClr val="bg1"/>
                </a:solidFill>
              </a:rPr>
              <a:t>  Velika količina podataka po niti</a:t>
            </a:r>
          </a:p>
          <a:p>
            <a:pPr marL="342900" indent="-342900">
              <a:spcAft>
                <a:spcPts val="800"/>
              </a:spcAft>
              <a:buClr>
                <a:srgbClr val="39C0BA"/>
              </a:buClr>
              <a:buFont typeface="Arial" panose="020B0604020202020204" pitchFamily="34" charset="0"/>
              <a:buChar char="•"/>
              <a:defRPr sz="1600"/>
            </a:pPr>
            <a:r>
              <a:rPr lang="hr-HR" sz="2000" dirty="0">
                <a:solidFill>
                  <a:schemeClr val="bg1"/>
                </a:solidFill>
              </a:rPr>
              <a:t>  Mora se paziti na free()</a:t>
            </a:r>
          </a:p>
        </p:txBody>
      </p:sp>
    </p:spTree>
    <p:extLst>
      <p:ext uri="{BB962C8B-B14F-4D97-AF65-F5344CB8AC3E}">
        <p14:creationId xmlns:p14="http://schemas.microsoft.com/office/powerpoint/2010/main" val="142102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1AB78394-DDEE-58DA-8A28-35D40F9E3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EC483B23-84D6-A1C7-48EE-CF360E45FEDE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pthread_join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() - Prototip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172997B2-C90C-E08A-FFEE-B17B16FC62B4}"/>
              </a:ext>
            </a:extLst>
          </p:cNvPr>
          <p:cNvSpPr/>
          <p:nvPr/>
        </p:nvSpPr>
        <p:spPr>
          <a:xfrm>
            <a:off x="810478" y="1319688"/>
            <a:ext cx="8661068" cy="553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9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9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9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9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,    </a:t>
            </a:r>
            <a:r>
              <a:rPr lang="hr-HR" sz="1900" dirty="0">
                <a:solidFill>
                  <a:schemeClr val="accent6"/>
                </a:solidFill>
                <a:latin typeface="Consolas" panose="020B0609020204030204" pitchFamily="49" charset="0"/>
              </a:rPr>
              <a:t>// [IN]  ID niti na koju čekamo</a:t>
            </a:r>
          </a:p>
          <a:p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9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 **</a:t>
            </a:r>
            <a:r>
              <a:rPr lang="hr-HR" sz="1900" dirty="0" err="1">
                <a:solidFill>
                  <a:schemeClr val="bg1"/>
                </a:solidFill>
                <a:latin typeface="Consolas" panose="020B0609020204030204" pitchFamily="49" charset="0"/>
              </a:rPr>
              <a:t>retval</a:t>
            </a:r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900" dirty="0">
                <a:solidFill>
                  <a:schemeClr val="accent6"/>
                </a:solidFill>
                <a:latin typeface="Consolas" panose="020B0609020204030204" pitchFamily="49" charset="0"/>
              </a:rPr>
              <a:t>// [OUT] Pokazivač na povratnu 					 vrijednost</a:t>
            </a:r>
          </a:p>
          <a:p>
            <a:r>
              <a:rPr lang="hr-HR" sz="19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endParaRPr lang="hr-HR" sz="1900" dirty="0"/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Povratna vrijednost:</a:t>
            </a: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• 0        - uspjeh</a:t>
            </a: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• EDEADLK  - </a:t>
            </a:r>
            <a:r>
              <a:rPr lang="hr-HR" sz="1900" dirty="0" err="1">
                <a:solidFill>
                  <a:schemeClr val="bg1"/>
                </a:solidFill>
                <a:latin typeface="Quicksand" panose="020B0604020202020204" charset="0"/>
              </a:rPr>
              <a:t>deadlock</a:t>
            </a:r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 detektiran</a:t>
            </a: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• EINVAL   - nit nije </a:t>
            </a:r>
            <a:r>
              <a:rPr lang="hr-HR" sz="1900" dirty="0" err="1">
                <a:solidFill>
                  <a:schemeClr val="bg1"/>
                </a:solidFill>
                <a:latin typeface="Quicksand" panose="020B0604020202020204" charset="0"/>
              </a:rPr>
              <a:t>joinable</a:t>
            </a:r>
            <a:endParaRPr lang="hr-HR" sz="1900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• ESRCH    - nit ne postoji</a:t>
            </a:r>
          </a:p>
          <a:p>
            <a:endParaRPr lang="hr-HR" sz="1900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Što </a:t>
            </a:r>
            <a:r>
              <a:rPr lang="hr-HR" sz="1900" dirty="0" err="1">
                <a:solidFill>
                  <a:schemeClr val="bg1"/>
                </a:solidFill>
                <a:latin typeface="Quicksand" panose="020B0604020202020204" charset="0"/>
              </a:rPr>
              <a:t>pthread_join</a:t>
            </a:r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 radi:</a:t>
            </a: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1. BLOKIRA </a:t>
            </a:r>
            <a:r>
              <a:rPr lang="hr-HR" sz="1900" dirty="0" err="1">
                <a:solidFill>
                  <a:schemeClr val="bg1"/>
                </a:solidFill>
                <a:latin typeface="Quicksand" panose="020B0604020202020204" charset="0"/>
              </a:rPr>
              <a:t>pozivajuću</a:t>
            </a:r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 nit dok nit ne završi</a:t>
            </a: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2. SPREMA povratnu vrijednost niti u *</a:t>
            </a:r>
            <a:r>
              <a:rPr lang="hr-HR" sz="1900" dirty="0" err="1">
                <a:solidFill>
                  <a:schemeClr val="bg1"/>
                </a:solidFill>
                <a:latin typeface="Quicksand" panose="020B0604020202020204" charset="0"/>
              </a:rPr>
              <a:t>retval</a:t>
            </a:r>
            <a:endParaRPr lang="hr-HR" sz="1900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hr-HR" sz="1900" dirty="0">
                <a:solidFill>
                  <a:schemeClr val="bg1"/>
                </a:solidFill>
                <a:latin typeface="Quicksand" panose="020B0604020202020204" charset="0"/>
              </a:rPr>
              <a:t>3. OSLOBAĐA resurse niti</a:t>
            </a:r>
          </a:p>
        </p:txBody>
      </p:sp>
    </p:spTree>
    <p:extLst>
      <p:ext uri="{BB962C8B-B14F-4D97-AF65-F5344CB8AC3E}">
        <p14:creationId xmlns:p14="http://schemas.microsoft.com/office/powerpoint/2010/main" val="78799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7D025B9B-65E9-59DF-3C3E-A2D5E1101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81C090A1-CFEE-FB95-8EED-653312E8426B}"/>
              </a:ext>
            </a:extLst>
          </p:cNvPr>
          <p:cNvSpPr txBox="1"/>
          <p:nvPr/>
        </p:nvSpPr>
        <p:spPr>
          <a:xfrm rot="16200000">
            <a:off x="-2189887" y="3212985"/>
            <a:ext cx="5354083" cy="427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 1 - Jednostavno čekanje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1AEE18C0-E7E0-D435-5683-5338F3F26767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A4AABB9-EAB4-695A-73DB-A9209F9E69FA}"/>
              </a:ext>
            </a:extLst>
          </p:cNvPr>
          <p:cNvSpPr txBox="1"/>
          <p:nvPr/>
        </p:nvSpPr>
        <p:spPr>
          <a:xfrm>
            <a:off x="1162316" y="720452"/>
            <a:ext cx="81188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slow_worker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Starting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...\n");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sleep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(3);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completed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!\n");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\n");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slow_worker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Waiting for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...\n");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// Blokira ovdje 3 sekunde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  </a:t>
            </a:r>
            <a:endParaRPr lang="hr-HR" sz="18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finished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\n");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267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8934932-A055-2DCD-26B6-7BCF58F4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1E7F2F3A-11FF-09CA-1EA8-4A03A84BF9F3}"/>
              </a:ext>
            </a:extLst>
          </p:cNvPr>
          <p:cNvSpPr txBox="1"/>
          <p:nvPr/>
        </p:nvSpPr>
        <p:spPr>
          <a:xfrm rot="16200000">
            <a:off x="-2559193" y="3161768"/>
            <a:ext cx="6103886" cy="53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 2 - Vraćanje INTEGER rezultata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4AF77237-90E2-2A33-C053-D950B289CF29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37C3D8B4-68A8-5A6B-91CC-DC886261B0E4}"/>
              </a:ext>
            </a:extLst>
          </p:cNvPr>
          <p:cNvSpPr txBox="1"/>
          <p:nvPr/>
        </p:nvSpPr>
        <p:spPr>
          <a:xfrm>
            <a:off x="1097794" y="247638"/>
            <a:ext cx="811884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calculate_sum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));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MORA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malloc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!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1; i &lt;= 100; i++)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+= i;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Vraćamo pokazivač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calculate_sum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**)&amp;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Primamo pokazivač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%d\n",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NE ZABORAVITE!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5853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69E4E630-A3A9-51F4-E34F-E2F5B78FF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0E2CB142-2B29-B8FB-150A-803FDF1B1DFF}"/>
              </a:ext>
            </a:extLst>
          </p:cNvPr>
          <p:cNvSpPr txBox="1"/>
          <p:nvPr/>
        </p:nvSpPr>
        <p:spPr>
          <a:xfrm rot="16200000">
            <a:off x="-2559193" y="3161768"/>
            <a:ext cx="6103886" cy="53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lang="pl-PL" sz="2400" dirty="0">
                <a:solidFill>
                  <a:srgbClr val="FF0000"/>
                </a:solidFill>
              </a:rPr>
              <a:t>ČESTA GREŠKA  </a:t>
            </a:r>
            <a:r>
              <a:rPr lang="pl-PL" sz="2400" dirty="0">
                <a:solidFill>
                  <a:srgbClr val="39C0BA"/>
                </a:solidFill>
              </a:rPr>
              <a:t>- Pokazivač na stack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33E03B8C-FEF7-FDCF-C3BE-B440DD91BBBA}"/>
              </a:ext>
            </a:extLst>
          </p:cNvPr>
          <p:cNvSpPr/>
          <p:nvPr/>
        </p:nvSpPr>
        <p:spPr>
          <a:xfrm>
            <a:off x="1033272" y="402336"/>
            <a:ext cx="8247888" cy="615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70666489-D262-2B20-91D9-26C92A0C02F5}"/>
              </a:ext>
            </a:extLst>
          </p:cNvPr>
          <p:cNvSpPr txBox="1"/>
          <p:nvPr/>
        </p:nvSpPr>
        <p:spPr>
          <a:xfrm>
            <a:off x="1033272" y="933111"/>
            <a:ext cx="81188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❌ POGREŠNO: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bad_function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42;  // Lokalna varijabla na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stacku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!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Stack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niti će biti uništen nakon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returna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!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bad_function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**)&amp;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("%d\n",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</a:t>
            </a:r>
            <a:endParaRPr lang="hr-HR" sz="18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2CA003FE-1144-F711-2202-DF979AFAFC64}"/>
              </a:ext>
            </a:extLst>
          </p:cNvPr>
          <p:cNvSpPr txBox="1"/>
          <p:nvPr/>
        </p:nvSpPr>
        <p:spPr>
          <a:xfrm>
            <a:off x="1133756" y="6064232"/>
            <a:ext cx="62933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DC3545"/>
                </a:solidFill>
              </a:defRPr>
            </a:pPr>
            <a:r>
              <a:rPr lang="hr-HR" dirty="0" err="1"/>
              <a:t>Stack</a:t>
            </a:r>
            <a:r>
              <a:rPr lang="hr-HR" dirty="0"/>
              <a:t> niti se uništava nakon završetka! Rezultat mora biti na </a:t>
            </a:r>
            <a:r>
              <a:rPr lang="hr-HR" dirty="0" err="1"/>
              <a:t>heap</a:t>
            </a:r>
            <a:r>
              <a:rPr lang="hr-HR" dirty="0"/>
              <a:t>-u!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6ACF5A0B-D9D4-2927-52A3-32A16EE64912}"/>
              </a:ext>
            </a:extLst>
          </p:cNvPr>
          <p:cNvSpPr txBox="1"/>
          <p:nvPr/>
        </p:nvSpPr>
        <p:spPr>
          <a:xfrm>
            <a:off x="4667459" y="4793065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UNDEFINED BEHAVIOR!</a:t>
            </a:r>
            <a:endParaRPr lang="hr-HR" sz="1800" dirty="0"/>
          </a:p>
        </p:txBody>
      </p:sp>
    </p:spTree>
    <p:extLst>
      <p:ext uri="{BB962C8B-B14F-4D97-AF65-F5344CB8AC3E}">
        <p14:creationId xmlns:p14="http://schemas.microsoft.com/office/powerpoint/2010/main" val="129112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10C8FB1-5F41-589E-CA18-35CB1EBA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E01A6C1B-EA83-DB35-4416-54CAC93AFA34}"/>
              </a:ext>
            </a:extLst>
          </p:cNvPr>
          <p:cNvSpPr txBox="1"/>
          <p:nvPr/>
        </p:nvSpPr>
        <p:spPr>
          <a:xfrm rot="16200000">
            <a:off x="-2559193" y="3161768"/>
            <a:ext cx="6103886" cy="53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rPr lang="pl-PL" sz="2400" dirty="0">
                <a:solidFill>
                  <a:srgbClr val="39C0BA"/>
                </a:solidFill>
              </a:rPr>
              <a:t>ISPRAVNO - Vraćanje rezultata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406E32D8-6AFC-EDCE-01C1-99E4DCAD5BAB}"/>
              </a:ext>
            </a:extLst>
          </p:cNvPr>
          <p:cNvSpPr txBox="1"/>
          <p:nvPr/>
        </p:nvSpPr>
        <p:spPr>
          <a:xfrm>
            <a:off x="1025156" y="570090"/>
            <a:ext cx="811884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Rješenje 1: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Malloc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(za jednostavne tipove)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good_function_v1(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42;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Rješenje 2: Struktura (za složenije podatke)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typedef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struct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count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double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average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good_function_v2(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1000;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count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50;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average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20.0;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578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6DA97C6D-9019-3FBA-A9DE-29416FD6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F5331235-B7B8-A3E0-7974-676C1CE64246}"/>
              </a:ext>
            </a:extLst>
          </p:cNvPr>
          <p:cNvSpPr txBox="1"/>
          <p:nvPr/>
        </p:nvSpPr>
        <p:spPr>
          <a:xfrm rot="16200000">
            <a:off x="-2559193" y="3161768"/>
            <a:ext cx="6103886" cy="53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rPr lang="pl-PL" sz="2400" dirty="0">
                <a:solidFill>
                  <a:srgbClr val="39C0BA"/>
                </a:solidFill>
              </a:rPr>
              <a:t>Primjer 3 - Višestruke niti s rezultatima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28ADC191-384A-7764-8F1F-07963F7B5BE0}"/>
              </a:ext>
            </a:extLst>
          </p:cNvPr>
          <p:cNvSpPr txBox="1"/>
          <p:nvPr/>
        </p:nvSpPr>
        <p:spPr>
          <a:xfrm>
            <a:off x="920926" y="117693"/>
            <a:ext cx="811884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*(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Kvadrat ID-a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[5];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[5];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[5];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5; i++)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 = i + 1;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5; i++)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[i],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**)&amp;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%d: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%d\n", i,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free(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[i]);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2838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D68BA34-30CD-6B3C-CDB9-1CFF4794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F78D5EC0-FDC0-E5B8-2EFB-33AB469C8A57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pthread_exit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() - Terminiranje niti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AF719FA-D476-F04B-E47A-5E991D9B2D09}"/>
              </a:ext>
            </a:extLst>
          </p:cNvPr>
          <p:cNvSpPr/>
          <p:nvPr/>
        </p:nvSpPr>
        <p:spPr>
          <a:xfrm>
            <a:off x="1019016" y="1057464"/>
            <a:ext cx="8247888" cy="553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pthread_exit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retval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NIKAD NE VRAĆA kontrolu!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vs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pthread_exit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u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funkciji: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*)42;      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Ekvivalentno...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pthread_exit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*)42);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...ovome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ALI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pthread_exit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se može pozvati bilo gdje: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helper_function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pthread_exit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*)99);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OK - terminira cijelu nit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helper_function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Nikad se ne izvršava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2851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CCB7B08-A60A-3869-6AF6-FE83CF1B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3E224198-44F3-8812-720D-E4C706E8F404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pthread_self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() - </a:t>
            </a: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Dohvaćanje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Thread ID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38730C78-62A2-B691-4356-C58894BA105D}"/>
              </a:ext>
            </a:extLst>
          </p:cNvPr>
          <p:cNvSpPr/>
          <p:nvPr/>
        </p:nvSpPr>
        <p:spPr>
          <a:xfrm>
            <a:off x="1046448" y="1164240"/>
            <a:ext cx="8247888" cy="386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pthread_self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Vraća ID trenutne niti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Primjer upotrebe: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my_id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pthread_self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("My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ID: %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lu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\n",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unsigned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long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my_id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// Korisno za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debug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("Processing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%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lu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\n",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unsigned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long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pthread_self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pthread_equal() – za usporedbu dviju niti</a:t>
            </a:r>
          </a:p>
        </p:txBody>
      </p:sp>
    </p:spTree>
    <p:extLst>
      <p:ext uri="{BB962C8B-B14F-4D97-AF65-F5344CB8AC3E}">
        <p14:creationId xmlns:p14="http://schemas.microsoft.com/office/powerpoint/2010/main" val="510076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FE12328-1DB8-DEB4-39BA-3EB974613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E6130381-0B4B-5E53-5EB5-085798A2C3C4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Zašto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trebamo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mutex?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lang="en-GB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96979EC-6A57-5904-22EB-404BCE406445}"/>
              </a:ext>
            </a:extLst>
          </p:cNvPr>
          <p:cNvSpPr/>
          <p:nvPr/>
        </p:nvSpPr>
        <p:spPr>
          <a:xfrm>
            <a:off x="1046448" y="1164240"/>
            <a:ext cx="8247888" cy="386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Sjetimo se…</a:t>
            </a:r>
          </a:p>
        </p:txBody>
      </p:sp>
      <p:sp>
        <p:nvSpPr>
          <p:cNvPr id="2" name="Google Shape;196;p44">
            <a:extLst>
              <a:ext uri="{FF2B5EF4-FFF2-40B4-BE49-F238E27FC236}">
                <a16:creationId xmlns:a16="http://schemas.microsoft.com/office/drawing/2014/main" id="{23D26263-78BE-1861-88A4-E1586AA59B88}"/>
              </a:ext>
            </a:extLst>
          </p:cNvPr>
          <p:cNvSpPr/>
          <p:nvPr/>
        </p:nvSpPr>
        <p:spPr>
          <a:xfrm>
            <a:off x="1046448" y="1953216"/>
            <a:ext cx="7300440" cy="512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Pretpostavimo da je count = 5</a:t>
            </a:r>
            <a:endParaRPr lang="hr-HR" sz="18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  <p:pic>
        <p:nvPicPr>
          <p:cNvPr id="3" name="Google Shape;341;p66">
            <a:extLst>
              <a:ext uri="{FF2B5EF4-FFF2-40B4-BE49-F238E27FC236}">
                <a16:creationId xmlns:a16="http://schemas.microsoft.com/office/drawing/2014/main" id="{E8E710D6-A818-F6E0-3626-86A1209EB7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284" y="2914650"/>
            <a:ext cx="33432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41;p66">
            <a:extLst>
              <a:ext uri="{FF2B5EF4-FFF2-40B4-BE49-F238E27FC236}">
                <a16:creationId xmlns:a16="http://schemas.microsoft.com/office/drawing/2014/main" id="{69E5AEF5-BB03-BF8A-5374-6CF0847E82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520" y="3204664"/>
            <a:ext cx="33432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40AC009E-BECC-25BF-BA97-B08128A5B26F}"/>
              </a:ext>
            </a:extLst>
          </p:cNvPr>
          <p:cNvSpPr txBox="1"/>
          <p:nvPr/>
        </p:nvSpPr>
        <p:spPr>
          <a:xfrm>
            <a:off x="1952941" y="2471550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1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6657918D-90A6-6D0E-DDFA-F832A28C0AD3}"/>
              </a:ext>
            </a:extLst>
          </p:cNvPr>
          <p:cNvSpPr txBox="1"/>
          <p:nvPr/>
        </p:nvSpPr>
        <p:spPr>
          <a:xfrm>
            <a:off x="6389178" y="2471550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2</a:t>
            </a:r>
          </a:p>
        </p:txBody>
      </p:sp>
      <p:cxnSp>
        <p:nvCxnSpPr>
          <p:cNvPr id="7" name="Google Shape;351;p67">
            <a:extLst>
              <a:ext uri="{FF2B5EF4-FFF2-40B4-BE49-F238E27FC236}">
                <a16:creationId xmlns:a16="http://schemas.microsoft.com/office/drawing/2014/main" id="{D8A6D056-5EDA-8FF1-28A5-91F3F1CA28AC}"/>
              </a:ext>
            </a:extLst>
          </p:cNvPr>
          <p:cNvCxnSpPr/>
          <p:nvPr/>
        </p:nvCxnSpPr>
        <p:spPr>
          <a:xfrm rot="10800000" flipH="1">
            <a:off x="1046448" y="3338816"/>
            <a:ext cx="7444200" cy="20400"/>
          </a:xfrm>
          <a:prstGeom prst="straightConnector1">
            <a:avLst/>
          </a:prstGeom>
          <a:noFill/>
          <a:ln w="28575" cap="flat" cmpd="sng">
            <a:solidFill>
              <a:srgbClr val="C9211E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" name="Google Shape;351;p67">
            <a:extLst>
              <a:ext uri="{FF2B5EF4-FFF2-40B4-BE49-F238E27FC236}">
                <a16:creationId xmlns:a16="http://schemas.microsoft.com/office/drawing/2014/main" id="{3D2A94E5-EAF7-8A22-FE70-2ABF05CEF5EE}"/>
              </a:ext>
            </a:extLst>
          </p:cNvPr>
          <p:cNvCxnSpPr/>
          <p:nvPr/>
        </p:nvCxnSpPr>
        <p:spPr>
          <a:xfrm rot="10800000" flipH="1">
            <a:off x="1046448" y="3667079"/>
            <a:ext cx="7444200" cy="20400"/>
          </a:xfrm>
          <a:prstGeom prst="straightConnector1">
            <a:avLst/>
          </a:prstGeom>
          <a:noFill/>
          <a:ln w="28575" cap="flat" cmpd="sng">
            <a:solidFill>
              <a:srgbClr val="C9211E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TekstniOkvir 8">
            <a:extLst>
              <a:ext uri="{FF2B5EF4-FFF2-40B4-BE49-F238E27FC236}">
                <a16:creationId xmlns:a16="http://schemas.microsoft.com/office/drawing/2014/main" id="{548846DA-0DB0-3368-71AD-A18F9B484989}"/>
              </a:ext>
            </a:extLst>
          </p:cNvPr>
          <p:cNvSpPr txBox="1"/>
          <p:nvPr/>
        </p:nvSpPr>
        <p:spPr>
          <a:xfrm>
            <a:off x="7848" y="3051440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=5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64D3774B-5B8E-065F-B011-4FED442CE8D3}"/>
              </a:ext>
            </a:extLst>
          </p:cNvPr>
          <p:cNvSpPr txBox="1"/>
          <p:nvPr/>
        </p:nvSpPr>
        <p:spPr>
          <a:xfrm>
            <a:off x="7847" y="3379703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1465473F-666E-8B99-E8E8-57681767550A}"/>
              </a:ext>
            </a:extLst>
          </p:cNvPr>
          <p:cNvSpPr txBox="1"/>
          <p:nvPr/>
        </p:nvSpPr>
        <p:spPr>
          <a:xfrm>
            <a:off x="7846" y="3707966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count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ECF13E8E-2262-6D90-92E8-3F467D237036}"/>
              </a:ext>
            </a:extLst>
          </p:cNvPr>
          <p:cNvSpPr txBox="1"/>
          <p:nvPr/>
        </p:nvSpPr>
        <p:spPr>
          <a:xfrm>
            <a:off x="4653854" y="3379702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=5</a:t>
            </a:r>
          </a:p>
        </p:txBody>
      </p:sp>
      <p:sp>
        <p:nvSpPr>
          <p:cNvPr id="13" name="TekstniOkvir 12">
            <a:extLst>
              <a:ext uri="{FF2B5EF4-FFF2-40B4-BE49-F238E27FC236}">
                <a16:creationId xmlns:a16="http://schemas.microsoft.com/office/drawing/2014/main" id="{D44A96BF-FD75-EA76-587E-44A5D1C78AD9}"/>
              </a:ext>
            </a:extLst>
          </p:cNvPr>
          <p:cNvSpPr txBox="1"/>
          <p:nvPr/>
        </p:nvSpPr>
        <p:spPr>
          <a:xfrm>
            <a:off x="4653853" y="3706439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14" name="TekstniOkvir 13">
            <a:extLst>
              <a:ext uri="{FF2B5EF4-FFF2-40B4-BE49-F238E27FC236}">
                <a16:creationId xmlns:a16="http://schemas.microsoft.com/office/drawing/2014/main" id="{8366A78D-4C28-BD46-E879-86615F896518}"/>
              </a:ext>
            </a:extLst>
          </p:cNvPr>
          <p:cNvSpPr txBox="1"/>
          <p:nvPr/>
        </p:nvSpPr>
        <p:spPr>
          <a:xfrm>
            <a:off x="4504773" y="4034532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count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15" name="TekstniOkvir 14">
            <a:extLst>
              <a:ext uri="{FF2B5EF4-FFF2-40B4-BE49-F238E27FC236}">
                <a16:creationId xmlns:a16="http://schemas.microsoft.com/office/drawing/2014/main" id="{954967E9-5881-A274-3052-2E53DDEFE0FF}"/>
              </a:ext>
            </a:extLst>
          </p:cNvPr>
          <p:cNvSpPr txBox="1"/>
          <p:nvPr/>
        </p:nvSpPr>
        <p:spPr>
          <a:xfrm>
            <a:off x="2378230" y="4719110"/>
            <a:ext cx="455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Rezultat: </a:t>
            </a:r>
            <a:r>
              <a:rPr lang="hr-HR" sz="1800" dirty="0" err="1">
                <a:solidFill>
                  <a:schemeClr val="bg1"/>
                </a:solidFill>
              </a:rPr>
              <a:t>count</a:t>
            </a:r>
            <a:r>
              <a:rPr lang="hr-HR" sz="1800" dirty="0">
                <a:solidFill>
                  <a:schemeClr val="bg1"/>
                </a:solidFill>
              </a:rPr>
              <a:t> = 6 (umjesto očekivanih </a:t>
            </a:r>
            <a:r>
              <a:rPr lang="hr-HR" sz="1800" dirty="0">
                <a:solidFill>
                  <a:srgbClr val="FF0000"/>
                </a:solidFill>
              </a:rPr>
              <a:t>7!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4556836C-3AA7-8FD4-123B-D17DE369DDC0}"/>
              </a:ext>
            </a:extLst>
          </p:cNvPr>
          <p:cNvSpPr txBox="1"/>
          <p:nvPr/>
        </p:nvSpPr>
        <p:spPr>
          <a:xfrm>
            <a:off x="1229222" y="5029200"/>
            <a:ext cx="707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bg1"/>
                </a:solidFill>
              </a:rPr>
              <a:t>Obje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niti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pročitale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su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istu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početnu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vrijednost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prije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nego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što</a:t>
            </a:r>
            <a:r>
              <a:rPr lang="en-US" sz="1800" b="1" dirty="0">
                <a:solidFill>
                  <a:schemeClr val="bg1"/>
                </a:solidFill>
              </a:rPr>
              <a:t> je </a:t>
            </a:r>
            <a:r>
              <a:rPr lang="en-US" sz="1800" b="1" dirty="0" err="1">
                <a:solidFill>
                  <a:schemeClr val="bg1"/>
                </a:solidFill>
              </a:rPr>
              <a:t>bilo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koja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spremila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rezultat</a:t>
            </a:r>
            <a:r>
              <a:rPr lang="en-US" sz="1800" b="1" dirty="0">
                <a:solidFill>
                  <a:schemeClr val="bg1"/>
                </a:solidFill>
              </a:rPr>
              <a:t>.</a:t>
            </a:r>
            <a:endParaRPr lang="hr-HR" sz="1800" b="1" dirty="0">
              <a:solidFill>
                <a:schemeClr val="bg1"/>
              </a:solidFill>
            </a:endParaRPr>
          </a:p>
        </p:txBody>
      </p:sp>
      <p:sp>
        <p:nvSpPr>
          <p:cNvPr id="17" name="TekstniOkvir 16">
            <a:extLst>
              <a:ext uri="{FF2B5EF4-FFF2-40B4-BE49-F238E27FC236}">
                <a16:creationId xmlns:a16="http://schemas.microsoft.com/office/drawing/2014/main" id="{19219A45-EF54-D9E2-8A13-40290C128E5C}"/>
              </a:ext>
            </a:extLst>
          </p:cNvPr>
          <p:cNvSpPr txBox="1"/>
          <p:nvPr/>
        </p:nvSpPr>
        <p:spPr>
          <a:xfrm>
            <a:off x="2204050" y="5818176"/>
            <a:ext cx="512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800" b="1" dirty="0">
                <a:solidFill>
                  <a:schemeClr val="accent6"/>
                </a:solidFill>
              </a:rPr>
              <a:t>Rješenje: MUTEX (Mutual </a:t>
            </a:r>
            <a:r>
              <a:rPr lang="hr-HR" sz="1800" b="1" dirty="0" err="1">
                <a:solidFill>
                  <a:schemeClr val="accent6"/>
                </a:solidFill>
              </a:rPr>
              <a:t>Exclusion</a:t>
            </a:r>
            <a:r>
              <a:rPr lang="hr-HR" sz="1800" b="1" dirty="0">
                <a:solidFill>
                  <a:schemeClr val="accent6"/>
                </a:solidFill>
              </a:rPr>
              <a:t>) </a:t>
            </a:r>
            <a:r>
              <a:rPr lang="pl-PL" sz="1800" b="1" dirty="0">
                <a:solidFill>
                  <a:schemeClr val="accent6"/>
                </a:solidFill>
              </a:rPr>
              <a:t>= samo jedna nit odjednom u kritičnoj sekciji</a:t>
            </a:r>
          </a:p>
          <a:p>
            <a:pPr algn="ctr"/>
            <a:endParaRPr lang="hr-HR" sz="1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95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D9265F6-37F6-E3CB-202F-8B73BBD5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C79616E0-F347-7114-CEE0-C45F8891989E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Inicijalizacija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mutexa</a:t>
            </a:r>
            <a:endParaRPr lang="en-GB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9CE1CF20-D6A9-AA87-370A-F7D25642EE16}"/>
              </a:ext>
            </a:extLst>
          </p:cNvPr>
          <p:cNvSpPr/>
          <p:nvPr/>
        </p:nvSpPr>
        <p:spPr>
          <a:xfrm>
            <a:off x="1046448" y="1164240"/>
            <a:ext cx="8247888" cy="386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#include &lt;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pthread.h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Način 1: Statička inicijalizacija (preferiran)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PTHREAD_MUTEX_INITIALIZER;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Način 2: Dinamička inicijalizacija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pthread_mutex_init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NULL =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default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atributi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Na kraju programa: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pthread_mutex_destroy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8510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F650560-5671-661B-1E5D-ADDA2C4F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664A331F-924F-E956-4916-848ED6373876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Osnovne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operacije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s </a:t>
            </a: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mutexom</a:t>
            </a:r>
            <a:endParaRPr lang="en-GB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353FE5E-030C-40D6-9DFF-3A98600577DD}"/>
              </a:ext>
            </a:extLst>
          </p:cNvPr>
          <p:cNvSpPr/>
          <p:nvPr/>
        </p:nvSpPr>
        <p:spPr>
          <a:xfrm>
            <a:off x="1046448" y="1164240"/>
            <a:ext cx="8247888" cy="386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Zaključavanje (čeka dok ne dobije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lock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Otključavanje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Pokušaj zaključavanja (ne čeka!)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pthread_mutex_trylock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*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Vraća: 0 (uspjeh) ili EBUSY (već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locked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Sve vraćaju: </a:t>
            </a:r>
          </a:p>
          <a:p>
            <a:pPr marL="285750" indent="-285750">
              <a:buFontTx/>
              <a:buChar char="-"/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0 = uspjeh, </a:t>
            </a:r>
          </a:p>
          <a:p>
            <a:pPr marL="285750" indent="-285750">
              <a:buFontTx/>
              <a:buChar char="-"/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error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code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greška</a:t>
            </a:r>
          </a:p>
        </p:txBody>
      </p:sp>
    </p:spTree>
    <p:extLst>
      <p:ext uri="{BB962C8B-B14F-4D97-AF65-F5344CB8AC3E}">
        <p14:creationId xmlns:p14="http://schemas.microsoft.com/office/powerpoint/2010/main" val="4051114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596080FC-91FF-69CE-FEC8-2E4F6FFCD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8650CF4B-9BE6-822F-3F83-B8A724E1C056}"/>
              </a:ext>
            </a:extLst>
          </p:cNvPr>
          <p:cNvSpPr txBox="1"/>
          <p:nvPr/>
        </p:nvSpPr>
        <p:spPr>
          <a:xfrm rot="16200000">
            <a:off x="-1961568" y="3199140"/>
            <a:ext cx="49500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Kritična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sekcija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(Critical Section)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5F9D10A5-FBD7-7FEA-C7B1-CD706671321A}"/>
              </a:ext>
            </a:extLst>
          </p:cNvPr>
          <p:cNvSpPr/>
          <p:nvPr/>
        </p:nvSpPr>
        <p:spPr>
          <a:xfrm>
            <a:off x="896112" y="189747"/>
            <a:ext cx="8247888" cy="6478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PTHREAD_MUTEX_INITIALIZER;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shared_counter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0;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increment_thread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1000000; i++)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shared_counter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++;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t1, t2;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(&amp;t1,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increment_thread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(&amp;t2, NULL,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increment_thread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(t1, NULL);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(t2, NULL);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Counter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%d\n",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shared_counter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// Uvijek 2000000!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BF3541-F0C4-4D01-B9DB-32519D75F11A}"/>
              </a:ext>
            </a:extLst>
          </p:cNvPr>
          <p:cNvSpPr/>
          <p:nvPr/>
        </p:nvSpPr>
        <p:spPr>
          <a:xfrm>
            <a:off x="1883391" y="2088107"/>
            <a:ext cx="2511188" cy="518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6B96E-5346-D64B-3887-03D46EE853D3}"/>
              </a:ext>
            </a:extLst>
          </p:cNvPr>
          <p:cNvSpPr txBox="1"/>
          <p:nvPr/>
        </p:nvSpPr>
        <p:spPr>
          <a:xfrm>
            <a:off x="4547372" y="2162748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rgbClr val="FF0000"/>
                </a:solidFill>
              </a:rPr>
              <a:t>Kritična sekcija</a:t>
            </a:r>
          </a:p>
        </p:txBody>
      </p:sp>
    </p:spTree>
    <p:extLst>
      <p:ext uri="{BB962C8B-B14F-4D97-AF65-F5344CB8AC3E}">
        <p14:creationId xmlns:p14="http://schemas.microsoft.com/office/powerpoint/2010/main" val="85128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BB24BCE6-6F78-7EC4-2BC1-4D2D81FB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F730281B-925C-C156-C3A3-EAF49EA83EDB}"/>
              </a:ext>
            </a:extLst>
          </p:cNvPr>
          <p:cNvSpPr txBox="1"/>
          <p:nvPr/>
        </p:nvSpPr>
        <p:spPr>
          <a:xfrm rot="16200000">
            <a:off x="-2295253" y="3199140"/>
            <a:ext cx="5617424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BEZ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mutexa</a:t>
            </a:r>
            <a:r>
              <a:rPr lang="en-GB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(race condition)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D038CC1A-8119-4C00-50CC-2447D5394E95}"/>
              </a:ext>
            </a:extLst>
          </p:cNvPr>
          <p:cNvSpPr/>
          <p:nvPr/>
        </p:nvSpPr>
        <p:spPr>
          <a:xfrm>
            <a:off x="896112" y="189747"/>
            <a:ext cx="8247888" cy="6478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counter = 0;  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Globalna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varijabla</a:t>
            </a:r>
            <a:endParaRPr lang="en-US" sz="18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void*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bad_increment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(void*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100000;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counter++;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Race condition!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threads[10];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(&amp;threads[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NULL,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bad_increment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(threads[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NULL);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("Counter: %d\n", counter);</a:t>
            </a:r>
          </a:p>
          <a:p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Očekivano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1000000</a:t>
            </a:r>
          </a:p>
          <a:p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Stvarno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847392, 923018, 991234... (random!)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8545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E51B7039-11D9-184D-D46C-CDD00A78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3A11B752-6321-2C1E-DB0B-3868301AFA42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rPr lang="en-US" sz="2400" dirty="0">
                <a:solidFill>
                  <a:srgbClr val="39C0BA"/>
                </a:solidFill>
              </a:rPr>
              <a:t>Pravila </a:t>
            </a:r>
            <a:r>
              <a:rPr lang="en-US" sz="2400" dirty="0" err="1">
                <a:solidFill>
                  <a:srgbClr val="39C0BA"/>
                </a:solidFill>
              </a:rPr>
              <a:t>korištenja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mutexa</a:t>
            </a:r>
            <a:endParaRPr lang="en-US" sz="2400" dirty="0">
              <a:solidFill>
                <a:srgbClr val="39C0BA"/>
              </a:solidFill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F71E8417-5F10-BBF3-6BB4-596FF79105B6}"/>
              </a:ext>
            </a:extLst>
          </p:cNvPr>
          <p:cNvSpPr/>
          <p:nvPr/>
        </p:nvSpPr>
        <p:spPr>
          <a:xfrm>
            <a:off x="1046448" y="1164240"/>
            <a:ext cx="8247888" cy="386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DOBRO: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1.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- čim ulazimo u kritičnu sekciju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2.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Unlock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- čim izlazimo iz kritične sekcije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3. Držati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što KRAĆE moguće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4. Uvijek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unlock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isti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koji smo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lockali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5. Ne pozivati blokirajuće funkcije unutar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locka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LOŠE: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1. Zaboraviti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unlock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→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deadlock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2.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Lockati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isti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dva puta →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deadlock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3. Držati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predugo → performanse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4.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sleep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 ili I/O unutar kritične sekcije</a:t>
            </a:r>
          </a:p>
        </p:txBody>
      </p:sp>
    </p:spTree>
    <p:extLst>
      <p:ext uri="{BB962C8B-B14F-4D97-AF65-F5344CB8AC3E}">
        <p14:creationId xmlns:p14="http://schemas.microsoft.com/office/powerpoint/2010/main" val="2799127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A136B280-9D54-9033-C758-7278069A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13515A0C-54FA-1FBE-56CD-C9E59673EABC}"/>
              </a:ext>
            </a:extLst>
          </p:cNvPr>
          <p:cNvSpPr txBox="1"/>
          <p:nvPr/>
        </p:nvSpPr>
        <p:spPr>
          <a:xfrm rot="16200000">
            <a:off x="-2915360" y="31993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rPr lang="en-US" sz="2400" dirty="0" err="1">
                <a:solidFill>
                  <a:srgbClr val="39C0BA"/>
                </a:solidFill>
              </a:rPr>
              <a:t>Optimizacija</a:t>
            </a:r>
            <a:r>
              <a:rPr lang="en-US" sz="2400" dirty="0">
                <a:solidFill>
                  <a:srgbClr val="39C0BA"/>
                </a:solidFill>
              </a:rPr>
              <a:t> - </a:t>
            </a:r>
            <a:r>
              <a:rPr lang="en-US" sz="2400" dirty="0" err="1">
                <a:solidFill>
                  <a:srgbClr val="39C0BA"/>
                </a:solidFill>
              </a:rPr>
              <a:t>lokalno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računanje</a:t>
            </a:r>
            <a:endParaRPr lang="en-US" sz="2400" dirty="0">
              <a:solidFill>
                <a:srgbClr val="39C0BA"/>
              </a:solidFill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D84220D3-6946-D935-3D13-65FAF9BC7897}"/>
              </a:ext>
            </a:extLst>
          </p:cNvPr>
          <p:cNvSpPr/>
          <p:nvPr/>
        </p:nvSpPr>
        <p:spPr>
          <a:xfrm>
            <a:off x="1087391" y="274492"/>
            <a:ext cx="8247888" cy="645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// SPORO - </a:t>
            </a:r>
            <a:r>
              <a:rPr lang="hr-HR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</a:t>
            </a: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 za svaki </a:t>
            </a:r>
            <a:r>
              <a:rPr lang="hr-HR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increment</a:t>
            </a:r>
            <a:endParaRPr lang="hr-HR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slow_version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1000000; i++)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  </a:t>
            </a: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// 1 milijun </a:t>
            </a:r>
            <a:r>
              <a:rPr lang="hr-HR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lockova</a:t>
            </a: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!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global_sum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+= i;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 sz="1100">
                <a:latin typeface="Courier New"/>
              </a:defRPr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accent3"/>
                </a:solidFill>
                <a:latin typeface="Consolas" panose="020B0609020204030204" pitchFamily="49" charset="0"/>
              </a:rPr>
              <a:t>// BRZO - </a:t>
            </a:r>
            <a:r>
              <a:rPr lang="hr-HR" sz="1800" dirty="0" err="1">
                <a:solidFill>
                  <a:schemeClr val="accent3"/>
                </a:solidFill>
                <a:latin typeface="Consolas" panose="020B0609020204030204" pitchFamily="49" charset="0"/>
              </a:rPr>
              <a:t>lock</a:t>
            </a:r>
            <a:r>
              <a:rPr lang="hr-HR" sz="1800" dirty="0">
                <a:solidFill>
                  <a:schemeClr val="accent3"/>
                </a:solidFill>
                <a:latin typeface="Consolas" panose="020B0609020204030204" pitchFamily="49" charset="0"/>
              </a:rPr>
              <a:t> samo za finalni zbroj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fast_version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local_sum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0;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Lokalno - bez race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condition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!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1000000; i++) {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local_sum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+= i;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Bez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locka</a:t>
            </a:r>
            <a:endParaRPr lang="hr-HR" sz="18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      </a:t>
            </a:r>
            <a:r>
              <a:rPr lang="hr-HR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Samo JEDAN </a:t>
            </a:r>
            <a:r>
              <a:rPr lang="hr-HR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lock</a:t>
            </a:r>
            <a:endParaRPr lang="hr-HR" sz="18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global_sum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+=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local_sum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pPr>
              <a:defRPr sz="1100">
                <a:latin typeface="Courier New"/>
              </a:defRPr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3988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47AADE48-16E9-AB79-6AD8-1C0644E6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85560BFB-38B4-A9BC-232D-7F78EEF0BA5F}"/>
              </a:ext>
            </a:extLst>
          </p:cNvPr>
          <p:cNvSpPr txBox="1"/>
          <p:nvPr/>
        </p:nvSpPr>
        <p:spPr>
          <a:xfrm rot="16200000">
            <a:off x="-2915360" y="31993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rPr lang="en-US" sz="2400" dirty="0" err="1">
                <a:solidFill>
                  <a:srgbClr val="39C0BA"/>
                </a:solidFill>
              </a:rPr>
              <a:t>Primjer</a:t>
            </a:r>
            <a:r>
              <a:rPr lang="en-US" sz="2400" dirty="0">
                <a:solidFill>
                  <a:srgbClr val="39C0BA"/>
                </a:solidFill>
              </a:rPr>
              <a:t> 1 - </a:t>
            </a:r>
            <a:r>
              <a:rPr lang="en-US" sz="2400" dirty="0" err="1">
                <a:solidFill>
                  <a:srgbClr val="39C0BA"/>
                </a:solidFill>
              </a:rPr>
              <a:t>Paralelno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računanje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sume</a:t>
            </a:r>
            <a:endParaRPr lang="en-US" sz="2400" dirty="0">
              <a:solidFill>
                <a:srgbClr val="39C0BA"/>
              </a:solidFill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97396B4-7892-854B-5909-43108838F7AF}"/>
              </a:ext>
            </a:extLst>
          </p:cNvPr>
          <p:cNvSpPr/>
          <p:nvPr/>
        </p:nvSpPr>
        <p:spPr>
          <a:xfrm>
            <a:off x="1046447" y="-100821"/>
            <a:ext cx="8247888" cy="645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#define NUM_THREADS 4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#define ARRAY_SIZE 10000000</a:t>
            </a:r>
          </a:p>
          <a:p>
            <a:endParaRPr lang="en-US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array[ARRAY_SIZE];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 long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global_sum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sum_mutex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PTHREAD_MUTEX_INITIALIZER;</a:t>
            </a:r>
          </a:p>
          <a:p>
            <a:endParaRPr lang="en-US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 struct {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thread_id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start_index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end_index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ThreadData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void*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compute_partial_sum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(void*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ThreadData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data = 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ThreadData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*)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long long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local_sum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data-&gt;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start_index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data-&gt;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end_index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local_sum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array[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7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pthread_mutex_lock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sum_mutex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global_sum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local_sum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pthread_mutex_unlock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sum_mutex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654930-CDE3-2E89-1D85-BE39EE6F0D98}"/>
              </a:ext>
            </a:extLst>
          </p:cNvPr>
          <p:cNvSpPr/>
          <p:nvPr/>
        </p:nvSpPr>
        <p:spPr>
          <a:xfrm>
            <a:off x="5804728" y="5554639"/>
            <a:ext cx="2251881" cy="42308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Samo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akumulacija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treba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mutex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9C64AC-9ABD-0A61-8A01-6D4E53749D96}"/>
              </a:ext>
            </a:extLst>
          </p:cNvPr>
          <p:cNvSpPr/>
          <p:nvPr/>
        </p:nvSpPr>
        <p:spPr>
          <a:xfrm>
            <a:off x="6523630" y="3739486"/>
            <a:ext cx="2156347" cy="43672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Lokalno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BEZ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mutexa</a:t>
            </a:r>
            <a:endParaRPr lang="hr-HR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04420A2-B254-C72A-2E13-697D82D42370}"/>
              </a:ext>
            </a:extLst>
          </p:cNvPr>
          <p:cNvSpPr/>
          <p:nvPr/>
        </p:nvSpPr>
        <p:spPr>
          <a:xfrm rot="16200000">
            <a:off x="5223682" y="1108879"/>
            <a:ext cx="388961" cy="6523633"/>
          </a:xfrm>
          <a:prstGeom prst="rightBrace">
            <a:avLst>
              <a:gd name="adj1" fmla="val 8333"/>
              <a:gd name="adj2" fmla="val 688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5991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AF68090C-1497-4447-C2D9-1E0C323E3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4A65B325-D2C2-DA5B-5DA4-DA3D0CB53A36}"/>
              </a:ext>
            </a:extLst>
          </p:cNvPr>
          <p:cNvSpPr txBox="1"/>
          <p:nvPr/>
        </p:nvSpPr>
        <p:spPr>
          <a:xfrm rot="16200000">
            <a:off x="-2915360" y="31993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rPr lang="en-US" sz="2400" dirty="0" err="1">
                <a:solidFill>
                  <a:srgbClr val="39C0BA"/>
                </a:solidFill>
              </a:rPr>
              <a:t>Primjer</a:t>
            </a:r>
            <a:r>
              <a:rPr lang="en-US" sz="2400" dirty="0">
                <a:solidFill>
                  <a:srgbClr val="39C0BA"/>
                </a:solidFill>
              </a:rPr>
              <a:t> 2 - </a:t>
            </a:r>
            <a:r>
              <a:rPr lang="en-US" sz="2400" dirty="0" err="1">
                <a:solidFill>
                  <a:srgbClr val="39C0BA"/>
                </a:solidFill>
              </a:rPr>
              <a:t>Višestruki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rezultati</a:t>
            </a:r>
            <a:endParaRPr lang="en-US" sz="2400" dirty="0">
              <a:solidFill>
                <a:srgbClr val="39C0BA"/>
              </a:solidFill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40E5CFD2-8811-58D8-0B5F-F2380B934BA0}"/>
              </a:ext>
            </a:extLst>
          </p:cNvPr>
          <p:cNvSpPr/>
          <p:nvPr/>
        </p:nvSpPr>
        <p:spPr>
          <a:xfrm>
            <a:off x="896112" y="-1"/>
            <a:ext cx="8247888" cy="755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100">
                <a:latin typeface="Courier New"/>
              </a:defRP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 struct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min;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max;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count;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Result;</a:t>
            </a:r>
          </a:p>
          <a:p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void*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analyze_range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(void*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int* range = (int*)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start = range[0];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end = range[1];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Result* res = malloc(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(Result));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res-&gt;min = start;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res-&gt;max = start;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res-&gt;count = 0;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start;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&lt;= end;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res-&gt;min) res-&gt;min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res-&gt;max) res-&gt;max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res-&gt;count++;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(void*)res;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683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3911</Words>
  <Application>Microsoft Office PowerPoint</Application>
  <PresentationFormat>Prikaz na zaslonu (4:3)</PresentationFormat>
  <Paragraphs>614</Paragraphs>
  <Slides>37</Slides>
  <Notes>37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37</vt:i4>
      </vt:variant>
    </vt:vector>
  </HeadingPairs>
  <TitlesOfParts>
    <vt:vector size="45" baseType="lpstr">
      <vt:lpstr>Wingdings</vt:lpstr>
      <vt:lpstr>Arial</vt:lpstr>
      <vt:lpstr>Quicksand</vt:lpstr>
      <vt:lpstr>Cambria</vt:lpstr>
      <vt:lpstr>Consolas</vt:lpstr>
      <vt:lpstr>Office Theme</vt:lpstr>
      <vt:lpstr>Office Theme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modified xsi:type="dcterms:W3CDTF">2025-10-30T11:40:22Z</dcterms:modified>
</cp:coreProperties>
</file>