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embedTrueTypeFonts="1" saveSubsetFonts="1" autoCompressPictures="0">
  <p:sldMasterIdLst>
    <p:sldMasterId id="2147483684" r:id="rId1"/>
    <p:sldMasterId id="2147483685" r:id="rId2"/>
    <p:sldMasterId id="2147483686" r:id="rId3"/>
  </p:sldMasterIdLst>
  <p:notesMasterIdLst>
    <p:notesMasterId r:id="rId55"/>
  </p:notesMasterIdLst>
  <p:sldIdLst>
    <p:sldId id="256" r:id="rId4"/>
    <p:sldId id="30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x="9144000" cy="6858000" type="screen4x3"/>
  <p:notesSz cx="6858000" cy="9144000"/>
  <p:embeddedFontLst>
    <p:embeddedFont>
      <p:font typeface="Cambria" panose="02040503050406030204" pitchFamily="18" charset="0"/>
      <p:regular r:id="rId56"/>
      <p:bold r:id="rId57"/>
      <p:italic r:id="rId58"/>
      <p:boldItalic r:id="rId59"/>
    </p:embeddedFont>
    <p:embeddedFont>
      <p:font typeface="Quicksand" panose="020B0604020202020204" charset="0"/>
      <p:regular r:id="rId60"/>
      <p:bold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Zadana sekcija" id="{4B09214C-8D60-4C8A-A618-A240BF348DCB}">
          <p14:sldIdLst>
            <p14:sldId id="256"/>
            <p14:sldId id="30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C0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818" autoAdjust="0"/>
  </p:normalViewPr>
  <p:slideViewPr>
    <p:cSldViewPr snapToGrid="0">
      <p:cViewPr varScale="1">
        <p:scale>
          <a:sx n="100" d="100"/>
          <a:sy n="100" d="100"/>
        </p:scale>
        <p:origin x="18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63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font" Target="fonts/font3.fntdata"/><Relationship Id="rId5" Type="http://schemas.openxmlformats.org/officeDocument/2006/relationships/slide" Target="slides/slide2.xml"/><Relationship Id="rId61" Type="http://schemas.openxmlformats.org/officeDocument/2006/relationships/font" Target="fonts/font6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font" Target="fonts/font1.fntdata"/><Relationship Id="rId64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4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font" Target="fonts/font2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font" Target="fonts/font5.fntdata"/><Relationship Id="rId65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hr-HR" dirty="0"/>
          </a:p>
        </p:txBody>
      </p:sp>
      <p:sp>
        <p:nvSpPr>
          <p:cNvPr id="168" name="Google Shape;1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22424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hr-HR" dirty="0"/>
          </a:p>
        </p:txBody>
      </p:sp>
      <p:sp>
        <p:nvSpPr>
          <p:cNvPr id="180" name="Google Shape;1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192" name="Google Shape;1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hr-HR" dirty="0"/>
          </a:p>
        </p:txBody>
      </p:sp>
      <p:sp>
        <p:nvSpPr>
          <p:cNvPr id="200" name="Google Shape;2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6" name="Google Shape;2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hr-HR" dirty="0"/>
          </a:p>
        </p:txBody>
      </p:sp>
      <p:sp>
        <p:nvSpPr>
          <p:cNvPr id="214" name="Google Shape;2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2" name="Google Shape;2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0" name="Google Shape;2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6" name="Google Shape;2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3" name="Google Shape;2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  <p:sp>
        <p:nvSpPr>
          <p:cNvPr id="257" name="Google Shape;25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3" name="Google Shape;2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1" name="Google Shape;2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7" name="Google Shape;27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4" name="Google Shape;28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0" name="Google Shape;29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6" name="Google Shape;29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2" name="Google Shape;30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8" name="Google Shape;30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4" name="Google Shape;31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0" name="Google Shape;32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7" name="Google Shape;32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3" name="Google Shape;33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9" name="Google Shape;33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5" name="Google Shape;34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1" name="Google Shape;35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7" name="Google Shape;35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f69cc81f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f69cc81f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f69cc81f4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gf69cc81f4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5" name="Google Shape;38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2" name="Google Shape;39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67e3c643a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0" name="Google Shape;400;g167e3c643a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67e3c643a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g167e3c643a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167e3c643a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g167e3c643a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67e3c643a3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3" name="Google Shape;423;g167e3c643a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67e3c643a3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g167e3c643a3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67e3c643a3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g167e3c643a3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167e3c643a3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g167e3c643a3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67e3c643a3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4" name="Google Shape;464;g167e3c643a3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67e3c643a3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1" name="Google Shape;471;g167e3c643a3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67e3c643a3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8" name="Google Shape;478;g167e3c643a3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67e3c643a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5" name="Google Shape;485;g167e3c643a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1" name="Google Shape;49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7" name="Google Shape;49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9" name="Google Shape;50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subTitle" idx="1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3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4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3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4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5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6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ubTitle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>
            <a:spLocks noGrp="1"/>
          </p:cNvSpPr>
          <p:nvPr>
            <p:ph type="subTitle" idx="1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body" idx="3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body" idx="2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body" idx="4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6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2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body" idx="3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body" idx="4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6"/>
          <p:cNvSpPr txBox="1">
            <a:spLocks noGrp="1"/>
          </p:cNvSpPr>
          <p:nvPr>
            <p:ph type="body" idx="5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body" idx="6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2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3"/>
          <p:cNvSpPr txBox="1">
            <a:spLocks noGrp="1"/>
          </p:cNvSpPr>
          <p:nvPr>
            <p:ph type="subTitle" idx="1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4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4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4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5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5"/>
          <p:cNvSpPr txBox="1">
            <a:spLocks noGrp="1"/>
          </p:cNvSpPr>
          <p:nvPr>
            <p:ph type="body" idx="3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6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7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body" idx="2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8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8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2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body" idx="3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body" idx="4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9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9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9"/>
          <p:cNvSpPr txBox="1">
            <a:spLocks noGrp="1"/>
          </p:cNvSpPr>
          <p:nvPr>
            <p:ph type="body" idx="2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9"/>
          <p:cNvSpPr txBox="1">
            <a:spLocks noGrp="1"/>
          </p:cNvSpPr>
          <p:nvPr>
            <p:ph type="body" idx="3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9"/>
          <p:cNvSpPr txBox="1">
            <a:spLocks noGrp="1"/>
          </p:cNvSpPr>
          <p:nvPr>
            <p:ph type="body" idx="4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9"/>
          <p:cNvSpPr txBox="1">
            <a:spLocks noGrp="1"/>
          </p:cNvSpPr>
          <p:nvPr>
            <p:ph type="body" idx="5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9"/>
          <p:cNvSpPr txBox="1">
            <a:spLocks noGrp="1"/>
          </p:cNvSpPr>
          <p:nvPr>
            <p:ph type="body" idx="6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3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319040" y="2876400"/>
            <a:ext cx="6680160" cy="15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903600" y="3563640"/>
            <a:ext cx="360" cy="32940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8" name="Google Shape;8;p1"/>
          <p:cNvSpPr/>
          <p:nvPr/>
        </p:nvSpPr>
        <p:spPr>
          <a:xfrm>
            <a:off x="768960" y="3294360"/>
            <a:ext cx="268920" cy="268920"/>
          </a:xfrm>
          <a:prstGeom prst="ellipse">
            <a:avLst/>
          </a:prstGeom>
          <a:solidFill>
            <a:srgbClr val="39C0BA"/>
          </a:solidFill>
          <a:ln w="284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37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903960" y="-7920"/>
            <a:ext cx="360" cy="6865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61" name="Google Shape;61;p14"/>
          <p:cNvSpPr/>
          <p:nvPr/>
        </p:nvSpPr>
        <p:spPr>
          <a:xfrm>
            <a:off x="493560" y="3018960"/>
            <a:ext cx="819720" cy="819720"/>
          </a:xfrm>
          <a:prstGeom prst="ellipse">
            <a:avLst/>
          </a:prstGeom>
          <a:solidFill>
            <a:srgbClr val="39C0BA"/>
          </a:solidFill>
          <a:ln w="284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037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>
            <a:spLocks noGrp="1"/>
          </p:cNvSpPr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body" idx="1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body" idx="2"/>
          </p:nvPr>
        </p:nvSpPr>
        <p:spPr>
          <a:xfrm>
            <a:off x="46717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5" name="Google Shape;115;p27"/>
          <p:cNvSpPr/>
          <p:nvPr/>
        </p:nvSpPr>
        <p:spPr>
          <a:xfrm>
            <a:off x="903960" y="-7920"/>
            <a:ext cx="360" cy="6865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116" name="Google Shape;116;p27"/>
          <p:cNvSpPr/>
          <p:nvPr/>
        </p:nvSpPr>
        <p:spPr>
          <a:xfrm>
            <a:off x="808560" y="800640"/>
            <a:ext cx="189720" cy="189720"/>
          </a:xfrm>
          <a:prstGeom prst="ellipse">
            <a:avLst/>
          </a:prstGeom>
          <a:solidFill>
            <a:srgbClr val="39C0BA"/>
          </a:solidFill>
          <a:ln w="284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768960" y="1861920"/>
            <a:ext cx="268920" cy="268920"/>
          </a:xfrm>
          <a:prstGeom prst="ellipse">
            <a:avLst/>
          </a:prstGeom>
          <a:solidFill>
            <a:srgbClr val="2E3037"/>
          </a:solidFill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mhjrI-aW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0"/>
          <p:cNvSpPr txBox="1"/>
          <p:nvPr/>
        </p:nvSpPr>
        <p:spPr>
          <a:xfrm>
            <a:off x="1319040" y="2876400"/>
            <a:ext cx="6680160" cy="15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6000" b="0" i="0" u="none" strike="noStrike" cap="non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Paralelno programiranje</a:t>
            </a:r>
            <a:endParaRPr sz="6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B2BB279-3267-1691-A954-4DFD0360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z="3600" dirty="0">
                <a:solidFill>
                  <a:srgbClr val="39C0BA"/>
                </a:solidFill>
              </a:rPr>
              <a:t>Općenite informacije o kolegiju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F7B8EB8F-8D3E-139D-4569-935ACE81A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5320" y="1600199"/>
            <a:ext cx="7426230" cy="5000626"/>
          </a:xfrm>
        </p:spPr>
        <p:txBody>
          <a:bodyPr>
            <a:normAutofit/>
          </a:bodyPr>
          <a:lstStyle/>
          <a:p>
            <a:r>
              <a:rPr lang="hr-HR" sz="2000" dirty="0">
                <a:solidFill>
                  <a:schemeClr val="bg1"/>
                </a:solidFill>
              </a:rPr>
              <a:t>Predavanja:</a:t>
            </a:r>
          </a:p>
          <a:p>
            <a:pPr marL="5143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dirty="0">
                <a:solidFill>
                  <a:schemeClr val="bg1"/>
                </a:solidFill>
              </a:rPr>
              <a:t>Doc. dr. sc. Antonia Ivanda – ured A416 (prvih 7. tjedana)</a:t>
            </a:r>
          </a:p>
          <a:p>
            <a:pPr marL="5143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dirty="0">
                <a:solidFill>
                  <a:schemeClr val="bg1"/>
                </a:solidFill>
              </a:rPr>
              <a:t>Prof. dr. sc. Damir </a:t>
            </a:r>
            <a:r>
              <a:rPr lang="hr-HR" sz="2000" dirty="0" err="1">
                <a:solidFill>
                  <a:schemeClr val="bg1"/>
                </a:solidFill>
              </a:rPr>
              <a:t>Krstinić</a:t>
            </a:r>
            <a:r>
              <a:rPr lang="hr-HR" sz="2000" dirty="0">
                <a:solidFill>
                  <a:schemeClr val="bg1"/>
                </a:solidFill>
              </a:rPr>
              <a:t> – ured B502 (preostalih 6. tjedana)</a:t>
            </a:r>
          </a:p>
          <a:p>
            <a:pPr marL="228600" indent="0">
              <a:buClr>
                <a:schemeClr val="bg1"/>
              </a:buClr>
            </a:pPr>
            <a:endParaRPr lang="hr-HR" sz="2000" dirty="0">
              <a:solidFill>
                <a:schemeClr val="bg1"/>
              </a:solidFill>
            </a:endParaRPr>
          </a:p>
          <a:p>
            <a:r>
              <a:rPr lang="hr-HR" sz="2000" dirty="0">
                <a:solidFill>
                  <a:schemeClr val="bg1"/>
                </a:solidFill>
              </a:rPr>
              <a:t>Laboratorijske vježbe:</a:t>
            </a:r>
          </a:p>
          <a:p>
            <a:pPr marL="5143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dirty="0" err="1">
                <a:solidFill>
                  <a:schemeClr val="bg1"/>
                </a:solidFill>
              </a:rPr>
              <a:t>Univ</a:t>
            </a:r>
            <a:r>
              <a:rPr lang="hr-HR" sz="2000" dirty="0">
                <a:solidFill>
                  <a:schemeClr val="bg1"/>
                </a:solidFill>
              </a:rPr>
              <a:t>. mag. ing. </a:t>
            </a:r>
            <a:r>
              <a:rPr lang="hr-HR" sz="2000" dirty="0" err="1">
                <a:solidFill>
                  <a:schemeClr val="bg1"/>
                </a:solidFill>
              </a:rPr>
              <a:t>comp</a:t>
            </a:r>
            <a:r>
              <a:rPr lang="hr-HR" sz="2000" dirty="0">
                <a:solidFill>
                  <a:schemeClr val="bg1"/>
                </a:solidFill>
              </a:rPr>
              <a:t>. Jakov </a:t>
            </a:r>
            <a:r>
              <a:rPr lang="hr-HR" sz="2000" dirty="0" err="1">
                <a:solidFill>
                  <a:schemeClr val="bg1"/>
                </a:solidFill>
              </a:rPr>
              <a:t>Bejo</a:t>
            </a:r>
            <a:r>
              <a:rPr lang="hr-HR" sz="2000" dirty="0">
                <a:solidFill>
                  <a:schemeClr val="bg1"/>
                </a:solidFill>
              </a:rPr>
              <a:t> – laboratorij B411</a:t>
            </a:r>
          </a:p>
          <a:p>
            <a:pPr marL="5143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hr-HR" sz="2000" dirty="0">
                <a:solidFill>
                  <a:schemeClr val="bg1"/>
                </a:solidFill>
              </a:rPr>
              <a:t>Način ocjenjivanja definiran je u sustavu FESB Nastava.</a:t>
            </a:r>
          </a:p>
          <a:p>
            <a:pPr marL="5143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r-HR" sz="2000" dirty="0">
              <a:solidFill>
                <a:schemeClr val="bg1"/>
              </a:solidFill>
            </a:endParaRPr>
          </a:p>
          <a:p>
            <a:pPr marL="5143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hr-HR" sz="2000" dirty="0">
              <a:solidFill>
                <a:schemeClr val="bg1"/>
              </a:solidFill>
            </a:endParaRPr>
          </a:p>
          <a:p>
            <a:pPr marL="228600" indent="0">
              <a:buClr>
                <a:schemeClr val="bg1"/>
              </a:buClr>
            </a:pPr>
            <a:r>
              <a:rPr lang="hr-HR" dirty="0">
                <a:solidFill>
                  <a:schemeClr val="bg1"/>
                </a:solidFill>
              </a:rPr>
              <a:t>Preduvjet za pristupanje ispitu je prisustvovanje na najmanje 70% predavanja i 70% laboratorijskih vježbi, prema Članku 16. Pravilnika o studijima i sustavu studiranja Fakulteta elektrotehnike, strojarstva i brodogradnje u Splitu. </a:t>
            </a:r>
            <a:endParaRPr lang="hr-H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56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/>
          <p:cNvSpPr txBox="1"/>
          <p:nvPr/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Uvod</a:t>
            </a:r>
            <a:endParaRPr sz="3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1"/>
          <p:cNvSpPr txBox="1"/>
          <p:nvPr/>
        </p:nvSpPr>
        <p:spPr>
          <a:xfrm>
            <a:off x="1530000" y="3710520"/>
            <a:ext cx="6927480" cy="47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0" i="0" u="none" strike="noStrike" cap="none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rPr>
              <a:t>Računanje i programiranje, serijsko i paralelno programiranje 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7" name="Google Shape;177;p41"/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i="0" u="none" strike="noStrike" cap="none">
                <a:solidFill>
                  <a:srgbClr val="2E3037"/>
                </a:solidFill>
                <a:latin typeface="Quicksand"/>
                <a:ea typeface="Quicksand"/>
                <a:cs typeface="Quicksand"/>
                <a:sym typeface="Quicksand"/>
              </a:rPr>
              <a:t>1</a:t>
            </a:r>
            <a:endParaRPr sz="30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Zašto paralelno računanje (programiranje)?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2"/>
          <p:cNvSpPr/>
          <p:nvPr/>
        </p:nvSpPr>
        <p:spPr>
          <a:xfrm>
            <a:off x="1038600" y="1224000"/>
            <a:ext cx="7300440" cy="50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2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200"/>
              <a:buFont typeface="Quicksand"/>
              <a:buChar char="●"/>
            </a:pPr>
            <a:r>
              <a:rPr lang="hr-HR" sz="2200" b="1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Rješavanje problema brže nego što bi to bilo moguće slijednim (serijskim) računanjem</a:t>
            </a:r>
            <a:endParaRPr sz="22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200"/>
              <a:buFont typeface="Quicksand"/>
              <a:buChar char="●"/>
            </a:pPr>
            <a:r>
              <a:rPr lang="hr-HR" sz="2200" b="1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Može li rast računalne moći osigurati dovoljnu računalnu snagu za rješavanje sve zahtjevnijih problema?</a:t>
            </a:r>
            <a:endParaRPr sz="22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1800" b="1" i="0" u="none" strike="noStrike" cap="non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	</a:t>
            </a:r>
            <a:r>
              <a:rPr lang="hr-HR" sz="1800" b="1" i="0" u="sng" strike="noStrike" cap="non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FLOPS – Floating Point Operations per Second: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Char char="○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1950: 100 FLOPS-a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Char char="○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Danas: 10</a:t>
            </a:r>
            <a:r>
              <a:rPr lang="hr-HR" sz="1800" b="1" i="0" u="none" strike="noStrike" cap="none" baseline="300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18</a:t>
            </a: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FLOPS-a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902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None/>
            </a:pP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C9211E"/>
              </a:buClr>
              <a:buSzPts val="2200"/>
              <a:buFont typeface="Quicksand"/>
              <a:buChar char="●"/>
            </a:pPr>
            <a:r>
              <a:rPr lang="hr-HR" sz="2200" b="1" i="0" u="sng" strike="noStrike" cap="non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Mooreov zakon:</a:t>
            </a:r>
            <a:endParaRPr sz="2200" b="0" i="0" u="none" strike="noStrike" cap="none">
              <a:solidFill>
                <a:srgbClr val="C9211E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72000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Broj tranzistora u integriranom krugu udvostručuje se otprilike svake dvije godine</a:t>
            </a:r>
            <a:endParaRPr sz="22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2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3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Goordon Moore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3"/>
          <p:cNvSpPr/>
          <p:nvPr/>
        </p:nvSpPr>
        <p:spPr>
          <a:xfrm>
            <a:off x="1038600" y="1224000"/>
            <a:ext cx="7300440" cy="50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2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200"/>
              <a:buFont typeface="Quicksand"/>
              <a:buChar char="●"/>
            </a:pPr>
            <a:r>
              <a:rPr lang="hr-HR" sz="2200" b="1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1965: </a:t>
            </a:r>
            <a:br>
              <a:rPr lang="hr-HR" sz="1800" b="0" i="0" u="none" strike="noStrike" cap="none">
                <a:latin typeface="Arial"/>
                <a:ea typeface="Arial"/>
                <a:cs typeface="Arial"/>
                <a:sym typeface="Arial"/>
              </a:rPr>
            </a:br>
            <a:r>
              <a:rPr lang="hr-HR" sz="2200" b="1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Predviđa udvostručenje broja komponenti po integriranom krugu svake godine (trend počinje izumom integriranog kruga 1958. g)</a:t>
            </a:r>
            <a:endParaRPr sz="22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200"/>
              <a:buFont typeface="Quicksand"/>
              <a:buChar char="●"/>
            </a:pPr>
            <a:r>
              <a:rPr lang="hr-HR" sz="2200" b="1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1975:</a:t>
            </a:r>
            <a:br>
              <a:rPr lang="hr-HR" sz="1800" b="0" i="0" u="none" strike="noStrike" cap="none">
                <a:latin typeface="Arial"/>
                <a:ea typeface="Arial"/>
                <a:cs typeface="Arial"/>
                <a:sym typeface="Arial"/>
              </a:rPr>
            </a:br>
            <a:r>
              <a:rPr lang="hr-HR" sz="2200" b="1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Revidira svoje prognozu i predviđa udvostručenje svake dvije godine</a:t>
            </a:r>
            <a:endParaRPr sz="22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885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200"/>
              <a:buFont typeface="Quicksand"/>
              <a:buNone/>
            </a:pPr>
            <a:endParaRPr sz="22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2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4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4"/>
          <p:cNvSpPr/>
          <p:nvPr/>
        </p:nvSpPr>
        <p:spPr>
          <a:xfrm>
            <a:off x="1038600" y="1224000"/>
            <a:ext cx="7300440" cy="50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1393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400"/>
              <a:buFont typeface="Quicksand"/>
              <a:buNone/>
            </a:pPr>
            <a:endParaRPr sz="1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393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400"/>
              <a:buFont typeface="Quicksand"/>
              <a:buNone/>
            </a:pPr>
            <a:endParaRPr sz="1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4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96" name="Google Shape;196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6000" y="123120"/>
            <a:ext cx="8414640" cy="614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4"/>
          <p:cNvSpPr txBox="1"/>
          <p:nvPr/>
        </p:nvSpPr>
        <p:spPr>
          <a:xfrm>
            <a:off x="1136520" y="6294240"/>
            <a:ext cx="6639480" cy="40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0" i="1" strike="noStrike">
                <a:solidFill>
                  <a:schemeClr val="lt1"/>
                </a:solidFill>
                <a:highlight>
                  <a:schemeClr val="dk1"/>
                </a:highlight>
                <a:latin typeface="Cambria"/>
                <a:ea typeface="Cambria"/>
                <a:cs typeface="Cambria"/>
                <a:sym typeface="Cambria"/>
              </a:rPr>
              <a:t>Izvor: https://en.wikipedia.org/wiki/Moore’s_law</a:t>
            </a:r>
            <a:endParaRPr sz="1800" b="0" strike="noStrike">
              <a:solidFill>
                <a:schemeClr val="lt1"/>
              </a:solidFill>
              <a:highlight>
                <a:schemeClr val="dk1"/>
              </a:highlight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5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Brzina računanja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5"/>
          <p:cNvSpPr/>
          <p:nvPr/>
        </p:nvSpPr>
        <p:spPr>
          <a:xfrm>
            <a:off x="1038600" y="1224000"/>
            <a:ext cx="7300440" cy="50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2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200"/>
              <a:buFont typeface="Quicksand"/>
              <a:buChar char="●"/>
            </a:pP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Brzina računanja (brzina računala) određena je trajanjem jednog ciklusa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200"/>
              <a:buFont typeface="Quicksand"/>
              <a:buChar char="●"/>
            </a:pPr>
            <a:r>
              <a:rPr lang="hr-HR" sz="22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Trajanje ciklusa ograničeno je fizikalnim limitima: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Quicksand"/>
              <a:buChar char="○"/>
            </a:pPr>
            <a:r>
              <a:rPr lang="hr-HR" sz="22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brzina svjetlosti: 3*10</a:t>
            </a:r>
            <a:r>
              <a:rPr lang="hr-HR" sz="2200" b="1" i="0" u="none" strike="noStrike" cap="none" baseline="300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8</a:t>
            </a:r>
            <a:r>
              <a:rPr lang="hr-HR" sz="22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m/s (30 cm/ns)</a:t>
            </a:r>
            <a:endParaRPr sz="22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Quicksand"/>
              <a:buChar char="○"/>
            </a:pPr>
            <a:r>
              <a:rPr lang="hr-HR" sz="2200" b="1" i="0" u="sng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brzina signala u bakrenom vodiču: 9 cm/ns</a:t>
            </a:r>
            <a:endParaRPr sz="22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648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Quicksand"/>
              <a:buNone/>
            </a:pPr>
            <a:endParaRPr sz="22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6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Brzina računanja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6"/>
          <p:cNvSpPr/>
          <p:nvPr/>
        </p:nvSpPr>
        <p:spPr>
          <a:xfrm>
            <a:off x="1038600" y="1224000"/>
            <a:ext cx="7300440" cy="50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2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200"/>
              <a:buFont typeface="Quicksand"/>
              <a:buChar char="●"/>
            </a:pP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Brzina računanja (brzina računala) određena je trajanjem jednog ciklusa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200"/>
              <a:buFont typeface="Quicksand"/>
              <a:buChar char="●"/>
            </a:pPr>
            <a:r>
              <a:rPr lang="hr-HR" sz="22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Trajanje ciklusa ograničeno je fizikalnim limitima: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Quicksand"/>
              <a:buChar char="○"/>
            </a:pPr>
            <a:r>
              <a:rPr lang="hr-HR" sz="22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brzina svjetlosti: 3*10</a:t>
            </a:r>
            <a:r>
              <a:rPr lang="hr-HR" sz="2200" b="1" i="0" u="none" strike="noStrike" cap="none" baseline="300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8</a:t>
            </a:r>
            <a:r>
              <a:rPr lang="hr-HR" sz="22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m/s (30 cm/ns)</a:t>
            </a:r>
            <a:endParaRPr sz="22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Quicksand"/>
              <a:buChar char="○"/>
            </a:pPr>
            <a:r>
              <a:rPr lang="hr-HR" sz="2200" b="1" i="0" u="sng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brzina signala u bakrenom vodiču: 9 cm/ns</a:t>
            </a:r>
            <a:endParaRPr sz="22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648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Quicksand"/>
              <a:buNone/>
            </a:pPr>
            <a:endParaRPr sz="22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10" name="Google Shape;210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0080" y="144000"/>
            <a:ext cx="7729920" cy="54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46"/>
          <p:cNvSpPr txBox="1"/>
          <p:nvPr/>
        </p:nvSpPr>
        <p:spPr>
          <a:xfrm>
            <a:off x="576000" y="5672160"/>
            <a:ext cx="8568000" cy="102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0" i="1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Rieger, Michael. (2019). Retrospective on VLSI value scaling and lithography. Journal of Micro/Nanolithography, MEMS, and MOEMS. </a:t>
            </a:r>
            <a:endParaRPr sz="1800" b="0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7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7"/>
          <p:cNvSpPr/>
          <p:nvPr/>
        </p:nvSpPr>
        <p:spPr>
          <a:xfrm>
            <a:off x="1038600" y="1224000"/>
            <a:ext cx="7300440" cy="50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1393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400"/>
              <a:buFont typeface="Quicksand"/>
              <a:buNone/>
            </a:pPr>
            <a:endParaRPr sz="1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393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400"/>
              <a:buFont typeface="Quicksand"/>
              <a:buNone/>
            </a:pPr>
            <a:endParaRPr sz="1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4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18" name="Google Shape;21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8000" y="432000"/>
            <a:ext cx="7821360" cy="575604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47"/>
          <p:cNvSpPr txBox="1"/>
          <p:nvPr/>
        </p:nvSpPr>
        <p:spPr>
          <a:xfrm>
            <a:off x="1033920" y="6294240"/>
            <a:ext cx="7462080" cy="71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0" i="1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Izvor: https://www.rvdp.org/posts/2019/the-end-of-moores-law/</a:t>
            </a:r>
            <a:endParaRPr sz="1800" b="0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8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8"/>
          <p:cNvSpPr/>
          <p:nvPr/>
        </p:nvSpPr>
        <p:spPr>
          <a:xfrm>
            <a:off x="1038600" y="1224000"/>
            <a:ext cx="7300440" cy="50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1393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400"/>
              <a:buFont typeface="Quicksand"/>
              <a:buNone/>
            </a:pPr>
            <a:endParaRPr sz="1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393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400"/>
              <a:buFont typeface="Quicksand"/>
              <a:buNone/>
            </a:pPr>
            <a:endParaRPr sz="1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4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6" name="Google Shape;226;p48"/>
          <p:cNvSpPr txBox="1"/>
          <p:nvPr/>
        </p:nvSpPr>
        <p:spPr>
          <a:xfrm>
            <a:off x="1033920" y="6294240"/>
            <a:ext cx="7462080" cy="71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0" i="1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Izvor: https://www.rvdp.org/posts/2019/the-end-of-moores-law/</a:t>
            </a:r>
            <a:endParaRPr sz="1800" b="0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27" name="Google Shape;227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7880" y="360000"/>
            <a:ext cx="7701840" cy="57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9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Korištenje višestrukih resursa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9"/>
          <p:cNvSpPr/>
          <p:nvPr/>
        </p:nvSpPr>
        <p:spPr>
          <a:xfrm>
            <a:off x="1038600" y="1224000"/>
            <a:ext cx="7300440" cy="50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2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200"/>
              <a:buFont typeface="Quicksand"/>
              <a:buChar char="●"/>
            </a:pP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Paralelizacija na razini sklopovlja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○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Višejezgreni procesori: dual/quad/octa/.../n core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○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Pipelining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○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Hyperthreading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○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FPGA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○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GPU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200"/>
              <a:buFont typeface="Quicksand"/>
              <a:buChar char="●"/>
            </a:pP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Korištenje višestrukog sklopovlja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○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Cluster – homogeno sklopovlje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○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Grid – heterogeno sklopovlje, prostorno distribuirano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○"/>
            </a:pPr>
            <a:r>
              <a:rPr lang="hr-HR" sz="2000" b="1" i="0" u="none" strike="noStrike" cap="none">
                <a:solidFill>
                  <a:srgbClr val="999999"/>
                </a:solidFill>
                <a:latin typeface="Quicksand"/>
                <a:ea typeface="Quicksand"/>
                <a:cs typeface="Quicksand"/>
                <a:sym typeface="Quicksand"/>
              </a:rPr>
              <a:t>Cloud – client/server arhitektura, orjentirana prvenstveno na visoku dostupnost usluga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77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None/>
            </a:pP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0"/>
          <p:cNvSpPr txBox="1"/>
          <p:nvPr/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Paralelno vs. serijsko programiranje</a:t>
            </a:r>
            <a:endParaRPr sz="3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50"/>
          <p:cNvSpPr txBox="1"/>
          <p:nvPr/>
        </p:nvSpPr>
        <p:spPr>
          <a:xfrm>
            <a:off x="1530000" y="3710520"/>
            <a:ext cx="6927480" cy="47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0" strike="noStrike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rPr>
              <a:t>Serijsko i paralelno rješavanje problema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0" name="Google Shape;240;p50"/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strike="noStrike">
                <a:solidFill>
                  <a:srgbClr val="2E3037"/>
                </a:solidFill>
                <a:latin typeface="Quicksand"/>
                <a:ea typeface="Quicksand"/>
                <a:cs typeface="Quicksand"/>
                <a:sym typeface="Quicksand"/>
              </a:rPr>
              <a:t>2</a:t>
            </a:r>
            <a:endParaRPr sz="30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1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Serijsko (slijedno) računanje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1"/>
          <p:cNvSpPr/>
          <p:nvPr/>
        </p:nvSpPr>
        <p:spPr>
          <a:xfrm>
            <a:off x="1038600" y="1224000"/>
            <a:ext cx="7300440" cy="50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2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Problem se rastavlja na male diskretne korake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icksand"/>
              <a:buChar char="○"/>
            </a:pPr>
            <a:r>
              <a:rPr lang="hr-HR" sz="16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svaki korak opisuje se jednostavnom instrukcijom</a:t>
            </a:r>
            <a:endParaRPr sz="16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icksand"/>
              <a:buChar char="○"/>
            </a:pPr>
            <a:r>
              <a:rPr lang="hr-HR" sz="16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instrukcije se odvijaju u nizu jedna za drugom, redom kako su navedene, ni jedna instrukcija ne može se izvršiti dok prethodna instrukcija nije završila s izvršavanjem</a:t>
            </a:r>
            <a:endParaRPr sz="16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Instrukcije se izvršavaju na jednom procesoru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 svakom trenutku izvršava se samo jedna instrukcija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139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Pri tom nije važna programerska paradigma koja se koristi za rješavanje problema!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1800" b="1" strike="noStrike">
                <a:solidFill>
                  <a:srgbClr val="81ACA6"/>
                </a:solidFill>
                <a:latin typeface="Quicksand"/>
                <a:ea typeface="Quicksand"/>
                <a:cs typeface="Quicksand"/>
                <a:sym typeface="Quicksand"/>
              </a:rPr>
              <a:t>(npr. proceduralno vs. </a:t>
            </a:r>
            <a:r>
              <a:rPr lang="hr-HR" sz="1800" b="1">
                <a:solidFill>
                  <a:srgbClr val="81ACA6"/>
                </a:solidFill>
                <a:latin typeface="Quicksand"/>
                <a:ea typeface="Quicksand"/>
                <a:cs typeface="Quicksand"/>
                <a:sym typeface="Quicksand"/>
              </a:rPr>
              <a:t>o</a:t>
            </a:r>
            <a:r>
              <a:rPr lang="hr-HR" sz="1800" b="1" strike="noStrike">
                <a:solidFill>
                  <a:srgbClr val="81ACA6"/>
                </a:solidFill>
                <a:latin typeface="Quicksand"/>
                <a:ea typeface="Quicksand"/>
                <a:cs typeface="Quicksand"/>
                <a:sym typeface="Quicksand"/>
              </a:rPr>
              <a:t>bjektno orijentirano programiranje)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902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None/>
            </a:pP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2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Serijsko programiranje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2"/>
          <p:cNvSpPr/>
          <p:nvPr/>
        </p:nvSpPr>
        <p:spPr>
          <a:xfrm>
            <a:off x="1038600" y="1224000"/>
            <a:ext cx="7300440" cy="50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2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Problem se rastavlja na male diskretne korake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icksand"/>
              <a:buChar char="○"/>
            </a:pPr>
            <a:r>
              <a:rPr lang="hr-HR" sz="16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svaki korak opisuje se jednostavnom instrukcijom</a:t>
            </a:r>
            <a:endParaRPr sz="16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icksand"/>
              <a:buChar char="○"/>
            </a:pPr>
            <a:r>
              <a:rPr lang="hr-HR" sz="16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instrukcije se odvijaju u nizu jedna za drugom, redom kako su navedene, ni jedna instrukcija ne može se izvršiti dok prethodna instrukcija nije završila s izvršavanjem</a:t>
            </a:r>
            <a:endParaRPr sz="16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Instrukcije se izvršavaju na jednom procesoru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 svakom trenutku izvršava se samo jedna instrukcija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902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None/>
            </a:pP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53" name="Google Shape;253;p52" descr="izvor: https://hpc.llnl.gov/training/tutorials/introduction-parallel-computing-tutori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8000" y="3600000"/>
            <a:ext cx="6336000" cy="262224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52"/>
          <p:cNvSpPr txBox="1"/>
          <p:nvPr/>
        </p:nvSpPr>
        <p:spPr>
          <a:xfrm>
            <a:off x="1368000" y="6237000"/>
            <a:ext cx="73509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b="0" i="1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Izvor: https://hpc.llnl.gov/training/tutorials/introduction-parallel-computing-tutorial</a:t>
            </a:r>
            <a:endParaRPr b="0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3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Paralelno računanje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3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2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Paralelno računanje je istovremeno korištenje višestrukih resursa za brže (efikasnije) rješavanje složenih računskih problema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Problem se rastavlja na diskretne dijelove koji se mogu izvršavati istovremeno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Svaki od dijelova dalje se rastavlja na male diskretne korake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icksand"/>
              <a:buChar char="○"/>
            </a:pPr>
            <a:r>
              <a:rPr lang="hr-HR" sz="16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svaki korak opisuje se jednostavnom instrukcijom</a:t>
            </a:r>
            <a:endParaRPr sz="16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icksand"/>
              <a:buChar char="○"/>
            </a:pPr>
            <a:r>
              <a:rPr lang="hr-HR" sz="16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instrukcije se odvijaju u nizu jedna za drugom, redom kako su navedene, ni jedna instrukcija ne može se izvršiti dok prethodna instrukcija nije završila s izvršavanjem</a:t>
            </a:r>
            <a:endParaRPr sz="16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4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Paralelno računanje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4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2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Paralelno računanje je istovremeno korištenje višestrukih resursa za brže (efikasnije) rješavanje složenih računskih problema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Problem se rastavlja na diskretne dijelove koji se mogu izvršavati istovremeno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Svaki od dijelova dalje se rastavlja na male diskretne korake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icksand"/>
              <a:buChar char="○"/>
            </a:pPr>
            <a:r>
              <a:rPr lang="hr-HR" sz="16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svaki korak opisuje se jednostavnom instrukcijom</a:t>
            </a:r>
            <a:endParaRPr sz="16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icksand"/>
              <a:buChar char="○"/>
            </a:pPr>
            <a:r>
              <a:rPr lang="hr-HR" sz="16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instrukcije se odvijaju u nizu jedna za drugom, redom kako su navedene, ni jedna instrukcija ne može se izvršiti dok prethodna instrukcija nije završila s izvršavanjem</a:t>
            </a:r>
            <a:endParaRPr sz="16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67" name="Google Shape;267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8000" y="3080880"/>
            <a:ext cx="6505200" cy="354312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54"/>
          <p:cNvSpPr txBox="1"/>
          <p:nvPr/>
        </p:nvSpPr>
        <p:spPr>
          <a:xfrm>
            <a:off x="1368000" y="6577200"/>
            <a:ext cx="63360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 b="0" i="1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Izvor: https://hpc.llnl.gov/training/tutorials/introduction-parallel-computing-tutorial</a:t>
            </a:r>
            <a:endParaRPr sz="1200" b="0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5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Paralelno računanje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55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2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Rasčlanjivanje složenih postupaka (problema) na jednostavnije dijelove koji se mogu izvršavati istovremeno na višestrukim računalnim resursima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Manji i jednostavniji dijelovi problema koji se izvršavaju istovremeno često dijele isti ili slične korake (isti ili sličan programski kod)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Dijelovi koji se izvršavaju istovremeno međusobno komuniciraju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icksand"/>
              <a:buChar char="○"/>
            </a:pPr>
            <a:r>
              <a:rPr lang="hr-HR" sz="16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putem zajedničke (dijeljene) memorije</a:t>
            </a:r>
            <a:endParaRPr sz="16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icksand"/>
              <a:buChar char="○"/>
            </a:pPr>
            <a:r>
              <a:rPr lang="hr-HR" sz="16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Razmjenom poruka</a:t>
            </a:r>
            <a:endParaRPr sz="16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Po završetku izvršavanje rezultati se kombiniraju za dobivanje konačnog rezultata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6"/>
          <p:cNvSpPr txBox="1"/>
          <p:nvPr/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Složenost</a:t>
            </a:r>
            <a:endParaRPr sz="3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56"/>
          <p:cNvSpPr txBox="1"/>
          <p:nvPr/>
        </p:nvSpPr>
        <p:spPr>
          <a:xfrm>
            <a:off x="1530000" y="3710520"/>
            <a:ext cx="6927480" cy="47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0" strike="noStrike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rPr>
              <a:t>Algoritmi i alati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1" name="Google Shape;281;p56"/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0" strike="noStrike">
                <a:solidFill>
                  <a:srgbClr val="2E3037"/>
                </a:solidFill>
                <a:latin typeface="Quicksand"/>
                <a:ea typeface="Quicksand"/>
                <a:cs typeface="Quicksand"/>
                <a:sym typeface="Quicksand"/>
              </a:rPr>
              <a:t>3</a:t>
            </a:r>
            <a:endParaRPr sz="30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7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Cilj: pronalaženje rješenja problema u što kraćem vremenu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57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Mogu li računala postati dovoljno snažna (i brza) za rješavanje svih problema?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Usvajanjem novih znanja postavljaju se nova pitanja i novi zahtjevi za većom računalnom moći: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139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Računala nikad neće postati dovoljno snažna za rješavanje svih računskih problema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Mogu li računala postati dovoljno snažna da riješe sve postojeće (trenutne) probleme?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8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Znanje i rješavanje problema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58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u="sng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Deklarativno znanje:</a:t>
            </a:r>
            <a:endParaRPr sz="2400" b="0" u="sng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Poznavanje, svijest ili razumijevanje o nekome ili nečemu stečeno učenjem ili iskustvom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Zbir svega opaženog, otkrivenog ili naučenog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”jabuka je voće”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”y je kvadratni korijen iz x samo ako je y*y=x”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139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	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	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139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9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Znanje i rješavanje problema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59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Deklarativno znanje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Poznavanje, svijest ili razumijevanje o nekome ili nečemu stečeno učenjem ili iskustvom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Zbir svega opaženog, otkrivenog ili naučenog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”jabuka je voće”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”y je kvadratni korijen iz x samo ako je y*y=x”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139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400" b="1" u="sng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Imeprativno (proceduralno) znanje: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Znanje koje se može koristiti u rješavanju zadataka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648000" marR="0" lvl="2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znanje o tome kako se određeni zadatak rješava – </a:t>
            </a:r>
            <a:r>
              <a:rPr lang="hr-HR" sz="1800" b="1" i="0" u="none" strike="noStrike" cap="non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recept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648000" marR="0" lvl="2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imperativno znanje često je teško opisati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648000" marR="0" lvl="2" indent="-21600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810"/>
              <a:buFont typeface="Noto Sans Symbols"/>
              <a:buChar char="●"/>
            </a:pPr>
            <a:r>
              <a:rPr lang="hr-HR" sz="1800" b="1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Veliki dio imperativnog znanja usvajamo bez da smo toga svjesni</a:t>
            </a:r>
            <a:br>
              <a:rPr lang="hr-HR" sz="1800" b="0" i="0" u="none" strike="noStrike" cap="none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	</a:t>
            </a:r>
            <a:br>
              <a:rPr lang="hr-HR" sz="1800" b="0" i="0" u="none" strike="noStrike" cap="none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i="0" u="none" strike="noStrike" cap="non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	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139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0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Rješavanje problema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0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Smatra se najsloženijom od svih intelektualnih funkcija, kognitivnim procesom višeg reda koji zahtijeva modulaciju i kontrolu više rutinskih i temeljnih vještina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400" b="1" u="sng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Matematičko rješavanje problema</a:t>
            </a:r>
            <a:endParaRPr sz="2400" b="0" u="sng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 obzirom na neke početne uvjete (</a:t>
            </a:r>
            <a:r>
              <a:rPr lang="hr-HR" sz="22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ulazni podaci</a:t>
            </a: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), definiranje niza koraka (</a:t>
            </a:r>
            <a:r>
              <a:rPr lang="hr-HR" sz="22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algoritam</a:t>
            </a: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 za postizanje željenih konačnih uvjeta (</a:t>
            </a:r>
            <a:r>
              <a:rPr lang="hr-HR" sz="22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izlazni podaci</a:t>
            </a: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	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	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139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1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Algoritam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61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hr-HR" sz="2200" b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Problem:</a:t>
            </a:r>
            <a:r>
              <a:rPr lang="hr-HR" sz="2200" b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zadatak koji treba riješiti </a:t>
            </a:r>
            <a:endParaRPr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hr-HR" sz="2200" b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Alat: </a:t>
            </a:r>
            <a:r>
              <a:rPr lang="hr-HR" sz="2200" b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uređaj ili tehnika sa skupom primitivnih operacija koje taj alat podržava</a:t>
            </a:r>
            <a:endParaRPr sz="1800" b="1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Algoritam predstavlja konačnu i jasno definiranu eksplicitnu kombinaciju primitivnih operacija koje alat podržava, a koje se izvršavaju određenim redoslijedom da bi od početnih uvjeta došli do konačnih uvjeta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	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	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139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2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Računalni alati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62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2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Problem:</a:t>
            </a: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zadatak koji treba riješiti 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Alat: </a:t>
            </a: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uređaj ili tehnika sa skupom primitivnih operacija koje taj alat podržava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Računalne probleme rješavamo korištenjem dostupnih alata:</a:t>
            </a: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Char char="○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Štapići i kamenčići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Char char="○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Olovka i papir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Char char="○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Abacus (2500BC)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Char char="○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Šiber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Char char="○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...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Char char="○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Digitalno računalo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Char char="○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...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Char char="○"/>
            </a:pPr>
            <a:r>
              <a:rPr lang="hr-HR" sz="18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Kvantno računalo?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902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None/>
            </a:pP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0000" y="72000"/>
            <a:ext cx="1931760" cy="150804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63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Računalni alati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63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Svaki alat ima pripadajući skup primitivnih operacija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Primitivne operacije mogu se kombinirati na različite način za izvođenje algoritma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</a:t>
            </a:r>
            <a:r>
              <a:rPr lang="hr-HR" sz="22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Primjer: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000"/>
              <a:buFont typeface="Quicksand"/>
              <a:buChar char="●"/>
            </a:pPr>
            <a:r>
              <a:rPr lang="hr-HR" sz="20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Alat: ravnalo i šestar</a:t>
            </a: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○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Ravnalo: crtanje ravne crte; mjerenje dužine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3045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icksand"/>
              <a:buChar char="○"/>
            </a:pPr>
            <a:r>
              <a:rPr lang="hr-HR" sz="2000" b="1" i="0" u="none" strike="noStrike" cap="non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Šestar: crtanje kružnica i lukova</a:t>
            </a:r>
            <a:endParaRPr sz="2000" b="0" i="0" u="none" strike="noStrike" cap="non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000"/>
              <a:buFont typeface="Quicksand"/>
              <a:buChar char="●"/>
            </a:pPr>
            <a:r>
              <a:rPr lang="hr-HR" sz="20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Problem: dijeljenje broja s 2</a:t>
            </a: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012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000"/>
              <a:buFont typeface="Quicksand"/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4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Omogućava li korištenje naprednijih alata jednostavnije rješavanje problema?</a:t>
            </a:r>
            <a:endParaRPr sz="24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521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Quicksand"/>
              <a:buNone/>
            </a:pPr>
            <a:endParaRPr sz="24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4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Turingov stroj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64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Hipotetski uređaj koji mehanički manipulira simbolima na vrpci prema tablici pravila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Princip rada: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600"/>
              <a:buFont typeface="Quicksand"/>
              <a:buChar char="●"/>
            </a:pPr>
            <a:r>
              <a:rPr lang="hr-HR" sz="16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Čita simbol s trake ispod glave za čitanje i pisanje</a:t>
            </a:r>
            <a:endParaRPr sz="16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600"/>
              <a:buFont typeface="Quicksand"/>
              <a:buChar char="●"/>
            </a:pPr>
            <a:r>
              <a:rPr lang="hr-HR" sz="16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Temeljem pročitanog simbola i internog stanja, logička jedinica prema tablici pravila generira novi simbol koji se zapisuje na traku, novo interno stanje i pomak glave za čitanje i pisanje</a:t>
            </a:r>
            <a:endParaRPr sz="16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600"/>
              <a:buFont typeface="Quicksand"/>
              <a:buChar char="●"/>
            </a:pPr>
            <a:r>
              <a:rPr lang="hr-HR" sz="16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Ukoliko je dostignuto zaustavno stanje, stroj se zaustavlja </a:t>
            </a:r>
            <a:endParaRPr sz="16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u="sng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Church-Turingova teza</a:t>
            </a:r>
            <a:endParaRPr sz="2000" b="1" u="sng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1800" b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Izračunljive funkcije su one i samo one koje su Turing-izračunljive</a:t>
            </a:r>
            <a:endParaRPr sz="18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Turingov stroj u potpunosti simulira logiku modernih računala, </a:t>
            </a:r>
            <a:r>
              <a:rPr lang="hr-HR" sz="20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tj. ne postoji problem koji je rješiv s najmodernijim računalom, a da nije ujedno i rješiv s Turingovim strojem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	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	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139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5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Algoritam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65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KONAČNOST:</a:t>
            </a: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ko</a:t>
            </a:r>
            <a:r>
              <a:rPr lang="hr-HR" sz="1800" b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</a:t>
            </a: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ačan broj koraka izvršavanja, algoritam u nekom trenutku dolazi u traženo zaustavno stanje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18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DEFINITIVNOST: </a:t>
            </a: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točno određen skup ulaznih i izlaznih vrijednosti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18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NEDVOSMISLENOST: </a:t>
            </a: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precizno definiran skup i redoslijed izvršavanja operacija na jeziku koje alat ili operater alata mogu razumjeti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18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KOMPLEKSNOST: </a:t>
            </a: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mjera složenosti izvršavanja algoritma (vremenska složenost, memorijska složenost, energetska složenost, ...)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	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	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139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66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Komplesnost (složenost) algoritma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6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Analiza složenosti algoritma je određivanje količine resursa potrebnih za izvršavanje algoritma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200"/>
              <a:buFont typeface="Quicksand"/>
              <a:buChar char="●"/>
            </a:pPr>
            <a:r>
              <a:rPr lang="hr-HR" sz="2200" b="1" u="sng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Vremenska složenost: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Kvantificir</a:t>
            </a:r>
            <a:r>
              <a:rPr lang="hr-HR" sz="1800" b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njae količinu vremena potrebnog za izvođenje algoritma kao funkcije veličine skupa ulaznih podataka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200"/>
              <a:buFont typeface="Quicksand"/>
              <a:buChar char="●"/>
            </a:pPr>
            <a:r>
              <a:rPr lang="hr-HR" sz="2200" b="1" u="sng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Memorijska složenost: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Kvantificiranje količine memorijskog prostora potrebnog za izvršavanje algoritma kao funkcije veličine skupa ulaznih podataka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902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None/>
            </a:pP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7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Komplesnost (složenost) algoritma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67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Kako izmjeriti i kvantificirati složenost?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Vremenska složenost: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22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Možemo li procijeniti vremensku složenost mjerenjem vremena potrebnog za izvršavanje algoritma?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885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200"/>
              <a:buFont typeface="Quicksand"/>
              <a:buNone/>
            </a:pP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648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Quicksand"/>
              <a:buNone/>
            </a:pPr>
            <a:endParaRPr sz="22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8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Komplesnost (složenost) algoritma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68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Kako izmjeriti i kvantificirati složenost?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Vremenska složenost: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22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Možemo li procijeniti vremensku složenost mjerenjem vremena potrebnog za izvršavanje algoritma?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Koje vrijeme izvršavanja možemo očekivati ako algoritam pokrenemo na drugom računalu</a:t>
            </a:r>
            <a:endParaRPr sz="18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Koje vrijeme izvršavanja možemo očekivati ako algoritam pokrenemo s drugim (većim ili manjim) skupom ulaznih podataka?</a:t>
            </a: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9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Komplesnost (složenost) algoritma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69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Primjer: sortiranje niza brojeva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 u="sng" strike="noStrike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Bubble sort: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885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200"/>
              <a:buFont typeface="Quicksand"/>
              <a:buNone/>
            </a:pP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0" i="0" u="sng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61" name="Google Shape;361;p69"/>
          <p:cNvSpPr txBox="1"/>
          <p:nvPr/>
        </p:nvSpPr>
        <p:spPr>
          <a:xfrm>
            <a:off x="904875" y="2276476"/>
            <a:ext cx="8000999" cy="3543300"/>
          </a:xfrm>
          <a:prstGeom prst="rect">
            <a:avLst/>
          </a:prstGeom>
          <a:solidFill>
            <a:srgbClr val="00D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36000" rIns="108000" bIns="108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A=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bubbleSort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(A)</a:t>
            </a: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n =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(A);	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duzina niza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for i = n:-1:1	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petlja kroz sve brojeve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for j=1:i-1	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unutarnja petlja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A(j) &gt; A(j+1)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ukoliko je </a:t>
            </a:r>
            <a:r>
              <a:rPr lang="hr-HR" sz="2000" b="1" strike="noStrike" dirty="0" err="1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iduci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manji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= A(j);	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zamijeni uzastopne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A(j) = A(j+1);</a:t>
            </a: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A(j+1) =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			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zaustavno stanje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70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Komplesnost (složenost) algoritma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70"/>
          <p:cNvSpPr/>
          <p:nvPr/>
        </p:nvSpPr>
        <p:spPr>
          <a:xfrm>
            <a:off x="1038600" y="1368000"/>
            <a:ext cx="730050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Ako sortiranje niza od 100 brojeva traje 5 sekundi, koliko će trajati sortiranje niza od 200 brojeva?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885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200"/>
              <a:buFont typeface="Quicksand"/>
              <a:buNone/>
            </a:pP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601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b="0" i="0" u="sng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Google Shape;361;p69">
            <a:extLst>
              <a:ext uri="{FF2B5EF4-FFF2-40B4-BE49-F238E27FC236}">
                <a16:creationId xmlns:a16="http://schemas.microsoft.com/office/drawing/2014/main" id="{F4CF6156-EB8A-5777-9949-6EDF8E0C3482}"/>
              </a:ext>
            </a:extLst>
          </p:cNvPr>
          <p:cNvSpPr txBox="1"/>
          <p:nvPr/>
        </p:nvSpPr>
        <p:spPr>
          <a:xfrm>
            <a:off x="904875" y="2276475"/>
            <a:ext cx="8000999" cy="3542400"/>
          </a:xfrm>
          <a:prstGeom prst="rect">
            <a:avLst/>
          </a:prstGeom>
          <a:solidFill>
            <a:srgbClr val="00D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36000" rIns="108000" bIns="108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A=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bubbleSort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(A)</a:t>
            </a: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n =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(A);	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duzina niza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for i = n:-1:1	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petlja kroz sve brojeve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for j=1:i-1	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unutarnja petlja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A(j) &gt; A(j+1)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ukoliko je </a:t>
            </a:r>
            <a:r>
              <a:rPr lang="hr-HR" sz="2000" b="1" strike="noStrike" dirty="0" err="1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iduci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 manji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= A(j);	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zamijeni uzastopne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A(j) = A(j+1);</a:t>
            </a: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A(j+1) =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			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zaustavno stanje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71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Komplesnost (složenost) algoritma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71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Ako sortiranje niza od 100 brojeva traje 5 sekundi, koliko će trajati sortiranje niza od 200 brojeva?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885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200"/>
              <a:buFont typeface="Quicksand"/>
              <a:buNone/>
            </a:pP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648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Quicksand"/>
              <a:buNone/>
            </a:pPr>
            <a:endParaRPr sz="22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5" name="Google Shape;375;p71"/>
          <p:cNvSpPr txBox="1"/>
          <p:nvPr/>
        </p:nvSpPr>
        <p:spPr>
          <a:xfrm>
            <a:off x="1082880" y="2376000"/>
            <a:ext cx="7965870" cy="3542400"/>
          </a:xfrm>
          <a:prstGeom prst="rect">
            <a:avLst/>
          </a:prstGeom>
          <a:solidFill>
            <a:srgbClr val="00D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36000" rIns="108000" bIns="108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A=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bubbleSort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(A)</a:t>
            </a: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n =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(A);	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Broj operacija: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for i = n:-1:1	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n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for j=1:i-1	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%(n-1)+(n-2)+...=n(n-1)/2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A(j) &gt; A(j+1)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broj zamjena ovisi o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= A(j);	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inicijalnom redoslijedu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A(j) = A(j+1);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brojeva u nizu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A(j+1) =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			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zaustavno stanje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72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Komplesnost (složenost) algoritma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72"/>
          <p:cNvSpPr/>
          <p:nvPr/>
        </p:nvSpPr>
        <p:spPr>
          <a:xfrm>
            <a:off x="1038600" y="1368000"/>
            <a:ext cx="730050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 dirty="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Ukupan broj operacija proporcionalan je s n</a:t>
            </a:r>
            <a:r>
              <a:rPr lang="hr-HR" sz="2200" b="1" baseline="30000" dirty="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2</a:t>
            </a:r>
            <a:r>
              <a:rPr lang="hr-HR" sz="2200" b="1" dirty="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 (ne može se točno predvidjeti)</a:t>
            </a:r>
            <a:br>
              <a:rPr lang="hr-HR" sz="1800" dirty="0">
                <a:latin typeface="Arial"/>
                <a:ea typeface="Arial"/>
                <a:cs typeface="Arial"/>
                <a:sym typeface="Arial"/>
              </a:rPr>
            </a:br>
            <a:br>
              <a:rPr lang="hr-HR" sz="1800" dirty="0">
                <a:latin typeface="Arial"/>
                <a:ea typeface="Arial"/>
                <a:cs typeface="Arial"/>
                <a:sym typeface="Arial"/>
              </a:rPr>
            </a:br>
            <a:br>
              <a:rPr lang="hr-HR" sz="1800" dirty="0">
                <a:latin typeface="Arial"/>
                <a:ea typeface="Arial"/>
                <a:cs typeface="Arial"/>
                <a:sym typeface="Arial"/>
              </a:rPr>
            </a:br>
            <a:br>
              <a:rPr lang="hr-HR" sz="1800" dirty="0">
                <a:latin typeface="Arial"/>
                <a:ea typeface="Arial"/>
                <a:cs typeface="Arial"/>
                <a:sym typeface="Arial"/>
              </a:rPr>
            </a:br>
            <a:br>
              <a:rPr lang="hr-HR" sz="1800" dirty="0">
                <a:latin typeface="Arial"/>
                <a:ea typeface="Arial"/>
                <a:cs typeface="Arial"/>
                <a:sym typeface="Arial"/>
              </a:rPr>
            </a:br>
            <a:br>
              <a:rPr lang="hr-HR" sz="1800" dirty="0">
                <a:latin typeface="Arial"/>
                <a:ea typeface="Arial"/>
                <a:cs typeface="Arial"/>
                <a:sym typeface="Arial"/>
              </a:rPr>
            </a:br>
            <a:br>
              <a:rPr lang="hr-HR" sz="1800" dirty="0">
                <a:latin typeface="Arial"/>
                <a:ea typeface="Arial"/>
                <a:cs typeface="Arial"/>
                <a:sym typeface="Arial"/>
              </a:rPr>
            </a:br>
            <a:br>
              <a:rPr lang="hr-HR" sz="1800" dirty="0">
                <a:latin typeface="Arial"/>
                <a:ea typeface="Arial"/>
                <a:cs typeface="Arial"/>
                <a:sym typeface="Arial"/>
              </a:rPr>
            </a:br>
            <a:br>
              <a:rPr lang="hr-HR" sz="1800" dirty="0">
                <a:latin typeface="Arial"/>
                <a:ea typeface="Arial"/>
                <a:cs typeface="Arial"/>
                <a:sym typeface="Arial"/>
              </a:rPr>
            </a:br>
            <a:br>
              <a:rPr lang="hr-HR" sz="1800" dirty="0">
                <a:latin typeface="Arial"/>
                <a:ea typeface="Arial"/>
                <a:cs typeface="Arial"/>
                <a:sym typeface="Arial"/>
              </a:rPr>
            </a:br>
            <a:br>
              <a:rPr lang="hr-HR" sz="1800" dirty="0">
                <a:latin typeface="Arial"/>
                <a:ea typeface="Arial"/>
                <a:cs typeface="Arial"/>
                <a:sym typeface="Arial"/>
              </a:rPr>
            </a:br>
            <a:br>
              <a:rPr lang="hr-HR" sz="1800" dirty="0">
                <a:latin typeface="Arial"/>
                <a:ea typeface="Arial"/>
                <a:cs typeface="Arial"/>
                <a:sym typeface="Arial"/>
              </a:rPr>
            </a:br>
            <a:endParaRPr sz="22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885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2200"/>
              <a:buFont typeface="Quicksand"/>
              <a:buNone/>
            </a:pPr>
            <a:endParaRPr sz="22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6485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Quicksand"/>
              <a:buNone/>
            </a:pPr>
            <a:endParaRPr sz="2200" b="0" i="0" u="none" strike="noStrike" cap="none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" name="Google Shape;375;p71">
            <a:extLst>
              <a:ext uri="{FF2B5EF4-FFF2-40B4-BE49-F238E27FC236}">
                <a16:creationId xmlns:a16="http://schemas.microsoft.com/office/drawing/2014/main" id="{8231C38C-1DC6-D139-0155-7F4022B45819}"/>
              </a:ext>
            </a:extLst>
          </p:cNvPr>
          <p:cNvSpPr txBox="1"/>
          <p:nvPr/>
        </p:nvSpPr>
        <p:spPr>
          <a:xfrm>
            <a:off x="1082880" y="2376000"/>
            <a:ext cx="7965870" cy="3542400"/>
          </a:xfrm>
          <a:prstGeom prst="rect">
            <a:avLst/>
          </a:prstGeom>
          <a:solidFill>
            <a:srgbClr val="00D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36000" rIns="108000" bIns="108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A=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bubbleSort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(A)</a:t>
            </a: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n =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(A);	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Broj operacija: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for i = n:-1:1	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n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for j=1:i-1	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%(n-1)+(n-2)+...=n(n-1)/2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A(j) &gt; A(j+1)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broj zamjena ovisi o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= A(j);	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inicijalnom redoslijedu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A(j) = A(j+1);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brojeva u nizu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A(j+1) =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hr-HR" sz="1800" b="1" strike="noStrike" dirty="0" err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hr-HR" sz="1800" b="1" strike="noStrike" dirty="0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				</a:t>
            </a:r>
            <a:r>
              <a:rPr lang="hr-HR" sz="2000" b="1" strike="noStrike" dirty="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% zaustavno stanje</a:t>
            </a:r>
            <a:endParaRPr sz="2000" b="0" strike="noStrike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3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Vremenska složenost Bubble sort algoritma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73"/>
          <p:cNvSpPr/>
          <p:nvPr/>
        </p:nvSpPr>
        <p:spPr>
          <a:xfrm>
            <a:off x="5472000" y="1440000"/>
            <a:ext cx="2867040" cy="3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Očekivano vrijeme izvršavanja: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i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n=100 </a:t>
            </a: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brojeva: 5s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i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n=200</a:t>
            </a: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brojeva: 20s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4 puta duže!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i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n=300</a:t>
            </a: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brojeva: 45s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9 puta duže!!!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139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902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None/>
            </a:pP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89" name="Google Shape;389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8080" y="1512000"/>
            <a:ext cx="4309920" cy="32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74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Klase složenosti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74"/>
          <p:cNvSpPr/>
          <p:nvPr/>
        </p:nvSpPr>
        <p:spPr>
          <a:xfrm>
            <a:off x="4824000" y="1368000"/>
            <a:ext cx="35150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2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Konstantna složenost: </a:t>
            </a:r>
            <a:r>
              <a:rPr lang="hr-HR" sz="1800" b="1" i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O(1)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Logaritamska složenost: </a:t>
            </a:r>
            <a:r>
              <a:rPr lang="hr-HR" sz="1800" b="1" i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O(log(n))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Linearna složenost: </a:t>
            </a:r>
            <a:r>
              <a:rPr lang="hr-HR" sz="1800" b="1" i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O(n)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22824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Char char="●"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Polinomska složenost: </a:t>
            </a:r>
            <a:r>
              <a:rPr lang="hr-HR" sz="1800" b="1" i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O(n</a:t>
            </a:r>
            <a:r>
              <a:rPr lang="hr-HR" sz="1800" b="1" i="1" strike="noStrike" baseline="3000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k</a:t>
            </a:r>
            <a:r>
              <a:rPr lang="hr-HR" sz="1800" b="1" i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u="sng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139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914400" marR="0" lvl="1" indent="-19026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Quicksand"/>
              <a:buNone/>
            </a:pPr>
            <a:endParaRPr sz="1800" b="0" i="0" u="none" strike="noStrike" cap="none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96" name="Google Shape;396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8560" y="1368000"/>
            <a:ext cx="3403440" cy="270828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74"/>
          <p:cNvSpPr/>
          <p:nvPr/>
        </p:nvSpPr>
        <p:spPr>
          <a:xfrm>
            <a:off x="1008000" y="4176000"/>
            <a:ext cx="7776000" cy="24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Složenost algoritma definira se brojem operacija i ovisnosti o veličini ulaznog skupa podataka: </a:t>
            </a:r>
            <a:r>
              <a:rPr lang="hr-HR" sz="1800" b="1" i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O(f(n))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Algoritam kompleksnosti </a:t>
            </a:r>
            <a:r>
              <a:rPr lang="hr-HR" sz="1800" b="1" i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O(3n)</a:t>
            </a: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u istoj je klasi kao i algoritma kompleksnosti </a:t>
            </a:r>
            <a:r>
              <a:rPr lang="hr-HR" sz="1800" b="1" i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O(n)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Efikasnost algoritma polinomske složenosti </a:t>
            </a:r>
            <a:r>
              <a:rPr lang="hr-HR" sz="1800" b="1" i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O(n</a:t>
            </a:r>
            <a:r>
              <a:rPr lang="hr-HR" sz="1800" b="1" i="1" strike="noStrike" baseline="3000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k</a:t>
            </a:r>
            <a:r>
              <a:rPr lang="hr-HR" sz="1800" b="1" i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) </a:t>
            </a: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ovisi o eksponentu </a:t>
            </a:r>
            <a:r>
              <a:rPr lang="hr-HR" sz="1800" b="1" i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k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75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Big-O notation</a:t>
            </a:r>
            <a:r>
              <a:rPr lang="hr-HR" sz="240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- mjera složenosti algoritma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75"/>
          <p:cNvSpPr/>
          <p:nvPr/>
        </p:nvSpPr>
        <p:spPr>
          <a:xfrm>
            <a:off x="1008000" y="1551775"/>
            <a:ext cx="7776000" cy="35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Pojednostavljena analiza složenosti algoritma:</a:t>
            </a: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-381000" algn="l" rtl="0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2400" b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definira složenost algoritma u odnosu na kardinalnost skupa ulaznih podataka </a:t>
            </a:r>
            <a:r>
              <a:rPr lang="hr-HR" sz="3000" b="1" i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N</a:t>
            </a:r>
            <a:br>
              <a:rPr lang="hr-HR" sz="3000" b="1" i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</a:br>
            <a:endParaRPr sz="900" b="1" i="1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Složenost ne ovisi o sklopovlju (machine-independent) - </a:t>
            </a:r>
            <a:r>
              <a:rPr lang="hr-HR" sz="3000" b="1" u="sng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daje procjenu složenosti samog algoritma</a:t>
            </a:r>
            <a:endParaRPr sz="3000" b="1" u="sng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900" b="1" u="sng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	</a:t>
            </a:r>
            <a:endParaRPr sz="24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4" name="Google Shape;404;p75"/>
          <p:cNvSpPr txBox="1"/>
          <p:nvPr/>
        </p:nvSpPr>
        <p:spPr>
          <a:xfrm>
            <a:off x="1165325" y="4920725"/>
            <a:ext cx="6959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-381000" algn="l" rtl="0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2400" b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time complexity</a:t>
            </a:r>
            <a:endParaRPr/>
          </a:p>
        </p:txBody>
      </p:sp>
      <p:sp>
        <p:nvSpPr>
          <p:cNvPr id="405" name="Google Shape;405;p75"/>
          <p:cNvSpPr txBox="1"/>
          <p:nvPr/>
        </p:nvSpPr>
        <p:spPr>
          <a:xfrm>
            <a:off x="1165325" y="5385675"/>
            <a:ext cx="527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-381000" algn="l" rtl="0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lang="hr-HR" sz="2400" b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space (memory) complexity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6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Big-O notation</a:t>
            </a:r>
            <a:r>
              <a:rPr lang="hr-HR" sz="240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- mjera složenosti algoritma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76"/>
          <p:cNvSpPr/>
          <p:nvPr/>
        </p:nvSpPr>
        <p:spPr>
          <a:xfrm>
            <a:off x="1008000" y="1551775"/>
            <a:ext cx="7776000" cy="35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Što mjeriti?</a:t>
            </a: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3000"/>
              <a:buFont typeface="Quicksand"/>
              <a:buChar char="●"/>
            </a:pPr>
            <a:r>
              <a:rPr lang="hr-HR" sz="3000" b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Najgori slučaj (worst-case scenario)</a:t>
            </a: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3000"/>
              <a:buFont typeface="Quicksand"/>
              <a:buChar char="●"/>
            </a:pPr>
            <a:r>
              <a:rPr lang="hr-HR" sz="3000" b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Najbolji slučaj (best-case scenario)</a:t>
            </a: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3000"/>
              <a:buFont typeface="Quicksand"/>
              <a:buChar char="●"/>
            </a:pPr>
            <a:r>
              <a:rPr lang="hr-HR" sz="3000" b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Prosječna složenost (average-case scenario)</a:t>
            </a: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12" name="Google Shape;412;p76"/>
          <p:cNvSpPr txBox="1"/>
          <p:nvPr/>
        </p:nvSpPr>
        <p:spPr>
          <a:xfrm>
            <a:off x="1008000" y="2462225"/>
            <a:ext cx="74433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3000"/>
              <a:buFont typeface="Quicksand"/>
              <a:buChar char="●"/>
            </a:pPr>
            <a:r>
              <a:rPr lang="hr-HR" sz="3000" b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Najgori slučaj (worst-case scenario)</a:t>
            </a:r>
            <a:endParaRPr sz="3000" b="1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u="sng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Korisno je razmotriti i preostala dva slučaja jer složenost u praksi može ovisiti o aplikaciji</a:t>
            </a:r>
            <a:endParaRPr sz="2400" b="1" u="sng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77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Big-O notation</a:t>
            </a:r>
            <a:r>
              <a:rPr lang="hr-HR" sz="240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- osnovna pravila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77"/>
          <p:cNvSpPr/>
          <p:nvPr/>
        </p:nvSpPr>
        <p:spPr>
          <a:xfrm>
            <a:off x="1008000" y="1551775"/>
            <a:ext cx="8136000" cy="35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3000"/>
              <a:buFont typeface="Quicksand"/>
              <a:buChar char="●"/>
            </a:pPr>
            <a:r>
              <a:rPr lang="hr-HR" sz="3000" b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Konstante se zanemaruju</a:t>
            </a: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O(9N) 			O(N)</a:t>
            </a:r>
            <a:endParaRPr sz="3000" b="1" i="1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 i="1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 i="1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3000"/>
              <a:buFont typeface="Quicksand"/>
              <a:buChar char="●"/>
            </a:pPr>
            <a:r>
              <a:rPr lang="hr-HR" sz="3000" b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Zanemaruje se složenost definirana u terminima nižeg reda</a:t>
            </a: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419" name="Google Shape;419;p77"/>
          <p:cNvCxnSpPr/>
          <p:nvPr/>
        </p:nvCxnSpPr>
        <p:spPr>
          <a:xfrm>
            <a:off x="3261750" y="2326675"/>
            <a:ext cx="968700" cy="0"/>
          </a:xfrm>
          <a:prstGeom prst="straightConnector1">
            <a:avLst/>
          </a:prstGeom>
          <a:noFill/>
          <a:ln w="28575" cap="flat" cmpd="sng">
            <a:solidFill>
              <a:srgbClr val="C9211E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0" name="Google Shape;420;p77"/>
          <p:cNvSpPr txBox="1"/>
          <p:nvPr/>
        </p:nvSpPr>
        <p:spPr>
          <a:xfrm>
            <a:off x="607675" y="4048950"/>
            <a:ext cx="8330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i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O(1) &lt; O(logN) &lt; O(N) &lt; O(NlogN) &lt; O(N</a:t>
            </a:r>
            <a:r>
              <a:rPr lang="hr-HR" sz="2400" b="1" i="1" baseline="3000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2</a:t>
            </a:r>
            <a:r>
              <a:rPr lang="hr-HR" sz="2400" b="1" i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) &lt; O(2</a:t>
            </a:r>
            <a:r>
              <a:rPr lang="hr-HR" sz="2400" b="1" i="1" baseline="3000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N</a:t>
            </a:r>
            <a:r>
              <a:rPr lang="hr-HR" sz="2400" b="1" i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) &lt; O(N!)</a:t>
            </a:r>
            <a:endParaRPr sz="2400" i="1">
              <a:solidFill>
                <a:srgbClr val="C9211E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78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Klase složenosti: konstantno vrijeme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78"/>
          <p:cNvSpPr/>
          <p:nvPr/>
        </p:nvSpPr>
        <p:spPr>
          <a:xfrm>
            <a:off x="639925" y="1532400"/>
            <a:ext cx="3822900" cy="8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x = 5 * (2 + 3)</a:t>
            </a: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27" name="Google Shape;427;p78"/>
          <p:cNvSpPr txBox="1"/>
          <p:nvPr/>
        </p:nvSpPr>
        <p:spPr>
          <a:xfrm>
            <a:off x="639925" y="2501125"/>
            <a:ext cx="35322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x = 5 * (2 + 3)</a:t>
            </a:r>
            <a:endParaRPr sz="3000" b="1" i="1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y = 2*x</a:t>
            </a:r>
            <a:endParaRPr sz="3000" b="1" i="1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x = -y</a:t>
            </a:r>
            <a:endParaRPr/>
          </a:p>
        </p:txBody>
      </p:sp>
      <p:cxnSp>
        <p:nvCxnSpPr>
          <p:cNvPr id="428" name="Google Shape;428;p78"/>
          <p:cNvCxnSpPr/>
          <p:nvPr/>
        </p:nvCxnSpPr>
        <p:spPr>
          <a:xfrm>
            <a:off x="4327200" y="1842300"/>
            <a:ext cx="1452900" cy="0"/>
          </a:xfrm>
          <a:prstGeom prst="straightConnector1">
            <a:avLst/>
          </a:prstGeom>
          <a:noFill/>
          <a:ln w="28575" cap="flat" cmpd="sng">
            <a:solidFill>
              <a:srgbClr val="39C0B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9" name="Google Shape;429;p78"/>
          <p:cNvCxnSpPr/>
          <p:nvPr/>
        </p:nvCxnSpPr>
        <p:spPr>
          <a:xfrm>
            <a:off x="4249700" y="2839075"/>
            <a:ext cx="1452900" cy="0"/>
          </a:xfrm>
          <a:prstGeom prst="straightConnector1">
            <a:avLst/>
          </a:prstGeom>
          <a:noFill/>
          <a:ln w="28575" cap="flat" cmpd="sng">
            <a:solidFill>
              <a:srgbClr val="39C0B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0" name="Google Shape;430;p78"/>
          <p:cNvCxnSpPr/>
          <p:nvPr/>
        </p:nvCxnSpPr>
        <p:spPr>
          <a:xfrm>
            <a:off x="4249700" y="3286075"/>
            <a:ext cx="1452900" cy="0"/>
          </a:xfrm>
          <a:prstGeom prst="straightConnector1">
            <a:avLst/>
          </a:prstGeom>
          <a:noFill/>
          <a:ln w="28575" cap="flat" cmpd="sng">
            <a:solidFill>
              <a:srgbClr val="39C0B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1" name="Google Shape;431;p78"/>
          <p:cNvCxnSpPr/>
          <p:nvPr/>
        </p:nvCxnSpPr>
        <p:spPr>
          <a:xfrm>
            <a:off x="4249700" y="3733075"/>
            <a:ext cx="1452900" cy="0"/>
          </a:xfrm>
          <a:prstGeom prst="straightConnector1">
            <a:avLst/>
          </a:prstGeom>
          <a:noFill/>
          <a:ln w="28575" cap="flat" cmpd="sng">
            <a:solidFill>
              <a:srgbClr val="39C0B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2" name="Google Shape;432;p78"/>
          <p:cNvSpPr/>
          <p:nvPr/>
        </p:nvSpPr>
        <p:spPr>
          <a:xfrm>
            <a:off x="6051450" y="1532400"/>
            <a:ext cx="1278600" cy="8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O(1)</a:t>
            </a: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33" name="Google Shape;433;p78"/>
          <p:cNvSpPr/>
          <p:nvPr/>
        </p:nvSpPr>
        <p:spPr>
          <a:xfrm>
            <a:off x="6051450" y="2459275"/>
            <a:ext cx="12786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O(1)</a:t>
            </a: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34" name="Google Shape;434;p78"/>
          <p:cNvSpPr/>
          <p:nvPr/>
        </p:nvSpPr>
        <p:spPr>
          <a:xfrm>
            <a:off x="6051450" y="2980825"/>
            <a:ext cx="1278600" cy="6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O(1)</a:t>
            </a: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35" name="Google Shape;435;p78"/>
          <p:cNvSpPr/>
          <p:nvPr/>
        </p:nvSpPr>
        <p:spPr>
          <a:xfrm>
            <a:off x="6051450" y="3443750"/>
            <a:ext cx="12786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O(1)</a:t>
            </a: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36" name="Google Shape;436;p78"/>
          <p:cNvSpPr/>
          <p:nvPr/>
        </p:nvSpPr>
        <p:spPr>
          <a:xfrm>
            <a:off x="6051450" y="4247275"/>
            <a:ext cx="1356000" cy="7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3 O(1)		</a:t>
            </a: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37" name="Google Shape;437;p78"/>
          <p:cNvSpPr/>
          <p:nvPr/>
        </p:nvSpPr>
        <p:spPr>
          <a:xfrm>
            <a:off x="7133725" y="2889838"/>
            <a:ext cx="1278600" cy="8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4800" b="1" i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+</a:t>
            </a:r>
            <a:endParaRPr sz="48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438" name="Google Shape;438;p78"/>
          <p:cNvCxnSpPr/>
          <p:nvPr/>
        </p:nvCxnSpPr>
        <p:spPr>
          <a:xfrm rot="10800000" flipH="1">
            <a:off x="6070825" y="4128225"/>
            <a:ext cx="2130900" cy="19500"/>
          </a:xfrm>
          <a:prstGeom prst="straightConnector1">
            <a:avLst/>
          </a:prstGeom>
          <a:noFill/>
          <a:ln w="38100" cap="flat" cmpd="sng">
            <a:solidFill>
              <a:srgbClr val="39C0BA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9" name="Google Shape;439;p78"/>
          <p:cNvSpPr/>
          <p:nvPr/>
        </p:nvSpPr>
        <p:spPr>
          <a:xfrm>
            <a:off x="6153225" y="4830293"/>
            <a:ext cx="1278600" cy="8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 dirty="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O(1)</a:t>
            </a:r>
            <a:endParaRPr sz="30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dirty="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8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4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9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900"/>
                            </p:stCondLst>
                            <p:childTnLst>
                              <p:par>
                                <p:cTn id="5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40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00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9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1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9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Klase složenosti: linearno vrijeme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79"/>
          <p:cNvSpPr/>
          <p:nvPr/>
        </p:nvSpPr>
        <p:spPr>
          <a:xfrm>
            <a:off x="639925" y="1532400"/>
            <a:ext cx="5198400" cy="30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y = 0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for x in range(N):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	y += x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print(y)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46" name="Google Shape;446;p79"/>
          <p:cNvSpPr/>
          <p:nvPr/>
        </p:nvSpPr>
        <p:spPr>
          <a:xfrm>
            <a:off x="4172275" y="1532400"/>
            <a:ext cx="4765800" cy="30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CE5CD"/>
                </a:solidFill>
                <a:latin typeface="Quicksand"/>
                <a:ea typeface="Quicksand"/>
                <a:cs typeface="Quicksand"/>
                <a:sym typeface="Quicksand"/>
              </a:rPr>
              <a:t># O(1)</a:t>
            </a:r>
            <a:endParaRPr sz="3000" b="1" i="1">
              <a:solidFill>
                <a:srgbClr val="FCE5CD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CE5CD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sz="3000" b="1" i="1">
              <a:solidFill>
                <a:srgbClr val="FCE5CD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CE5CD"/>
                </a:solidFill>
                <a:latin typeface="Quicksand"/>
                <a:ea typeface="Quicksand"/>
                <a:cs typeface="Quicksand"/>
                <a:sym typeface="Quicksand"/>
              </a:rPr>
              <a:t># O(1) —&gt; (N*O(1))</a:t>
            </a:r>
            <a:endParaRPr sz="3000" b="1" i="1">
              <a:solidFill>
                <a:srgbClr val="FCE5CD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rgbClr val="FCE5CD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CE5CD"/>
                </a:solidFill>
                <a:latin typeface="Quicksand"/>
                <a:ea typeface="Quicksand"/>
                <a:cs typeface="Quicksand"/>
                <a:sym typeface="Quicksand"/>
              </a:rPr>
              <a:t># O(1)</a:t>
            </a: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47" name="Google Shape;447;p79"/>
          <p:cNvSpPr/>
          <p:nvPr/>
        </p:nvSpPr>
        <p:spPr>
          <a:xfrm>
            <a:off x="639925" y="4399800"/>
            <a:ext cx="8162700" cy="19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O(1) + N * O(1) + O(1) —&gt; O(N)</a:t>
            </a:r>
            <a:endParaRPr sz="3000" b="1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80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Klase složenosti: kvadratno vrijeme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80"/>
          <p:cNvSpPr/>
          <p:nvPr/>
        </p:nvSpPr>
        <p:spPr>
          <a:xfrm>
            <a:off x="639925" y="1532400"/>
            <a:ext cx="5198400" cy="30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z = 0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h = 0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for x in range(N):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	h += x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	for y in range (N):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		z += x*y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print(h)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print(z)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54" name="Google Shape;454;p80"/>
          <p:cNvSpPr/>
          <p:nvPr/>
        </p:nvSpPr>
        <p:spPr>
          <a:xfrm>
            <a:off x="5412125" y="1532400"/>
            <a:ext cx="3732000" cy="30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CE5CD"/>
                </a:solidFill>
                <a:latin typeface="Quicksand"/>
                <a:ea typeface="Quicksand"/>
                <a:cs typeface="Quicksand"/>
                <a:sym typeface="Quicksand"/>
              </a:rPr>
              <a:t># O(1)</a:t>
            </a:r>
            <a:endParaRPr sz="3000" b="1" i="1">
              <a:solidFill>
                <a:srgbClr val="FCE5CD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CE5CD"/>
                </a:solidFill>
                <a:latin typeface="Quicksand"/>
                <a:ea typeface="Quicksand"/>
                <a:cs typeface="Quicksand"/>
                <a:sym typeface="Quicksand"/>
              </a:rPr>
              <a:t># O(1)</a:t>
            </a:r>
            <a:endParaRPr sz="3000" b="1" i="1">
              <a:solidFill>
                <a:srgbClr val="FCE5CD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rgbClr val="FCE5CD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CE5CD"/>
                </a:solidFill>
                <a:latin typeface="Quicksand"/>
                <a:ea typeface="Quicksand"/>
                <a:cs typeface="Quicksand"/>
                <a:sym typeface="Quicksand"/>
              </a:rPr>
              <a:t># O(1) —&gt; (N*O(1))</a:t>
            </a:r>
            <a:endParaRPr sz="3000" b="1" i="1">
              <a:solidFill>
                <a:srgbClr val="FCE5CD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rgbClr val="FCE5CD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CE5CD"/>
                </a:solidFill>
                <a:latin typeface="Quicksand"/>
                <a:ea typeface="Quicksand"/>
                <a:cs typeface="Quicksand"/>
                <a:sym typeface="Quicksand"/>
              </a:rPr>
              <a:t># O(1) —&gt; (N</a:t>
            </a:r>
            <a:r>
              <a:rPr lang="hr-HR" sz="3000" b="1" i="1" baseline="30000">
                <a:solidFill>
                  <a:srgbClr val="FCE5CD"/>
                </a:solidFill>
                <a:latin typeface="Quicksand"/>
                <a:ea typeface="Quicksand"/>
                <a:cs typeface="Quicksand"/>
                <a:sym typeface="Quicksand"/>
              </a:rPr>
              <a:t>2</a:t>
            </a:r>
            <a:r>
              <a:rPr lang="hr-HR" sz="3000" b="1" i="1">
                <a:solidFill>
                  <a:srgbClr val="FCE5CD"/>
                </a:solidFill>
                <a:latin typeface="Quicksand"/>
                <a:ea typeface="Quicksand"/>
                <a:cs typeface="Quicksand"/>
                <a:sym typeface="Quicksand"/>
              </a:rPr>
              <a:t>*O(1)) </a:t>
            </a:r>
            <a:endParaRPr sz="3000" b="1" i="1">
              <a:solidFill>
                <a:srgbClr val="FCE5CD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CE5CD"/>
                </a:solidFill>
                <a:latin typeface="Quicksand"/>
                <a:ea typeface="Quicksand"/>
                <a:cs typeface="Quicksand"/>
                <a:sym typeface="Quicksand"/>
              </a:rPr>
              <a:t># O(1) </a:t>
            </a:r>
            <a:endParaRPr sz="3000" b="1" i="1">
              <a:solidFill>
                <a:srgbClr val="FCE5CD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CE5CD"/>
                </a:solidFill>
                <a:latin typeface="Quicksand"/>
                <a:ea typeface="Quicksand"/>
                <a:cs typeface="Quicksand"/>
                <a:sym typeface="Quicksand"/>
              </a:rPr>
              <a:t># O(1)</a:t>
            </a:r>
            <a:endParaRPr sz="3000" b="1" i="1">
              <a:solidFill>
                <a:srgbClr val="FCE5CD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rgbClr val="FCE5CD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55" name="Google Shape;455;p80"/>
          <p:cNvSpPr/>
          <p:nvPr/>
        </p:nvSpPr>
        <p:spPr>
          <a:xfrm>
            <a:off x="1053250" y="5561950"/>
            <a:ext cx="79623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2*O(1) + N*O(1) + N</a:t>
            </a:r>
            <a:r>
              <a:rPr lang="hr-HR" sz="3000" b="1" i="1" baseline="3000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2</a:t>
            </a:r>
            <a:r>
              <a:rPr lang="hr-HR" sz="3000" b="1" i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*O(1) + 2*O(1)—&gt; O(N</a:t>
            </a:r>
            <a:r>
              <a:rPr lang="hr-HR" sz="3000" b="1" i="1" baseline="3000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2</a:t>
            </a:r>
            <a:r>
              <a:rPr lang="hr-HR" sz="3000" b="1" i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)</a:t>
            </a:r>
            <a:endParaRPr sz="3000" b="1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81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Zadatak: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81"/>
          <p:cNvSpPr/>
          <p:nvPr/>
        </p:nvSpPr>
        <p:spPr>
          <a:xfrm>
            <a:off x="1053250" y="1329925"/>
            <a:ext cx="7962300" cy="45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Odredi klasu složenosti za sljedeće probleme:</a:t>
            </a:r>
            <a:endParaRPr sz="3000" b="1" i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3000"/>
              <a:buFont typeface="Quicksand"/>
              <a:buAutoNum type="arabicPeriod"/>
            </a:pPr>
            <a:r>
              <a:rPr lang="hr-HR" sz="3000" b="1" i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Izračunaj sumu niza</a:t>
            </a:r>
            <a:endParaRPr sz="3000" b="1" i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3000"/>
              <a:buFont typeface="Quicksand"/>
              <a:buAutoNum type="arabicPeriod"/>
            </a:pPr>
            <a:r>
              <a:rPr lang="hr-HR" sz="3000" b="1" i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Izračunaj sumu prvog i posljednjeg elementa niza</a:t>
            </a:r>
            <a:endParaRPr sz="3000" b="1" i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i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2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Zadatak: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82"/>
          <p:cNvSpPr/>
          <p:nvPr/>
        </p:nvSpPr>
        <p:spPr>
          <a:xfrm>
            <a:off x="1053250" y="1329925"/>
            <a:ext cx="7962300" cy="45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Odredi klasu složenosti za sljedeće probleme:</a:t>
            </a:r>
            <a:endParaRPr sz="3000" b="1" i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3000"/>
              <a:buFont typeface="Quicksand"/>
              <a:buAutoNum type="arabicPeriod"/>
            </a:pPr>
            <a:r>
              <a:rPr lang="hr-HR" sz="3000" b="1" i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Izračunaj sumu niza</a:t>
            </a:r>
            <a:endParaRPr sz="3000" b="1" i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i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68" name="Google Shape;468;p82"/>
          <p:cNvSpPr/>
          <p:nvPr/>
        </p:nvSpPr>
        <p:spPr>
          <a:xfrm>
            <a:off x="349300" y="3082250"/>
            <a:ext cx="5198400" cy="30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s = 0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for i in range(N):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s += x[i]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print(s)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83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Zadatak: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83"/>
          <p:cNvSpPr/>
          <p:nvPr/>
        </p:nvSpPr>
        <p:spPr>
          <a:xfrm>
            <a:off x="1053250" y="1329925"/>
            <a:ext cx="7962300" cy="45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Odredi klasu složenosti za sljedeće probleme:</a:t>
            </a:r>
            <a:endParaRPr sz="3000" b="1" i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3000"/>
              <a:buFont typeface="Quicksand"/>
              <a:buAutoNum type="arabicPeriod" startAt="2"/>
            </a:pPr>
            <a:r>
              <a:rPr lang="hr-HR" sz="3000" b="1" i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Izračunaj sumu prvog i posljednjeg elementa niza</a:t>
            </a:r>
            <a:endParaRPr sz="3000" b="1" i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i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75" name="Google Shape;475;p83"/>
          <p:cNvSpPr/>
          <p:nvPr/>
        </p:nvSpPr>
        <p:spPr>
          <a:xfrm>
            <a:off x="349300" y="3082250"/>
            <a:ext cx="5198400" cy="30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s = x[0] + x[N-1]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print(s)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4"/>
          <p:cNvSpPr txBox="1"/>
          <p:nvPr/>
        </p:nvSpPr>
        <p:spPr>
          <a:xfrm>
            <a:off x="1165320" y="704520"/>
            <a:ext cx="6857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Zadatak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84"/>
          <p:cNvSpPr/>
          <p:nvPr/>
        </p:nvSpPr>
        <p:spPr>
          <a:xfrm>
            <a:off x="639925" y="1532400"/>
            <a:ext cx="5198400" cy="30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def polovine(x):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n=0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while x&gt;0: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13716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x=x//2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13716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n += 1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 b="1" i="1">
                <a:solidFill>
                  <a:srgbClr val="FF9900"/>
                </a:solidFill>
                <a:latin typeface="Quicksand"/>
                <a:ea typeface="Quicksand"/>
                <a:cs typeface="Quicksand"/>
                <a:sym typeface="Quicksand"/>
              </a:rPr>
              <a:t>return n</a:t>
            </a: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1">
              <a:solidFill>
                <a:srgbClr val="FF990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82" name="Google Shape;482;p84"/>
          <p:cNvSpPr/>
          <p:nvPr/>
        </p:nvSpPr>
        <p:spPr>
          <a:xfrm>
            <a:off x="1053250" y="4806400"/>
            <a:ext cx="79623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600" b="1" i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Koja je klasa složenosti ovog algoritma?</a:t>
            </a:r>
            <a:endParaRPr sz="3600" b="1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050" y="521358"/>
            <a:ext cx="7742507" cy="5389081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85"/>
          <p:cNvSpPr txBox="1"/>
          <p:nvPr/>
        </p:nvSpPr>
        <p:spPr>
          <a:xfrm>
            <a:off x="1121050" y="6023900"/>
            <a:ext cx="73509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b="0" i="1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Izvor: </a:t>
            </a:r>
            <a:r>
              <a:rPr lang="hr-HR" i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https://www.bigocheatsheet.com/</a:t>
            </a:r>
            <a:endParaRPr b="0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6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1" i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NP</a:t>
            </a: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složeni problemi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86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i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NP</a:t>
            </a: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– nondeterministic polynomial time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Klasa problema kod kojih vremenska složenost problema (broj koraka) raste brže od od broja ulaznih podataka na bilo koju potenciju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Točnost predloženog rješenja problema može se provjeriti na Turingovom stroju u polinomskom vremenu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0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Vrijeme potrebno za rješavanja </a:t>
            </a:r>
            <a:r>
              <a:rPr lang="hr-HR" sz="2000" b="1" i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NP</a:t>
            </a:r>
            <a:r>
              <a:rPr lang="hr-HR" sz="20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problema sa bilo kojim poznatim algoritmom raste vrlo brzo</a:t>
            </a:r>
            <a:r>
              <a:rPr lang="hr-HR" sz="2000" b="1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hr-HR" sz="20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 povećanjem skupa podataka</a:t>
            </a:r>
            <a:r>
              <a:rPr lang="hr-HR" sz="2000" b="1" i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 N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20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	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	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139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87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Konačnost algoritma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87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Turingov stroj (računalni program) mapira ulaznu informaciju </a:t>
            </a:r>
            <a:r>
              <a:rPr lang="hr-HR" sz="1800" b="1" i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A </a:t>
            </a: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(početni uvjeti) u izlaznu informaciju</a:t>
            </a:r>
            <a:r>
              <a:rPr lang="hr-HR" sz="1800" b="1" i="1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 B</a:t>
            </a: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(završni uvjeti)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 u="sng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Slučaj 1: 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Nakon konačnog broja koraka, Turingov stroj dostiže zaustavno stanje i algoritam se završava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200" b="1" u="sng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Slučaj 2:</a:t>
            </a: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Turingov stroj nikada ne dostiže zaustavno stanje: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Turingov stroj nije primjenjiv za ulaznu informaciju </a:t>
            </a:r>
            <a:r>
              <a:rPr lang="hr-HR" sz="1800" b="1" u="sng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	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	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139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88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Konačnost algoritma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88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2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Postoji li set problema koji se ne mogu uopće riješiti računalom?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endParaRPr sz="22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1800" b="1" u="sng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DEFINICIJA KONAČNOSTI:</a:t>
            </a:r>
            <a:r>
              <a:rPr lang="hr-HR" sz="1400" b="1" u="sng" strike="noStrike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Pretpostavimo da sva računala na svijetu možemo povezati u jedno superračunalo. Ukoliko ovo računalo u neograničenom vremenu (do kraja postojanja svemira) može pronaći rješenje za problem, problem se smatra „rješivim”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	</a:t>
            </a:r>
            <a:br>
              <a:rPr lang="hr-HR" sz="180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	</a:t>
            </a: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139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89"/>
          <p:cNvSpPr txBox="1"/>
          <p:nvPr/>
        </p:nvSpPr>
        <p:spPr>
          <a:xfrm>
            <a:off x="1165320" y="70452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 b="0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Konačnost algoritma</a:t>
            </a:r>
            <a:endParaRPr sz="24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89"/>
          <p:cNvSpPr/>
          <p:nvPr/>
        </p:nvSpPr>
        <p:spPr>
          <a:xfrm>
            <a:off x="1038600" y="1368000"/>
            <a:ext cx="7300440" cy="3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2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Postoji li set problema koji se ne mogu uopće riješiti računalom?</a:t>
            </a:r>
            <a:br>
              <a:rPr lang="hr-HR" sz="1800" dirty="0">
                <a:latin typeface="Arial"/>
                <a:ea typeface="Arial"/>
                <a:cs typeface="Arial"/>
                <a:sym typeface="Arial"/>
              </a:rPr>
            </a:br>
            <a:endParaRPr sz="22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1800" b="1" u="sng" strike="noStrike" dirty="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DEFINICIJA KONAČNOSTI:</a:t>
            </a:r>
            <a:r>
              <a:rPr lang="hr-HR" sz="1400" b="1" u="sng" strike="noStrike" dirty="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br>
              <a:rPr lang="hr-HR" sz="1800" dirty="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Pretpostavimo da sva računala na svijetu možemo povezati u jedno superračunalo. Ukoliko ovo računalo u neograničenom vremenu (do kraja postojanja svemira) može pronaći rješenje za problem, problem se smatra „rješivim”</a:t>
            </a:r>
            <a:br>
              <a:rPr lang="hr-HR" sz="1800" dirty="0">
                <a:latin typeface="Arial"/>
                <a:ea typeface="Arial"/>
                <a:cs typeface="Arial"/>
                <a:sym typeface="Arial"/>
              </a:rPr>
            </a:b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hr-HR" sz="2400" b="1" strike="noStrike" dirty="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Može se pokazati da postoji čitav niz problema koji se ne mogu riješiti </a:t>
            </a:r>
            <a:r>
              <a:rPr lang="hr-HR" sz="2400" b="1" strike="noStrike" dirty="0" err="1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Turingovim</a:t>
            </a:r>
            <a:r>
              <a:rPr lang="hr-HR" sz="2400" b="1" strike="noStrike" dirty="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 strojem, što znači da, čak ni pri ovakvoj definiciji konačnosti, ovi problemi nisu rješivi ni modernim digitalnim računalima</a:t>
            </a:r>
            <a:endParaRPr sz="24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br>
              <a:rPr lang="hr-HR" sz="1800" dirty="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	</a:t>
            </a:r>
            <a:br>
              <a:rPr lang="hr-HR" sz="1800" dirty="0">
                <a:latin typeface="Arial"/>
                <a:ea typeface="Arial"/>
                <a:cs typeface="Arial"/>
                <a:sym typeface="Arial"/>
              </a:rPr>
            </a:br>
            <a:r>
              <a:rPr lang="hr-HR" sz="1800" b="1" strike="noStrike" dirty="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		</a:t>
            </a: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-113939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</a:pPr>
            <a:endParaRPr sz="1800" b="0" strike="noStrike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3131</Words>
  <Application>Microsoft Office PowerPoint</Application>
  <PresentationFormat>Prikaz na zaslonu (4:3)</PresentationFormat>
  <Paragraphs>382</Paragraphs>
  <Slides>51</Slides>
  <Notes>51</Notes>
  <HiddenSlides>0</HiddenSlides>
  <MMClips>0</MMClips>
  <ScaleCrop>false</ScaleCrop>
  <HeadingPairs>
    <vt:vector size="6" baseType="variant">
      <vt:variant>
        <vt:lpstr>Korišteni fontovi</vt:lpstr>
      </vt:variant>
      <vt:variant>
        <vt:i4>5</vt:i4>
      </vt:variant>
      <vt:variant>
        <vt:lpstr>Tema</vt:lpstr>
      </vt:variant>
      <vt:variant>
        <vt:i4>3</vt:i4>
      </vt:variant>
      <vt:variant>
        <vt:lpstr>Naslovi slajdova</vt:lpstr>
      </vt:variant>
      <vt:variant>
        <vt:i4>51</vt:i4>
      </vt:variant>
    </vt:vector>
  </HeadingPairs>
  <TitlesOfParts>
    <vt:vector size="59" baseType="lpstr">
      <vt:lpstr>Arial</vt:lpstr>
      <vt:lpstr>Noto Sans Symbols</vt:lpstr>
      <vt:lpstr>Quicksand</vt:lpstr>
      <vt:lpstr>Cambria</vt:lpstr>
      <vt:lpstr>Courier New</vt:lpstr>
      <vt:lpstr>Office Theme</vt:lpstr>
      <vt:lpstr>Office Theme</vt:lpstr>
      <vt:lpstr>Office Theme</vt:lpstr>
      <vt:lpstr>PowerPoint prezentacija</vt:lpstr>
      <vt:lpstr>Općenite informacije o kolegiju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</cp:revision>
  <dcterms:modified xsi:type="dcterms:W3CDTF">2025-10-17T11:44:56Z</dcterms:modified>
</cp:coreProperties>
</file>