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2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60"/>
  </p:notesMasterIdLst>
  <p:sldIdLst>
    <p:sldId id="256" r:id="rId4"/>
    <p:sldId id="257" r:id="rId5"/>
    <p:sldId id="258" r:id="rId6"/>
    <p:sldId id="348" r:id="rId7"/>
    <p:sldId id="349" r:id="rId8"/>
    <p:sldId id="259" r:id="rId9"/>
    <p:sldId id="334" r:id="rId10"/>
    <p:sldId id="260" r:id="rId11"/>
    <p:sldId id="350" r:id="rId12"/>
    <p:sldId id="351" r:id="rId13"/>
    <p:sldId id="352" r:id="rId14"/>
    <p:sldId id="308" r:id="rId15"/>
    <p:sldId id="353" r:id="rId16"/>
    <p:sldId id="309" r:id="rId17"/>
    <p:sldId id="354" r:id="rId18"/>
    <p:sldId id="355" r:id="rId19"/>
    <p:sldId id="310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8" r:id="rId32"/>
    <p:sldId id="367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1" r:id="rId46"/>
    <p:sldId id="383" r:id="rId47"/>
    <p:sldId id="384" r:id="rId48"/>
    <p:sldId id="385" r:id="rId49"/>
    <p:sldId id="386" r:id="rId50"/>
    <p:sldId id="387" r:id="rId51"/>
    <p:sldId id="389" r:id="rId52"/>
    <p:sldId id="388" r:id="rId53"/>
    <p:sldId id="390" r:id="rId54"/>
    <p:sldId id="391" r:id="rId55"/>
    <p:sldId id="392" r:id="rId56"/>
    <p:sldId id="393" r:id="rId57"/>
    <p:sldId id="394" r:id="rId58"/>
    <p:sldId id="395" r:id="rId59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61"/>
      <p:bold r:id="rId62"/>
      <p:italic r:id="rId63"/>
      <p:boldItalic r:id="rId64"/>
    </p:embeddedFont>
    <p:embeddedFont>
      <p:font typeface="Consolas" panose="020B0609020204030204" pitchFamily="49" charset="0"/>
      <p:regular r:id="rId65"/>
      <p:bold r:id="rId66"/>
      <p:italic r:id="rId67"/>
      <p:boldItalic r:id="rId68"/>
    </p:embeddedFont>
    <p:embeddedFont>
      <p:font typeface="Quicksand" panose="020B0604020202020204" charset="0"/>
      <p:regular r:id="rId69"/>
      <p:bold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C0BA"/>
    <a:srgbClr val="569A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rednji stil 1 - Isticanj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Srednji stil 1 - Isticanj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243"/>
    <p:restoredTop sz="85085" autoAdjust="0"/>
  </p:normalViewPr>
  <p:slideViewPr>
    <p:cSldViewPr snapToGrid="0">
      <p:cViewPr varScale="1">
        <p:scale>
          <a:sx n="105" d="100"/>
          <a:sy n="105" d="100"/>
        </p:scale>
        <p:origin x="13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font" Target="fonts/font6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1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7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8:44:38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4015 80 24575,'-121'-5'0,"-134"-24"0,-18-2 0,-824 16 0,698 18 0,388-2 0,-987 31 0,985-31 0,-98 9 0,-213 47 0,269-42 0,7-4 0,-72 29 0,108-35 0,-1 0 0,1 2 0,1-1 0,-1 2 0,1-1 0,0 2 0,0-1 0,1 1 0,1 1 0,-14 15 0,16-14 0,0-1 0,1 1 0,0 1 0,1-1 0,0 1 0,1 0 0,0 0 0,1 0 0,1 0 0,-1 1 0,2 0 0,0-1 0,0 1 0,1-1 0,1 1 0,0 0 0,1-1 0,3 14 0,0-8 0,1-1 0,0 0 0,1 0 0,1-1 0,0 0 0,1 0 0,1-1 0,0 0 0,2-1 0,-1 0 0,28 24 0,-5-11 0,0-2 0,2-1 0,1-1 0,1-2 0,1-2 0,68 23 0,5-7 0,142 25 0,-77-24 0,1-9 0,272 8 0,1395-38 0,-1752-1 0,110-19 0,-22 1 0,-15 5 0,188-43 0,-344 58 0,-1 0 0,0-1 0,0 0 0,0-1 0,0 1 0,13-9 0,-18 9 0,0 0 0,-1 0 0,1-1 0,-1 1 0,0-1 0,0 0 0,0 0 0,0 0 0,-1 0 0,1 0 0,-1 0 0,0-1 0,0 1 0,2-10 0,2-10 0,0-1 0,-2 0 0,2-44 0,-6 55 0,0 0 0,-2 0 0,0 1 0,0-1 0,-1 1 0,-1 0 0,0 0 0,-10-20 0,0 5 0,-1 1 0,-1 1 0,-1 0 0,-2 2 0,0 0 0,-2 0 0,0 2 0,-42-33 0,33 33 0,-1 1 0,-1 2 0,-1 1 0,0 2 0,-1 1 0,-68-20 0,8 11 39,-1 5 0,-177-13 0,-193 23-1427,454 9 1294,-112 0-6732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8:57:16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5282 237 24575,'-17'0'0,"-1166"-25"0,118-8 0,-2 39 0,-158 80 0,1012-65 0,151-16 0,0 4 0,0 2 0,1 3 0,-80 28 0,133-38 0,0-1 0,1 2 0,-1-1 0,1 1 0,0 0 0,0 0 0,0 1 0,1 0 0,0 0 0,0 1 0,0 0 0,1 0 0,0 0 0,1 0 0,-1 1 0,1 0 0,1 0 0,-3 9 0,4-11 0,0 0 0,1 0 0,0 0 0,0 0 0,0 0 0,1 1 0,0-1 0,0 0 0,0 1 0,1-1 0,0 0 0,1 0 0,-1 0 0,1 0 0,0 0 0,1 0 0,-1 0 0,1-1 0,0 1 0,1-1 0,-1 0 0,1 0 0,0 0 0,0 0 0,7 5 0,9 6 0,1 0 0,0-1 0,2-2 0,-1 0 0,26 10 0,126 41 0,-120-46 0,74 19 0,261 39 0,-264-56 0,46 1 0,233-2 0,-205-13 0,1466 9 0,-1041-18 0,-268 4 0,413-3 0,-507-12 0,-1-12 0,330-75 0,-568 96 0,116-28 0,-121 28 0,-1-1 0,1-1 0,-1-1 0,-1 0 0,24-16 0,-36 20 0,0 1 0,0-1 0,0 0 0,-1 0 0,0 0 0,0 0 0,0-1 0,0 1 0,0-1 0,-1 1 0,0-1 0,0 0 0,-1 0 0,1 0 0,-1 0 0,0-1 0,1-8 0,-1-8 0,-1 1 0,-1 0 0,-5-24 0,3 20 0,2 16 0,-1 1 0,0-1 0,-1 1 0,0 0 0,0 0 0,-1 0 0,0 0 0,0 1 0,-1 0 0,1 0 0,-2 0 0,1 0 0,-1 1 0,0 0 0,-1 0 0,-10-8 0,-11-6 0,-2 2 0,-55-28 0,69 38 0,-96-43 0,-2 4 0,-2 5 0,-172-37 0,85 38 0,-257-18 0,313 48-227,1 6-1,-1 6 1,0 7-1,1 6 1,-248 56-1,272-36-6598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14:49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12526 230 24575,'-48'-2'0,"-77"-15"0,20 3 0,-1010-33 0,400 29 0,-1022-58-855,-7 44 893,891 20 369,8 0 3,-1011 13-410,1419 27 0,172-6 0,109-13 0,-517 38 0,356-4 0,97-10 0,-98 22 0,175-28 0,-173 38 0,241-46 0,1 4 0,-82 37 0,128-48 0,14-6 0,1 0 0,-1 0 0,1 1 0,-18 14 0,19-12 0,0 1 0,1 0 0,0 1 0,1 0 0,0 0 0,-14 22 0,19-23 0,1-1 0,0 1 0,0-1 0,1 1 0,0 1 0,1-1 0,0 0 0,1 0 0,0 1 0,0 17 0,1-19 0,0 0 0,1 0 0,0 0 0,0 0 0,1-1 0,0 1 0,4 10 0,-4-14 0,1 0 0,0-1 0,0 1 0,0-1 0,1 1 0,-1-1 0,1 0 0,0 0 0,0-1 0,1 1 0,-1-1 0,1 0 0,5 3 0,33 16 0,1-2 0,2-1 0,55 14 0,30 12 0,-56-18 0,1-3 0,87 15 0,-32-13 0,-76-13 0,1-3 0,76 5 0,276-12 0,164 7 0,-132 4 0,-32-2 0,670 30 0,-260-13 0,299 27 0,-572-38 0,-27-1 0,1830 60 0,-1563-76 0,748 13 0,421-2 0,-1201-15 0,3757 3 0,-4400-2 0,-2-5 0,195-38 0,-273 39 0,-1-2 0,1-1 0,-2-1 0,40-19 0,-58 23 0,0 0 0,0 0 0,-1-1 0,1 0 0,-2-1 0,1 0 0,-1 0 0,0-1 0,0 0 0,-1-1 0,-1 1 0,0-1 0,0 0 0,6-16 0,73-223 0,-73 204 0,-2-1 0,-3 0 0,5-76 0,-12 117 0,0 0 0,0 1 0,-1-1 0,1 0 0,-1 1 0,0-1 0,0 0 0,0 1 0,-1 0 0,0-1 0,1 1 0,-2 0 0,1 0 0,0 0 0,-1 0 0,0 0 0,0 0 0,0 1 0,0-1 0,-1 1 0,-4-4 0,-5-1 0,0 1 0,-1 0 0,0 1 0,0 0 0,-22-5 0,-52-17 0,1-1 0,-96-18 0,-84 1 0,-2 12 0,-350 1 0,-13 9 0,70 1 0,-1558 21 0,1040 5 0,585-19 0,-1 7 0,119 6 0,270-2 0,-161-31 0,97 2 0,-242-45 0,-6 35 0,-79 37-526,428 7-313,-144 0-5987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15:25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12526 230 24575,'-48'-2'0,"-77"-15"0,20 3 0,-1010-33 0,400 29 0,-1022-58-855,-7 44 893,891 20 369,8 0 3,-1011 13-410,1419 27 0,172-6 0,109-13 0,-517 38 0,356-4 0,97-10 0,-98 22 0,175-28 0,-173 38 0,241-46 0,1 4 0,-82 37 0,128-48 0,14-6 0,1 0 0,-1 0 0,1 1 0,-18 14 0,19-12 0,0 1 0,1 0 0,0 1 0,1 0 0,0 0 0,-14 22 0,19-23 0,1-1 0,0 1 0,0-1 0,1 1 0,0 1 0,1-1 0,0 0 0,1 0 0,0 1 0,0 17 0,1-19 0,0 0 0,1 0 0,0 0 0,0 0 0,1-1 0,0 1 0,4 10 0,-4-14 0,1 0 0,0-1 0,0 1 0,0-1 0,1 1 0,-1-1 0,1 0 0,0 0 0,0-1 0,1 1 0,-1-1 0,1 0 0,5 3 0,33 16 0,1-2 0,2-1 0,55 14 0,30 12 0,-56-18 0,1-3 0,87 15 0,-32-13 0,-76-13 0,1-3 0,76 5 0,276-12 0,164 7 0,-132 4 0,-32-2 0,670 30 0,-260-13 0,299 27 0,-572-38 0,-27-1 0,1830 60 0,-1563-76 0,748 13 0,421-2 0,-1201-15 0,3757 3 0,-4400-2 0,-2-5 0,195-38 0,-273 39 0,-1-2 0,1-1 0,-2-1 0,40-19 0,-58 23 0,0 0 0,0 0 0,-1-1 0,1 0 0,-2-1 0,1 0 0,-1 0 0,0-1 0,0 0 0,-1-1 0,-1 1 0,0-1 0,0 0 0,6-16 0,73-223 0,-73 204 0,-2-1 0,-3 0 0,5-76 0,-12 117 0,0 0 0,0 1 0,-1-1 0,1 0 0,-1 1 0,0-1 0,0 0 0,0 1 0,-1 0 0,0-1 0,1 1 0,-2 0 0,1 0 0,0 0 0,-1 0 0,0 0 0,0 0 0,0 1 0,0-1 0,-1 1 0,-4-4 0,-5-1 0,0 1 0,-1 0 0,0 1 0,0 0 0,-22-5 0,-52-17 0,1-1 0,-96-18 0,-84 1 0,-2 12 0,-350 1 0,-13 9 0,70 1 0,-1558 21 0,1040 5 0,585-19 0,-1 7 0,119 6 0,270-2 0,-161-31 0,97 2 0,-242-45 0,-6 35 0,-79 37-526,428 7-313,-144 0-5987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0B92642A-630D-C44A-2E7F-29FB4F4A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C21F0C90-77CF-1A0C-CC00-0D9FA5AD5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19C9455D-FED6-9ACE-D6B3-2869E8BDA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9990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04DD119-E4B5-8E72-1310-9DC955B8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>
            <a:extLst>
              <a:ext uri="{FF2B5EF4-FFF2-40B4-BE49-F238E27FC236}">
                <a16:creationId xmlns:a16="http://schemas.microsoft.com/office/drawing/2014/main" id="{59E92C42-84EB-12B3-296F-CC746E47D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hr-HR" dirty="0"/>
          </a:p>
        </p:txBody>
      </p:sp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CCC083C5-B307-C11C-3411-3B7A784FE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582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4CC64BB-AB3F-7DE9-91D6-10B03F02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1BCDDEF2-0BC6-9FF8-703B-595710112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F9C6E9AC-8E0D-2150-8543-F4E4DD120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9917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9F696311-142D-9F6A-5972-9F810A6C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F8A9BCAD-D29F-53CD-42A3-ECE72B56D8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4B913FA8-6206-C884-F7F8-D824F04EC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2802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B456D886-9C4D-F8D7-B51F-DB9F0000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DF7CC102-50E4-9AEB-6BD3-AD367053E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2F10D947-0AC8-38B5-00B1-DB9E96EF2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6779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37E37C8-08DD-D546-473A-E22AFBC4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1A2C6F6A-FCFD-98A3-3E1B-645238B75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86F97FA1-86E7-2E40-1A1A-F026D131B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6941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ACE8CD43-B6C9-C909-8FD6-959ABD67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F687D70A-3F1E-EC6F-D630-6E172D9E5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4122737B-F080-B83E-B707-681A472E8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6611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C59241B3-99FB-E601-581E-EDD7219F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F9005EF7-499D-AB33-362E-81E77AFD57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5DC3F6CA-1E68-8367-68B7-5372743AF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9009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32A3138-CE18-94D9-8BEE-65F77C1F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ADB757D7-5805-BEF2-1A00-7196F8A23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26E813D2-BDA6-D28B-531C-0DB04B148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9418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2797085-CD58-2066-4924-541C22FC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757C3D5C-0EFF-30CD-D0F9-EF857C742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8D5E2DC0-9736-D1AA-5B7D-EB4F7E97C3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0345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4E3E40E-C3E1-4E2C-B51D-3862FF91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062C5B6A-87C9-6322-77F3-839F41E5A9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4908795D-789C-72F9-40F1-1E6CB5AA7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9474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C4F421D-3878-E9CD-1FEE-7355ED2C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9436C07C-BF52-DD21-7BF4-556ECE7B8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08787E31-3D8E-BE0F-6076-655B25EF7D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2135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9AD6605B-9D29-A5D3-116D-87E6A63F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4C894F9F-0688-573D-D8D2-CC3B26E1C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B3E654AD-E24F-8BBE-105B-C5FCBEA4F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0191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70694BD-EA5A-E7F1-4CE9-082121082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338EE8CE-EF4F-915E-428D-847EFCBED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B9A6CAC3-3134-A1A5-885A-020352652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9448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41E0338-F033-0DF6-A0AB-4148D181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8DD71810-50DD-108E-E31C-B03F0FFD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BE46B080-3314-53EA-D7B9-DE3570E5C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34584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17134CE8-6DA2-73EC-9DFA-6769FF69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977291CF-FD07-5124-C229-5D60746A0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8C32BB67-FF4E-0AB5-DF29-83ADA29D92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7028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6E714AF2-E295-3D18-AEBD-3E805373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04BEF832-2207-EF26-E529-90A69603A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1B647F76-FE1E-3DB2-9572-54A58D42E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9533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2FE444F-7FBD-BC62-E994-979329CE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4894C04A-44F5-E8CD-5572-D502A6C6D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5C50F778-B3F4-BD7B-2219-9253A7DEB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96108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BCDB82A9-1590-EC8F-C634-8128658C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5EC65382-4B9C-EE19-42F5-D3D46D8D5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5483402C-0419-B9CD-35BE-0D0E2E0254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40502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5844D10-228D-D633-C4E7-ABFE839E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B3DFB9CB-C10B-C74D-84EC-1187694A6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197DFFB3-6082-484E-FADB-F67BE77ED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08796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7789A426-0036-FCB6-7E8B-9BB61FB0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2A443948-2373-5A17-ABE5-9D11AB316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EDBCF329-F7D8-229E-D50C-E6FAD006DF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73708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A2A840F7-4DB2-2570-9808-CE5A23827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CAC26FE3-270F-50D7-DC8C-951021CC6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82A0DCC8-7309-37C9-9979-CA73E95F4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7116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56337B89-5774-FB49-C6FB-5C26624E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2F3C6995-DE0B-2FB8-A3BE-D1CC4B7370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5E8E4949-369B-3E2C-A7DA-C68154260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55735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6065D97-DA52-A327-3EFC-A248F137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DB09F9AE-CF11-AE22-5ECB-974575C52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BF315C7E-64AF-FA9E-2BA7-ECBEC6194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6659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AA2257A-9276-F3BB-E848-A808C7B7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25725A3B-0BCC-7115-DB72-6360F5CA4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A161C2B3-DE65-8ACD-88FC-E2C4B8B848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0437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9E4AC314-0764-B29C-9F70-86BB5A1E3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4B141064-6CF0-88E6-51ED-187967DB6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D95D9284-4D9E-2B21-A16E-3B6F47159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969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87B5A8A-593E-6F54-837C-FCAB73D4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CC6CE981-ED30-CFF4-FFAE-82BD4D0DBC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DD898DFB-0E9C-8D44-B1FD-83681AAF6C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2763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E7E0323-D350-9563-A2C1-1D7076A8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2F213C93-42F8-1B54-6DE7-820B2B8E4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A15621AD-41B4-29E6-600E-06C02BA10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05021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470994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EE2086B-9EC1-0639-6121-D9B9D720A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4FC1E3F8-FCE4-74AB-C98C-52AA2CD31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101875F2-9325-57FD-8FC0-E5004A1C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55702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426F86B-7033-2809-9EC4-4FB6103F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91E6D23A-5BE6-5041-3CB6-313BBFA8D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F1A61191-24B6-026C-8EA4-046865E97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86866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11742E0D-FA7C-D95A-6C1D-08B31E0F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1AC014A7-0FE2-A977-E51A-79FC265B2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D6277D4E-8DAC-AE1B-BE53-E28EBFAB5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92001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EA8413F-FA78-09D2-138D-5AC34417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DB7C524C-9A6C-C19E-7EAF-D7B518C7E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A4F5B88C-FA9D-7BBC-558E-B59834920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6833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EC9D91B-8E54-7D2B-6ADC-1C8D215C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AAFD63AD-7596-8AB8-DAD8-E5509382D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58EBF299-5921-FDAF-6302-D850A1D96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31793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687B1CF-B40B-BD08-7704-08057553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4261CCDD-7AD8-AEC9-E27E-4DFED49CF8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F33312DC-456F-51DC-7578-6495F0E93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24938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5E6AB3E2-4D5B-1284-258E-CC1462F6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F4F8ACD9-F54F-91AB-BED6-8D7C36D48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449EFB00-8137-A055-EBB9-4C7796155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86597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4ED989C9-BD90-44FD-F322-5D0A2DF8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FE5B3B94-F651-4B45-394E-65E4BF9B7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B0FB3679-4FA0-17E0-AB71-56345F2E83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56668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D3D2821-2DCA-B17B-9B21-3E07343DE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925A30D0-0F18-7D92-363B-031FC5163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8162A17A-764E-49A3-4992-B49830FF96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4948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E5B1861-2FFE-A9ED-0392-DEF47D9F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9C35687E-1BAA-41BF-C130-604C026E6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A977EC5D-E407-9649-BC3C-B8F5CB04B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93167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0C705B3-E5FC-E9ED-EC47-DFD46BFE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1B68C4DB-BE69-6A8A-EE67-45D0147FD2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A4C19908-4A5B-5B43-93DD-FB9DA8DB6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61306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064B840C-F5C7-3A7A-0DF5-13364A73E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FB3C4367-EB80-D133-11E6-5E9BFFB63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FE7FD9C5-E194-DD6B-A87C-96BEB2774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92495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F5A89D8-AFA1-C23F-55BA-B6CCC984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8FFD7736-613F-1DD1-2577-BA96459B7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A3A27BBE-DAB6-B196-34CE-95412996F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85211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B03A3C0D-C89A-4DF2-038E-7C0D77E3F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82CA852E-7AE5-DE95-5152-49F3F31E1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AC971401-5FA7-32DD-BD9B-39B683D15D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87339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7B3545FA-4078-D963-2256-F8CBAF9D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6B540A34-6F45-D2C7-A7EE-1CE119A2C9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C82130AB-B426-01C4-F44E-6A789EEE7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83934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1C00D2E8-E434-9F18-A56D-5EB97A82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8BA3219D-35BA-EEB9-B39C-14C169F00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C4E7F772-DB85-C9FA-F496-00C8CD525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871463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2BB4BD5-4A50-F05B-D519-9861C71DB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4CA0633D-7B9F-DC0E-02E6-1010969A7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DF2BF8D2-3962-8FB0-7E9D-56EF5FE4C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40934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B03479C-C0AD-E136-DCB7-B2388EF3B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4DFBBF56-D641-0F92-A446-57B50EC88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BA2D764D-D8C3-749A-439F-5A6CC54A78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02997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87BF963-734B-8845-422E-E91E9340F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A9168D70-D3E4-0A42-D566-4F4B44D0E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447AB7DF-C433-08B5-C0E2-A11AA2765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06501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4AF19BC9-7B61-73BE-B16E-16893CC0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D9ED5E5D-22F4-C3D0-A097-21AC8D7D2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A7EBD8B2-0A6F-1CFE-0A3C-84951EDA3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42585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82C7C6B-E712-E0E6-8A67-D4DEE1DA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55432431-14C5-F280-65B5-6ECB37CD0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B86CA172-D91E-4BA9-4267-A676E08A9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41024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9F768A4E-E1AE-A29F-88C1-3BDB6FB4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D43F4649-7D17-6489-4BF5-9DEFF70AF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EB2994D4-56A4-DB4A-6F6D-A767AD750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2939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903600" y="3563640"/>
            <a:ext cx="360" cy="3294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8" name="Google Shape;8;p1"/>
          <p:cNvSpPr/>
          <p:nvPr/>
        </p:nvSpPr>
        <p:spPr>
          <a:xfrm>
            <a:off x="768960" y="3294360"/>
            <a:ext cx="268920" cy="2689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61" name="Google Shape;61;p14"/>
          <p:cNvSpPr/>
          <p:nvPr/>
        </p:nvSpPr>
        <p:spPr>
          <a:xfrm>
            <a:off x="493560" y="3018960"/>
            <a:ext cx="819720" cy="81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Relationship Id="rId5" Type="http://schemas.openxmlformats.org/officeDocument/2006/relationships/customXml" Target="../ink/ink4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60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programiranje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Procesi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3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je to PROCES?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/>
          <p:cNvSpPr/>
          <p:nvPr/>
        </p:nvSpPr>
        <p:spPr>
          <a:xfrm>
            <a:off x="838210" y="1354094"/>
            <a:ext cx="7970812" cy="379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lnSpc>
                <a:spcPct val="150000"/>
              </a:lnSpc>
              <a:buClr>
                <a:srgbClr val="39C0BA"/>
              </a:buClr>
              <a:buSzPts val="2400"/>
            </a:pPr>
            <a:r>
              <a:rPr lang="hr-HR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Proces: </a:t>
            </a:r>
          </a:p>
          <a:p>
            <a:pPr marL="419100" lvl="8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Izvršna jedinica u kojoj se izvodi program (</a:t>
            </a:r>
            <a:r>
              <a:rPr lang="pl-PL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skup instrukcija zapisanih u izvršnoj datoteci)</a:t>
            </a:r>
          </a:p>
          <a:p>
            <a:pPr marL="419100" lvl="8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Izvršava se u zasebnom memorijskom prostoru</a:t>
            </a:r>
            <a:endParaRPr lang="hr-HR" sz="22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19100" lvl="8" indent="-3429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Računalni program postaje proces kada se učita iz neke pohrane (datoteke) u memoriju računala i počne izvršavati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21813C8A-5239-77DB-511B-E220081C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7A041223-86DB-AD49-9FDD-1AD045DE725D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Memorijska slika procesa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>
            <a:extLst>
              <a:ext uri="{FF2B5EF4-FFF2-40B4-BE49-F238E27FC236}">
                <a16:creationId xmlns:a16="http://schemas.microsoft.com/office/drawing/2014/main" id="{39A5D030-34EC-F2D3-4E89-BAEDD064731C}"/>
              </a:ext>
            </a:extLst>
          </p:cNvPr>
          <p:cNvSpPr/>
          <p:nvPr/>
        </p:nvSpPr>
        <p:spPr>
          <a:xfrm>
            <a:off x="910638" y="1133933"/>
            <a:ext cx="8233362" cy="5592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>
              <a:lnSpc>
                <a:spcPct val="150000"/>
              </a:lnSpc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pl-PL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Opisuje kako je proces organiziran u memoriji</a:t>
            </a:r>
          </a:p>
          <a:p>
            <a:pPr marL="457200" lvl="0" indent="-381000">
              <a:lnSpc>
                <a:spcPct val="150000"/>
              </a:lnSpc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pl-PL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Opis procesa u memoriji sadrži vitalne informacije o procesu:</a:t>
            </a:r>
          </a:p>
          <a:p>
            <a:pPr marL="457200" lvl="8" indent="-3810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Program </a:t>
            </a:r>
            <a:r>
              <a:rPr lang="hr-HR" sz="22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Counter</a:t>
            </a:r>
            <a:r>
              <a:rPr lang="hr-HR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(PC) - adresa sljedeće naredbe koju treba izvršiti</a:t>
            </a:r>
          </a:p>
          <a:p>
            <a:pPr marL="457200" lvl="8" indent="-3810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Registri</a:t>
            </a:r>
          </a:p>
          <a:p>
            <a:pPr marL="457200" lvl="8" indent="-3810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Informacija o otvorenim datotekama</a:t>
            </a:r>
          </a:p>
          <a:p>
            <a:pPr marL="457200" lvl="8" indent="-3810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2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Signali i maske signala …</a:t>
            </a:r>
          </a:p>
          <a:p>
            <a:pPr marL="457200" lvl="8" indent="-381000">
              <a:lnSpc>
                <a:spcPct val="150000"/>
              </a:lnSpc>
              <a:buClr>
                <a:srgbClr val="39C0BA"/>
              </a:buClr>
              <a:buSzPts val="2400"/>
              <a:buFont typeface="Arial" panose="020B0604020202020204" pitchFamily="34" charset="0"/>
              <a:buChar char="•"/>
            </a:pPr>
            <a:endParaRPr lang="hr-HR" sz="22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24453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6D9CFD36-B4AE-8264-3C0F-FE4B2CA4C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>
            <a:extLst>
              <a:ext uri="{FF2B5EF4-FFF2-40B4-BE49-F238E27FC236}">
                <a16:creationId xmlns:a16="http://schemas.microsoft.com/office/drawing/2014/main" id="{4CA80CCE-2370-347C-B795-F8092235C8EB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Memorijska slika procesa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268;p55">
            <a:extLst>
              <a:ext uri="{FF2B5EF4-FFF2-40B4-BE49-F238E27FC236}">
                <a16:creationId xmlns:a16="http://schemas.microsoft.com/office/drawing/2014/main" id="{747ABEF3-BFEB-522B-C0BD-0C4456D2F9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358" y="1484074"/>
            <a:ext cx="5622642" cy="44187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E03BD936-F9F5-7051-D53C-80F5CC9A7EB9}"/>
              </a:ext>
            </a:extLst>
          </p:cNvPr>
          <p:cNvSpPr txBox="1"/>
          <p:nvPr/>
        </p:nvSpPr>
        <p:spPr>
          <a:xfrm>
            <a:off x="1255855" y="2580237"/>
            <a:ext cx="33161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Procesi međusobno ne mogu dijeliti informacije putem zajedničkih varijabli ili pokazivača na istu adresu u memoriji</a:t>
            </a:r>
            <a:endParaRPr lang="hr-HR" sz="20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28926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Svojstva procesa</a:t>
            </a:r>
            <a:endParaRPr lang="hr-HR" sz="2400" b="1" dirty="0"/>
          </a:p>
        </p:txBody>
      </p:sp>
      <p:sp>
        <p:nvSpPr>
          <p:cNvPr id="6" name="Google Shape;280;p57">
            <a:extLst>
              <a:ext uri="{FF2B5EF4-FFF2-40B4-BE49-F238E27FC236}">
                <a16:creationId xmlns:a16="http://schemas.microsoft.com/office/drawing/2014/main" id="{525DBF1A-BBCE-79D2-1D71-09DCFBF3D2DA}"/>
              </a:ext>
            </a:extLst>
          </p:cNvPr>
          <p:cNvSpPr/>
          <p:nvPr/>
        </p:nvSpPr>
        <p:spPr>
          <a:xfrm>
            <a:off x="1038599" y="1367999"/>
            <a:ext cx="7743261" cy="470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Zaseban sistemski poziv za stvaranje svakog procesa</a:t>
            </a:r>
            <a:endParaRPr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Izolirana memorija, ne dijele podatke</a:t>
            </a:r>
            <a:endParaRPr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Komunikacija među procesima (dijeljenje podataka) može se ostvariti korištenjem IPC (Inter </a:t>
            </a:r>
            <a:r>
              <a:rPr lang="hr-HR" sz="20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Process</a:t>
            </a: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0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Communication</a:t>
            </a: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) mehanizama – zahtjevno i sporo</a:t>
            </a:r>
            <a:endParaRPr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Upravljanje procesom zahtjeva više sistemskih poziva</a:t>
            </a:r>
            <a:endParaRPr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Svaki proces ima svoj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stack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(stog) i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heap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(hrpu)</a:t>
            </a:r>
            <a:endParaRPr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Quicksand"/>
              <a:buChar char="●"/>
            </a:pPr>
            <a:r>
              <a:rPr lang="hr-HR" sz="2400" b="1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Proces se može izvršavati na jednom ili više procesora!</a:t>
            </a:r>
            <a:endParaRPr sz="2400" b="1" dirty="0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C56323F-69A5-B858-DC4E-F90E0F29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E74EB87C-747B-DB30-EE05-6988A8594083}"/>
              </a:ext>
            </a:extLst>
          </p:cNvPr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Niti (</a:t>
            </a: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Threads</a:t>
            </a: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>
            <a:extLst>
              <a:ext uri="{FF2B5EF4-FFF2-40B4-BE49-F238E27FC236}">
                <a16:creationId xmlns:a16="http://schemas.microsoft.com/office/drawing/2014/main" id="{E48412ED-4648-217F-0E04-E4E382371164}"/>
              </a:ext>
            </a:extLst>
          </p:cNvPr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1454D0EE-A83C-EDDF-122E-23D679CC4336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solidFill>
                  <a:srgbClr val="2E3037"/>
                </a:solidFill>
                <a:latin typeface="Quicksand"/>
                <a:ea typeface="Cambria"/>
                <a:cs typeface="Cambria"/>
                <a:sym typeface="Quicksand"/>
              </a:rPr>
              <a:t>2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07413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su to NITI (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Threads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)?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/>
          <p:cNvSpPr/>
          <p:nvPr/>
        </p:nvSpPr>
        <p:spPr>
          <a:xfrm>
            <a:off x="1038600" y="1368000"/>
            <a:ext cx="7300440" cy="478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2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Izvršna jedinica kao dio procesa (</a:t>
            </a:r>
            <a:r>
              <a:rPr lang="hr-HR" sz="22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lightweight</a:t>
            </a:r>
            <a:r>
              <a:rPr lang="hr-HR" sz="22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2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process</a:t>
            </a:r>
            <a:r>
              <a:rPr lang="hr-HR" sz="22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marL="914400" lvl="1" indent="-355600"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Proces može imati više niti</a:t>
            </a:r>
          </a:p>
          <a:p>
            <a:pPr marL="914400" lvl="1" indent="-355600"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Niti unutar istog procesa se izvršavaju istovremeno (ili u dijeljenom vremenu)</a:t>
            </a:r>
          </a:p>
          <a:p>
            <a:pPr marL="914400" lvl="1" indent="-355600"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Neovisno upravljanje svakom niti</a:t>
            </a:r>
          </a:p>
          <a:p>
            <a:pPr marL="914400" lvl="1" indent="-355600"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Ubrzavanje procesa korištenjem </a:t>
            </a:r>
            <a:r>
              <a:rPr lang="hr-HR" sz="22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zadaćnog</a:t>
            </a: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paralelizma (</a:t>
            </a:r>
            <a:r>
              <a:rPr lang="hr-HR" sz="22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task</a:t>
            </a: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2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parallelism</a:t>
            </a: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b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lang="hr-HR" sz="22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381000"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200" b="1" u="sng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Niti se izvršavaju u istom memorijskom prostoru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1AE172F-E56C-E452-F910-C7C2FECEC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543BA38F-4FA9-67FD-12A9-76234CFA931A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Svojstva niti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7F232639-062A-B5F7-01B0-250A5E40480A}"/>
              </a:ext>
            </a:extLst>
          </p:cNvPr>
          <p:cNvSpPr/>
          <p:nvPr/>
        </p:nvSpPr>
        <p:spPr>
          <a:xfrm>
            <a:off x="1038600" y="1368000"/>
            <a:ext cx="7300440" cy="478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>
              <a:lnSpc>
                <a:spcPct val="115000"/>
              </a:lnSpc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2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Jedan sistemski poziv može stvoriti više niti</a:t>
            </a:r>
          </a:p>
          <a:p>
            <a:pPr marL="457200" lvl="0" indent="-381000">
              <a:lnSpc>
                <a:spcPct val="115000"/>
              </a:lnSpc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2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Niti unutar istog procesa dijele memorijski prostor</a:t>
            </a:r>
          </a:p>
          <a:p>
            <a:pPr marL="914400" lvl="1" indent="-355600">
              <a:lnSpc>
                <a:spcPct val="115000"/>
              </a:lnSpc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Niti dijele tekst segment (programski kod), globalne varijable i hrpu (</a:t>
            </a:r>
            <a:r>
              <a:rPr lang="hr-HR" sz="22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heap</a:t>
            </a:r>
            <a:r>
              <a:rPr lang="hr-HR" sz="2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marL="914400" lvl="1" indent="-381000">
              <a:lnSpc>
                <a:spcPct val="115000"/>
              </a:lnSpc>
              <a:buClr>
                <a:srgbClr val="C9211E"/>
              </a:buClr>
              <a:buSzPts val="2400"/>
              <a:buFont typeface="Quicksand"/>
              <a:buChar char="●"/>
            </a:pPr>
            <a:r>
              <a:rPr lang="hr-HR" sz="2200" b="1" u="sng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Svaka nit ima svoj stog</a:t>
            </a:r>
          </a:p>
          <a:p>
            <a:pPr marL="457200" lvl="0" indent="-381000">
              <a:lnSpc>
                <a:spcPct val="115000"/>
              </a:lnSpc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2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Upravljanje nitima zahtjeva minimum sistemskih poziva</a:t>
            </a:r>
          </a:p>
          <a:p>
            <a:pPr marL="457200" lvl="0" indent="-381000">
              <a:lnSpc>
                <a:spcPct val="115000"/>
              </a:lnSpc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2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Nema potrebe za posebnim komunikacijskim mehanizmom (zajedničke varijable, ne troše se resursi ni vrijeme na komunikaciju)</a:t>
            </a:r>
            <a:endParaRPr lang="hr-HR" sz="2200" b="1" dirty="0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738342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D79D2465-6015-4D53-5E52-5F86D51C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C4E7FEC3-9A9B-C758-5146-A712F2C3D047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Procesi vs. Niti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ica 1">
            <a:extLst>
              <a:ext uri="{FF2B5EF4-FFF2-40B4-BE49-F238E27FC236}">
                <a16:creationId xmlns:a16="http://schemas.microsoft.com/office/drawing/2014/main" id="{E582DB52-5BAD-2A9F-2D15-B9152D455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496210"/>
              </p:ext>
            </p:extLst>
          </p:nvPr>
        </p:nvGraphicFramePr>
        <p:xfrm>
          <a:off x="1256428" y="2087880"/>
          <a:ext cx="7099920" cy="2682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549960">
                  <a:extLst>
                    <a:ext uri="{9D8B030D-6E8A-4147-A177-3AD203B41FA5}">
                      <a16:colId xmlns:a16="http://schemas.microsoft.com/office/drawing/2014/main" val="1578779044"/>
                    </a:ext>
                  </a:extLst>
                </a:gridCol>
                <a:gridCol w="3549960">
                  <a:extLst>
                    <a:ext uri="{9D8B030D-6E8A-4147-A177-3AD203B41FA5}">
                      <a16:colId xmlns:a16="http://schemas.microsoft.com/office/drawing/2014/main" val="220218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Proces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Nit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7908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sz="2000" dirty="0"/>
                        <a:t>Zasebni memorijski prostor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Dijele memorijski prostor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2997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sz="2000" dirty="0"/>
                        <a:t>Teška komunikacija (IPC)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Brza komunikacija (zajedničke varijable)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2365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sz="2000" dirty="0"/>
                        <a:t>Više sistemskih poziva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Manje sistemskih poziva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29358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sz="2000" dirty="0"/>
                        <a:t>Izolacija - sigurnije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Dijeljenje - brže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2238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r-HR" sz="2000" dirty="0"/>
                        <a:t>Teže kreiranje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Lakše kreiranje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10205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293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B3C82C1-E305-93A1-8F10-8BB54D11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0C023EF9-8375-4939-7F1B-7F9F57395C4A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Procesi vs. Niti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306;p61">
            <a:extLst>
              <a:ext uri="{FF2B5EF4-FFF2-40B4-BE49-F238E27FC236}">
                <a16:creationId xmlns:a16="http://schemas.microsoft.com/office/drawing/2014/main" id="{13978360-7AFD-BD52-F366-414E1F9F73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351" y="1531579"/>
            <a:ext cx="6982792" cy="33391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5;p61">
            <a:extLst>
              <a:ext uri="{FF2B5EF4-FFF2-40B4-BE49-F238E27FC236}">
                <a16:creationId xmlns:a16="http://schemas.microsoft.com/office/drawing/2014/main" id="{B9E03A42-E84A-C8E4-F467-F9DEB0655E18}"/>
              </a:ext>
            </a:extLst>
          </p:cNvPr>
          <p:cNvSpPr txBox="1"/>
          <p:nvPr/>
        </p:nvSpPr>
        <p:spPr>
          <a:xfrm>
            <a:off x="1165320" y="4870765"/>
            <a:ext cx="2994961" cy="28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i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https://randu.org/tutorials/threads/</a:t>
            </a:r>
            <a:endParaRPr sz="1200" b="0" strike="noStrik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6A921411-80E5-4C23-9537-3476AEB4B8DA}"/>
              </a:ext>
            </a:extLst>
          </p:cNvPr>
          <p:cNvSpPr txBox="1"/>
          <p:nvPr/>
        </p:nvSpPr>
        <p:spPr>
          <a:xfrm>
            <a:off x="4436198" y="5172532"/>
            <a:ext cx="319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Svaka nit ima svoj </a:t>
            </a:r>
            <a:r>
              <a:rPr lang="hr-HR" dirty="0" err="1">
                <a:solidFill>
                  <a:schemeClr val="bg1"/>
                </a:solidFill>
              </a:rPr>
              <a:t>stack</a:t>
            </a:r>
            <a:r>
              <a:rPr lang="hr-HR" dirty="0">
                <a:solidFill>
                  <a:schemeClr val="bg1"/>
                </a:solidFill>
              </a:rPr>
              <a:t>, ostalo dijele!</a:t>
            </a:r>
          </a:p>
        </p:txBody>
      </p:sp>
    </p:spTree>
    <p:extLst>
      <p:ext uri="{BB962C8B-B14F-4D97-AF65-F5344CB8AC3E}">
        <p14:creationId xmlns:p14="http://schemas.microsoft.com/office/powerpoint/2010/main" val="2881328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C5B6DCB-949F-9188-1C18-C3F56F7D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15673B97-7A1F-D5BA-BA7D-E57C8794AEF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Funkcijski pozivi i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stack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57651959-443F-3783-8022-D8C4BF0071C1}"/>
              </a:ext>
            </a:extLst>
          </p:cNvPr>
          <p:cNvSpPr/>
          <p:nvPr/>
        </p:nvSpPr>
        <p:spPr>
          <a:xfrm>
            <a:off x="1038600" y="1368000"/>
            <a:ext cx="7300440" cy="85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Kod svakog poziva funkcije kreira se novi okvir na stogu, zato svaka nit mora imati svoj stog!</a:t>
            </a: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1" name="Grupa 10">
            <a:extLst>
              <a:ext uri="{FF2B5EF4-FFF2-40B4-BE49-F238E27FC236}">
                <a16:creationId xmlns:a16="http://schemas.microsoft.com/office/drawing/2014/main" id="{B07EB16F-B923-6BDE-5849-565DAADEA2AE}"/>
              </a:ext>
            </a:extLst>
          </p:cNvPr>
          <p:cNvGrpSpPr/>
          <p:nvPr/>
        </p:nvGrpSpPr>
        <p:grpSpPr>
          <a:xfrm>
            <a:off x="-63556" y="2682411"/>
            <a:ext cx="8990271" cy="2027859"/>
            <a:chOff x="-63556" y="2682411"/>
            <a:chExt cx="8990271" cy="2027859"/>
          </a:xfrm>
        </p:grpSpPr>
        <p:pic>
          <p:nvPicPr>
            <p:cNvPr id="2" name="Google Shape;299;p60">
              <a:extLst>
                <a:ext uri="{FF2B5EF4-FFF2-40B4-BE49-F238E27FC236}">
                  <a16:creationId xmlns:a16="http://schemas.microsoft.com/office/drawing/2014/main" id="{5F77456F-D96C-4EDD-E203-E05CC6202CE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30527" y="3069330"/>
              <a:ext cx="5150107" cy="16409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TekstniOkvir 2">
              <a:extLst>
                <a:ext uri="{FF2B5EF4-FFF2-40B4-BE49-F238E27FC236}">
                  <a16:creationId xmlns:a16="http://schemas.microsoft.com/office/drawing/2014/main" id="{AF410C69-3637-E1F8-D0A9-484CCB3DD6F8}"/>
                </a:ext>
              </a:extLst>
            </p:cNvPr>
            <p:cNvSpPr txBox="1"/>
            <p:nvPr/>
          </p:nvSpPr>
          <p:spPr>
            <a:xfrm>
              <a:off x="-63554" y="3983524"/>
              <a:ext cx="1794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hr-HR" dirty="0">
                  <a:solidFill>
                    <a:schemeClr val="bg1"/>
                  </a:solidFill>
                </a:rPr>
                <a:t>funkcija A (</a:t>
              </a:r>
              <a:r>
                <a:rPr lang="hr-HR" dirty="0" err="1">
                  <a:solidFill>
                    <a:schemeClr val="bg1"/>
                  </a:solidFill>
                </a:rPr>
                <a:t>main</a:t>
              </a:r>
              <a:r>
                <a:rPr lang="hr-HR" dirty="0">
                  <a:solidFill>
                    <a:schemeClr val="bg1"/>
                  </a:solidFill>
                </a:rPr>
                <a:t>) </a:t>
              </a:r>
              <a:r>
                <a:rPr lang="hr-HR" dirty="0">
                  <a:solidFill>
                    <a:schemeClr val="bg1"/>
                  </a:solidFill>
                  <a:sym typeface="Wingdings" panose="05000000000000000000" pitchFamily="2" charset="2"/>
                </a:rPr>
                <a:t></a:t>
              </a:r>
              <a:r>
                <a:rPr lang="hr-HR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4" name="TekstniOkvir 3">
              <a:extLst>
                <a:ext uri="{FF2B5EF4-FFF2-40B4-BE49-F238E27FC236}">
                  <a16:creationId xmlns:a16="http://schemas.microsoft.com/office/drawing/2014/main" id="{7B61A6F0-AAD1-65A6-F389-AF0A811CEEAF}"/>
                </a:ext>
              </a:extLst>
            </p:cNvPr>
            <p:cNvSpPr txBox="1"/>
            <p:nvPr/>
          </p:nvSpPr>
          <p:spPr>
            <a:xfrm>
              <a:off x="-63556" y="3564555"/>
              <a:ext cx="1794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hr-HR" dirty="0">
                  <a:solidFill>
                    <a:schemeClr val="bg1"/>
                  </a:solidFill>
                </a:rPr>
                <a:t>funkcija B </a:t>
              </a:r>
              <a:r>
                <a:rPr lang="hr-HR" dirty="0">
                  <a:solidFill>
                    <a:schemeClr val="bg1"/>
                  </a:solidFill>
                  <a:sym typeface="Wingdings" panose="05000000000000000000" pitchFamily="2" charset="2"/>
                </a:rPr>
                <a:t></a:t>
              </a:r>
              <a:r>
                <a:rPr lang="hr-HR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6" name="TekstniOkvir 5">
              <a:extLst>
                <a:ext uri="{FF2B5EF4-FFF2-40B4-BE49-F238E27FC236}">
                  <a16:creationId xmlns:a16="http://schemas.microsoft.com/office/drawing/2014/main" id="{EE76F6AC-77F6-9B74-FFC1-7CCA72A810A7}"/>
                </a:ext>
              </a:extLst>
            </p:cNvPr>
            <p:cNvSpPr txBox="1"/>
            <p:nvPr/>
          </p:nvSpPr>
          <p:spPr>
            <a:xfrm>
              <a:off x="4378007" y="2682411"/>
              <a:ext cx="18373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sz="1600" dirty="0">
                  <a:solidFill>
                    <a:schemeClr val="bg1"/>
                  </a:solidFill>
                </a:rPr>
                <a:t>Svaki okvir sadrži:</a:t>
              </a:r>
            </a:p>
          </p:txBody>
        </p:sp>
        <p:sp>
          <p:nvSpPr>
            <p:cNvPr id="7" name="TekstniOkvir 6">
              <a:extLst>
                <a:ext uri="{FF2B5EF4-FFF2-40B4-BE49-F238E27FC236}">
                  <a16:creationId xmlns:a16="http://schemas.microsoft.com/office/drawing/2014/main" id="{17E34953-B7FF-CCD3-A11B-0EA602280AFA}"/>
                </a:ext>
              </a:extLst>
            </p:cNvPr>
            <p:cNvSpPr txBox="1"/>
            <p:nvPr/>
          </p:nvSpPr>
          <p:spPr>
            <a:xfrm>
              <a:off x="6880632" y="2987798"/>
              <a:ext cx="2046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>
                  <a:solidFill>
                    <a:schemeClr val="bg1"/>
                  </a:solidFill>
                </a:rPr>
                <a:t>Gdje se vratiti nakon izvršenja</a:t>
              </a:r>
            </a:p>
          </p:txBody>
        </p:sp>
        <p:sp>
          <p:nvSpPr>
            <p:cNvPr id="8" name="TekstniOkvir 7">
              <a:extLst>
                <a:ext uri="{FF2B5EF4-FFF2-40B4-BE49-F238E27FC236}">
                  <a16:creationId xmlns:a16="http://schemas.microsoft.com/office/drawing/2014/main" id="{620DCC57-F637-7AED-23E4-E28AE1D205D4}"/>
                </a:ext>
              </a:extLst>
            </p:cNvPr>
            <p:cNvSpPr txBox="1"/>
            <p:nvPr/>
          </p:nvSpPr>
          <p:spPr>
            <a:xfrm>
              <a:off x="6880632" y="3530232"/>
              <a:ext cx="2046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>
                  <a:solidFill>
                    <a:schemeClr val="bg1"/>
                  </a:solidFill>
                </a:rPr>
                <a:t>Rezultat funkcije</a:t>
              </a:r>
            </a:p>
          </p:txBody>
        </p:sp>
        <p:sp>
          <p:nvSpPr>
            <p:cNvPr id="9" name="TekstniOkvir 8">
              <a:extLst>
                <a:ext uri="{FF2B5EF4-FFF2-40B4-BE49-F238E27FC236}">
                  <a16:creationId xmlns:a16="http://schemas.microsoft.com/office/drawing/2014/main" id="{FB0E03CC-BA98-ABFA-F2E0-CDD9707D9204}"/>
                </a:ext>
              </a:extLst>
            </p:cNvPr>
            <p:cNvSpPr txBox="1"/>
            <p:nvPr/>
          </p:nvSpPr>
          <p:spPr>
            <a:xfrm>
              <a:off x="6880632" y="3907906"/>
              <a:ext cx="2046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>
                  <a:solidFill>
                    <a:schemeClr val="bg1"/>
                  </a:solidFill>
                </a:rPr>
                <a:t>Parametri</a:t>
              </a:r>
            </a:p>
          </p:txBody>
        </p:sp>
        <p:sp>
          <p:nvSpPr>
            <p:cNvPr id="10" name="TekstniOkvir 9">
              <a:extLst>
                <a:ext uri="{FF2B5EF4-FFF2-40B4-BE49-F238E27FC236}">
                  <a16:creationId xmlns:a16="http://schemas.microsoft.com/office/drawing/2014/main" id="{3C54C770-DF93-8224-C4D3-EE367F975D87}"/>
                </a:ext>
              </a:extLst>
            </p:cNvPr>
            <p:cNvSpPr txBox="1"/>
            <p:nvPr/>
          </p:nvSpPr>
          <p:spPr>
            <a:xfrm>
              <a:off x="6880632" y="4294825"/>
              <a:ext cx="2046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 err="1">
                  <a:solidFill>
                    <a:schemeClr val="bg1"/>
                  </a:solidFill>
                </a:rPr>
                <a:t>int</a:t>
              </a:r>
              <a:r>
                <a:rPr lang="hr-HR" dirty="0">
                  <a:solidFill>
                    <a:schemeClr val="bg1"/>
                  </a:solidFill>
                </a:rPr>
                <a:t> x, y, z, 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3590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7ABA15E-CD76-95B4-7A03-77CABFA9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03EBDB8E-2E89-1F97-B274-E2CB9D639D5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Funkcijski pozivi i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stack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1F0B64EE-3F84-7780-928F-BD07B20D432D}"/>
              </a:ext>
            </a:extLst>
          </p:cNvPr>
          <p:cNvSpPr/>
          <p:nvPr/>
        </p:nvSpPr>
        <p:spPr>
          <a:xfrm>
            <a:off x="1038600" y="1368000"/>
            <a:ext cx="7300440" cy="248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buClr>
                <a:srgbClr val="39C0BA"/>
              </a:buClr>
              <a:buSzPct val="100000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Zašto je ovo važno za niti?</a:t>
            </a:r>
          </a:p>
          <a:p>
            <a:pPr marL="457200" lvl="1" indent="-381000">
              <a:buClr>
                <a:srgbClr val="39C0BA"/>
              </a:buClr>
              <a:buSzPct val="1000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Svaka nit izvršava svoj tok programa → poziva svoje funkcije</a:t>
            </a:r>
          </a:p>
          <a:p>
            <a:pPr marL="457200" lvl="1" indent="-381000">
              <a:buClr>
                <a:srgbClr val="39C0BA"/>
              </a:buClr>
              <a:buSzPct val="1000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Svaka nit treba svoj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stack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→ da zna gdje se vratiti, koje su joj lokalne varijable</a:t>
            </a:r>
          </a:p>
          <a:p>
            <a:pPr marL="457200" lvl="1" indent="-381000">
              <a:buClr>
                <a:srgbClr val="39C0BA"/>
              </a:buClr>
              <a:buSzPct val="1000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Lokalne varijable su PRIVATNE za svaku nit (na njenom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stacku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marL="457200" lvl="1" indent="-381000">
              <a:buClr>
                <a:srgbClr val="39C0BA"/>
              </a:buClr>
              <a:buSzPct val="100000"/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Globalne varijable su ZAJEDNIČKE (nisu na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stacku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!)</a:t>
            </a:r>
            <a:endParaRPr sz="2000" b="0" i="0" u="none" strike="noStrike" cap="none" dirty="0">
              <a:solidFill>
                <a:schemeClr val="bg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5" name="Grupa 4">
            <a:extLst>
              <a:ext uri="{FF2B5EF4-FFF2-40B4-BE49-F238E27FC236}">
                <a16:creationId xmlns:a16="http://schemas.microsoft.com/office/drawing/2014/main" id="{D5B3CBF5-3271-60EC-4329-70A5F010A27B}"/>
              </a:ext>
            </a:extLst>
          </p:cNvPr>
          <p:cNvGrpSpPr/>
          <p:nvPr/>
        </p:nvGrpSpPr>
        <p:grpSpPr>
          <a:xfrm>
            <a:off x="0" y="4060536"/>
            <a:ext cx="8990271" cy="2027859"/>
            <a:chOff x="-63556" y="2682411"/>
            <a:chExt cx="8990271" cy="2027859"/>
          </a:xfrm>
        </p:grpSpPr>
        <p:pic>
          <p:nvPicPr>
            <p:cNvPr id="11" name="Google Shape;299;p60">
              <a:extLst>
                <a:ext uri="{FF2B5EF4-FFF2-40B4-BE49-F238E27FC236}">
                  <a16:creationId xmlns:a16="http://schemas.microsoft.com/office/drawing/2014/main" id="{CF776DB0-7D45-07A4-33A4-40A800BDBDC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30527" y="3069330"/>
              <a:ext cx="5150107" cy="16409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TekstniOkvir 11">
              <a:extLst>
                <a:ext uri="{FF2B5EF4-FFF2-40B4-BE49-F238E27FC236}">
                  <a16:creationId xmlns:a16="http://schemas.microsoft.com/office/drawing/2014/main" id="{64E86609-C792-FF4A-308A-48359E64E2B3}"/>
                </a:ext>
              </a:extLst>
            </p:cNvPr>
            <p:cNvSpPr txBox="1"/>
            <p:nvPr/>
          </p:nvSpPr>
          <p:spPr>
            <a:xfrm>
              <a:off x="-63554" y="3983524"/>
              <a:ext cx="1794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hr-HR" dirty="0">
                  <a:solidFill>
                    <a:schemeClr val="bg1"/>
                  </a:solidFill>
                </a:rPr>
                <a:t>funkcija A (</a:t>
              </a:r>
              <a:r>
                <a:rPr lang="hr-HR" dirty="0" err="1">
                  <a:solidFill>
                    <a:schemeClr val="bg1"/>
                  </a:solidFill>
                </a:rPr>
                <a:t>main</a:t>
              </a:r>
              <a:r>
                <a:rPr lang="hr-HR" dirty="0">
                  <a:solidFill>
                    <a:schemeClr val="bg1"/>
                  </a:solidFill>
                </a:rPr>
                <a:t>) </a:t>
              </a:r>
              <a:r>
                <a:rPr lang="hr-HR" dirty="0">
                  <a:solidFill>
                    <a:schemeClr val="bg1"/>
                  </a:solidFill>
                  <a:sym typeface="Wingdings" panose="05000000000000000000" pitchFamily="2" charset="2"/>
                </a:rPr>
                <a:t></a:t>
              </a:r>
              <a:r>
                <a:rPr lang="hr-HR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13" name="TekstniOkvir 12">
              <a:extLst>
                <a:ext uri="{FF2B5EF4-FFF2-40B4-BE49-F238E27FC236}">
                  <a16:creationId xmlns:a16="http://schemas.microsoft.com/office/drawing/2014/main" id="{F9DE3D53-8737-8019-EF64-11D3D66D35D0}"/>
                </a:ext>
              </a:extLst>
            </p:cNvPr>
            <p:cNvSpPr txBox="1"/>
            <p:nvPr/>
          </p:nvSpPr>
          <p:spPr>
            <a:xfrm>
              <a:off x="-63556" y="3564555"/>
              <a:ext cx="1794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hr-HR" dirty="0">
                  <a:solidFill>
                    <a:schemeClr val="bg1"/>
                  </a:solidFill>
                </a:rPr>
                <a:t>funkcija B </a:t>
              </a:r>
              <a:r>
                <a:rPr lang="hr-HR" dirty="0">
                  <a:solidFill>
                    <a:schemeClr val="bg1"/>
                  </a:solidFill>
                  <a:sym typeface="Wingdings" panose="05000000000000000000" pitchFamily="2" charset="2"/>
                </a:rPr>
                <a:t></a:t>
              </a:r>
              <a:r>
                <a:rPr lang="hr-HR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14" name="TekstniOkvir 13">
              <a:extLst>
                <a:ext uri="{FF2B5EF4-FFF2-40B4-BE49-F238E27FC236}">
                  <a16:creationId xmlns:a16="http://schemas.microsoft.com/office/drawing/2014/main" id="{86269C94-7A8F-3FE8-B488-6A1986262BA0}"/>
                </a:ext>
              </a:extLst>
            </p:cNvPr>
            <p:cNvSpPr txBox="1"/>
            <p:nvPr/>
          </p:nvSpPr>
          <p:spPr>
            <a:xfrm>
              <a:off x="4378007" y="2682411"/>
              <a:ext cx="18373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r-HR" sz="1600" dirty="0">
                  <a:solidFill>
                    <a:schemeClr val="bg1"/>
                  </a:solidFill>
                </a:rPr>
                <a:t>Svaki okvir sadrži:</a:t>
              </a:r>
            </a:p>
          </p:txBody>
        </p:sp>
        <p:sp>
          <p:nvSpPr>
            <p:cNvPr id="15" name="TekstniOkvir 14">
              <a:extLst>
                <a:ext uri="{FF2B5EF4-FFF2-40B4-BE49-F238E27FC236}">
                  <a16:creationId xmlns:a16="http://schemas.microsoft.com/office/drawing/2014/main" id="{A353ACB9-33C7-838E-991B-874DC6215A5C}"/>
                </a:ext>
              </a:extLst>
            </p:cNvPr>
            <p:cNvSpPr txBox="1"/>
            <p:nvPr/>
          </p:nvSpPr>
          <p:spPr>
            <a:xfrm>
              <a:off x="6880632" y="2987798"/>
              <a:ext cx="2046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>
                  <a:solidFill>
                    <a:schemeClr val="bg1"/>
                  </a:solidFill>
                </a:rPr>
                <a:t>Gdje se vratiti nakon izvršenja</a:t>
              </a:r>
            </a:p>
          </p:txBody>
        </p:sp>
        <p:sp>
          <p:nvSpPr>
            <p:cNvPr id="16" name="TekstniOkvir 15">
              <a:extLst>
                <a:ext uri="{FF2B5EF4-FFF2-40B4-BE49-F238E27FC236}">
                  <a16:creationId xmlns:a16="http://schemas.microsoft.com/office/drawing/2014/main" id="{18C1F195-BE42-AAD5-239F-22A9A6088AB6}"/>
                </a:ext>
              </a:extLst>
            </p:cNvPr>
            <p:cNvSpPr txBox="1"/>
            <p:nvPr/>
          </p:nvSpPr>
          <p:spPr>
            <a:xfrm>
              <a:off x="6880632" y="3530232"/>
              <a:ext cx="2046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>
                  <a:solidFill>
                    <a:schemeClr val="bg1"/>
                  </a:solidFill>
                </a:rPr>
                <a:t>Rezultat funkcije</a:t>
              </a:r>
            </a:p>
          </p:txBody>
        </p:sp>
        <p:sp>
          <p:nvSpPr>
            <p:cNvPr id="17" name="TekstniOkvir 16">
              <a:extLst>
                <a:ext uri="{FF2B5EF4-FFF2-40B4-BE49-F238E27FC236}">
                  <a16:creationId xmlns:a16="http://schemas.microsoft.com/office/drawing/2014/main" id="{7BD9370E-0DF4-1F86-5CBA-A8A684385B94}"/>
                </a:ext>
              </a:extLst>
            </p:cNvPr>
            <p:cNvSpPr txBox="1"/>
            <p:nvPr/>
          </p:nvSpPr>
          <p:spPr>
            <a:xfrm>
              <a:off x="6880632" y="3907906"/>
              <a:ext cx="2046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>
                  <a:solidFill>
                    <a:schemeClr val="bg1"/>
                  </a:solidFill>
                </a:rPr>
                <a:t>Parametri</a:t>
              </a:r>
            </a:p>
          </p:txBody>
        </p:sp>
        <p:sp>
          <p:nvSpPr>
            <p:cNvPr id="18" name="TekstniOkvir 17">
              <a:extLst>
                <a:ext uri="{FF2B5EF4-FFF2-40B4-BE49-F238E27FC236}">
                  <a16:creationId xmlns:a16="http://schemas.microsoft.com/office/drawing/2014/main" id="{4668C1CB-77C8-9792-3D78-C456C2FDA6E3}"/>
                </a:ext>
              </a:extLst>
            </p:cNvPr>
            <p:cNvSpPr txBox="1"/>
            <p:nvPr/>
          </p:nvSpPr>
          <p:spPr>
            <a:xfrm>
              <a:off x="6880632" y="4294825"/>
              <a:ext cx="2046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 err="1">
                  <a:solidFill>
                    <a:schemeClr val="bg1"/>
                  </a:solidFill>
                </a:rPr>
                <a:t>int</a:t>
              </a:r>
              <a:r>
                <a:rPr lang="hr-HR" dirty="0">
                  <a:solidFill>
                    <a:schemeClr val="bg1"/>
                  </a:solidFill>
                </a:rPr>
                <a:t> x, y, z, 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4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9155A4A-8262-2476-1AD3-760F7E19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9FE27F9B-D274-31AB-1DF0-B47FDEA1DA2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Višenitni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pristup dijeljenoj memoriji</a:t>
            </a:r>
            <a:endParaRPr lang="hr-HR" sz="2400" b="1" dirty="0"/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38417A0C-100D-CFFC-E08F-F5233382A344}"/>
              </a:ext>
            </a:extLst>
          </p:cNvPr>
          <p:cNvSpPr/>
          <p:nvPr/>
        </p:nvSpPr>
        <p:spPr>
          <a:xfrm>
            <a:off x="1038600" y="1368000"/>
            <a:ext cx="7300440" cy="1438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Svaka nit ima pristup dijeljenoj memoriji i lokalnim podacima (lokalne varijable - stog)</a:t>
            </a:r>
          </a:p>
        </p:txBody>
      </p:sp>
      <p:pic>
        <p:nvPicPr>
          <p:cNvPr id="9" name="Google Shape;313;p62">
            <a:extLst>
              <a:ext uri="{FF2B5EF4-FFF2-40B4-BE49-F238E27FC236}">
                <a16:creationId xmlns:a16="http://schemas.microsoft.com/office/drawing/2014/main" id="{C01B25E8-96FF-1044-DBB2-8057FEF772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88" y="2510405"/>
            <a:ext cx="4863325" cy="32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14;p62">
            <a:extLst>
              <a:ext uri="{FF2B5EF4-FFF2-40B4-BE49-F238E27FC236}">
                <a16:creationId xmlns:a16="http://schemas.microsoft.com/office/drawing/2014/main" id="{9DAF9D53-E0EB-F0EA-11C5-4A1ECF644134}"/>
              </a:ext>
            </a:extLst>
          </p:cNvPr>
          <p:cNvSpPr txBox="1"/>
          <p:nvPr/>
        </p:nvSpPr>
        <p:spPr>
          <a:xfrm>
            <a:off x="141417" y="5722980"/>
            <a:ext cx="5217427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i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https://hpc-tutorials.llnl.gov/posix/designing_threaded_programs/</a:t>
            </a:r>
            <a:endParaRPr sz="1200" b="0" strike="noStrik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E86D32E9-F125-AE3C-8910-82B84C172274}"/>
              </a:ext>
            </a:extLst>
          </p:cNvPr>
          <p:cNvSpPr txBox="1"/>
          <p:nvPr/>
        </p:nvSpPr>
        <p:spPr>
          <a:xfrm>
            <a:off x="5358844" y="2806574"/>
            <a:ext cx="34900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>
                <a:solidFill>
                  <a:schemeClr val="bg1"/>
                </a:solidFill>
              </a:rPr>
              <a:t>Što je </a:t>
            </a:r>
            <a:r>
              <a:rPr lang="hr-HR" sz="1600" b="1" dirty="0" err="1">
                <a:solidFill>
                  <a:schemeClr val="bg1"/>
                </a:solidFill>
              </a:rPr>
              <a:t>shared</a:t>
            </a:r>
            <a:r>
              <a:rPr lang="hr-HR" sz="1600" dirty="0">
                <a:solidFill>
                  <a:schemeClr val="bg1"/>
                </a:solidFill>
              </a:rPr>
              <a:t> (dijeljeno)?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Globalne varijable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Dinamički alocirani podaci (</a:t>
            </a:r>
            <a:r>
              <a:rPr lang="hr-HR" sz="1600" dirty="0" err="1">
                <a:solidFill>
                  <a:schemeClr val="bg1"/>
                </a:solidFill>
              </a:rPr>
              <a:t>heap</a:t>
            </a:r>
            <a:r>
              <a:rPr lang="hr-HR" sz="16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Izvršni kod programa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hr-HR" sz="1600" dirty="0">
                <a:solidFill>
                  <a:schemeClr val="bg1"/>
                </a:solidFill>
              </a:rPr>
              <a:t>Što je </a:t>
            </a:r>
            <a:r>
              <a:rPr lang="hr-HR" sz="1600" b="1" dirty="0" err="1">
                <a:solidFill>
                  <a:schemeClr val="bg1"/>
                </a:solidFill>
              </a:rPr>
              <a:t>private</a:t>
            </a:r>
            <a:r>
              <a:rPr lang="hr-HR" sz="1600" dirty="0">
                <a:solidFill>
                  <a:schemeClr val="bg1"/>
                </a:solidFill>
              </a:rPr>
              <a:t> (privatno)?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Lokalne varijable funkcija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Parametri funkcija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</a:rPr>
              <a:t>Povratne adrese</a:t>
            </a:r>
          </a:p>
        </p:txBody>
      </p:sp>
    </p:spTree>
    <p:extLst>
      <p:ext uri="{BB962C8B-B14F-4D97-AF65-F5344CB8AC3E}">
        <p14:creationId xmlns:p14="http://schemas.microsoft.com/office/powerpoint/2010/main" val="52443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F3974DC9-C5AA-FBB4-D560-EC13D777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CF516F78-6FF0-D1D4-EC57-F6D6AC0996BD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Višenitni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pristup dijeljenoj memoriji</a:t>
            </a:r>
            <a:endParaRPr lang="hr-HR" sz="2400" b="1" dirty="0"/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5B8DB1F7-39E2-422A-0084-267DF177512B}"/>
              </a:ext>
            </a:extLst>
          </p:cNvPr>
          <p:cNvSpPr/>
          <p:nvPr/>
        </p:nvSpPr>
        <p:spPr>
          <a:xfrm>
            <a:off x="984278" y="2418367"/>
            <a:ext cx="8023919" cy="3126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buClr>
                <a:srgbClr val="39C0BA"/>
              </a:buClr>
              <a:buSzPct val="100000"/>
            </a:pP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int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count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= 0;  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  <a:ea typeface="Cambria"/>
              <a:cs typeface="Cambria"/>
              <a:sym typeface="Cambria"/>
            </a:endParaRPr>
          </a:p>
          <a:p>
            <a:pPr marL="76200" lvl="0">
              <a:buClr>
                <a:srgbClr val="39C0BA"/>
              </a:buClr>
              <a:buSzPct val="100000"/>
            </a:pPr>
            <a:endParaRPr lang="hr-HR" sz="2000" dirty="0">
              <a:solidFill>
                <a:schemeClr val="bg1"/>
              </a:solidFill>
              <a:latin typeface="Consolas" panose="020B0609020204030204" pitchFamily="49" charset="0"/>
              <a:ea typeface="Cambria"/>
              <a:cs typeface="Cambria"/>
              <a:sym typeface="Cambria"/>
            </a:endParaRPr>
          </a:p>
          <a:p>
            <a:pPr marL="76200" lvl="0">
              <a:buClr>
                <a:srgbClr val="39C0BA"/>
              </a:buClr>
              <a:buSzPct val="100000"/>
            </a:pP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void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* 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worker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(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void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* 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arg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) {</a:t>
            </a:r>
          </a:p>
          <a:p>
            <a:pPr marL="76200" lvl="0">
              <a:buClr>
                <a:srgbClr val="39C0BA"/>
              </a:buClr>
              <a:buSzPct val="100000"/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   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int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i;      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  <a:ea typeface="Cambria"/>
              <a:cs typeface="Cambria"/>
              <a:sym typeface="Cambria"/>
            </a:endParaRPr>
          </a:p>
          <a:p>
            <a:pPr marL="76200" lvl="0">
              <a:buClr>
                <a:srgbClr val="39C0BA"/>
              </a:buClr>
              <a:buSzPct val="100000"/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   </a:t>
            </a:r>
          </a:p>
          <a:p>
            <a:pPr marL="76200" lvl="0">
              <a:buClr>
                <a:srgbClr val="39C0BA"/>
              </a:buClr>
              <a:buSzPct val="100000"/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   for(i = 0; i &lt; 1000; i++) {</a:t>
            </a:r>
          </a:p>
          <a:p>
            <a:pPr marL="76200" lvl="0">
              <a:buClr>
                <a:srgbClr val="39C0BA"/>
              </a:buClr>
              <a:buSzPct val="100000"/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       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count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++;  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  <a:ea typeface="Cambria"/>
              <a:cs typeface="Cambria"/>
              <a:sym typeface="Cambria"/>
            </a:endParaRPr>
          </a:p>
          <a:p>
            <a:pPr marL="76200" lvl="0">
              <a:buClr>
                <a:srgbClr val="39C0BA"/>
              </a:buClr>
              <a:buSzPct val="100000"/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   }</a:t>
            </a:r>
          </a:p>
          <a:p>
            <a:pPr marL="76200" lvl="0">
              <a:buClr>
                <a:srgbClr val="39C0BA"/>
              </a:buClr>
              <a:buSzPct val="100000"/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}</a:t>
            </a:r>
            <a:endParaRPr sz="2000" b="0" i="0" u="none" strike="noStrike" cap="none" dirty="0">
              <a:solidFill>
                <a:schemeClr val="bg1"/>
              </a:solidFill>
              <a:latin typeface="Consolas" panose="020B0609020204030204" pitchFamily="49" charset="0"/>
              <a:ea typeface="Cambria"/>
              <a:cs typeface="Cambria"/>
              <a:sym typeface="Cambria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CE7F4D89-E366-19A4-70E9-005F579694FB}"/>
              </a:ext>
            </a:extLst>
          </p:cNvPr>
          <p:cNvSpPr txBox="1"/>
          <p:nvPr/>
        </p:nvSpPr>
        <p:spPr>
          <a:xfrm>
            <a:off x="866555" y="1312752"/>
            <a:ext cx="642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Ako 3 niti izvršavaju ovu funkciju, koliko će biti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count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?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01EF764F-591F-205A-C4AE-BB77AB279DB2}"/>
              </a:ext>
            </a:extLst>
          </p:cNvPr>
          <p:cNvSpPr txBox="1"/>
          <p:nvPr/>
        </p:nvSpPr>
        <p:spPr>
          <a:xfrm>
            <a:off x="4884891" y="2496252"/>
            <a:ext cx="2868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// SHARED - u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shared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memory</a:t>
            </a:r>
            <a:endParaRPr lang="hr-HR" dirty="0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8D63676F-79E0-EF16-4ED8-8D78B31EA335}"/>
              </a:ext>
            </a:extLst>
          </p:cNvPr>
          <p:cNvSpPr txBox="1"/>
          <p:nvPr/>
        </p:nvSpPr>
        <p:spPr>
          <a:xfrm>
            <a:off x="4884891" y="3404468"/>
            <a:ext cx="349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//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PRIVATE - na </a:t>
            </a:r>
            <a:r>
              <a:rPr lang="hr-HR" dirty="0" err="1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stacku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svake niti</a:t>
            </a:r>
            <a:endParaRPr lang="hr-HR" dirty="0"/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E3D1F3E8-8D66-B879-26C7-E5307D2DA7A4}"/>
              </a:ext>
            </a:extLst>
          </p:cNvPr>
          <p:cNvSpPr txBox="1"/>
          <p:nvPr/>
        </p:nvSpPr>
        <p:spPr>
          <a:xfrm>
            <a:off x="4375374" y="4325417"/>
            <a:ext cx="4886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//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</a:t>
            </a:r>
            <a:r>
              <a:rPr lang="hr-HR" dirty="0">
                <a:solidFill>
                  <a:srgbClr val="FF0000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PROBLEM! 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Sve niti mijenjaju </a:t>
            </a:r>
            <a:r>
              <a:rPr lang="hr-HR" dirty="0">
                <a:solidFill>
                  <a:srgbClr val="FF0000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istu</a:t>
            </a:r>
            <a:r>
              <a:rPr lang="hr-HR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Cambria"/>
              </a:rPr>
              <a:t> varijablu</a:t>
            </a:r>
            <a:endParaRPr lang="hr-H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Rukopis 7">
                <a:extLst>
                  <a:ext uri="{FF2B5EF4-FFF2-40B4-BE49-F238E27FC236}">
                    <a16:creationId xmlns:a16="http://schemas.microsoft.com/office/drawing/2014/main" id="{9F1B0975-E34E-1CB0-C751-D1208D813156}"/>
                  </a:ext>
                </a:extLst>
              </p14:cNvPr>
              <p14:cNvContentPartPr/>
              <p14:nvPr/>
            </p14:nvContentPartPr>
            <p14:xfrm>
              <a:off x="1891872" y="4296168"/>
              <a:ext cx="1664280" cy="395640"/>
            </p14:xfrm>
          </p:contentPart>
        </mc:Choice>
        <mc:Fallback xmlns="">
          <p:pic>
            <p:nvPicPr>
              <p:cNvPr id="8" name="Rukopis 7">
                <a:extLst>
                  <a:ext uri="{FF2B5EF4-FFF2-40B4-BE49-F238E27FC236}">
                    <a16:creationId xmlns:a16="http://schemas.microsoft.com/office/drawing/2014/main" id="{9F1B0975-E34E-1CB0-C751-D1208D8131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2872" y="4287168"/>
                <a:ext cx="1681920" cy="41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523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7922BC7-3D1E-44A2-E6BA-2B8A74A1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640822D7-8D70-3E3C-A70B-F3171D8E4CBC}"/>
              </a:ext>
            </a:extLst>
          </p:cNvPr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Problemi sinkronizacije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>
            <a:extLst>
              <a:ext uri="{FF2B5EF4-FFF2-40B4-BE49-F238E27FC236}">
                <a16:creationId xmlns:a16="http://schemas.microsoft.com/office/drawing/2014/main" id="{ECC5E500-BB02-476C-B5F2-B716B53C4CF7}"/>
              </a:ext>
            </a:extLst>
          </p:cNvPr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229CD949-2ACF-8BF0-6A9A-70EE6DEDA405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solidFill>
                  <a:srgbClr val="2E3037"/>
                </a:solidFill>
                <a:latin typeface="Quicksand"/>
                <a:ea typeface="Cambria"/>
                <a:cs typeface="Cambria"/>
                <a:sym typeface="Quicksand"/>
              </a:rPr>
              <a:t>3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94206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40483CF4-C914-15FD-D86F-889A81AD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4417465D-EAAC-52C6-5D6B-A2C00AC272E2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safety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(Sigurnost niti)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01EC8515-5896-1903-6A07-8476D3C0EC32}"/>
              </a:ext>
            </a:extLst>
          </p:cNvPr>
          <p:cNvSpPr/>
          <p:nvPr/>
        </p:nvSpPr>
        <p:spPr>
          <a:xfrm>
            <a:off x="1038600" y="1368000"/>
            <a:ext cx="7300440" cy="1438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Sposobnost programa da istovremeno izvršava više niti bez rušenja konzistentnosti zajedničke memorije </a:t>
            </a:r>
            <a:r>
              <a:rPr lang="hr-HR" sz="1800" b="1" dirty="0">
                <a:solidFill>
                  <a:srgbClr val="FF0000"/>
                </a:solidFill>
                <a:latin typeface="Quicksand"/>
                <a:ea typeface="Cambria"/>
                <a:cs typeface="Cambria"/>
                <a:sym typeface="Quicksand"/>
              </a:rPr>
              <a:t>(race </a:t>
            </a:r>
            <a:r>
              <a:rPr lang="hr-HR" sz="1800" b="1" dirty="0" err="1">
                <a:solidFill>
                  <a:srgbClr val="FF0000"/>
                </a:solidFill>
                <a:latin typeface="Quicksand"/>
                <a:ea typeface="Cambria"/>
                <a:cs typeface="Cambria"/>
                <a:sym typeface="Quicksand"/>
              </a:rPr>
              <a:t>condition</a:t>
            </a:r>
            <a:r>
              <a:rPr lang="hr-HR" sz="1800" b="1" dirty="0">
                <a:solidFill>
                  <a:srgbClr val="FF0000"/>
                </a:solidFill>
                <a:latin typeface="Quicksand"/>
                <a:ea typeface="Cambria"/>
                <a:cs typeface="Cambria"/>
                <a:sym typeface="Quicksand"/>
              </a:rPr>
              <a:t>)</a:t>
            </a:r>
          </a:p>
        </p:txBody>
      </p:sp>
      <p:pic>
        <p:nvPicPr>
          <p:cNvPr id="2" name="Google Shape;321;p63">
            <a:extLst>
              <a:ext uri="{FF2B5EF4-FFF2-40B4-BE49-F238E27FC236}">
                <a16:creationId xmlns:a16="http://schemas.microsoft.com/office/drawing/2014/main" id="{F42F30FE-8A37-6974-141C-D15E221227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863" y="2631225"/>
            <a:ext cx="7039975" cy="33402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22;p63">
            <a:extLst>
              <a:ext uri="{FF2B5EF4-FFF2-40B4-BE49-F238E27FC236}">
                <a16:creationId xmlns:a16="http://schemas.microsoft.com/office/drawing/2014/main" id="{256FC4E7-4EE5-3E7B-871F-83CE8ED42D6A}"/>
              </a:ext>
            </a:extLst>
          </p:cNvPr>
          <p:cNvSpPr txBox="1"/>
          <p:nvPr/>
        </p:nvSpPr>
        <p:spPr>
          <a:xfrm>
            <a:off x="1165319" y="6012522"/>
            <a:ext cx="4573860" cy="28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i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https://hpc-tutorials.llnl.gov/posix/designing_threaded_programs/</a:t>
            </a:r>
            <a:endParaRPr sz="1200" b="0" strike="noStrike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5618626-FCEF-5C3E-525F-5A628F51FB25}"/>
              </a:ext>
            </a:extLst>
          </p:cNvPr>
          <p:cNvSpPr txBox="1"/>
          <p:nvPr/>
        </p:nvSpPr>
        <p:spPr>
          <a:xfrm>
            <a:off x="1394634" y="5017526"/>
            <a:ext cx="41152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/>
              <a:t>Sve niti mijenjaju </a:t>
            </a:r>
            <a:r>
              <a:rPr lang="hr-HR" sz="1600" dirty="0">
                <a:solidFill>
                  <a:srgbClr val="FF0000"/>
                </a:solidFill>
              </a:rPr>
              <a:t>istu</a:t>
            </a:r>
            <a:r>
              <a:rPr lang="hr-HR" sz="1600" dirty="0"/>
              <a:t> memorijsku lokaciju!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Rukopis 4">
                <a:extLst>
                  <a:ext uri="{FF2B5EF4-FFF2-40B4-BE49-F238E27FC236}">
                    <a16:creationId xmlns:a16="http://schemas.microsoft.com/office/drawing/2014/main" id="{97290414-8C2C-45C3-9976-C6FC5D4CF789}"/>
                  </a:ext>
                </a:extLst>
              </p14:cNvPr>
              <p14:cNvContentPartPr/>
              <p14:nvPr/>
            </p14:nvContentPartPr>
            <p14:xfrm>
              <a:off x="5509863" y="5061506"/>
              <a:ext cx="2417040" cy="369360"/>
            </p14:xfrm>
          </p:contentPart>
        </mc:Choice>
        <mc:Fallback xmlns="">
          <p:pic>
            <p:nvPicPr>
              <p:cNvPr id="5" name="Rukopis 4">
                <a:extLst>
                  <a:ext uri="{FF2B5EF4-FFF2-40B4-BE49-F238E27FC236}">
                    <a16:creationId xmlns:a16="http://schemas.microsoft.com/office/drawing/2014/main" id="{97290414-8C2C-45C3-9976-C6FC5D4CF7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00863" y="5052506"/>
                <a:ext cx="2434680" cy="38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215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73BC68B-0C52-193A-CF8C-024973A9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80F36A88-68C0-877B-808F-C9D69583E256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Thread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safety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(Sigurnost niti)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C49083F6-F098-0D50-503E-FAD690B54BE0}"/>
              </a:ext>
            </a:extLst>
          </p:cNvPr>
          <p:cNvSpPr/>
          <p:nvPr/>
        </p:nvSpPr>
        <p:spPr>
          <a:xfrm>
            <a:off x="1038600" y="1368000"/>
            <a:ext cx="7300440" cy="42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39C0BA"/>
              </a:buClr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Thread-safe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 rutina:</a:t>
            </a:r>
          </a:p>
          <a:p>
            <a:pPr marL="285750" lvl="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</a:rPr>
              <a:t>Koristi sinkronizacijske mehanizme (</a:t>
            </a:r>
            <a:r>
              <a:rPr lang="hr-HR" sz="1800" dirty="0" err="1">
                <a:solidFill>
                  <a:schemeClr val="bg1"/>
                </a:solidFill>
                <a:latin typeface="Quicksand" panose="020B0604020202020204" charset="0"/>
              </a:rPr>
              <a:t>mutex</a:t>
            </a: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</a:rPr>
              <a:t>, </a:t>
            </a:r>
            <a:r>
              <a:rPr lang="hr-HR" sz="1800" dirty="0" err="1">
                <a:solidFill>
                  <a:schemeClr val="bg1"/>
                </a:solidFill>
                <a:latin typeface="Quicksand" panose="020B0604020202020204" charset="0"/>
              </a:rPr>
              <a:t>lock</a:t>
            </a: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</a:rPr>
              <a:t>)</a:t>
            </a:r>
          </a:p>
          <a:p>
            <a:pPr marL="285750" lvl="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</a:rPr>
              <a:t>Sprječava da više niti istovremeno mijenja zajedničke podatke</a:t>
            </a:r>
          </a:p>
          <a:p>
            <a:pPr marL="285750" lvl="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it-IT" sz="1800" dirty="0" err="1">
                <a:solidFill>
                  <a:schemeClr val="bg1"/>
                </a:solidFill>
                <a:latin typeface="Quicksand" panose="020B0604020202020204" charset="0"/>
              </a:rPr>
              <a:t>Rezultati</a:t>
            </a:r>
            <a:r>
              <a:rPr lang="it-IT" sz="1800" dirty="0">
                <a:solidFill>
                  <a:schemeClr val="bg1"/>
                </a:solidFill>
                <a:latin typeface="Quicksand" panose="020B0604020202020204" charset="0"/>
              </a:rPr>
              <a:t> su </a:t>
            </a:r>
            <a:r>
              <a:rPr lang="it-IT" sz="1800" dirty="0" err="1">
                <a:solidFill>
                  <a:schemeClr val="bg1"/>
                </a:solidFill>
                <a:latin typeface="Quicksand" panose="020B0604020202020204" charset="0"/>
              </a:rPr>
              <a:t>predvidivi</a:t>
            </a:r>
            <a:r>
              <a:rPr lang="it-IT" sz="1800" dirty="0">
                <a:solidFill>
                  <a:schemeClr val="bg1"/>
                </a:solidFill>
                <a:latin typeface="Quicksand" panose="020B0604020202020204" charset="0"/>
              </a:rPr>
              <a:t> i </a:t>
            </a:r>
            <a:r>
              <a:rPr lang="it-IT" sz="1800" dirty="0" err="1">
                <a:solidFill>
                  <a:schemeClr val="bg1"/>
                </a:solidFill>
                <a:latin typeface="Quicksand" panose="020B0604020202020204" charset="0"/>
              </a:rPr>
              <a:t>ispravni</a:t>
            </a:r>
            <a:endParaRPr lang="hr-HR" sz="1800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285750" lvl="0" indent="-285750">
              <a:buClr>
                <a:srgbClr val="39C0BA"/>
              </a:buClr>
              <a:buFontTx/>
              <a:buChar char="-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  <a:ea typeface="Cambria"/>
              <a:cs typeface="Cambria"/>
              <a:sym typeface="Quicksand"/>
            </a:endParaRPr>
          </a:p>
          <a:p>
            <a:pPr lvl="0">
              <a:buClr>
                <a:srgbClr val="39C0BA"/>
              </a:buClr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Rutina koja NIJE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thread-safe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:</a:t>
            </a:r>
          </a:p>
          <a:p>
            <a:pPr marL="285750" lvl="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</a:rPr>
              <a:t>Nema zaštitu zajedničkih podataka</a:t>
            </a:r>
          </a:p>
          <a:p>
            <a:pPr marL="285750" lvl="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</a:rPr>
              <a:t>Nepredvidivi rezultati pri svakom pokretanju</a:t>
            </a:r>
          </a:p>
          <a:p>
            <a:pPr marL="285750" lvl="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</a:rPr>
              <a:t>Mogućnost rušenja programa</a:t>
            </a:r>
          </a:p>
          <a:p>
            <a:pPr marL="285750" lvl="0" indent="-285750">
              <a:buClr>
                <a:srgbClr val="39C0BA"/>
              </a:buClr>
              <a:buFontTx/>
              <a:buChar char="-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  <a:ea typeface="Cambria"/>
              <a:cs typeface="Cambria"/>
              <a:sym typeface="Quicksand"/>
            </a:endParaRPr>
          </a:p>
          <a:p>
            <a:pPr lvl="0">
              <a:buClr>
                <a:srgbClr val="39C0BA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  <a:ea typeface="Cambria"/>
              <a:cs typeface="Cambria"/>
              <a:sym typeface="Quicksand"/>
            </a:endParaRPr>
          </a:p>
          <a:p>
            <a:pPr lvl="0">
              <a:buClr>
                <a:srgbClr val="39C0BA"/>
              </a:buClr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Preporuka:</a:t>
            </a:r>
          </a:p>
          <a:p>
            <a:pPr marL="285750" lvl="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Ako niste 100% sigurni da je eksterna biblioteka </a:t>
            </a:r>
            <a:r>
              <a:rPr lang="hr-HR" sz="1800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thread-safe</a:t>
            </a: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: Pretpostavite da NIJE dok se ne dokaže suprotno</a:t>
            </a:r>
          </a:p>
          <a:p>
            <a:pPr marL="285750" lvl="0" indent="-285750">
              <a:buClr>
                <a:srgbClr val="39C0BA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Rješenje: "</a:t>
            </a:r>
            <a:r>
              <a:rPr lang="hr-HR" sz="1800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Serijalizirajte</a:t>
            </a:r>
            <a:r>
              <a:rPr lang="hr-HR" sz="1800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" pozive funkciji</a:t>
            </a:r>
          </a:p>
        </p:txBody>
      </p:sp>
    </p:spTree>
    <p:extLst>
      <p:ext uri="{BB962C8B-B14F-4D97-AF65-F5344CB8AC3E}">
        <p14:creationId xmlns:p14="http://schemas.microsoft.com/office/powerpoint/2010/main" val="372626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DCFC49F5-3C78-AFF3-95A1-38DA6A64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DCDA10ED-1E50-D7C9-C5B6-6A0A15D5613C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6C357540-733C-B1E3-8148-8F68D8B0DF32}"/>
              </a:ext>
            </a:extLst>
          </p:cNvPr>
          <p:cNvSpPr/>
          <p:nvPr/>
        </p:nvSpPr>
        <p:spPr>
          <a:xfrm>
            <a:off x="1038600" y="1368000"/>
            <a:ext cx="7300440" cy="443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r-HR" sz="2000" b="1" u="sng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 niti pristupa istoj globalnoj varijabli:</a:t>
            </a:r>
          </a:p>
          <a:p>
            <a:pPr marL="914400" lvl="1" indent="-368300">
              <a:buClr>
                <a:schemeClr val="lt1"/>
              </a:buClr>
              <a:buSzPts val="2200"/>
              <a:buFont typeface="Quicksand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Krajnji rezultat ne smije ovisiti o redoslijedu pristupa (koji ne možemo predvidjeti)</a:t>
            </a:r>
          </a:p>
          <a:p>
            <a:pPr lvl="0"/>
            <a:r>
              <a:rPr lang="hr-HR" sz="2000" b="1" u="sng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Atomske operacije:</a:t>
            </a:r>
          </a:p>
          <a:p>
            <a:pPr marL="914400" lvl="1" indent="-368300">
              <a:buClr>
                <a:schemeClr val="lt1"/>
              </a:buClr>
              <a:buSzPts val="2200"/>
              <a:buFont typeface="Quicksand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Operacije koje se sastoje od više koraka, a izvode se na način da se izvrše svi koraci, ili se ne izvrši niti jedan</a:t>
            </a:r>
          </a:p>
          <a:p>
            <a:pPr marL="914400" lvl="1" indent="-368300">
              <a:buClr>
                <a:schemeClr val="lt1"/>
              </a:buClr>
              <a:buSzPts val="2200"/>
              <a:buFont typeface="Quicksand"/>
              <a:buChar char="●"/>
            </a:pPr>
            <a:endParaRPr lang="hr-HR"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546100">
              <a:buClr>
                <a:schemeClr val="lt1"/>
              </a:buClr>
              <a:buSzPts val="2200"/>
            </a:pPr>
            <a:r>
              <a:rPr lang="hr-HR" sz="2000" b="1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Ne postoji mogućnost da se izvrši samo dio operacije, tj. ne postoji mogućnost da operacija bude prekinuta za vrijeme izvođenja, niti da se za vrijeme izvođenja neovisno o operaciji promijeni stanje varijabli koje se u operaciji koriste!</a:t>
            </a:r>
          </a:p>
          <a:p>
            <a:pPr marL="546100" lvl="1">
              <a:buClr>
                <a:schemeClr val="lt1"/>
              </a:buClr>
              <a:buSzPts val="2200"/>
            </a:pPr>
            <a:endParaRPr lang="hr-HR"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546100" lvl="1">
              <a:buClr>
                <a:schemeClr val="lt1"/>
              </a:buClr>
              <a:buSzPts val="2200"/>
            </a:pPr>
            <a:endParaRPr lang="hr-HR" sz="2000" b="1" dirty="0">
              <a:solidFill>
                <a:schemeClr val="lt1"/>
              </a:solidFill>
              <a:latin typeface="Quicksand"/>
              <a:ea typeface="Cambria"/>
              <a:cs typeface="Cambria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868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6BB5D34F-62D2-3831-9061-AE6097BA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C9B8F09D-E17B-8F21-1E8F-A43D7D1829A4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E432FAA6-A73B-A04D-0BEC-EE53C03E3C57}"/>
              </a:ext>
            </a:extLst>
          </p:cNvPr>
          <p:cNvSpPr/>
          <p:nvPr/>
        </p:nvSpPr>
        <p:spPr>
          <a:xfrm>
            <a:off x="1038600" y="1368000"/>
            <a:ext cx="730044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r-HR" sz="20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Pitanje: 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Može li se predvidjeti konačna vrijednost globalne varijable </a:t>
            </a:r>
            <a:r>
              <a:rPr lang="hr-HR" sz="20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count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, ukoliko joj istovremeno pristupa dvije (ili više) paralelnih niti izvršavanja?</a:t>
            </a:r>
            <a:endParaRPr lang="hr-HR" sz="20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73624FEA-2D69-D409-DF4E-37F12E411CB1}"/>
              </a:ext>
            </a:extLst>
          </p:cNvPr>
          <p:cNvSpPr txBox="1"/>
          <p:nvPr/>
        </p:nvSpPr>
        <p:spPr>
          <a:xfrm>
            <a:off x="1038599" y="2583065"/>
            <a:ext cx="48702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int count = 0;  //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globalna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varijabla</a:t>
            </a:r>
            <a:endParaRPr lang="en-GB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void*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thread_function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(void*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for(int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= 0;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&lt; 10000;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count++;  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Google Shape;196;p44">
            <a:extLst>
              <a:ext uri="{FF2B5EF4-FFF2-40B4-BE49-F238E27FC236}">
                <a16:creationId xmlns:a16="http://schemas.microsoft.com/office/drawing/2014/main" id="{232B2FB2-224F-62C8-CD94-30E212E5F988}"/>
              </a:ext>
            </a:extLst>
          </p:cNvPr>
          <p:cNvSpPr/>
          <p:nvPr/>
        </p:nvSpPr>
        <p:spPr>
          <a:xfrm>
            <a:off x="1038600" y="5579525"/>
            <a:ext cx="7300440" cy="423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r-HR" sz="20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Pitanje: 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Je li </a:t>
            </a:r>
            <a:r>
              <a:rPr lang="hr-HR" sz="20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count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++ atomska operacija?</a:t>
            </a:r>
            <a:endParaRPr lang="hr-HR" sz="20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</p:txBody>
      </p:sp>
      <p:sp>
        <p:nvSpPr>
          <p:cNvPr id="4" name="Google Shape;196;p44">
            <a:extLst>
              <a:ext uri="{FF2B5EF4-FFF2-40B4-BE49-F238E27FC236}">
                <a16:creationId xmlns:a16="http://schemas.microsoft.com/office/drawing/2014/main" id="{4B50FF2E-A82D-94FD-FF54-105F5C3B9E9C}"/>
              </a:ext>
            </a:extLst>
          </p:cNvPr>
          <p:cNvSpPr/>
          <p:nvPr/>
        </p:nvSpPr>
        <p:spPr>
          <a:xfrm>
            <a:off x="6265919" y="5579525"/>
            <a:ext cx="889509" cy="423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r-HR" sz="2000" b="1" dirty="0">
                <a:solidFill>
                  <a:srgbClr val="FF0000"/>
                </a:solidFill>
                <a:latin typeface="Quicksand"/>
                <a:ea typeface="Quicksand"/>
                <a:cs typeface="Quicksand"/>
                <a:sym typeface="Quicksand"/>
              </a:rPr>
              <a:t>NIJE!</a:t>
            </a:r>
            <a:endParaRPr lang="hr-HR" sz="20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</p:txBody>
      </p:sp>
      <p:sp>
        <p:nvSpPr>
          <p:cNvPr id="5" name="Google Shape;196;p44">
            <a:extLst>
              <a:ext uri="{FF2B5EF4-FFF2-40B4-BE49-F238E27FC236}">
                <a16:creationId xmlns:a16="http://schemas.microsoft.com/office/drawing/2014/main" id="{3955E561-007E-13CF-93B7-6C2C252B4571}"/>
              </a:ext>
            </a:extLst>
          </p:cNvPr>
          <p:cNvSpPr/>
          <p:nvPr/>
        </p:nvSpPr>
        <p:spPr>
          <a:xfrm>
            <a:off x="2036571" y="6071386"/>
            <a:ext cx="7300440" cy="423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Zašto?? 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Wingdings" panose="05000000000000000000" pitchFamily="2" charset="2"/>
              </a:rPr>
              <a:t></a:t>
            </a:r>
            <a:endParaRPr lang="hr-HR" sz="20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D9AD629D-AACA-DE66-A6C9-FB437A8AC87A}"/>
              </a:ext>
            </a:extLst>
          </p:cNvPr>
          <p:cNvSpPr txBox="1"/>
          <p:nvPr/>
        </p:nvSpPr>
        <p:spPr>
          <a:xfrm>
            <a:off x="1038600" y="4765381"/>
            <a:ext cx="6255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b="1" dirty="0">
                <a:solidFill>
                  <a:schemeClr val="bg1"/>
                </a:solidFill>
                <a:latin typeface="Quicksand" panose="020B0604020202020204" charset="0"/>
              </a:rPr>
              <a:t>Očekivanje:</a:t>
            </a:r>
            <a:r>
              <a:rPr lang="hr-HR" sz="1600" dirty="0">
                <a:solidFill>
                  <a:schemeClr val="bg1"/>
                </a:solidFill>
                <a:latin typeface="Quicksand" panose="020B0604020202020204" charset="0"/>
              </a:rPr>
              <a:t> 2 niti × 10000 iteracija = </a:t>
            </a:r>
            <a:r>
              <a:rPr lang="hr-HR" sz="1600" b="1" dirty="0" err="1">
                <a:solidFill>
                  <a:schemeClr val="bg1"/>
                </a:solidFill>
                <a:latin typeface="Quicksand" panose="020B0604020202020204" charset="0"/>
              </a:rPr>
              <a:t>count</a:t>
            </a:r>
            <a:r>
              <a:rPr lang="hr-HR" sz="1600" b="1" dirty="0">
                <a:solidFill>
                  <a:schemeClr val="bg1"/>
                </a:solidFill>
                <a:latin typeface="Quicksand" panose="020B0604020202020204" charset="0"/>
              </a:rPr>
              <a:t> = 20000</a:t>
            </a:r>
            <a:endParaRPr lang="hr-HR" sz="1600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0040F894-60DA-CAD9-F86B-96E56CA34F1D}"/>
              </a:ext>
            </a:extLst>
          </p:cNvPr>
          <p:cNvSpPr txBox="1"/>
          <p:nvPr/>
        </p:nvSpPr>
        <p:spPr>
          <a:xfrm>
            <a:off x="1038599" y="5073158"/>
            <a:ext cx="6422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 err="1">
                <a:solidFill>
                  <a:schemeClr val="bg1"/>
                </a:solidFill>
                <a:latin typeface="Quicksand" panose="020B0604020202020204" charset="0"/>
              </a:rPr>
              <a:t>Stvarnost</a:t>
            </a:r>
            <a:r>
              <a:rPr lang="en-GB" sz="1600" b="1" dirty="0">
                <a:solidFill>
                  <a:schemeClr val="bg1"/>
                </a:solidFill>
                <a:latin typeface="Quicksand" panose="020B0604020202020204" charset="0"/>
              </a:rPr>
              <a:t>:</a:t>
            </a:r>
            <a:r>
              <a:rPr lang="en-GB" sz="1600" dirty="0">
                <a:solidFill>
                  <a:schemeClr val="bg1"/>
                </a:solidFill>
                <a:latin typeface="Quicksand" panose="020B0604020202020204" charset="0"/>
              </a:rPr>
              <a:t> count = 15234, 18921, 19654... </a:t>
            </a:r>
            <a:r>
              <a:rPr lang="en-GB" sz="1600" b="1" dirty="0" err="1">
                <a:solidFill>
                  <a:schemeClr val="bg1"/>
                </a:solidFill>
                <a:latin typeface="Quicksand" panose="020B0604020202020204" charset="0"/>
              </a:rPr>
              <a:t>različito</a:t>
            </a:r>
            <a:r>
              <a:rPr lang="en-GB" sz="16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600" b="1" dirty="0" err="1">
                <a:solidFill>
                  <a:schemeClr val="bg1"/>
                </a:solidFill>
                <a:latin typeface="Quicksand" panose="020B0604020202020204" charset="0"/>
              </a:rPr>
              <a:t>svaki</a:t>
            </a:r>
            <a:r>
              <a:rPr lang="en-GB" sz="1600" b="1" dirty="0">
                <a:solidFill>
                  <a:schemeClr val="bg1"/>
                </a:solidFill>
                <a:latin typeface="Quicksand" panose="020B0604020202020204" charset="0"/>
              </a:rPr>
              <a:t> put!</a:t>
            </a:r>
            <a:endParaRPr lang="hr-HR" sz="1600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59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467DDB8-88CB-CF87-17F1-A64E0AD7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C48F9092-FAA4-224A-C242-E61F9F130FCA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ACFD2D80-2BD6-1937-AAF7-CEFAB7ED6A35}"/>
              </a:ext>
            </a:extLst>
          </p:cNvPr>
          <p:cNvSpPr/>
          <p:nvPr/>
        </p:nvSpPr>
        <p:spPr>
          <a:xfrm>
            <a:off x="1038600" y="1368000"/>
            <a:ext cx="7300440" cy="512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Zašto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count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++ NIJE atomska operacija?</a:t>
            </a:r>
          </a:p>
          <a:p>
            <a:pPr lvl="0"/>
            <a:endParaRPr lang="hr-HR" sz="18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lvl="0"/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U C kodu:</a:t>
            </a:r>
          </a:p>
          <a:p>
            <a:pPr lvl="0"/>
            <a:r>
              <a:rPr lang="pl-PL" sz="1800" b="1" dirty="0">
                <a:solidFill>
                  <a:schemeClr val="bg1"/>
                </a:solidFill>
                <a:latin typeface="Consolas" panose="020B0609020204030204" pitchFamily="49" charset="0"/>
                <a:ea typeface="Cambria"/>
                <a:cs typeface="Cambria"/>
                <a:sym typeface="Quicksand"/>
              </a:rPr>
              <a:t>count++;  // Izgleda kao JEDNA operacija</a:t>
            </a:r>
          </a:p>
          <a:p>
            <a:pPr lvl="0"/>
            <a:endParaRPr lang="pl-PL" sz="1800" b="1" dirty="0">
              <a:solidFill>
                <a:schemeClr val="bg1"/>
              </a:solidFill>
              <a:latin typeface="Consolas" panose="020B0609020204030204" pitchFamily="49" charset="0"/>
              <a:ea typeface="Cambria"/>
              <a:cs typeface="Cambria"/>
              <a:sym typeface="Quicksand"/>
            </a:endParaRPr>
          </a:p>
          <a:p>
            <a:pPr lvl="0"/>
            <a:r>
              <a:rPr lang="pl-PL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Quicksand"/>
              </a:rPr>
              <a:t>U Assembly kodu (što procesor zapravo izvršava):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  <a:ea typeface="Cambria"/>
              <a:cs typeface="Cambria"/>
              <a:sym typeface="Quicksand"/>
            </a:endParaRPr>
          </a:p>
          <a:p>
            <a:pPr lvl="0"/>
            <a:endParaRPr lang="hr-HR" sz="18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</p:txBody>
      </p:sp>
      <p:pic>
        <p:nvPicPr>
          <p:cNvPr id="7" name="Google Shape;341;p66">
            <a:extLst>
              <a:ext uri="{FF2B5EF4-FFF2-40B4-BE49-F238E27FC236}">
                <a16:creationId xmlns:a16="http://schemas.microsoft.com/office/drawing/2014/main" id="{F0BDBB44-D571-0BD9-E314-B7906AB1E6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600" y="3710863"/>
            <a:ext cx="33432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61606F43-F221-DABE-D93E-63110490B245}"/>
              </a:ext>
            </a:extLst>
          </p:cNvPr>
          <p:cNvSpPr txBox="1"/>
          <p:nvPr/>
        </p:nvSpPr>
        <p:spPr>
          <a:xfrm>
            <a:off x="4381875" y="3875765"/>
            <a:ext cx="4578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>
                <a:solidFill>
                  <a:schemeClr val="bg1"/>
                </a:solidFill>
              </a:rPr>
              <a:t>// 1. Učitaj vrijednost iz memorije u registar (</a:t>
            </a:r>
            <a:r>
              <a:rPr lang="hr-HR" sz="1600" dirty="0" err="1">
                <a:solidFill>
                  <a:schemeClr val="bg1"/>
                </a:solidFill>
              </a:rPr>
              <a:t>eax</a:t>
            </a:r>
            <a:r>
              <a:rPr lang="hr-HR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9CEC6539-3D13-4A64-B815-F8472BC0AECD}"/>
              </a:ext>
            </a:extLst>
          </p:cNvPr>
          <p:cNvSpPr txBox="1"/>
          <p:nvPr/>
        </p:nvSpPr>
        <p:spPr>
          <a:xfrm>
            <a:off x="4381875" y="4176427"/>
            <a:ext cx="2400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</a:rPr>
              <a:t>// 2. Uvećaj registar za 1</a:t>
            </a:r>
            <a:endParaRPr lang="hr-HR" sz="1600" dirty="0">
              <a:solidFill>
                <a:schemeClr val="bg1"/>
              </a:solidFill>
            </a:endParaRP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D9E55F63-D275-455F-D9D3-DD0DBED55735}"/>
              </a:ext>
            </a:extLst>
          </p:cNvPr>
          <p:cNvSpPr txBox="1"/>
          <p:nvPr/>
        </p:nvSpPr>
        <p:spPr>
          <a:xfrm>
            <a:off x="4381875" y="4497101"/>
            <a:ext cx="4830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</a:rPr>
              <a:t>// 3. Spremi vrijednost iz registra natrag u memoriju</a:t>
            </a:r>
            <a:endParaRPr lang="hr-HR" sz="1600" dirty="0">
              <a:solidFill>
                <a:schemeClr val="bg1"/>
              </a:solidFill>
            </a:endParaRP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B689FC6A-1E87-9DAF-5830-01650D625B3C}"/>
              </a:ext>
            </a:extLst>
          </p:cNvPr>
          <p:cNvSpPr txBox="1"/>
          <p:nvPr/>
        </p:nvSpPr>
        <p:spPr>
          <a:xfrm>
            <a:off x="1038600" y="5433302"/>
            <a:ext cx="76883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TRI zasebna koraka!</a:t>
            </a:r>
          </a:p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Problem: Nit može biti prekinuta između bilo koja dva koraka!</a:t>
            </a:r>
          </a:p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Atomska operacija 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sym typeface="Wingdings" panose="05000000000000000000" pitchFamily="2" charset="2"/>
              </a:rPr>
              <a:t>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Ili se izvrše SVI koraci, ili NITI JEDAN</a:t>
            </a:r>
          </a:p>
          <a:p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count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++ 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sym typeface="Wingdings" panose="05000000000000000000" pitchFamily="2" charset="2"/>
              </a:rPr>
              <a:t>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NIJE atomska jer se može prekinuti nakon koraka 1 ili 2</a:t>
            </a:r>
          </a:p>
        </p:txBody>
      </p:sp>
    </p:spTree>
    <p:extLst>
      <p:ext uri="{BB962C8B-B14F-4D97-AF65-F5344CB8AC3E}">
        <p14:creationId xmlns:p14="http://schemas.microsoft.com/office/powerpoint/2010/main" val="268438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B8484D6-A2BE-A53B-D76B-83238AD6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2221D35A-1BCA-C46A-7C20-7E8E5A2307D7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DBF7E625-CFC8-3F67-7D0C-E7E57A5D3928}"/>
              </a:ext>
            </a:extLst>
          </p:cNvPr>
          <p:cNvSpPr/>
          <p:nvPr/>
        </p:nvSpPr>
        <p:spPr>
          <a:xfrm>
            <a:off x="1038600" y="1368000"/>
            <a:ext cx="7300440" cy="512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Pretpostavimo da je count = 5</a:t>
            </a:r>
            <a:endParaRPr lang="hr-HR" sz="18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</p:txBody>
      </p:sp>
      <p:pic>
        <p:nvPicPr>
          <p:cNvPr id="7" name="Google Shape;341;p66">
            <a:extLst>
              <a:ext uri="{FF2B5EF4-FFF2-40B4-BE49-F238E27FC236}">
                <a16:creationId xmlns:a16="http://schemas.microsoft.com/office/drawing/2014/main" id="{C88A950C-48E4-028E-12CB-ED7128A07E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436" y="2329434"/>
            <a:ext cx="33432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41;p66">
            <a:extLst>
              <a:ext uri="{FF2B5EF4-FFF2-40B4-BE49-F238E27FC236}">
                <a16:creationId xmlns:a16="http://schemas.microsoft.com/office/drawing/2014/main" id="{CEB96EF9-C55F-8518-AC61-605B57B8519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4672" y="2619448"/>
            <a:ext cx="33432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443BF599-BD64-5A57-442A-C8CC742A64A4}"/>
              </a:ext>
            </a:extLst>
          </p:cNvPr>
          <p:cNvSpPr txBox="1"/>
          <p:nvPr/>
        </p:nvSpPr>
        <p:spPr>
          <a:xfrm>
            <a:off x="1945093" y="188633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1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938B927-1379-D1F4-AA52-970A66929673}"/>
              </a:ext>
            </a:extLst>
          </p:cNvPr>
          <p:cNvSpPr txBox="1"/>
          <p:nvPr/>
        </p:nvSpPr>
        <p:spPr>
          <a:xfrm>
            <a:off x="6381330" y="188633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2</a:t>
            </a:r>
          </a:p>
        </p:txBody>
      </p:sp>
      <p:cxnSp>
        <p:nvCxnSpPr>
          <p:cNvPr id="8" name="Google Shape;351;p67">
            <a:extLst>
              <a:ext uri="{FF2B5EF4-FFF2-40B4-BE49-F238E27FC236}">
                <a16:creationId xmlns:a16="http://schemas.microsoft.com/office/drawing/2014/main" id="{841FE7B0-0D31-71F5-90E3-B4E107189003}"/>
              </a:ext>
            </a:extLst>
          </p:cNvPr>
          <p:cNvCxnSpPr/>
          <p:nvPr/>
        </p:nvCxnSpPr>
        <p:spPr>
          <a:xfrm rot="10800000" flipH="1">
            <a:off x="1038600" y="2753600"/>
            <a:ext cx="7444200" cy="20400"/>
          </a:xfrm>
          <a:prstGeom prst="straightConnector1">
            <a:avLst/>
          </a:prstGeom>
          <a:noFill/>
          <a:ln w="28575" cap="flat" cmpd="sng">
            <a:solidFill>
              <a:srgbClr val="C9211E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" name="Google Shape;351;p67">
            <a:extLst>
              <a:ext uri="{FF2B5EF4-FFF2-40B4-BE49-F238E27FC236}">
                <a16:creationId xmlns:a16="http://schemas.microsoft.com/office/drawing/2014/main" id="{1C00820B-5726-4A6E-C072-B847A345F1BF}"/>
              </a:ext>
            </a:extLst>
          </p:cNvPr>
          <p:cNvCxnSpPr/>
          <p:nvPr/>
        </p:nvCxnSpPr>
        <p:spPr>
          <a:xfrm rot="10800000" flipH="1">
            <a:off x="1038600" y="3081863"/>
            <a:ext cx="7444200" cy="20400"/>
          </a:xfrm>
          <a:prstGeom prst="straightConnector1">
            <a:avLst/>
          </a:prstGeom>
          <a:noFill/>
          <a:ln w="28575" cap="flat" cmpd="sng">
            <a:solidFill>
              <a:srgbClr val="C9211E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TekstniOkvir 13">
            <a:extLst>
              <a:ext uri="{FF2B5EF4-FFF2-40B4-BE49-F238E27FC236}">
                <a16:creationId xmlns:a16="http://schemas.microsoft.com/office/drawing/2014/main" id="{EA19C527-2734-D3C8-F933-ED52BC988D9D}"/>
              </a:ext>
            </a:extLst>
          </p:cNvPr>
          <p:cNvSpPr txBox="1"/>
          <p:nvPr/>
        </p:nvSpPr>
        <p:spPr>
          <a:xfrm>
            <a:off x="0" y="246622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eax</a:t>
            </a:r>
            <a:r>
              <a:rPr lang="hr-HR" dirty="0">
                <a:solidFill>
                  <a:schemeClr val="bg1"/>
                </a:solidFill>
              </a:rPr>
              <a:t>=5</a:t>
            </a:r>
          </a:p>
        </p:txBody>
      </p:sp>
      <p:sp>
        <p:nvSpPr>
          <p:cNvPr id="15" name="TekstniOkvir 14">
            <a:extLst>
              <a:ext uri="{FF2B5EF4-FFF2-40B4-BE49-F238E27FC236}">
                <a16:creationId xmlns:a16="http://schemas.microsoft.com/office/drawing/2014/main" id="{EE664477-9368-F108-1D27-1535B2062C4F}"/>
              </a:ext>
            </a:extLst>
          </p:cNvPr>
          <p:cNvSpPr txBox="1"/>
          <p:nvPr/>
        </p:nvSpPr>
        <p:spPr>
          <a:xfrm>
            <a:off x="-1" y="2794487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eax</a:t>
            </a:r>
            <a:r>
              <a:rPr lang="hr-HR" dirty="0">
                <a:solidFill>
                  <a:schemeClr val="bg1"/>
                </a:solidFill>
              </a:rPr>
              <a:t>=6</a:t>
            </a:r>
          </a:p>
        </p:txBody>
      </p:sp>
      <p:sp>
        <p:nvSpPr>
          <p:cNvPr id="16" name="TekstniOkvir 15">
            <a:extLst>
              <a:ext uri="{FF2B5EF4-FFF2-40B4-BE49-F238E27FC236}">
                <a16:creationId xmlns:a16="http://schemas.microsoft.com/office/drawing/2014/main" id="{0626783E-A6B6-2468-1AC9-211DAF1886C4}"/>
              </a:ext>
            </a:extLst>
          </p:cNvPr>
          <p:cNvSpPr txBox="1"/>
          <p:nvPr/>
        </p:nvSpPr>
        <p:spPr>
          <a:xfrm>
            <a:off x="-2" y="3122750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count</a:t>
            </a:r>
            <a:r>
              <a:rPr lang="hr-HR" dirty="0">
                <a:solidFill>
                  <a:schemeClr val="bg1"/>
                </a:solidFill>
              </a:rPr>
              <a:t>=6</a:t>
            </a:r>
          </a:p>
        </p:txBody>
      </p:sp>
      <p:sp>
        <p:nvSpPr>
          <p:cNvPr id="17" name="TekstniOkvir 16">
            <a:extLst>
              <a:ext uri="{FF2B5EF4-FFF2-40B4-BE49-F238E27FC236}">
                <a16:creationId xmlns:a16="http://schemas.microsoft.com/office/drawing/2014/main" id="{DD82C4B8-4BB8-AB53-0B06-B0B62025002D}"/>
              </a:ext>
            </a:extLst>
          </p:cNvPr>
          <p:cNvSpPr txBox="1"/>
          <p:nvPr/>
        </p:nvSpPr>
        <p:spPr>
          <a:xfrm>
            <a:off x="4646006" y="2794486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eax</a:t>
            </a:r>
            <a:r>
              <a:rPr lang="hr-HR" dirty="0">
                <a:solidFill>
                  <a:schemeClr val="bg1"/>
                </a:solidFill>
              </a:rPr>
              <a:t>=5</a:t>
            </a:r>
          </a:p>
        </p:txBody>
      </p:sp>
      <p:sp>
        <p:nvSpPr>
          <p:cNvPr id="18" name="TekstniOkvir 17">
            <a:extLst>
              <a:ext uri="{FF2B5EF4-FFF2-40B4-BE49-F238E27FC236}">
                <a16:creationId xmlns:a16="http://schemas.microsoft.com/office/drawing/2014/main" id="{71695C43-FBA1-60A1-FCB8-C497585EB0A8}"/>
              </a:ext>
            </a:extLst>
          </p:cNvPr>
          <p:cNvSpPr txBox="1"/>
          <p:nvPr/>
        </p:nvSpPr>
        <p:spPr>
          <a:xfrm>
            <a:off x="4646005" y="3121223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eax</a:t>
            </a:r>
            <a:r>
              <a:rPr lang="hr-HR" dirty="0">
                <a:solidFill>
                  <a:schemeClr val="bg1"/>
                </a:solidFill>
              </a:rPr>
              <a:t>=6</a:t>
            </a:r>
          </a:p>
        </p:txBody>
      </p:sp>
      <p:sp>
        <p:nvSpPr>
          <p:cNvPr id="19" name="TekstniOkvir 18">
            <a:extLst>
              <a:ext uri="{FF2B5EF4-FFF2-40B4-BE49-F238E27FC236}">
                <a16:creationId xmlns:a16="http://schemas.microsoft.com/office/drawing/2014/main" id="{5906F3C7-51DD-1CCA-1118-4AA52BACD0A3}"/>
              </a:ext>
            </a:extLst>
          </p:cNvPr>
          <p:cNvSpPr txBox="1"/>
          <p:nvPr/>
        </p:nvSpPr>
        <p:spPr>
          <a:xfrm>
            <a:off x="4496925" y="3449316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count</a:t>
            </a:r>
            <a:r>
              <a:rPr lang="hr-HR" dirty="0">
                <a:solidFill>
                  <a:schemeClr val="bg1"/>
                </a:solidFill>
              </a:rPr>
              <a:t>=6</a:t>
            </a:r>
          </a:p>
        </p:txBody>
      </p:sp>
      <p:sp>
        <p:nvSpPr>
          <p:cNvPr id="20" name="TekstniOkvir 19">
            <a:extLst>
              <a:ext uri="{FF2B5EF4-FFF2-40B4-BE49-F238E27FC236}">
                <a16:creationId xmlns:a16="http://schemas.microsoft.com/office/drawing/2014/main" id="{6748A694-4A8E-54EB-677E-73EC6039044E}"/>
              </a:ext>
            </a:extLst>
          </p:cNvPr>
          <p:cNvSpPr txBox="1"/>
          <p:nvPr/>
        </p:nvSpPr>
        <p:spPr>
          <a:xfrm>
            <a:off x="2370382" y="4542163"/>
            <a:ext cx="4551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Rezultat: </a:t>
            </a:r>
            <a:r>
              <a:rPr lang="hr-HR" sz="1800" dirty="0" err="1">
                <a:solidFill>
                  <a:schemeClr val="bg1"/>
                </a:solidFill>
              </a:rPr>
              <a:t>count</a:t>
            </a:r>
            <a:r>
              <a:rPr lang="hr-HR" sz="1800" dirty="0">
                <a:solidFill>
                  <a:schemeClr val="bg1"/>
                </a:solidFill>
              </a:rPr>
              <a:t> = 6 (umjesto očekivanih </a:t>
            </a:r>
            <a:r>
              <a:rPr lang="hr-HR" sz="1800" dirty="0">
                <a:solidFill>
                  <a:srgbClr val="FF0000"/>
                </a:solidFill>
              </a:rPr>
              <a:t>7!</a:t>
            </a:r>
            <a:r>
              <a:rPr lang="hr-HR" sz="1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8F450-DF27-0182-AC85-E9CED64B63A8}"/>
              </a:ext>
            </a:extLst>
          </p:cNvPr>
          <p:cNvSpPr txBox="1"/>
          <p:nvPr/>
        </p:nvSpPr>
        <p:spPr>
          <a:xfrm>
            <a:off x="1260389" y="5016843"/>
            <a:ext cx="7078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bg1"/>
                </a:solidFill>
              </a:rPr>
              <a:t>Obje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niti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pročitale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su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istu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početnu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vrijednost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prije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nego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što</a:t>
            </a:r>
            <a:r>
              <a:rPr lang="en-US" sz="1800" b="1" dirty="0">
                <a:solidFill>
                  <a:schemeClr val="bg1"/>
                </a:solidFill>
              </a:rPr>
              <a:t> je </a:t>
            </a:r>
            <a:r>
              <a:rPr lang="en-US" sz="1800" b="1" dirty="0" err="1">
                <a:solidFill>
                  <a:schemeClr val="bg1"/>
                </a:solidFill>
              </a:rPr>
              <a:t>bilo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koja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spremila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rezultat</a:t>
            </a:r>
            <a:r>
              <a:rPr lang="en-US" sz="1800" b="1" dirty="0">
                <a:solidFill>
                  <a:schemeClr val="bg1"/>
                </a:solidFill>
              </a:rPr>
              <a:t>.</a:t>
            </a:r>
            <a:endParaRPr lang="hr-HR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19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213FAD4-4418-B0F9-9350-3C664D378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42125B56-DC8D-FED3-57D8-92798EE452C4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– različiti scenariji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B13BA-9925-B08F-4245-58407340F467}"/>
              </a:ext>
            </a:extLst>
          </p:cNvPr>
          <p:cNvSpPr txBox="1"/>
          <p:nvPr/>
        </p:nvSpPr>
        <p:spPr>
          <a:xfrm>
            <a:off x="1165319" y="1779373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>
                <a:solidFill>
                  <a:srgbClr val="39C0BA"/>
                </a:solidFill>
              </a:rPr>
              <a:t>Scenarij 1: </a:t>
            </a:r>
            <a:r>
              <a:rPr lang="hr-HR" sz="2000" b="1" dirty="0">
                <a:solidFill>
                  <a:schemeClr val="bg1"/>
                </a:solidFill>
              </a:rPr>
              <a:t>Nema prekidanja (sretan slučaj - sve radi kako treba)</a:t>
            </a:r>
          </a:p>
        </p:txBody>
      </p:sp>
      <p:pic>
        <p:nvPicPr>
          <p:cNvPr id="10" name="Google Shape;341;p66">
            <a:extLst>
              <a:ext uri="{FF2B5EF4-FFF2-40B4-BE49-F238E27FC236}">
                <a16:creationId xmlns:a16="http://schemas.microsoft.com/office/drawing/2014/main" id="{A76DB3D4-04CC-4E4A-55E3-E969D2FDFF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319" y="2698592"/>
            <a:ext cx="33432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41;p66">
            <a:extLst>
              <a:ext uri="{FF2B5EF4-FFF2-40B4-BE49-F238E27FC236}">
                <a16:creationId xmlns:a16="http://schemas.microsoft.com/office/drawing/2014/main" id="{9C94A26C-E754-BA5E-74DF-2AE9E54B15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795" y="3898742"/>
            <a:ext cx="33432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0D771E-8C78-CC93-8B67-5FE5F80914C8}"/>
              </a:ext>
            </a:extLst>
          </p:cNvPr>
          <p:cNvSpPr txBox="1"/>
          <p:nvPr/>
        </p:nvSpPr>
        <p:spPr>
          <a:xfrm>
            <a:off x="2100648" y="2298482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 err="1">
                <a:solidFill>
                  <a:schemeClr val="bg1"/>
                </a:solidFill>
              </a:rPr>
              <a:t>Thread</a:t>
            </a:r>
            <a:r>
              <a:rPr lang="hr-HR" sz="2000" b="1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8DA389-6BFA-FC43-5FEE-AA92B1E0F106}"/>
              </a:ext>
            </a:extLst>
          </p:cNvPr>
          <p:cNvSpPr txBox="1"/>
          <p:nvPr/>
        </p:nvSpPr>
        <p:spPr>
          <a:xfrm>
            <a:off x="5968497" y="2298482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 err="1">
                <a:solidFill>
                  <a:schemeClr val="bg1"/>
                </a:solidFill>
              </a:rPr>
              <a:t>Thread</a:t>
            </a:r>
            <a:r>
              <a:rPr lang="hr-HR" sz="2000" b="1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21806E-81B6-77DE-342A-BF62F868DBE6}"/>
              </a:ext>
            </a:extLst>
          </p:cNvPr>
          <p:cNvSpPr txBox="1"/>
          <p:nvPr/>
        </p:nvSpPr>
        <p:spPr>
          <a:xfrm>
            <a:off x="4572000" y="2805369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=5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D4DC67-CDA5-CB26-EB27-954C0EBB6CCE}"/>
              </a:ext>
            </a:extLst>
          </p:cNvPr>
          <p:cNvSpPr txBox="1"/>
          <p:nvPr/>
        </p:nvSpPr>
        <p:spPr>
          <a:xfrm>
            <a:off x="4572000" y="3144778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=6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514133-F56D-C8F8-3593-0E2BF18429F3}"/>
              </a:ext>
            </a:extLst>
          </p:cNvPr>
          <p:cNvSpPr txBox="1"/>
          <p:nvPr/>
        </p:nvSpPr>
        <p:spPr>
          <a:xfrm>
            <a:off x="4572000" y="3552466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count=6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86B5DF-52E0-233A-12B6-0C631C8F2565}"/>
              </a:ext>
            </a:extLst>
          </p:cNvPr>
          <p:cNvSpPr txBox="1"/>
          <p:nvPr/>
        </p:nvSpPr>
        <p:spPr>
          <a:xfrm>
            <a:off x="8267069" y="4052051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=6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B28A3-D8B0-203C-AD01-215F50DECE79}"/>
              </a:ext>
            </a:extLst>
          </p:cNvPr>
          <p:cNvSpPr txBox="1"/>
          <p:nvPr/>
        </p:nvSpPr>
        <p:spPr>
          <a:xfrm>
            <a:off x="8267070" y="4359828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=7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988044-54EB-60A7-2FC2-F533BC992A74}"/>
              </a:ext>
            </a:extLst>
          </p:cNvPr>
          <p:cNvSpPr txBox="1"/>
          <p:nvPr/>
        </p:nvSpPr>
        <p:spPr>
          <a:xfrm>
            <a:off x="8267070" y="4705787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count=7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752DC9-7C65-41A5-FCCB-977D028A74EC}"/>
              </a:ext>
            </a:extLst>
          </p:cNvPr>
          <p:cNvSpPr txBox="1"/>
          <p:nvPr/>
        </p:nvSpPr>
        <p:spPr>
          <a:xfrm>
            <a:off x="1121536" y="5771310"/>
            <a:ext cx="74639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Rezultat</a:t>
            </a:r>
            <a:r>
              <a:rPr lang="en-US" sz="2000" dirty="0">
                <a:solidFill>
                  <a:schemeClr val="bg1"/>
                </a:solidFill>
              </a:rPr>
              <a:t>: count = 7</a:t>
            </a:r>
          </a:p>
          <a:p>
            <a:r>
              <a:rPr lang="hr-HR" sz="2000" dirty="0" err="1">
                <a:solidFill>
                  <a:schemeClr val="bg1"/>
                </a:solidFill>
              </a:rPr>
              <a:t>Thread</a:t>
            </a:r>
            <a:r>
              <a:rPr lang="hr-HR" sz="2000" dirty="0">
                <a:solidFill>
                  <a:schemeClr val="bg1"/>
                </a:solidFill>
              </a:rPr>
              <a:t> 2 započinje NAKON što je </a:t>
            </a:r>
            <a:r>
              <a:rPr lang="hr-HR" sz="2000" dirty="0" err="1">
                <a:solidFill>
                  <a:schemeClr val="bg1"/>
                </a:solidFill>
              </a:rPr>
              <a:t>Thread</a:t>
            </a:r>
            <a:r>
              <a:rPr lang="hr-HR" sz="2000" dirty="0">
                <a:solidFill>
                  <a:schemeClr val="bg1"/>
                </a:solidFill>
              </a:rPr>
              <a:t> 1 završio sve korake. </a:t>
            </a:r>
          </a:p>
        </p:txBody>
      </p:sp>
    </p:spTree>
    <p:extLst>
      <p:ext uri="{BB962C8B-B14F-4D97-AF65-F5344CB8AC3E}">
        <p14:creationId xmlns:p14="http://schemas.microsoft.com/office/powerpoint/2010/main" val="114734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6CCA258-081C-E770-0A7C-ABD5D6F7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B722D1F6-CA0B-E9DC-8D19-FD1600D69A52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– različiti scenariji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2EEEA-0E7E-4E23-7B73-A0C4B7E5DA55}"/>
              </a:ext>
            </a:extLst>
          </p:cNvPr>
          <p:cNvSpPr txBox="1"/>
          <p:nvPr/>
        </p:nvSpPr>
        <p:spPr>
          <a:xfrm>
            <a:off x="1165319" y="1779373"/>
            <a:ext cx="4427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>
                <a:solidFill>
                  <a:srgbClr val="39C0BA"/>
                </a:solidFill>
              </a:rPr>
              <a:t>Scenarij 2: </a:t>
            </a:r>
            <a:r>
              <a:rPr lang="en-US" sz="2000" b="1" dirty="0" err="1">
                <a:solidFill>
                  <a:schemeClr val="bg1"/>
                </a:solidFill>
              </a:rPr>
              <a:t>Djelomično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preklapanje</a:t>
            </a:r>
            <a:endParaRPr lang="hr-HR" sz="2000" b="1" dirty="0">
              <a:solidFill>
                <a:schemeClr val="bg1"/>
              </a:solidFill>
            </a:endParaRPr>
          </a:p>
        </p:txBody>
      </p:sp>
      <p:pic>
        <p:nvPicPr>
          <p:cNvPr id="10" name="Google Shape;341;p66">
            <a:extLst>
              <a:ext uri="{FF2B5EF4-FFF2-40B4-BE49-F238E27FC236}">
                <a16:creationId xmlns:a16="http://schemas.microsoft.com/office/drawing/2014/main" id="{1EDDC031-E9B0-060F-9124-23354C6FE3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b="37226"/>
          <a:stretch>
            <a:fillRect/>
          </a:stretch>
        </p:blipFill>
        <p:spPr>
          <a:xfrm>
            <a:off x="1165319" y="2698592"/>
            <a:ext cx="3343275" cy="753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41;p66">
            <a:extLst>
              <a:ext uri="{FF2B5EF4-FFF2-40B4-BE49-F238E27FC236}">
                <a16:creationId xmlns:a16="http://schemas.microsoft.com/office/drawing/2014/main" id="{60472BA6-A024-5757-84E8-A858237EBC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709" y="3590965"/>
            <a:ext cx="33432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BEF3D5-D6CC-2776-FB72-8E0D44BA6D14}"/>
              </a:ext>
            </a:extLst>
          </p:cNvPr>
          <p:cNvSpPr txBox="1"/>
          <p:nvPr/>
        </p:nvSpPr>
        <p:spPr>
          <a:xfrm>
            <a:off x="2100648" y="2298482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 err="1">
                <a:solidFill>
                  <a:schemeClr val="bg1"/>
                </a:solidFill>
              </a:rPr>
              <a:t>Thread</a:t>
            </a:r>
            <a:r>
              <a:rPr lang="hr-HR" sz="2000" b="1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62F6B1-BFF7-4F36-425E-59C75FEB2E7B}"/>
              </a:ext>
            </a:extLst>
          </p:cNvPr>
          <p:cNvSpPr txBox="1"/>
          <p:nvPr/>
        </p:nvSpPr>
        <p:spPr>
          <a:xfrm>
            <a:off x="5968497" y="2298482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 err="1">
                <a:solidFill>
                  <a:schemeClr val="bg1"/>
                </a:solidFill>
              </a:rPr>
              <a:t>Thread</a:t>
            </a:r>
            <a:r>
              <a:rPr lang="hr-HR" sz="2000" b="1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07A54E-8DA3-9B65-E241-0E837FA8AA01}"/>
              </a:ext>
            </a:extLst>
          </p:cNvPr>
          <p:cNvSpPr txBox="1"/>
          <p:nvPr/>
        </p:nvSpPr>
        <p:spPr>
          <a:xfrm>
            <a:off x="4572000" y="2805369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=5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F0D6E-B469-0DF0-EA6A-E5A6A54C29A7}"/>
              </a:ext>
            </a:extLst>
          </p:cNvPr>
          <p:cNvSpPr txBox="1"/>
          <p:nvPr/>
        </p:nvSpPr>
        <p:spPr>
          <a:xfrm>
            <a:off x="4572000" y="3144778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=6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8CC03B-796F-6918-268F-ACE02FF5379E}"/>
              </a:ext>
            </a:extLst>
          </p:cNvPr>
          <p:cNvSpPr txBox="1"/>
          <p:nvPr/>
        </p:nvSpPr>
        <p:spPr>
          <a:xfrm>
            <a:off x="8095466" y="3658959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=5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1CAA36-67D7-EF33-13ED-2360FFC377F3}"/>
              </a:ext>
            </a:extLst>
          </p:cNvPr>
          <p:cNvSpPr txBox="1"/>
          <p:nvPr/>
        </p:nvSpPr>
        <p:spPr>
          <a:xfrm>
            <a:off x="8095466" y="4037831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=6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547F4D-7441-DB05-E90D-8239B4B399C4}"/>
              </a:ext>
            </a:extLst>
          </p:cNvPr>
          <p:cNvSpPr txBox="1"/>
          <p:nvPr/>
        </p:nvSpPr>
        <p:spPr>
          <a:xfrm>
            <a:off x="8095466" y="4416703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count=6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72F5E2-EAEB-8ECF-E1C6-3A0EC07FB931}"/>
              </a:ext>
            </a:extLst>
          </p:cNvPr>
          <p:cNvSpPr txBox="1"/>
          <p:nvPr/>
        </p:nvSpPr>
        <p:spPr>
          <a:xfrm>
            <a:off x="1121536" y="5683488"/>
            <a:ext cx="7799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Rezultat</a:t>
            </a:r>
            <a:r>
              <a:rPr lang="en-US" sz="2000" dirty="0">
                <a:solidFill>
                  <a:schemeClr val="bg1"/>
                </a:solidFill>
              </a:rPr>
              <a:t>: count = 6 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Thread 2 </a:t>
            </a:r>
            <a:r>
              <a:rPr lang="en-US" sz="2000" dirty="0" err="1">
                <a:solidFill>
                  <a:schemeClr val="bg1"/>
                </a:solidFill>
              </a:rPr>
              <a:t>pročita</a:t>
            </a:r>
            <a:r>
              <a:rPr lang="en-US" sz="2000" dirty="0">
                <a:solidFill>
                  <a:schemeClr val="bg1"/>
                </a:solidFill>
              </a:rPr>
              <a:t> count PRIJE </a:t>
            </a:r>
            <a:r>
              <a:rPr lang="en-US" sz="2000" dirty="0" err="1">
                <a:solidFill>
                  <a:schemeClr val="bg1"/>
                </a:solidFill>
              </a:rPr>
              <a:t>nego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što</a:t>
            </a:r>
            <a:r>
              <a:rPr lang="en-US" sz="2000" dirty="0">
                <a:solidFill>
                  <a:schemeClr val="bg1"/>
                </a:solidFill>
              </a:rPr>
              <a:t> je Thread 1 </a:t>
            </a:r>
            <a:r>
              <a:rPr lang="en-US" sz="2000" dirty="0" err="1">
                <a:solidFill>
                  <a:schemeClr val="bg1"/>
                </a:solidFill>
              </a:rPr>
              <a:t>spremi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svoju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vrijednost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hr-HR" sz="2000" dirty="0">
              <a:solidFill>
                <a:schemeClr val="bg1"/>
              </a:solidFill>
            </a:endParaRPr>
          </a:p>
        </p:txBody>
      </p:sp>
      <p:pic>
        <p:nvPicPr>
          <p:cNvPr id="2" name="Google Shape;341;p66">
            <a:extLst>
              <a:ext uri="{FF2B5EF4-FFF2-40B4-BE49-F238E27FC236}">
                <a16:creationId xmlns:a16="http://schemas.microsoft.com/office/drawing/2014/main" id="{7FFDF879-830E-E9FD-93C0-AB455F3046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61695" r="2707"/>
          <a:stretch>
            <a:fillRect/>
          </a:stretch>
        </p:blipFill>
        <p:spPr>
          <a:xfrm>
            <a:off x="1255838" y="4791115"/>
            <a:ext cx="3252756" cy="459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21D94D-7AB9-70DE-1D85-75F22DE8F8AB}"/>
              </a:ext>
            </a:extLst>
          </p:cNvPr>
          <p:cNvSpPr txBox="1"/>
          <p:nvPr/>
        </p:nvSpPr>
        <p:spPr>
          <a:xfrm>
            <a:off x="4572000" y="4903402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count=6</a:t>
            </a: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01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  <p:bldP spid="23" grpId="0"/>
      <p:bldP spid="25" grpId="0"/>
      <p:bldP spid="26" grpId="0"/>
      <p:bldP spid="27" grpId="0"/>
      <p:bldP spid="28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79E748C3-7584-188B-113D-B350A3C9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1F9ABE97-2FDD-819A-85DB-2656C93B1246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– različiti scenariji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DBC79-555F-8DFA-CC96-0974800BDEB3}"/>
              </a:ext>
            </a:extLst>
          </p:cNvPr>
          <p:cNvSpPr txBox="1"/>
          <p:nvPr/>
        </p:nvSpPr>
        <p:spPr>
          <a:xfrm>
            <a:off x="1165319" y="1779373"/>
            <a:ext cx="5979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>
                <a:solidFill>
                  <a:srgbClr val="39C0BA"/>
                </a:solidFill>
              </a:rPr>
              <a:t>Scenarij 3: </a:t>
            </a:r>
            <a:r>
              <a:rPr lang="en-US" sz="2000" b="1" dirty="0" err="1">
                <a:solidFill>
                  <a:schemeClr val="bg1"/>
                </a:solidFill>
              </a:rPr>
              <a:t>Potpuno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preklapanje</a:t>
            </a:r>
            <a:r>
              <a:rPr lang="en-US" sz="2000" b="1" dirty="0">
                <a:solidFill>
                  <a:schemeClr val="bg1"/>
                </a:solidFill>
              </a:rPr>
              <a:t> (</a:t>
            </a:r>
            <a:r>
              <a:rPr lang="en-US" sz="2000" b="1" dirty="0" err="1">
                <a:solidFill>
                  <a:schemeClr val="bg1"/>
                </a:solidFill>
              </a:rPr>
              <a:t>najgori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slučaj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  <a:endParaRPr lang="hr-HR" sz="2000" b="1" dirty="0">
              <a:solidFill>
                <a:schemeClr val="bg1"/>
              </a:solidFill>
            </a:endParaRPr>
          </a:p>
        </p:txBody>
      </p:sp>
      <p:pic>
        <p:nvPicPr>
          <p:cNvPr id="10" name="Google Shape;341;p66">
            <a:extLst>
              <a:ext uri="{FF2B5EF4-FFF2-40B4-BE49-F238E27FC236}">
                <a16:creationId xmlns:a16="http://schemas.microsoft.com/office/drawing/2014/main" id="{1490FF42-183D-EA68-36FA-7407E4B047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-1" b="60646"/>
          <a:stretch>
            <a:fillRect/>
          </a:stretch>
        </p:blipFill>
        <p:spPr>
          <a:xfrm>
            <a:off x="1165319" y="2698592"/>
            <a:ext cx="3343275" cy="4723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59F335-02FE-ED82-FF93-260CB2209379}"/>
              </a:ext>
            </a:extLst>
          </p:cNvPr>
          <p:cNvSpPr txBox="1"/>
          <p:nvPr/>
        </p:nvSpPr>
        <p:spPr>
          <a:xfrm>
            <a:off x="2100648" y="2298482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 err="1">
                <a:solidFill>
                  <a:schemeClr val="bg1"/>
                </a:solidFill>
              </a:rPr>
              <a:t>Thread</a:t>
            </a:r>
            <a:r>
              <a:rPr lang="hr-HR" sz="2000" b="1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3D432C-7247-A68F-0CF1-E1728579956D}"/>
              </a:ext>
            </a:extLst>
          </p:cNvPr>
          <p:cNvSpPr txBox="1"/>
          <p:nvPr/>
        </p:nvSpPr>
        <p:spPr>
          <a:xfrm>
            <a:off x="5968497" y="2298482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 err="1">
                <a:solidFill>
                  <a:schemeClr val="bg1"/>
                </a:solidFill>
              </a:rPr>
              <a:t>Thread</a:t>
            </a:r>
            <a:r>
              <a:rPr lang="hr-HR" sz="2000" b="1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A946E3-7A90-A6BB-39BB-5CC5DE50FA2D}"/>
              </a:ext>
            </a:extLst>
          </p:cNvPr>
          <p:cNvSpPr txBox="1"/>
          <p:nvPr/>
        </p:nvSpPr>
        <p:spPr>
          <a:xfrm>
            <a:off x="177800" y="2780857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=5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E3AD72-A6A4-9740-07DB-0C9A7F36A84B}"/>
              </a:ext>
            </a:extLst>
          </p:cNvPr>
          <p:cNvSpPr txBox="1"/>
          <p:nvPr/>
        </p:nvSpPr>
        <p:spPr>
          <a:xfrm>
            <a:off x="4339257" y="3389778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=5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433FB4-4706-A208-C475-A22C80331F67}"/>
              </a:ext>
            </a:extLst>
          </p:cNvPr>
          <p:cNvSpPr txBox="1"/>
          <p:nvPr/>
        </p:nvSpPr>
        <p:spPr>
          <a:xfrm>
            <a:off x="4356205" y="4322573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=6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609FB1-DC6B-0BE3-D3D8-D7FFD1AA2C19}"/>
              </a:ext>
            </a:extLst>
          </p:cNvPr>
          <p:cNvSpPr txBox="1"/>
          <p:nvPr/>
        </p:nvSpPr>
        <p:spPr>
          <a:xfrm>
            <a:off x="1111460" y="5833636"/>
            <a:ext cx="7799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Rezultat</a:t>
            </a:r>
            <a:r>
              <a:rPr lang="en-US" sz="2000" dirty="0">
                <a:solidFill>
                  <a:schemeClr val="bg1"/>
                </a:solidFill>
              </a:rPr>
              <a:t>: count = 6 ✗ (</a:t>
            </a:r>
            <a:r>
              <a:rPr lang="en-US" sz="2000" dirty="0" err="1">
                <a:solidFill>
                  <a:schemeClr val="bg1"/>
                </a:solidFill>
              </a:rPr>
              <a:t>pogrešno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en-US" sz="2000" dirty="0" err="1">
                <a:solidFill>
                  <a:schemeClr val="bg1"/>
                </a:solidFill>
              </a:rPr>
              <a:t>očekivali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smo</a:t>
            </a:r>
            <a:r>
              <a:rPr lang="en-US" sz="2000" dirty="0">
                <a:solidFill>
                  <a:schemeClr val="bg1"/>
                </a:solidFill>
              </a:rPr>
              <a:t> 7)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Obje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niti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pročitale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istu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vrijednost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uvećale</a:t>
            </a:r>
            <a:r>
              <a:rPr lang="en-US" sz="2000" dirty="0">
                <a:solidFill>
                  <a:schemeClr val="bg1"/>
                </a:solidFill>
              </a:rPr>
              <a:t> je,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obje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spremile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istu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vrijednost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Google Shape;341;p66">
            <a:extLst>
              <a:ext uri="{FF2B5EF4-FFF2-40B4-BE49-F238E27FC236}">
                <a16:creationId xmlns:a16="http://schemas.microsoft.com/office/drawing/2014/main" id="{2FDC6512-4A19-452A-4C51-C0F954208C9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61695" r="2707"/>
          <a:stretch>
            <a:fillRect/>
          </a:stretch>
        </p:blipFill>
        <p:spPr>
          <a:xfrm>
            <a:off x="1255838" y="4791115"/>
            <a:ext cx="3252756" cy="459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5FF668-4458-D72D-B042-D25CAC534BB0}"/>
              </a:ext>
            </a:extLst>
          </p:cNvPr>
          <p:cNvSpPr txBox="1"/>
          <p:nvPr/>
        </p:nvSpPr>
        <p:spPr>
          <a:xfrm>
            <a:off x="4572000" y="4903402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count=6</a:t>
            </a:r>
            <a:endParaRPr lang="hr-HR" dirty="0">
              <a:solidFill>
                <a:schemeClr val="bg1"/>
              </a:solidFill>
            </a:endParaRPr>
          </a:p>
        </p:txBody>
      </p:sp>
      <p:pic>
        <p:nvPicPr>
          <p:cNvPr id="7" name="Google Shape;341;p66">
            <a:extLst>
              <a:ext uri="{FF2B5EF4-FFF2-40B4-BE49-F238E27FC236}">
                <a16:creationId xmlns:a16="http://schemas.microsoft.com/office/drawing/2014/main" id="{EF3D572A-0A23-E2D2-D878-183546611A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-1" b="60646"/>
          <a:stretch>
            <a:fillRect/>
          </a:stretch>
        </p:blipFill>
        <p:spPr>
          <a:xfrm>
            <a:off x="5165124" y="3262273"/>
            <a:ext cx="3343275" cy="47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41;p66">
            <a:extLst>
              <a:ext uri="{FF2B5EF4-FFF2-40B4-BE49-F238E27FC236}">
                <a16:creationId xmlns:a16="http://schemas.microsoft.com/office/drawing/2014/main" id="{2D9D1ACA-9FD4-DF63-FE6A-90094380D6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62879" r="524" b="5552"/>
          <a:stretch>
            <a:fillRect/>
          </a:stretch>
        </p:blipFill>
        <p:spPr>
          <a:xfrm>
            <a:off x="5251015" y="5382746"/>
            <a:ext cx="3325757" cy="378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41;p66">
            <a:extLst>
              <a:ext uri="{FF2B5EF4-FFF2-40B4-BE49-F238E27FC236}">
                <a16:creationId xmlns:a16="http://schemas.microsoft.com/office/drawing/2014/main" id="{390317B7-1343-9566-0577-992C279FFC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38108" r="-7218" b="36247"/>
          <a:stretch>
            <a:fillRect/>
          </a:stretch>
        </p:blipFill>
        <p:spPr>
          <a:xfrm>
            <a:off x="5165124" y="4273984"/>
            <a:ext cx="3584606" cy="30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41;p66">
            <a:extLst>
              <a:ext uri="{FF2B5EF4-FFF2-40B4-BE49-F238E27FC236}">
                <a16:creationId xmlns:a16="http://schemas.microsoft.com/office/drawing/2014/main" id="{F22B76F8-AD45-B92A-1877-064521FC98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38108" r="-7218" b="36247"/>
          <a:stretch>
            <a:fillRect/>
          </a:stretch>
        </p:blipFill>
        <p:spPr>
          <a:xfrm>
            <a:off x="1184533" y="3803593"/>
            <a:ext cx="3584606" cy="30777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F81D12-1A1F-6B0B-0AAB-20592333312B}"/>
              </a:ext>
            </a:extLst>
          </p:cNvPr>
          <p:cNvSpPr txBox="1"/>
          <p:nvPr/>
        </p:nvSpPr>
        <p:spPr>
          <a:xfrm>
            <a:off x="4572000" y="3821503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eax</a:t>
            </a:r>
            <a:r>
              <a:rPr lang="en-US" dirty="0">
                <a:solidFill>
                  <a:schemeClr val="bg1"/>
                </a:solidFill>
              </a:rPr>
              <a:t>=6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6487EE-75DA-FC63-9286-CA2E9305C75F}"/>
              </a:ext>
            </a:extLst>
          </p:cNvPr>
          <p:cNvSpPr txBox="1"/>
          <p:nvPr/>
        </p:nvSpPr>
        <p:spPr>
          <a:xfrm>
            <a:off x="4339257" y="541829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count=6</a:t>
            </a: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50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  <p:bldP spid="25" grpId="0"/>
      <p:bldP spid="26" grpId="0"/>
      <p:bldP spid="28" grpId="0"/>
      <p:bldP spid="5" grpId="0"/>
      <p:bldP spid="15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9547F85-3093-3C62-6E8C-DCEB1658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F3168B01-554C-F2EC-6094-D5BADCCFE5FE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zaključak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2E93C-69B6-0219-7B24-60313CA2F895}"/>
              </a:ext>
            </a:extLst>
          </p:cNvPr>
          <p:cNvSpPr txBox="1"/>
          <p:nvPr/>
        </p:nvSpPr>
        <p:spPr>
          <a:xfrm>
            <a:off x="1270000" y="1739781"/>
            <a:ext cx="7124700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Ne </a:t>
            </a:r>
            <a:r>
              <a:rPr lang="en-US" sz="2000" dirty="0" err="1">
                <a:solidFill>
                  <a:schemeClr val="bg1"/>
                </a:solidFill>
              </a:rPr>
              <a:t>možemo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predvidjeti</a:t>
            </a:r>
            <a:r>
              <a:rPr lang="en-US" sz="2000" dirty="0">
                <a:solidFill>
                  <a:schemeClr val="bg1"/>
                </a:solidFill>
              </a:rPr>
              <a:t> koji </a:t>
            </a:r>
            <a:r>
              <a:rPr lang="en-US" sz="2000" dirty="0" err="1">
                <a:solidFill>
                  <a:schemeClr val="bg1"/>
                </a:solidFill>
              </a:rPr>
              <a:t>će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scenarij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nastupiti</a:t>
            </a:r>
            <a:r>
              <a:rPr lang="en-US" sz="2000" dirty="0">
                <a:solidFill>
                  <a:schemeClr val="bg1"/>
                </a:solidFill>
              </a:rPr>
              <a:t>!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Ovisi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raspoređivaču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operativnog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sustava</a:t>
            </a:r>
            <a:r>
              <a:rPr lang="en-US" sz="2000" dirty="0">
                <a:solidFill>
                  <a:schemeClr val="bg1"/>
                </a:solidFill>
              </a:rPr>
              <a:t> (scheduler)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Ovisi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trenutnom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opterećenju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procesora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Nedeterministički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rezultat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en-US" sz="2000" dirty="0" err="1">
                <a:solidFill>
                  <a:schemeClr val="bg1"/>
                </a:solidFill>
              </a:rPr>
              <a:t>svako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pokretanje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može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biti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drugačije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Zato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treba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sinkronizacija</a:t>
            </a:r>
            <a:r>
              <a:rPr lang="en-US" sz="2000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4183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F1F815B9-4093-DEE5-1ECA-92D3842C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48F1BBEA-8EE6-2E1C-0ABC-16186F70298B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Atomske operacije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1521C-42CA-B507-BF2D-36ADAF1F0097}"/>
              </a:ext>
            </a:extLst>
          </p:cNvPr>
          <p:cNvSpPr txBox="1"/>
          <p:nvPr/>
        </p:nvSpPr>
        <p:spPr>
          <a:xfrm>
            <a:off x="1270000" y="1739781"/>
            <a:ext cx="71247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</a:rPr>
              <a:t>Atomska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operacija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operacija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koja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izvršava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nedjeljiva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cjelina</a:t>
            </a:r>
            <a:endParaRPr lang="hr-HR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</a:rPr>
              <a:t>Karakteristike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Ili se </a:t>
            </a:r>
            <a:r>
              <a:rPr lang="en-US" sz="2000" dirty="0" err="1">
                <a:solidFill>
                  <a:schemeClr val="bg1"/>
                </a:solidFill>
              </a:rPr>
              <a:t>izvrše</a:t>
            </a:r>
            <a:r>
              <a:rPr lang="en-US" sz="2000" dirty="0">
                <a:solidFill>
                  <a:schemeClr val="bg1"/>
                </a:solidFill>
              </a:rPr>
              <a:t> SVI </a:t>
            </a:r>
            <a:r>
              <a:rPr lang="en-US" sz="2000" dirty="0" err="1">
                <a:solidFill>
                  <a:schemeClr val="bg1"/>
                </a:solidFill>
              </a:rPr>
              <a:t>koraci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odjednom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Ili se NE </a:t>
            </a:r>
            <a:r>
              <a:rPr lang="en-US" sz="2000" dirty="0" err="1">
                <a:solidFill>
                  <a:schemeClr val="bg1"/>
                </a:solidFill>
              </a:rPr>
              <a:t>izvrši</a:t>
            </a:r>
            <a:r>
              <a:rPr lang="en-US" sz="2000" dirty="0">
                <a:solidFill>
                  <a:schemeClr val="bg1"/>
                </a:solidFill>
              </a:rPr>
              <a:t> NITI JEDAN </a:t>
            </a:r>
            <a:r>
              <a:rPr lang="en-US" sz="2000" dirty="0" err="1">
                <a:solidFill>
                  <a:schemeClr val="bg1"/>
                </a:solidFill>
              </a:rPr>
              <a:t>korak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Ne </a:t>
            </a:r>
            <a:r>
              <a:rPr lang="en-US" sz="2000" dirty="0" err="1">
                <a:solidFill>
                  <a:schemeClr val="bg1"/>
                </a:solidFill>
              </a:rPr>
              <a:t>može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prekinuti</a:t>
            </a:r>
            <a:r>
              <a:rPr lang="en-US" sz="2000" dirty="0">
                <a:solidFill>
                  <a:schemeClr val="bg1"/>
                </a:solidFill>
              </a:rPr>
              <a:t> "</a:t>
            </a:r>
            <a:r>
              <a:rPr lang="en-US" sz="2000" dirty="0" err="1">
                <a:solidFill>
                  <a:schemeClr val="bg1"/>
                </a:solidFill>
              </a:rPr>
              <a:t>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pola</a:t>
            </a:r>
            <a:r>
              <a:rPr lang="en-US" sz="2000" dirty="0">
                <a:solidFill>
                  <a:schemeClr val="bg1"/>
                </a:solidFill>
              </a:rPr>
              <a:t> puta”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NE </a:t>
            </a:r>
            <a:r>
              <a:rPr lang="en-US" sz="2000" dirty="0" err="1">
                <a:solidFill>
                  <a:schemeClr val="bg1"/>
                </a:solidFill>
              </a:rPr>
              <a:t>postoji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mogućnost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 </a:t>
            </a:r>
            <a:r>
              <a:rPr lang="en-US" sz="2000" dirty="0" err="1">
                <a:solidFill>
                  <a:schemeClr val="bg1"/>
                </a:solidFill>
              </a:rPr>
              <a:t>operacija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bude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prekinuta</a:t>
            </a:r>
            <a:r>
              <a:rPr lang="en-US" sz="2000" dirty="0">
                <a:solidFill>
                  <a:schemeClr val="bg1"/>
                </a:solidFill>
              </a:rPr>
              <a:t> za </a:t>
            </a:r>
            <a:r>
              <a:rPr lang="en-US" sz="2000" dirty="0" err="1">
                <a:solidFill>
                  <a:schemeClr val="bg1"/>
                </a:solidFill>
              </a:rPr>
              <a:t>vrijeme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izvođenja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 se za </a:t>
            </a:r>
            <a:r>
              <a:rPr lang="en-US" sz="2000" dirty="0" err="1">
                <a:solidFill>
                  <a:schemeClr val="bg1"/>
                </a:solidFill>
              </a:rPr>
              <a:t>vrijeme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izvođenja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neovisno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promijeni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stanje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varijabli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koje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koriste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80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86D388E4-C87C-AB86-FAD8-B55339BB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6667E4B1-D76C-F543-64B0-F06C1530D4D8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Atomske operacije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4A873-B8F5-2F01-1A41-1B74B61E02FE}"/>
              </a:ext>
            </a:extLst>
          </p:cNvPr>
          <p:cNvSpPr txBox="1"/>
          <p:nvPr/>
        </p:nvSpPr>
        <p:spPr>
          <a:xfrm>
            <a:off x="1270000" y="1490008"/>
            <a:ext cx="787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Primjeri:</a:t>
            </a:r>
          </a:p>
          <a:p>
            <a:pPr>
              <a:buClr>
                <a:schemeClr val="bg1"/>
              </a:buClr>
            </a:pPr>
            <a:endParaRPr lang="hr-HR" sz="20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Atomska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operacija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(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na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većini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arhitektura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):</a:t>
            </a:r>
          </a:p>
          <a:p>
            <a:pPr>
              <a:buClr>
                <a:schemeClr val="bg1"/>
              </a:buClr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int x = 5;  // Jednostavna </a:t>
            </a:r>
            <a:r>
              <a:rPr lang="en-US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dodjela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- </a:t>
            </a:r>
            <a:r>
              <a:rPr lang="en-US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jedna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instrukcija</a:t>
            </a:r>
            <a:endParaRPr lang="hr-HR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endParaRPr lang="en-US" sz="20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NIJE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atomska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Quicksand" panose="020B0604020202020204" charset="0"/>
              </a:rPr>
              <a:t>operacija</a:t>
            </a:r>
            <a:r>
              <a:rPr lang="en-US" sz="2000" b="1" dirty="0">
                <a:solidFill>
                  <a:schemeClr val="bg1"/>
                </a:solidFill>
                <a:latin typeface="Quicksand" panose="020B0604020202020204" charset="0"/>
              </a:rPr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EFF81-DB76-3172-61BD-286440974B99}"/>
              </a:ext>
            </a:extLst>
          </p:cNvPr>
          <p:cNvSpPr txBox="1"/>
          <p:nvPr/>
        </p:nvSpPr>
        <p:spPr>
          <a:xfrm>
            <a:off x="1270000" y="3298834"/>
            <a:ext cx="7785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count++; 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// Tri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instrukcije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 (load, increment, store)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count += 5; 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// Tri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instrukcije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count = count * 2; 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// Tri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ili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više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instrukcija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x = y + z; 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Više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instrukcija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učitavanje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 y,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učitavanje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 z,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zbrajanje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2000" b="1" i="1" dirty="0" err="1">
                <a:solidFill>
                  <a:schemeClr val="bg1"/>
                </a:solidFill>
                <a:latin typeface="Consolas" panose="020B0609020204030204" pitchFamily="49" charset="0"/>
              </a:rPr>
              <a:t>spremanje</a:t>
            </a:r>
            <a:r>
              <a:rPr lang="en-US" sz="2000" b="1" i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hr-HR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AB0BCB-CFD5-87F5-F3F6-B8079A104A8E}"/>
              </a:ext>
            </a:extLst>
          </p:cNvPr>
          <p:cNvSpPr txBox="1"/>
          <p:nvPr/>
        </p:nvSpPr>
        <p:spPr>
          <a:xfrm>
            <a:off x="939800" y="5223685"/>
            <a:ext cx="811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Quicksand" panose="020B0604020202020204" charset="0"/>
              </a:rPr>
              <a:t>Problem: count++ NIJE </a:t>
            </a:r>
            <a:r>
              <a:rPr lang="en-US" sz="1800" b="1" dirty="0" err="1">
                <a:solidFill>
                  <a:schemeClr val="bg1"/>
                </a:solidFill>
                <a:latin typeface="Quicksand" panose="020B0604020202020204" charset="0"/>
              </a:rPr>
              <a:t>atomska</a:t>
            </a:r>
            <a:r>
              <a:rPr lang="en-US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Quicksand" panose="020B0604020202020204" charset="0"/>
              </a:rPr>
              <a:t>operacija</a:t>
            </a:r>
            <a:r>
              <a:rPr lang="en-US" sz="1800" b="1" dirty="0">
                <a:solidFill>
                  <a:schemeClr val="bg1"/>
                </a:solidFill>
                <a:latin typeface="Quicksand" panose="020B0604020202020204" charset="0"/>
              </a:rPr>
              <a:t>! </a:t>
            </a:r>
          </a:p>
          <a:p>
            <a:r>
              <a:rPr lang="en-US" sz="1800" b="1" dirty="0" err="1">
                <a:solidFill>
                  <a:schemeClr val="bg1"/>
                </a:solidFill>
                <a:latin typeface="Quicksand" panose="020B0604020202020204" charset="0"/>
              </a:rPr>
              <a:t>Rješenje</a:t>
            </a:r>
            <a:r>
              <a:rPr lang="en-US" sz="1800" b="1" dirty="0">
                <a:solidFill>
                  <a:schemeClr val="bg1"/>
                </a:solidFill>
                <a:latin typeface="Quicksand" panose="020B0604020202020204" charset="0"/>
              </a:rPr>
              <a:t>: </a:t>
            </a:r>
            <a:r>
              <a:rPr lang="en-US" sz="1800" b="1" dirty="0" err="1">
                <a:solidFill>
                  <a:schemeClr val="bg1"/>
                </a:solidFill>
                <a:latin typeface="Quicksand" panose="020B0604020202020204" charset="0"/>
              </a:rPr>
              <a:t>Potrebna</a:t>
            </a:r>
            <a:r>
              <a:rPr lang="en-US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Quicksand" panose="020B0604020202020204" charset="0"/>
              </a:rPr>
              <a:t>nam</a:t>
            </a:r>
            <a:r>
              <a:rPr lang="en-US" sz="1800" b="1" dirty="0">
                <a:solidFill>
                  <a:schemeClr val="bg1"/>
                </a:solidFill>
                <a:latin typeface="Quicksand" panose="020B0604020202020204" charset="0"/>
              </a:rPr>
              <a:t> je SINKRONIZACIJA → Mutex (Mutual Exclusion)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4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75D1D6D3-6E89-5A9C-40CE-B9F35E5B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C3CA80FB-D39F-0BE4-8A68-347CCB02DFC1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 - Mutual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Exclusion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Mutex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 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55E6FEB8-9AA2-7271-DFE2-7D6E03F0C845}"/>
              </a:ext>
            </a:extLst>
          </p:cNvPr>
          <p:cNvSpPr txBox="1"/>
          <p:nvPr/>
        </p:nvSpPr>
        <p:spPr>
          <a:xfrm>
            <a:off x="1215654" y="1387504"/>
            <a:ext cx="781861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u="sng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Uzajamno isključivanje (Mutual </a:t>
            </a:r>
            <a:r>
              <a:rPr lang="hr-HR" sz="2000" b="1" u="sng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exclusion</a:t>
            </a:r>
            <a:r>
              <a:rPr lang="hr-HR" sz="2000" b="1" u="sng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):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metoda </a:t>
            </a:r>
            <a:r>
              <a:rPr lang="hr-HR" sz="20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serijalizacije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pristupa zajedničkim resursima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onemogućava promjenu varijable koja je trenutno u procesu mijenjanja </a:t>
            </a:r>
            <a:r>
              <a:rPr lang="hr-HR" sz="2000" b="1" dirty="0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(</a:t>
            </a:r>
            <a:r>
              <a:rPr lang="hr-HR" sz="2000" b="1" dirty="0" err="1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dirty</a:t>
            </a:r>
            <a:r>
              <a:rPr lang="hr-HR" sz="2000" b="1" dirty="0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000" b="1" dirty="0" err="1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write</a:t>
            </a:r>
            <a:r>
              <a:rPr lang="hr-HR" sz="2000" b="1" dirty="0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onemogućava čitanje vrijednosti varijable koja je u procesu mijenjanja </a:t>
            </a:r>
            <a:r>
              <a:rPr lang="hr-HR" sz="2000" b="1" dirty="0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(</a:t>
            </a:r>
            <a:r>
              <a:rPr lang="hr-HR" sz="2000" b="1" dirty="0" err="1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dirty</a:t>
            </a:r>
            <a:r>
              <a:rPr lang="hr-HR" sz="2000" b="1" dirty="0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000" b="1" dirty="0" err="1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read</a:t>
            </a:r>
            <a:r>
              <a:rPr lang="hr-HR" sz="2000" b="1" dirty="0">
                <a:solidFill>
                  <a:srgbClr val="FFD966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r-HR"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Korištenjem mehanizma zaključavanja (</a:t>
            </a:r>
            <a:r>
              <a:rPr lang="hr-HR" sz="20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lock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/</a:t>
            </a:r>
            <a:r>
              <a:rPr lang="hr-HR" sz="20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mutex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), programer mora realizirati protokol pristupa dijeljenim podacima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Protokol se mora </a:t>
            </a:r>
            <a:r>
              <a:rPr lang="hr-HR" sz="20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primjeniti</a:t>
            </a: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u SVIM nitima koje pristupaju dijeljenom podatku! Ako jedna nit prekrši protokol (nenamjerna greška) → protokol je neuspješan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Ako nit želi pristupiti traženom podatku, mora postaviti zahtjev za zaključavanje i čekati na ključ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endParaRPr lang="hr-HR" sz="20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93828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566EDE2-0163-252B-BDED-3A88F85E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C9128FEE-33A2-F0D1-B714-D1A7B66D87E0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 - Mutual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Exclusion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Mutex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 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502798D2-E074-04CC-C7BB-A2D369DE3124}"/>
              </a:ext>
            </a:extLst>
          </p:cNvPr>
          <p:cNvSpPr txBox="1"/>
          <p:nvPr/>
        </p:nvSpPr>
        <p:spPr>
          <a:xfrm>
            <a:off x="1165319" y="1352166"/>
            <a:ext cx="696772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hr-HR" sz="1800" b="1" dirty="0">
                <a:solidFill>
                  <a:srgbClr val="39C0BA"/>
                </a:solidFill>
                <a:latin typeface="Quicksand" panose="020B0604020202020204" charset="0"/>
                <a:ea typeface="Quicksand"/>
                <a:cs typeface="Quicksand"/>
                <a:sym typeface="Quicksand"/>
              </a:rPr>
              <a:t>Protokol rada: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Quicksand"/>
                <a:cs typeface="Quicksand"/>
                <a:sym typeface="Quicksand"/>
              </a:rPr>
              <a:t>Nit koja želi pristupiti zajedničkim podacima postavlja zahtjev za zaključavanje (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  <a:ea typeface="Quicksand"/>
                <a:cs typeface="Quicksand"/>
                <a:sym typeface="Quicksand"/>
              </a:rPr>
              <a:t>lock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Quicksand"/>
                <a:cs typeface="Quicksand"/>
                <a:sym typeface="Quicksand"/>
              </a:rPr>
              <a:t>)</a:t>
            </a:r>
          </a:p>
          <a:p>
            <a:pPr marL="457200" lvl="0" indent="-457200"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Nit čeka na ključ</a:t>
            </a:r>
          </a:p>
          <a:p>
            <a:pPr marL="457200" lvl="0" indent="-457200"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Kada dobije ključ → ulazi u kritičnu sekciju (pristupa podacima)</a:t>
            </a:r>
          </a:p>
          <a:p>
            <a:pPr marL="457200" lvl="0" indent="-457200"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Druge niti koje žele pristupiti istim podacima → moraju čekati</a:t>
            </a:r>
          </a:p>
          <a:p>
            <a:pPr marL="457200" lvl="0" indent="-457200"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Nakon završetka obrade → nit otključava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mutex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(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unlock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)</a:t>
            </a:r>
          </a:p>
          <a:p>
            <a:pPr marL="457200" lvl="0" indent="-457200"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Čekajuća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nit sada može dobiti ključ i pristupiti podacima</a:t>
            </a:r>
          </a:p>
          <a:p>
            <a:pPr lvl="0">
              <a:buClr>
                <a:schemeClr val="bg1"/>
              </a:buClr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  <a:ea typeface="Quicksand"/>
              <a:cs typeface="Quicksand"/>
              <a:sym typeface="Quicksand"/>
            </a:endParaRP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Važno: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Mutex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držati samo dok je to nužno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Čim je obrada gotova → osloboditi pristup drugim nitima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Inače dolazi do nepotrebnog čekanja i usporavanja programa</a:t>
            </a:r>
          </a:p>
        </p:txBody>
      </p:sp>
    </p:spTree>
    <p:extLst>
      <p:ext uri="{BB962C8B-B14F-4D97-AF65-F5344CB8AC3E}">
        <p14:creationId xmlns:p14="http://schemas.microsoft.com/office/powerpoint/2010/main" val="164907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DD09A63C-DABE-43F6-740A-45FFAD54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179107A1-56E0-AA57-2F0F-FD54B7181188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 - Mutual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Exclusion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Mutex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 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70;p70">
            <a:extLst>
              <a:ext uri="{FF2B5EF4-FFF2-40B4-BE49-F238E27FC236}">
                <a16:creationId xmlns:a16="http://schemas.microsoft.com/office/drawing/2014/main" id="{EBA9B6A7-460F-7A3A-B19E-248D5E2455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70" y="1420931"/>
            <a:ext cx="8202326" cy="486099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96EF60D3-E9AC-1AA1-2EC0-FEE977F75425}"/>
              </a:ext>
            </a:extLst>
          </p:cNvPr>
          <p:cNvSpPr txBox="1"/>
          <p:nvPr/>
        </p:nvSpPr>
        <p:spPr>
          <a:xfrm>
            <a:off x="6437376" y="2350008"/>
            <a:ext cx="1895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>
                <a:sym typeface="Wingdings" panose="05000000000000000000" pitchFamily="2" charset="2"/>
              </a:rPr>
              <a:t> </a:t>
            </a:r>
            <a:r>
              <a:rPr lang="hr-HR" b="1" dirty="0"/>
              <a:t>Čeka (BLOCKED)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AE410BC0-D979-48D3-28C2-C41EBAB460F1}"/>
              </a:ext>
            </a:extLst>
          </p:cNvPr>
          <p:cNvSpPr txBox="1"/>
          <p:nvPr/>
        </p:nvSpPr>
        <p:spPr>
          <a:xfrm>
            <a:off x="2511552" y="3275111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 err="1">
                <a:sym typeface="Wingdings" panose="05000000000000000000" pitchFamily="2" charset="2"/>
              </a:rPr>
              <a:t>count</a:t>
            </a:r>
            <a:r>
              <a:rPr lang="hr-HR" b="1" dirty="0">
                <a:sym typeface="Wingdings" panose="05000000000000000000" pitchFamily="2" charset="2"/>
              </a:rPr>
              <a:t>++;</a:t>
            </a:r>
            <a:endParaRPr lang="hr-HR" b="1" dirty="0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218B5778-2465-6889-EF4F-E90D35AB5485}"/>
              </a:ext>
            </a:extLst>
          </p:cNvPr>
          <p:cNvSpPr txBox="1"/>
          <p:nvPr/>
        </p:nvSpPr>
        <p:spPr>
          <a:xfrm>
            <a:off x="5910072" y="5129292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 err="1">
                <a:sym typeface="Wingdings" panose="05000000000000000000" pitchFamily="2" charset="2"/>
              </a:rPr>
              <a:t>count</a:t>
            </a:r>
            <a:r>
              <a:rPr lang="hr-HR" b="1" dirty="0">
                <a:sym typeface="Wingdings" panose="05000000000000000000" pitchFamily="2" charset="2"/>
              </a:rPr>
              <a:t>++;</a:t>
            </a:r>
            <a:endParaRPr lang="hr-HR" b="1" dirty="0"/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AF96E1B9-48F4-5731-6938-F7A49A3F1B67}"/>
              </a:ext>
            </a:extLst>
          </p:cNvPr>
          <p:cNvSpPr txBox="1"/>
          <p:nvPr/>
        </p:nvSpPr>
        <p:spPr>
          <a:xfrm>
            <a:off x="903330" y="6334780"/>
            <a:ext cx="6779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 err="1">
                <a:solidFill>
                  <a:schemeClr val="bg1"/>
                </a:solidFill>
              </a:rPr>
              <a:t>Critical</a:t>
            </a:r>
            <a:r>
              <a:rPr lang="hr-HR" b="1" dirty="0">
                <a:solidFill>
                  <a:schemeClr val="bg1"/>
                </a:solidFill>
              </a:rPr>
              <a:t> </a:t>
            </a:r>
            <a:r>
              <a:rPr lang="hr-HR" b="1" dirty="0" err="1">
                <a:solidFill>
                  <a:schemeClr val="bg1"/>
                </a:solidFill>
              </a:rPr>
              <a:t>Section</a:t>
            </a:r>
            <a:r>
              <a:rPr lang="hr-HR" b="1" dirty="0">
                <a:solidFill>
                  <a:schemeClr val="bg1"/>
                </a:solidFill>
              </a:rPr>
              <a:t> (Kritična sekcija) = dio koda koji pristupa dijeljenim podacima</a:t>
            </a:r>
          </a:p>
          <a:p>
            <a:r>
              <a:rPr lang="hr-HR" b="1" dirty="0">
                <a:solidFill>
                  <a:schemeClr val="bg1"/>
                </a:solidFill>
              </a:rPr>
              <a:t>Samo jedna nit odjednom može biti u kritičnoj sekciji!</a:t>
            </a:r>
          </a:p>
        </p:txBody>
      </p:sp>
    </p:spTree>
    <p:extLst>
      <p:ext uri="{BB962C8B-B14F-4D97-AF65-F5344CB8AC3E}">
        <p14:creationId xmlns:p14="http://schemas.microsoft.com/office/powerpoint/2010/main" val="2001368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845463B-EF36-7A02-88A3-BE1A9CF9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niOkvir 2">
            <a:extLst>
              <a:ext uri="{FF2B5EF4-FFF2-40B4-BE49-F238E27FC236}">
                <a16:creationId xmlns:a16="http://schemas.microsoft.com/office/drawing/2014/main" id="{CA3DE3E1-6F7E-DA66-2E42-F4C61997D6BC}"/>
              </a:ext>
            </a:extLst>
          </p:cNvPr>
          <p:cNvSpPr txBox="1"/>
          <p:nvPr/>
        </p:nvSpPr>
        <p:spPr>
          <a:xfrm>
            <a:off x="1165318" y="140679"/>
            <a:ext cx="664476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#include &lt;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pthread.h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endParaRPr lang="hr-HR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count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;  // Deklaracija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-a</a:t>
            </a:r>
          </a:p>
          <a:p>
            <a:endParaRPr lang="hr-HR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thread_function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for(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10000; i++) {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);    // Zaključaj - traži ključ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count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++;  // </a:t>
            </a:r>
            <a:r>
              <a:rPr lang="hr-HR" b="1" dirty="0">
                <a:solidFill>
                  <a:srgbClr val="FF0000"/>
                </a:solidFill>
                <a:latin typeface="Consolas" panose="020B0609020204030204" pitchFamily="49" charset="0"/>
              </a:rPr>
              <a:t>CRITICAL SECTION 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- samo jedna nit odjednom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);  // Otključaj - vrati ključ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B8CA537D-95A1-6D99-D4C6-14CE82755203}"/>
              </a:ext>
            </a:extLst>
          </p:cNvPr>
          <p:cNvSpPr txBox="1"/>
          <p:nvPr/>
        </p:nvSpPr>
        <p:spPr>
          <a:xfrm>
            <a:off x="1165318" y="3534013"/>
            <a:ext cx="770436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main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t1, t2;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pthread_mutex_init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, NULL);  // Inicijalizacija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-a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(&amp;t1, NULL,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thread_function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(&amp;t2, NULL,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thread_function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, NULL);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(t1, NULL);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(t2, NULL);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count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= %d\n",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count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);  // Sad će biti točno 20000!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pthread_mutex_destroy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);  // Uništi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mutex</a:t>
            </a:r>
            <a:endParaRPr lang="hr-HR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hr-HR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48E595E5-6C0B-2A6B-3EB9-BDFE0EDD18B3}"/>
              </a:ext>
            </a:extLst>
          </p:cNvPr>
          <p:cNvSpPr txBox="1"/>
          <p:nvPr/>
        </p:nvSpPr>
        <p:spPr>
          <a:xfrm rot="16200000">
            <a:off x="-381254" y="3244334"/>
            <a:ext cx="204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rgbClr val="39C0BA"/>
                </a:solidFill>
                <a:latin typeface="Quicksand" panose="020B0604020202020204" charset="0"/>
              </a:rPr>
              <a:t>PRIMJER - </a:t>
            </a:r>
            <a:r>
              <a:rPr lang="hr-HR" sz="1800" b="1" dirty="0" err="1">
                <a:solidFill>
                  <a:srgbClr val="39C0BA"/>
                </a:solidFill>
                <a:latin typeface="Quicksand" panose="020B0604020202020204" charset="0"/>
              </a:rPr>
              <a:t>Mutex</a:t>
            </a:r>
            <a:endParaRPr lang="hr-HR" sz="1800" b="1" dirty="0">
              <a:solidFill>
                <a:srgbClr val="39C0BA"/>
              </a:solidFill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330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C3F76F3-570B-10BF-A6DC-1C4ED5AA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78BE6717-D85D-D44E-08E3-AD6D5C78663B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Deadlock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B62EE472-E696-1E7C-DA3E-321316186D9B}"/>
              </a:ext>
            </a:extLst>
          </p:cNvPr>
          <p:cNvSpPr txBox="1"/>
          <p:nvPr/>
        </p:nvSpPr>
        <p:spPr>
          <a:xfrm>
            <a:off x="6024733" y="1981722"/>
            <a:ext cx="29305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AutoNum type="arabicPeriod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A zaključava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lock_a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B zaključava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lock_b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Thread A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pokušava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zaključati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lock_b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B pokušava zaključati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lock_a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DEADLOCK!</a:t>
            </a:r>
          </a:p>
        </p:txBody>
      </p:sp>
      <p:pic>
        <p:nvPicPr>
          <p:cNvPr id="3" name="Google Shape;376;p71">
            <a:extLst>
              <a:ext uri="{FF2B5EF4-FFF2-40B4-BE49-F238E27FC236}">
                <a16:creationId xmlns:a16="http://schemas.microsoft.com/office/drawing/2014/main" id="{CD7F8201-544E-AEBF-C93D-43528A7160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08" y="1666327"/>
            <a:ext cx="5814685" cy="3525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458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36906E0-118E-E79D-ECEA-715B44EA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024" y="112014"/>
            <a:ext cx="7978680" cy="6633972"/>
          </a:xfrm>
        </p:spPr>
        <p:txBody>
          <a:bodyPr/>
          <a:lstStyle/>
          <a:p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pthread_mutex_t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thread_A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);    // Korak 1: Dobio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sleep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(1);  // Malo pauze da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B stigne do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);    // Korak 3: Čeka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(DEADLOCK!)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A u kritičnoj sekciji\n"); //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Critical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section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thread_B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);    // Korak 2: Dobio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sleep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(1);  // Malo pauze da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A stigne do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);    // Korak 4: Čeka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(DEADLOCK!)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printf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("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B u kritičnoj sekciji\n"); //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Critical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section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  <a:b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r-HR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Rukopis 6">
                <a:extLst>
                  <a:ext uri="{FF2B5EF4-FFF2-40B4-BE49-F238E27FC236}">
                    <a16:creationId xmlns:a16="http://schemas.microsoft.com/office/drawing/2014/main" id="{814DC789-D5BF-A37D-CBB2-0F6470114E1A}"/>
                  </a:ext>
                </a:extLst>
              </p14:cNvPr>
              <p14:cNvContentPartPr/>
              <p14:nvPr/>
            </p14:nvContentPartPr>
            <p14:xfrm>
              <a:off x="1351584" y="5083488"/>
              <a:ext cx="7153200" cy="522720"/>
            </p14:xfrm>
          </p:contentPart>
        </mc:Choice>
        <mc:Fallback xmlns="">
          <p:pic>
            <p:nvPicPr>
              <p:cNvPr id="7" name="Rukopis 6">
                <a:extLst>
                  <a:ext uri="{FF2B5EF4-FFF2-40B4-BE49-F238E27FC236}">
                    <a16:creationId xmlns:a16="http://schemas.microsoft.com/office/drawing/2014/main" id="{814DC789-D5BF-A37D-CBB2-0F6470114E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42584" y="5074488"/>
                <a:ext cx="717084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Rukopis 7">
                <a:extLst>
                  <a:ext uri="{FF2B5EF4-FFF2-40B4-BE49-F238E27FC236}">
                    <a16:creationId xmlns:a16="http://schemas.microsoft.com/office/drawing/2014/main" id="{62393171-BFE4-1607-DF6C-975BB6E69DF6}"/>
                  </a:ext>
                </a:extLst>
              </p14:cNvPr>
              <p14:cNvContentPartPr/>
              <p14:nvPr/>
            </p14:nvContentPartPr>
            <p14:xfrm>
              <a:off x="1351584" y="1953192"/>
              <a:ext cx="7153200" cy="522720"/>
            </p14:xfrm>
          </p:contentPart>
        </mc:Choice>
        <mc:Fallback xmlns="">
          <p:pic>
            <p:nvPicPr>
              <p:cNvPr id="8" name="Rukopis 7">
                <a:extLst>
                  <a:ext uri="{FF2B5EF4-FFF2-40B4-BE49-F238E27FC236}">
                    <a16:creationId xmlns:a16="http://schemas.microsoft.com/office/drawing/2014/main" id="{62393171-BFE4-1607-DF6C-975BB6E69D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42584" y="1944192"/>
                <a:ext cx="7170840" cy="5403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kstniOkvir 8">
            <a:extLst>
              <a:ext uri="{FF2B5EF4-FFF2-40B4-BE49-F238E27FC236}">
                <a16:creationId xmlns:a16="http://schemas.microsoft.com/office/drawing/2014/main" id="{40E56299-C356-2CB9-2735-F0DD8197377A}"/>
              </a:ext>
            </a:extLst>
          </p:cNvPr>
          <p:cNvSpPr txBox="1"/>
          <p:nvPr/>
        </p:nvSpPr>
        <p:spPr>
          <a:xfrm rot="16200000">
            <a:off x="-571212" y="3244334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rgbClr val="39C0BA"/>
                </a:solidFill>
                <a:latin typeface="Quicksand" panose="020B0604020202020204" charset="0"/>
              </a:rPr>
              <a:t>PRIMJER - </a:t>
            </a:r>
            <a:r>
              <a:rPr lang="hr-HR" sz="1800" b="1" dirty="0" err="1">
                <a:solidFill>
                  <a:srgbClr val="39C0BA"/>
                </a:solidFill>
                <a:latin typeface="Quicksand" panose="020B0604020202020204" charset="0"/>
              </a:rPr>
              <a:t>Deadlock</a:t>
            </a:r>
            <a:endParaRPr lang="hr-HR" sz="1800" b="1" dirty="0">
              <a:solidFill>
                <a:srgbClr val="39C0BA"/>
              </a:solidFill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62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728B33B3-1E10-925A-EBA7-1E52CC4F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D9B555E8-937E-1F2E-E6F6-F4BC3003930F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Deadlock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1DDD4FA5-E464-69DB-1DEB-AA9EE2401610}"/>
              </a:ext>
            </a:extLst>
          </p:cNvPr>
          <p:cNvSpPr txBox="1"/>
          <p:nvPr/>
        </p:nvSpPr>
        <p:spPr>
          <a:xfrm>
            <a:off x="1165319" y="1497090"/>
            <a:ext cx="548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Rješenje: zaključavati u istom redoslijedu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5741FE08-F996-CD59-A12B-57DB85E24684}"/>
              </a:ext>
            </a:extLst>
          </p:cNvPr>
          <p:cNvSpPr txBox="1"/>
          <p:nvPr/>
        </p:nvSpPr>
        <p:spPr>
          <a:xfrm>
            <a:off x="845278" y="2199272"/>
            <a:ext cx="871020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A:</a:t>
            </a: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   // Prvo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   // Pa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Critical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section</a:t>
            </a: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B:</a:t>
            </a: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   // Prvo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(ISTO kao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A)</a:t>
            </a: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pthread_mutex_lock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   // Pa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(ISTO kao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Thread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A)</a:t>
            </a:r>
          </a:p>
          <a:p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Critical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section</a:t>
            </a:r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lock_b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pthread_mutex_unlock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lock_a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5094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54EA4CA-6665-A4AD-BCD3-A1CD650D2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AA6BC710-2D29-B665-F39B-C36E684655AD}"/>
              </a:ext>
            </a:extLst>
          </p:cNvPr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hr-HR" sz="30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Dizajn </a:t>
            </a:r>
            <a:r>
              <a:rPr lang="hr-HR" sz="30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višenitnih</a:t>
            </a:r>
            <a:r>
              <a:rPr lang="hr-HR" sz="30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programa</a:t>
            </a:r>
            <a:endParaRPr lang="hr-HR" sz="3000" dirty="0"/>
          </a:p>
        </p:txBody>
      </p:sp>
      <p:sp>
        <p:nvSpPr>
          <p:cNvPr id="176" name="Google Shape;176;p41">
            <a:extLst>
              <a:ext uri="{FF2B5EF4-FFF2-40B4-BE49-F238E27FC236}">
                <a16:creationId xmlns:a16="http://schemas.microsoft.com/office/drawing/2014/main" id="{91B301C2-0561-7353-3310-259ED07E49C8}"/>
              </a:ext>
            </a:extLst>
          </p:cNvPr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17D2A67B-3379-653F-3470-EF084E75F24F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solidFill>
                  <a:srgbClr val="2E3037"/>
                </a:solidFill>
                <a:latin typeface="Quicksand"/>
                <a:ea typeface="Cambria"/>
                <a:cs typeface="Cambria"/>
                <a:sym typeface="Quicksand"/>
              </a:rPr>
              <a:t>4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Google Shape;382;p72">
            <a:extLst>
              <a:ext uri="{FF2B5EF4-FFF2-40B4-BE49-F238E27FC236}">
                <a16:creationId xmlns:a16="http://schemas.microsoft.com/office/drawing/2014/main" id="{C6728D95-5AB1-D269-4575-2C206675C9B2}"/>
              </a:ext>
            </a:extLst>
          </p:cNvPr>
          <p:cNvSpPr txBox="1"/>
          <p:nvPr/>
        </p:nvSpPr>
        <p:spPr>
          <a:xfrm>
            <a:off x="1529880" y="3708576"/>
            <a:ext cx="69276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dirty="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Programski modeli algoritama s dijeljenom memorijom</a:t>
            </a: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99221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B44970D-A31A-2663-FA5F-035FAA88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2910D961-A036-2118-39D9-97100503F041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Dizajn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višenitnih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programa (algoritama)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BADEDB7B-BBAB-4F47-A6A4-98EF1251EDF4}"/>
              </a:ext>
            </a:extLst>
          </p:cNvPr>
          <p:cNvSpPr txBox="1"/>
          <p:nvPr/>
        </p:nvSpPr>
        <p:spPr>
          <a:xfrm>
            <a:off x="1165319" y="1497090"/>
            <a:ext cx="7695217" cy="3731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Problemi kod dizajna paralelnih algoritama: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 err="1">
                <a:solidFill>
                  <a:schemeClr val="bg1"/>
                </a:solidFill>
                <a:latin typeface="Quicksand" panose="020B0604020202020204" charset="0"/>
              </a:rPr>
              <a:t>Particioniranje</a:t>
            </a: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 problema - kako podijeliti posao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Balansiranje opterećenja - sve niti podjednako zauzete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Ovisnost podataka, komunikacija i uzajamno isključivanje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Race </a:t>
            </a:r>
            <a:r>
              <a:rPr lang="hr-HR" sz="2000" b="1" dirty="0" err="1">
                <a:solidFill>
                  <a:schemeClr val="bg1"/>
                </a:solidFill>
                <a:latin typeface="Quicksand" panose="020B0604020202020204" charset="0"/>
              </a:rPr>
              <a:t>condition</a:t>
            </a: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 - sinkronizacija pristupa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Ulazno/izlazni tokovi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Složenost algoritma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Trud (vrijeme, trošak) / benefit - isplati li se </a:t>
            </a:r>
            <a:r>
              <a:rPr lang="hr-HR" sz="2000" b="1" dirty="0" err="1">
                <a:solidFill>
                  <a:schemeClr val="bg1"/>
                </a:solidFill>
                <a:latin typeface="Quicksand" panose="020B0604020202020204" charset="0"/>
              </a:rPr>
              <a:t>paralelizacija</a:t>
            </a: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137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F8193C0-E074-E445-2C7F-E951B7BE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3A5C9485-CC1E-9CB2-CFD7-829069EFE40F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Dizajn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višenitnih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programa (algoritama)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0E8FE27D-16DE-852C-AC66-A6799509B7AF}"/>
              </a:ext>
            </a:extLst>
          </p:cNvPr>
          <p:cNvSpPr txBox="1"/>
          <p:nvPr/>
        </p:nvSpPr>
        <p:spPr>
          <a:xfrm>
            <a:off x="1165319" y="1497090"/>
            <a:ext cx="7695217" cy="4193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Problemi koji imaju sljedeće karakteristike dobri su kandidati za </a:t>
            </a:r>
            <a:r>
              <a:rPr lang="hr-HR" sz="2000" b="1" dirty="0" err="1">
                <a:solidFill>
                  <a:schemeClr val="bg1"/>
                </a:solidFill>
                <a:latin typeface="Quicksand" panose="020B0604020202020204" charset="0"/>
              </a:rPr>
              <a:t>višenitno</a:t>
            </a: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 izvršavanje: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Postojanje </a:t>
            </a:r>
            <a:r>
              <a:rPr lang="hr-HR" sz="2000" b="1" dirty="0" err="1">
                <a:solidFill>
                  <a:schemeClr val="bg1"/>
                </a:solidFill>
                <a:latin typeface="Quicksand" panose="020B0604020202020204" charset="0"/>
              </a:rPr>
              <a:t>zadaćnog</a:t>
            </a: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 ili podatkovnog paralelizma u samom problemu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Potencijalno čekanje na spore ulazno/izlazne operacije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Neravnomjerno korištenje CPU ciklusa u različitim dijelovima programa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Potrebna </a:t>
            </a:r>
            <a:r>
              <a:rPr lang="hr-HR" sz="2000" b="1" dirty="0" err="1">
                <a:solidFill>
                  <a:schemeClr val="bg1"/>
                </a:solidFill>
                <a:latin typeface="Quicksand" panose="020B0604020202020204" charset="0"/>
              </a:rPr>
              <a:t>responsivnost</a:t>
            </a: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 na asinkrone događaje</a:t>
            </a:r>
          </a:p>
          <a:p>
            <a:pPr marL="342900" indent="-3429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b="1" dirty="0">
                <a:solidFill>
                  <a:schemeClr val="bg1"/>
                </a:solidFill>
                <a:latin typeface="Quicksand" panose="020B0604020202020204" charset="0"/>
              </a:rPr>
              <a:t>Prioritetni prekidi - neki poslovi važniji od drugih</a:t>
            </a:r>
          </a:p>
        </p:txBody>
      </p:sp>
    </p:spTree>
    <p:extLst>
      <p:ext uri="{BB962C8B-B14F-4D97-AF65-F5344CB8AC3E}">
        <p14:creationId xmlns:p14="http://schemas.microsoft.com/office/powerpoint/2010/main" val="157521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9670BAE-AC5A-E7B1-8B77-953B9A31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AEC190AD-6FB4-5491-659A-B89A8AC50208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Modeli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višenitnih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programa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73BA004F-037A-543E-665B-B244A3ADB047}"/>
              </a:ext>
            </a:extLst>
          </p:cNvPr>
          <p:cNvSpPr txBox="1"/>
          <p:nvPr/>
        </p:nvSpPr>
        <p:spPr>
          <a:xfrm>
            <a:off x="1028159" y="1164240"/>
            <a:ext cx="7978681" cy="5445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rgbClr val="39C0BA"/>
                </a:solidFill>
                <a:latin typeface="Quicksand" panose="020B0604020202020204" charset="0"/>
              </a:rPr>
              <a:t>Najčešće paradigme paralelnog programiranja:</a:t>
            </a: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1. Upravitelj/radnik (master/slave):</a:t>
            </a: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- Jedna nit (glavna - upravitelj) dodjeljuje posao drugim nitima, statički ili dinamički skup radnika</a:t>
            </a:r>
            <a:endParaRPr lang="hr-HR" sz="18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2. Čvor, radna ekipa (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peer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workcrew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):</a:t>
            </a: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- Slično kao upravitelj/radnik, s tim da glavna nit nakon što rasporedi poslove također postaje radnik</a:t>
            </a:r>
            <a:endParaRPr lang="hr-HR" sz="18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3. 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Pipeline</a:t>
            </a:r>
            <a:endParaRPr lang="hr-HR" sz="18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- Zadatak razbijen na niz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podoperacija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koje se odrađuju u nizu, uz djelomično preklapanje izvršavanja s drugom niti</a:t>
            </a:r>
            <a:endParaRPr lang="hr-HR" sz="18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4. Proizvođač/potrošač (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/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):</a:t>
            </a:r>
          </a:p>
          <a:p>
            <a:pPr>
              <a:lnSpc>
                <a:spcPct val="150000"/>
              </a:lnSpc>
              <a:buClr>
                <a:schemeClr val="bg1"/>
              </a:buClr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- Dva (ili više) procesa koji dijele zajednički ciklički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međuspremnik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fiksne veličine</a:t>
            </a:r>
          </a:p>
        </p:txBody>
      </p:sp>
    </p:spTree>
    <p:extLst>
      <p:ext uri="{BB962C8B-B14F-4D97-AF65-F5344CB8AC3E}">
        <p14:creationId xmlns:p14="http://schemas.microsoft.com/office/powerpoint/2010/main" val="404294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FCDD0F3-7CE7-DDA9-9343-AF1CFB6B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9AA99506-40E4-8CBA-748E-BE8A32640C83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1. Upravitelj/radnik (master/slave)</a:t>
            </a:r>
            <a:endParaRPr lang="sv-SE" sz="2400" b="1" dirty="0"/>
          </a:p>
        </p:txBody>
      </p:sp>
      <p:sp>
        <p:nvSpPr>
          <p:cNvPr id="2" name="Google Shape;407;p76">
            <a:extLst>
              <a:ext uri="{FF2B5EF4-FFF2-40B4-BE49-F238E27FC236}">
                <a16:creationId xmlns:a16="http://schemas.microsoft.com/office/drawing/2014/main" id="{DE85610E-8895-2A15-3541-A7DBEEEC883F}"/>
              </a:ext>
            </a:extLst>
          </p:cNvPr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Često korištena paradigma kod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višenitnih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aplikacija</a:t>
            </a:r>
            <a:endParaRPr sz="20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0" indent="-3556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20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Centralizirano upravljanje, jedna nit (glavna) pridjeljuje poslove drugim nitima te akumulira rezultate</a:t>
            </a:r>
            <a:endParaRPr sz="20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Problem:</a:t>
            </a:r>
            <a:endParaRPr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-355600" algn="l" rtl="0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Identični račun mora se izvršiti više puta, ali s različitim ulaznim podacima, potrebno je akumulirati (i obraditi) pojedinačne rezultate svake niti</a:t>
            </a:r>
            <a:endParaRPr sz="24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-355600" algn="l" rtl="0"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Dva ili više različitih zadataka mogu se izvoditi istovremeno i kontinuirano (neovisno). Zadaci se izvode različitim brzinama</a:t>
            </a:r>
            <a:endParaRPr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405537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72A1B63-F015-B2D0-8C3D-37CBE038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A6839D23-CEB5-7E8E-46B6-1B95842CD0CE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1. Upravitelj/radnik (master/slave)</a:t>
            </a:r>
            <a:endParaRPr lang="sv-SE" sz="2400" b="1" dirty="0"/>
          </a:p>
        </p:txBody>
      </p:sp>
      <p:sp>
        <p:nvSpPr>
          <p:cNvPr id="3" name="Google Shape;413;p77">
            <a:extLst>
              <a:ext uri="{FF2B5EF4-FFF2-40B4-BE49-F238E27FC236}">
                <a16:creationId xmlns:a16="http://schemas.microsoft.com/office/drawing/2014/main" id="{5391654F-2D41-AF7A-8EFA-B6BD821D2B4E}"/>
              </a:ext>
            </a:extLst>
          </p:cNvPr>
          <p:cNvSpPr/>
          <p:nvPr/>
        </p:nvSpPr>
        <p:spPr>
          <a:xfrm>
            <a:off x="636264" y="1840186"/>
            <a:ext cx="5755392" cy="403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-3556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Svaka radna nit izvodi zadatak različitom (ili istom) brzinom</a:t>
            </a:r>
            <a:endParaRPr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0" indent="-3556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glavna nit kontrolira ostale i komunicira s njim putem osmišljenog komunikacijskog protokola (sinkronizacija i dijeljenje podataka)</a:t>
            </a:r>
            <a:endParaRPr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0" indent="-3556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Ukoliko su neke niti sporije od drugih (složeniji zadatak ili kompleksniji ulazni podaci), preostale niti ne čekaju.</a:t>
            </a:r>
            <a:endParaRPr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0" indent="-3556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Po završetku obrade, radne niti mogu preuzeti novi zadatak (ili se dinamički gase i stvaraju nove radne niti)</a:t>
            </a:r>
            <a:endParaRPr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E7CF13AA-9607-65A1-FFCD-FE130552ED3E}"/>
              </a:ext>
            </a:extLst>
          </p:cNvPr>
          <p:cNvSpPr txBox="1"/>
          <p:nvPr/>
        </p:nvSpPr>
        <p:spPr>
          <a:xfrm>
            <a:off x="1165318" y="1470854"/>
            <a:ext cx="7978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Jedna nit glavna (master), pridjeljuje zadatke ostalima (slaves):</a:t>
            </a:r>
            <a:endParaRPr lang="sv-SE"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050" name="Picture 2" descr="Master-Slave">
            <a:extLst>
              <a:ext uri="{FF2B5EF4-FFF2-40B4-BE49-F238E27FC236}">
                <a16:creationId xmlns:a16="http://schemas.microsoft.com/office/drawing/2014/main" id="{F4B20A84-9C62-8329-933F-06FFB7313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339" y="3634383"/>
            <a:ext cx="2961661" cy="195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35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CC03C4F-B53B-DB32-C088-FB6A29C4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4A4ED6C2-127F-60F1-9055-BEDD9BAB9348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1. Upravitelj/radnik (master/slave)</a:t>
            </a:r>
            <a:endParaRPr lang="sv-SE" sz="2400" b="1" dirty="0"/>
          </a:p>
        </p:txBody>
      </p:sp>
      <p:sp>
        <p:nvSpPr>
          <p:cNvPr id="3" name="Google Shape;413;p77">
            <a:extLst>
              <a:ext uri="{FF2B5EF4-FFF2-40B4-BE49-F238E27FC236}">
                <a16:creationId xmlns:a16="http://schemas.microsoft.com/office/drawing/2014/main" id="{9379C1F5-74EB-3970-205B-EC754E477163}"/>
              </a:ext>
            </a:extLst>
          </p:cNvPr>
          <p:cNvSpPr/>
          <p:nvPr/>
        </p:nvSpPr>
        <p:spPr>
          <a:xfrm>
            <a:off x="636264" y="1840186"/>
            <a:ext cx="7978682" cy="403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Paralelna i istovjetna obrada nekog skupa podataka (recimo dijelova slike ili različitih slika):</a:t>
            </a:r>
            <a:b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SPMD (Single Program </a:t>
            </a:r>
            <a:r>
              <a:rPr lang="hr-HR" sz="1800" b="1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Multiple</a:t>
            </a: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Data) taksonomija</a:t>
            </a:r>
          </a:p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Korisnička sučelja:</a:t>
            </a:r>
            <a:b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Master/slave arhitektura često se koristi za implementaciju korisničkih sučelja kod kojih je jedna radna nit zadužena za kontrolu sučelja i interakciju s korisnikom, uz istovremenu obradu podataka koju radi jedna ili više radnih niti. Glavna nit nadzire i koordinira rad svih radnih niti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B54182C4-9FE9-2FA3-AA1B-5813337417A8}"/>
              </a:ext>
            </a:extLst>
          </p:cNvPr>
          <p:cNvSpPr txBox="1"/>
          <p:nvPr/>
        </p:nvSpPr>
        <p:spPr>
          <a:xfrm>
            <a:off x="1165318" y="1470854"/>
            <a:ext cx="7978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Primjena:</a:t>
            </a:r>
            <a:endParaRPr lang="sv-SE"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357058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86653120-1C3E-95C7-F177-6E3A872B2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FEE92AE7-6058-BAF8-14E6-D547CFD208AF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1. Upravitelj/radnik (master/slave)</a:t>
            </a:r>
            <a:endParaRPr lang="sv-SE" sz="2400" b="1" dirty="0"/>
          </a:p>
        </p:txBody>
      </p:sp>
      <p:sp>
        <p:nvSpPr>
          <p:cNvPr id="3" name="Google Shape;413;p77">
            <a:extLst>
              <a:ext uri="{FF2B5EF4-FFF2-40B4-BE49-F238E27FC236}">
                <a16:creationId xmlns:a16="http://schemas.microsoft.com/office/drawing/2014/main" id="{3E38736C-1696-4697-1998-3FD9609FB17F}"/>
              </a:ext>
            </a:extLst>
          </p:cNvPr>
          <p:cNvSpPr/>
          <p:nvPr/>
        </p:nvSpPr>
        <p:spPr>
          <a:xfrm>
            <a:off x="636264" y="1840186"/>
            <a:ext cx="7978682" cy="158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Jednostavno upravljanje - centralizirana kontrola</a:t>
            </a:r>
          </a:p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Lako balansiranje opterećenja</a:t>
            </a:r>
          </a:p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nn-NO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Fleksibilnost - broj radnika može varirati</a:t>
            </a:r>
            <a:endParaRPr lang="hr-HR"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Master može dodjeljivati poslove dinamički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646DD00D-1B6E-2E01-A3C2-A3B41E3B042F}"/>
              </a:ext>
            </a:extLst>
          </p:cNvPr>
          <p:cNvSpPr txBox="1"/>
          <p:nvPr/>
        </p:nvSpPr>
        <p:spPr>
          <a:xfrm>
            <a:off x="1165318" y="1470854"/>
            <a:ext cx="7978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Prednosti:</a:t>
            </a:r>
            <a:endParaRPr lang="sv-SE"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E6267918-6291-D3BE-C408-1FE95CB34ACB}"/>
              </a:ext>
            </a:extLst>
          </p:cNvPr>
          <p:cNvSpPr txBox="1"/>
          <p:nvPr/>
        </p:nvSpPr>
        <p:spPr>
          <a:xfrm>
            <a:off x="1165318" y="3735614"/>
            <a:ext cx="7978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Nedostatci:</a:t>
            </a:r>
            <a:endParaRPr lang="sv-SE"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" name="Google Shape;413;p77">
            <a:extLst>
              <a:ext uri="{FF2B5EF4-FFF2-40B4-BE49-F238E27FC236}">
                <a16:creationId xmlns:a16="http://schemas.microsoft.com/office/drawing/2014/main" id="{DD2853DB-838B-48EB-0983-B59C03156436}"/>
              </a:ext>
            </a:extLst>
          </p:cNvPr>
          <p:cNvSpPr/>
          <p:nvPr/>
        </p:nvSpPr>
        <p:spPr>
          <a:xfrm>
            <a:off x="636264" y="4022554"/>
            <a:ext cx="7978682" cy="158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Master može postati </a:t>
            </a:r>
            <a:r>
              <a:rPr lang="hr-HR" sz="1800" b="1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bottleneck</a:t>
            </a:r>
            <a:endParaRPr lang="hr-HR"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Ako master padne - cijeli sustav pada</a:t>
            </a:r>
          </a:p>
          <a:p>
            <a:pPr marL="914400" lvl="0" indent="-355600">
              <a:spcBef>
                <a:spcPts val="601"/>
              </a:spcBef>
              <a:buClr>
                <a:srgbClr val="FFFFFF"/>
              </a:buClr>
              <a:buSzPts val="2000"/>
              <a:buFont typeface="Quicksand"/>
              <a:buChar char="●"/>
            </a:pPr>
            <a:r>
              <a:rPr lang="nn-NO" sz="1800" b="1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Overhead komunikacije s masterom</a:t>
            </a:r>
            <a:endParaRPr lang="hr-HR" sz="18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89202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5DE1931-351F-4AE3-9728-7695016B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006CD551-0A2D-3727-9E0F-805F43E8CEE1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1. Upravitelj/radnik (master/slave)</a:t>
            </a:r>
            <a:endParaRPr lang="sv-SE" sz="2400" b="1" dirty="0"/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50DC72A1-9D3F-3B94-61C8-1D2A6C145F50}"/>
              </a:ext>
            </a:extLst>
          </p:cNvPr>
          <p:cNvSpPr txBox="1"/>
          <p:nvPr/>
        </p:nvSpPr>
        <p:spPr>
          <a:xfrm>
            <a:off x="923544" y="1164240"/>
            <a:ext cx="82204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* master(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// Stvori radne niti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for(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NUM_WORKERS; i++) {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pthread_create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workers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[i], NULL, slave, 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tasks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[i]);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// Čekaj rezultate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for(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i = 0; i &lt; NUM_WORKERS; i++) {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pthread_join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workers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[i], &amp;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results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[i]);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// Akumuliraj rezultate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aggregate_results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results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* slave(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// Obradi zadatak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process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result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07109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E3984BE-6CD7-2CD9-B01B-06F84E76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F02068B9-765A-5314-3808-92063C834E0B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Radna ekipa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workcrew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lang="sv-SE" sz="2400" b="1" dirty="0"/>
          </a:p>
        </p:txBody>
      </p:sp>
      <p:sp>
        <p:nvSpPr>
          <p:cNvPr id="2" name="Google Shape;425;p79">
            <a:extLst>
              <a:ext uri="{FF2B5EF4-FFF2-40B4-BE49-F238E27FC236}">
                <a16:creationId xmlns:a16="http://schemas.microsoft.com/office/drawing/2014/main" id="{6BFD9229-5E4F-178C-0035-ED2C0F81F42D}"/>
              </a:ext>
            </a:extLst>
          </p:cNvPr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Jedna nit stvara sve preostale niti na početku izvršavanja</a:t>
            </a:r>
            <a:endParaRPr sz="20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Svaki čvor preuzima svoj dio problema (unaprijed zna svoj zadatak i podatke, ili način na koji podatke može dohvatiti)</a:t>
            </a:r>
          </a:p>
          <a:p>
            <a:pPr marL="457200" lvl="0" indent="-381000"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Statička raspodjela posla</a:t>
            </a:r>
            <a:endParaRPr sz="20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0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Sve niti izvršavaju se istovremeno bez lidera</a:t>
            </a:r>
            <a:endParaRPr sz="20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Prikladno za probleme kod kojih je unaprijed poznat i dobro definiran skup ulaznih podataka koji se može ravnomjerno raspodijeliti po nitima (matrične operacije, pretraživanja, generatori podataka, …)</a:t>
            </a:r>
            <a:r>
              <a:rPr lang="hr-HR" sz="20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20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300210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95F5CDF0-CAFD-9D18-27A2-EFF9062E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BD882ADE-FD7D-1635-FD4E-CD20FE24F898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Radna ekipa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workcrew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lang="sv-SE" sz="2400" b="1" dirty="0"/>
          </a:p>
        </p:txBody>
      </p:sp>
      <p:sp>
        <p:nvSpPr>
          <p:cNvPr id="2" name="Google Shape;425;p79">
            <a:extLst>
              <a:ext uri="{FF2B5EF4-FFF2-40B4-BE49-F238E27FC236}">
                <a16:creationId xmlns:a16="http://schemas.microsoft.com/office/drawing/2014/main" id="{1962C034-2C54-1398-97D7-D8F43D7F5FE0}"/>
              </a:ext>
            </a:extLst>
          </p:cNvPr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</a:pPr>
            <a:endParaRPr sz="20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4F04A1B2-2872-B58C-FDC9-D1024B90ACD5}"/>
              </a:ext>
            </a:extLst>
          </p:cNvPr>
          <p:cNvSpPr txBox="1"/>
          <p:nvPr/>
        </p:nvSpPr>
        <p:spPr>
          <a:xfrm>
            <a:off x="1141253" y="1234440"/>
            <a:ext cx="3430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000" b="1" dirty="0">
                <a:solidFill>
                  <a:srgbClr val="39C0BA"/>
                </a:solidFill>
                <a:latin typeface="Quicksand" panose="020B0604020202020204" charset="0"/>
              </a:rPr>
              <a:t>Primjer: Množenje matrica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5DE79DA2-8F4F-6081-49F6-64F15708C102}"/>
              </a:ext>
            </a:extLst>
          </p:cNvPr>
          <p:cNvSpPr txBox="1"/>
          <p:nvPr/>
        </p:nvSpPr>
        <p:spPr>
          <a:xfrm>
            <a:off x="1165318" y="1768110"/>
            <a:ext cx="73004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worker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= *(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*)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start_row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* (N / NUM_THREADS);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end_row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= 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+ 1) * (N / NUM_THREADS);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// Svaka nit računa svoje redove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for(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i =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start_row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; i &lt;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end_row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for(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j = 0; j &lt; N; j++) {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    C[i][j] = 0;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    for(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k = 0; k &lt; N; k++) {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C[i][j] += A[i][k] * B[k][j];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 NULL;</a:t>
            </a:r>
          </a:p>
          <a:p>
            <a:r>
              <a:rPr lang="hr-HR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9766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D941A61-CD7E-1A21-3E82-16DAFE95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059633AD-DC66-98F5-6EF7-0DB91B76BFE8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Pipeline</a:t>
            </a:r>
            <a:endParaRPr lang="sv-SE" sz="2400" b="1" dirty="0"/>
          </a:p>
        </p:txBody>
      </p:sp>
      <p:sp>
        <p:nvSpPr>
          <p:cNvPr id="2" name="Google Shape;425;p79">
            <a:extLst>
              <a:ext uri="{FF2B5EF4-FFF2-40B4-BE49-F238E27FC236}">
                <a16:creationId xmlns:a16="http://schemas.microsoft.com/office/drawing/2014/main" id="{2FEA7FD8-85D4-D73B-B26E-A76A48E17E69}"/>
              </a:ext>
            </a:extLst>
          </p:cNvPr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</a:pPr>
            <a:endParaRPr sz="20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6C0169F5-FA59-5A96-E2DC-5FD5F619D79C}"/>
              </a:ext>
            </a:extLst>
          </p:cNvPr>
          <p:cNvSpPr txBox="1"/>
          <p:nvPr/>
        </p:nvSpPr>
        <p:spPr>
          <a:xfrm>
            <a:off x="1038600" y="1539440"/>
            <a:ext cx="75410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81000">
              <a:buClr>
                <a:srgbClr val="39C0BA"/>
              </a:buClr>
              <a:buSzPct val="90000"/>
              <a:buFont typeface="Quicksand"/>
              <a:buChar char="●"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Dugačak slijed ulaznih podataka</a:t>
            </a:r>
          </a:p>
          <a:p>
            <a:pPr marL="457200" lvl="0" indent="-381000">
              <a:buClr>
                <a:srgbClr val="39C0BA"/>
              </a:buClr>
              <a:buSzPct val="90000"/>
              <a:buFont typeface="Quicksand"/>
              <a:buChar char="●"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Svaki podatak (blok podataka) obrađuje se nizom 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podoperacija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(filteri)</a:t>
            </a:r>
          </a:p>
          <a:p>
            <a:pPr marL="457200" lvl="0" indent="-381000">
              <a:buClr>
                <a:srgbClr val="39C0BA"/>
              </a:buClr>
              <a:buSzPct val="90000"/>
              <a:buFont typeface="Quicksand"/>
              <a:buChar char="●"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Svaka nit = jedna faza u cjevovodu (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pipeline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stage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marL="457200" lvl="0" indent="-381000">
              <a:buClr>
                <a:srgbClr val="39C0BA"/>
              </a:buClr>
              <a:buSzPct val="90000"/>
              <a:buFont typeface="Quicksand"/>
              <a:buChar char="●"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Svaka faza obrade (svaki filter) može nezavisno od drugih faza obrađivati trenutni podatak </a:t>
            </a:r>
          </a:p>
          <a:p>
            <a:pPr marL="914400" lvl="1" indent="-355600">
              <a:buClr>
                <a:schemeClr val="lt1"/>
              </a:buClr>
              <a:buSzPct val="90000"/>
              <a:buFont typeface="Quicksand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svaka nit radi na podacima koje je obradila nit koja prethodi (prethodna faza) i predaje ih sljedećoj niti (sljedeća faza)</a:t>
            </a:r>
          </a:p>
          <a:p>
            <a:pPr marL="457200" lvl="0" indent="-355600">
              <a:buClr>
                <a:schemeClr val="lt1"/>
              </a:buClr>
              <a:buSzPct val="90000"/>
              <a:buFont typeface="Quicksand"/>
              <a:buChar char="●"/>
            </a:pPr>
            <a:r>
              <a:rPr lang="hr-HR" sz="1800" b="1" u="sng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Važno: pravilno balansiranje opterećenja</a:t>
            </a:r>
            <a:b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Ukoliko posao nije ravnomjerno raspoređen, niti sa složenijom (sporijom) obradom mogu uzrokovati blokiranje cijelog cjevovoda</a:t>
            </a:r>
          </a:p>
        </p:txBody>
      </p:sp>
    </p:spTree>
    <p:extLst>
      <p:ext uri="{BB962C8B-B14F-4D97-AF65-F5344CB8AC3E}">
        <p14:creationId xmlns:p14="http://schemas.microsoft.com/office/powerpoint/2010/main" val="11117006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8FEA2D9B-A37D-C334-BC18-115C9EFA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842FF893-71D5-5CCE-55C7-FDF006D25724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Pipeline</a:t>
            </a:r>
            <a:endParaRPr lang="sv-SE" sz="2400" b="1" dirty="0"/>
          </a:p>
        </p:txBody>
      </p:sp>
      <p:sp>
        <p:nvSpPr>
          <p:cNvPr id="2" name="Google Shape;425;p79">
            <a:extLst>
              <a:ext uri="{FF2B5EF4-FFF2-40B4-BE49-F238E27FC236}">
                <a16:creationId xmlns:a16="http://schemas.microsoft.com/office/drawing/2014/main" id="{D1CCF0A4-98DD-C3FC-7817-6CA90BB037DE}"/>
              </a:ext>
            </a:extLst>
          </p:cNvPr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</a:pPr>
            <a:endParaRPr sz="2000" b="1" dirty="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" name="Pravokutnik 3">
            <a:extLst>
              <a:ext uri="{FF2B5EF4-FFF2-40B4-BE49-F238E27FC236}">
                <a16:creationId xmlns:a16="http://schemas.microsoft.com/office/drawing/2014/main" id="{25DC248A-CC98-18D6-B382-6FA25C176157}"/>
              </a:ext>
            </a:extLst>
          </p:cNvPr>
          <p:cNvSpPr/>
          <p:nvPr/>
        </p:nvSpPr>
        <p:spPr>
          <a:xfrm>
            <a:off x="1680972" y="1490472"/>
            <a:ext cx="1545336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600" b="1" dirty="0" err="1"/>
              <a:t>Stage</a:t>
            </a:r>
            <a:r>
              <a:rPr lang="hr-HR" sz="1600" b="1" dirty="0"/>
              <a:t> 1</a:t>
            </a:r>
          </a:p>
          <a:p>
            <a:pPr algn="ctr"/>
            <a:r>
              <a:rPr lang="hr-HR" sz="1600" b="1" dirty="0"/>
              <a:t>(</a:t>
            </a:r>
            <a:r>
              <a:rPr lang="hr-HR" sz="1600" b="1" dirty="0" err="1"/>
              <a:t>Thread</a:t>
            </a:r>
            <a:r>
              <a:rPr lang="hr-HR" sz="1600" b="1" dirty="0"/>
              <a:t> 1)</a:t>
            </a:r>
          </a:p>
        </p:txBody>
      </p:sp>
      <p:sp>
        <p:nvSpPr>
          <p:cNvPr id="5" name="Pravokutnik 4">
            <a:extLst>
              <a:ext uri="{FF2B5EF4-FFF2-40B4-BE49-F238E27FC236}">
                <a16:creationId xmlns:a16="http://schemas.microsoft.com/office/drawing/2014/main" id="{80A0E50D-64AA-EF5E-8072-09DD69DBEBFA}"/>
              </a:ext>
            </a:extLst>
          </p:cNvPr>
          <p:cNvSpPr/>
          <p:nvPr/>
        </p:nvSpPr>
        <p:spPr>
          <a:xfrm>
            <a:off x="4141470" y="1490472"/>
            <a:ext cx="1545336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600" b="1" dirty="0" err="1"/>
              <a:t>Stage</a:t>
            </a:r>
            <a:r>
              <a:rPr lang="hr-HR" sz="1600" b="1" dirty="0"/>
              <a:t> 2</a:t>
            </a:r>
          </a:p>
          <a:p>
            <a:pPr algn="ctr"/>
            <a:r>
              <a:rPr lang="hr-HR" sz="1600" b="1" dirty="0"/>
              <a:t>(</a:t>
            </a:r>
            <a:r>
              <a:rPr lang="hr-HR" sz="1600" b="1" dirty="0" err="1"/>
              <a:t>Thread</a:t>
            </a:r>
            <a:r>
              <a:rPr lang="hr-HR" sz="1600" b="1" dirty="0"/>
              <a:t> 2)</a:t>
            </a:r>
          </a:p>
        </p:txBody>
      </p:sp>
      <p:sp>
        <p:nvSpPr>
          <p:cNvPr id="6" name="Pravokutnik 5">
            <a:extLst>
              <a:ext uri="{FF2B5EF4-FFF2-40B4-BE49-F238E27FC236}">
                <a16:creationId xmlns:a16="http://schemas.microsoft.com/office/drawing/2014/main" id="{57F7C2AC-8073-43CB-515F-1B790B03B854}"/>
              </a:ext>
            </a:extLst>
          </p:cNvPr>
          <p:cNvSpPr/>
          <p:nvPr/>
        </p:nvSpPr>
        <p:spPr>
          <a:xfrm>
            <a:off x="6601968" y="1490472"/>
            <a:ext cx="1545336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600" b="1" dirty="0" err="1"/>
              <a:t>Stage</a:t>
            </a:r>
            <a:r>
              <a:rPr lang="hr-HR" sz="1600" b="1" dirty="0"/>
              <a:t> 3</a:t>
            </a:r>
          </a:p>
          <a:p>
            <a:pPr algn="ctr"/>
            <a:r>
              <a:rPr lang="hr-HR" sz="1600" b="1" dirty="0"/>
              <a:t>(</a:t>
            </a:r>
            <a:r>
              <a:rPr lang="hr-HR" sz="1600" b="1" dirty="0" err="1"/>
              <a:t>Thread</a:t>
            </a:r>
            <a:r>
              <a:rPr lang="hr-HR" sz="1600" b="1" dirty="0"/>
              <a:t> 3)</a:t>
            </a:r>
          </a:p>
        </p:txBody>
      </p:sp>
      <p:cxnSp>
        <p:nvCxnSpPr>
          <p:cNvPr id="8" name="Ravni poveznik sa strelicom 7">
            <a:extLst>
              <a:ext uri="{FF2B5EF4-FFF2-40B4-BE49-F238E27FC236}">
                <a16:creationId xmlns:a16="http://schemas.microsoft.com/office/drawing/2014/main" id="{71A92883-C693-FD10-259B-96DB8B24F6F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84276" y="1901952"/>
            <a:ext cx="99669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avni poveznik sa strelicom 9">
            <a:extLst>
              <a:ext uri="{FF2B5EF4-FFF2-40B4-BE49-F238E27FC236}">
                <a16:creationId xmlns:a16="http://schemas.microsoft.com/office/drawing/2014/main" id="{28BCCB56-E248-4BF3-27F7-84D5260EF4A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226308" y="1901952"/>
            <a:ext cx="91516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vni poveznik sa strelicom 12">
            <a:extLst>
              <a:ext uri="{FF2B5EF4-FFF2-40B4-BE49-F238E27FC236}">
                <a16:creationId xmlns:a16="http://schemas.microsoft.com/office/drawing/2014/main" id="{E904395C-52D2-367D-D83C-7999BCCBC3C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686806" y="1901952"/>
            <a:ext cx="91516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avni poveznik sa strelicom 15">
            <a:extLst>
              <a:ext uri="{FF2B5EF4-FFF2-40B4-BE49-F238E27FC236}">
                <a16:creationId xmlns:a16="http://schemas.microsoft.com/office/drawing/2014/main" id="{CBB7A245-2894-6929-079A-4E36BCF9158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147304" y="1901952"/>
            <a:ext cx="99669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kstniOkvir 17">
            <a:extLst>
              <a:ext uri="{FF2B5EF4-FFF2-40B4-BE49-F238E27FC236}">
                <a16:creationId xmlns:a16="http://schemas.microsoft.com/office/drawing/2014/main" id="{C54CDAD0-2442-135D-4C36-9E3AD8C55428}"/>
              </a:ext>
            </a:extLst>
          </p:cNvPr>
          <p:cNvSpPr txBox="1"/>
          <p:nvPr/>
        </p:nvSpPr>
        <p:spPr>
          <a:xfrm>
            <a:off x="817226" y="194410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Ulaz</a:t>
            </a:r>
          </a:p>
        </p:txBody>
      </p:sp>
      <p:sp>
        <p:nvSpPr>
          <p:cNvPr id="21" name="TekstniOkvir 20">
            <a:extLst>
              <a:ext uri="{FF2B5EF4-FFF2-40B4-BE49-F238E27FC236}">
                <a16:creationId xmlns:a16="http://schemas.microsoft.com/office/drawing/2014/main" id="{874464C5-0601-4B09-EC9B-7AF285007C43}"/>
              </a:ext>
            </a:extLst>
          </p:cNvPr>
          <p:cNvSpPr txBox="1"/>
          <p:nvPr/>
        </p:nvSpPr>
        <p:spPr>
          <a:xfrm>
            <a:off x="8267727" y="194867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Izlaz</a:t>
            </a:r>
          </a:p>
        </p:txBody>
      </p:sp>
      <p:sp>
        <p:nvSpPr>
          <p:cNvPr id="23" name="TekstniOkvir 22">
            <a:extLst>
              <a:ext uri="{FF2B5EF4-FFF2-40B4-BE49-F238E27FC236}">
                <a16:creationId xmlns:a16="http://schemas.microsoft.com/office/drawing/2014/main" id="{72BA327E-EE54-0921-A947-38EE0B1368D2}"/>
              </a:ext>
            </a:extLst>
          </p:cNvPr>
          <p:cNvSpPr txBox="1"/>
          <p:nvPr/>
        </p:nvSpPr>
        <p:spPr>
          <a:xfrm>
            <a:off x="945366" y="4751048"/>
            <a:ext cx="72587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Kako podaci "teku" kroz </a:t>
            </a:r>
            <a:r>
              <a:rPr lang="hr-HR" sz="1800" dirty="0" err="1">
                <a:solidFill>
                  <a:schemeClr val="bg1"/>
                </a:solidFill>
              </a:rPr>
              <a:t>pipeline</a:t>
            </a:r>
            <a:r>
              <a:rPr lang="hr-HR" sz="1800" dirty="0">
                <a:solidFill>
                  <a:schemeClr val="bg1"/>
                </a:solidFill>
              </a:rPr>
              <a:t>:</a:t>
            </a:r>
          </a:p>
          <a:p>
            <a:r>
              <a:rPr lang="hr-HR" sz="1800" dirty="0">
                <a:solidFill>
                  <a:schemeClr val="bg1"/>
                </a:solidFill>
              </a:rPr>
              <a:t>Vrijeme 1: [A] ─────&gt; □ ─────&gt; □ </a:t>
            </a:r>
          </a:p>
          <a:p>
            <a:r>
              <a:rPr lang="hr-HR" sz="1800" dirty="0">
                <a:solidFill>
                  <a:schemeClr val="bg1"/>
                </a:solidFill>
              </a:rPr>
              <a:t>Vrijeme 2: [B] ─────&gt; [A] ────&gt; □ </a:t>
            </a:r>
          </a:p>
          <a:p>
            <a:r>
              <a:rPr lang="hr-HR" sz="1800" dirty="0">
                <a:solidFill>
                  <a:schemeClr val="bg1"/>
                </a:solidFill>
              </a:rPr>
              <a:t>Vrijeme 3: [C] ─────&gt; [B] ────&gt; [A] </a:t>
            </a:r>
          </a:p>
          <a:p>
            <a:r>
              <a:rPr lang="hr-HR" sz="1800" dirty="0">
                <a:solidFill>
                  <a:schemeClr val="bg1"/>
                </a:solidFill>
              </a:rPr>
              <a:t>Vrijeme 4: [D] ─────&gt; [C] ────&gt; [B] ← Svi </a:t>
            </a:r>
            <a:r>
              <a:rPr lang="hr-HR" sz="1800" dirty="0" err="1">
                <a:solidFill>
                  <a:schemeClr val="bg1"/>
                </a:solidFill>
              </a:rPr>
              <a:t>stage</a:t>
            </a:r>
            <a:r>
              <a:rPr lang="hr-HR" sz="1800" dirty="0">
                <a:solidFill>
                  <a:schemeClr val="bg1"/>
                </a:solidFill>
              </a:rPr>
              <a:t>-ovi aktivni</a:t>
            </a:r>
          </a:p>
        </p:txBody>
      </p:sp>
      <p:sp>
        <p:nvSpPr>
          <p:cNvPr id="25" name="TekstniOkvir 24">
            <a:extLst>
              <a:ext uri="{FF2B5EF4-FFF2-40B4-BE49-F238E27FC236}">
                <a16:creationId xmlns:a16="http://schemas.microsoft.com/office/drawing/2014/main" id="{1EAC2E6C-E2A5-15B8-EC43-A330375D6FEE}"/>
              </a:ext>
            </a:extLst>
          </p:cNvPr>
          <p:cNvSpPr txBox="1"/>
          <p:nvPr/>
        </p:nvSpPr>
        <p:spPr>
          <a:xfrm>
            <a:off x="442107" y="2843784"/>
            <a:ext cx="87018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T1: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1 obrađuje podatak A (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2 i 3 čekaju) </a:t>
            </a:r>
          </a:p>
          <a:p>
            <a:r>
              <a:rPr lang="hr-HR" sz="1800" b="1" dirty="0">
                <a:solidFill>
                  <a:schemeClr val="bg1"/>
                </a:solidFill>
              </a:rPr>
              <a:t>T2: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1 završio A → prosljeđuje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2 → počinje obrađivati B</a:t>
            </a:r>
          </a:p>
          <a:p>
            <a:r>
              <a:rPr lang="hr-HR" sz="1800" b="1" dirty="0">
                <a:solidFill>
                  <a:schemeClr val="bg1"/>
                </a:solidFill>
              </a:rPr>
              <a:t>     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2 počinje obrađivati A (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3 čeka) </a:t>
            </a:r>
          </a:p>
          <a:p>
            <a:r>
              <a:rPr lang="hr-HR" sz="1800" b="1" dirty="0">
                <a:solidFill>
                  <a:schemeClr val="bg1"/>
                </a:solidFill>
              </a:rPr>
              <a:t>T3: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1 obrađuje C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2 obrađuje B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3 počinje obrađivati A </a:t>
            </a:r>
          </a:p>
          <a:p>
            <a:r>
              <a:rPr lang="hr-HR" sz="1800" b="1" dirty="0">
                <a:solidFill>
                  <a:schemeClr val="bg1"/>
                </a:solidFill>
              </a:rPr>
              <a:t>T4: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1 obrađuje D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2 obrađuje C </a:t>
            </a:r>
            <a:r>
              <a:rPr lang="hr-HR" sz="1800" b="1" dirty="0" err="1">
                <a:solidFill>
                  <a:schemeClr val="bg1"/>
                </a:solidFill>
              </a:rPr>
              <a:t>Stage</a:t>
            </a:r>
            <a:r>
              <a:rPr lang="hr-HR" sz="1800" b="1" dirty="0">
                <a:solidFill>
                  <a:schemeClr val="bg1"/>
                </a:solidFill>
              </a:rPr>
              <a:t> 3 obrađuje B ← Sada je sve aktivno!</a:t>
            </a:r>
          </a:p>
        </p:txBody>
      </p:sp>
    </p:spTree>
    <p:extLst>
      <p:ext uri="{BB962C8B-B14F-4D97-AF65-F5344CB8AC3E}">
        <p14:creationId xmlns:p14="http://schemas.microsoft.com/office/powerpoint/2010/main" val="269139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9AD87AA4-380B-5BC4-293E-044AF3026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0A7CA30C-EB26-16C4-32E5-4BB466AD002B}"/>
              </a:ext>
            </a:extLst>
          </p:cNvPr>
          <p:cNvSpPr txBox="1"/>
          <p:nvPr/>
        </p:nvSpPr>
        <p:spPr>
          <a:xfrm rot="16200000">
            <a:off x="-1041679" y="3199140"/>
            <a:ext cx="3212101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Pipeline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primjer</a:t>
            </a:r>
            <a:endParaRPr lang="sv-SE" sz="2400" b="1" dirty="0"/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0DE35C23-74F7-E31A-133D-2737CDC4D5F3}"/>
              </a:ext>
            </a:extLst>
          </p:cNvPr>
          <p:cNvSpPr txBox="1"/>
          <p:nvPr/>
        </p:nvSpPr>
        <p:spPr>
          <a:xfrm>
            <a:off x="1271015" y="551289"/>
            <a:ext cx="828446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// Tri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stage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-a - tri niti</a:t>
            </a:r>
          </a:p>
          <a:p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* stage1_read(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has_data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data =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read_input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(queue1, data);  // Prosljeđuje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Stage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2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* stage2_process(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data =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(queue1);      // Prima od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Stage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1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processed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process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(data);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(queue2,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processed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);  // Prosljeđuje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Stage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3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* stage3_write(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arg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data =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(queue2);  // Prima od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Stage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2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write_output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(data);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0974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8B32078-5CDE-ADBB-A415-E32F121F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D974269A-E544-B658-9F1C-452390829D03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Pipeline</a:t>
            </a:r>
            <a:endParaRPr lang="sv-SE" sz="2400" b="1" dirty="0"/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39EF9CD3-7885-420F-4CCD-5FDDF41B5F1B}"/>
              </a:ext>
            </a:extLst>
          </p:cNvPr>
          <p:cNvSpPr txBox="1"/>
          <p:nvPr/>
        </p:nvSpPr>
        <p:spPr>
          <a:xfrm>
            <a:off x="1165318" y="4850320"/>
            <a:ext cx="75169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Primjena: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Procesiranje video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streama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(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read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decode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process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encode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write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)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Obrada slika (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load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filter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enhance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compress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save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) 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Mrežni paketi (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receive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parse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process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→ format →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send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)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F72D861F-0F6C-797A-254E-FE215775B807}"/>
              </a:ext>
            </a:extLst>
          </p:cNvPr>
          <p:cNvSpPr txBox="1"/>
          <p:nvPr/>
        </p:nvSpPr>
        <p:spPr>
          <a:xfrm>
            <a:off x="1165318" y="1576119"/>
            <a:ext cx="75986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Prednosti: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Visoka propusnost ako je dobro balansirano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Svaka faza može raditi na svom podatku istovremeno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Prirodna dekompozicija problema na faze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Lako dodavanje novih faza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None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Nedostatci: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Složeno balansiranje - najsporija faza usporava sve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Overhead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prosljeđivanja podataka između niti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Ako jedna faza padne - cijeli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pipeline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staje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Latencija - prvi podatak mora proći kroz sve faze</a:t>
            </a:r>
          </a:p>
        </p:txBody>
      </p:sp>
    </p:spTree>
    <p:extLst>
      <p:ext uri="{BB962C8B-B14F-4D97-AF65-F5344CB8AC3E}">
        <p14:creationId xmlns:p14="http://schemas.microsoft.com/office/powerpoint/2010/main" val="139435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BC2174E-09A6-E2EA-FA2D-418AAE1AA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FB10F40C-9E57-DC87-4EE7-E3979057D914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Proizvođač/potrošač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/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lang="sv-SE" sz="2400" b="1" dirty="0"/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009318E6-53F9-2B73-5925-863EF809323D}"/>
              </a:ext>
            </a:extLst>
          </p:cNvPr>
          <p:cNvSpPr txBox="1"/>
          <p:nvPr/>
        </p:nvSpPr>
        <p:spPr>
          <a:xfrm>
            <a:off x="1165319" y="1524528"/>
            <a:ext cx="7040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Karakteristike: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Dva tipa niti: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Producer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(proizvođač) 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Consumer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(potrošač)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Dijele zajednički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buffer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(red čekanja) fiksne veličine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Producer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dodaje podatke u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buffer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Consumer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uzima podatke iz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buffera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Asinhrona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komunikacija</a:t>
            </a:r>
          </a:p>
        </p:txBody>
      </p:sp>
      <p:sp>
        <p:nvSpPr>
          <p:cNvPr id="3" name="Google Shape;437;p81">
            <a:extLst>
              <a:ext uri="{FF2B5EF4-FFF2-40B4-BE49-F238E27FC236}">
                <a16:creationId xmlns:a16="http://schemas.microsoft.com/office/drawing/2014/main" id="{576C8641-8936-B50E-906A-EC33D3C0E685}"/>
              </a:ext>
            </a:extLst>
          </p:cNvPr>
          <p:cNvSpPr/>
          <p:nvPr/>
        </p:nvSpPr>
        <p:spPr>
          <a:xfrm>
            <a:off x="1165319" y="3540787"/>
            <a:ext cx="7300500" cy="298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u="sng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Najjednostavniji slučaj: 1 </a:t>
            </a:r>
            <a:r>
              <a:rPr lang="hr-HR" sz="1800" b="1" u="sng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1800" b="1" u="sng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i 1 </a:t>
            </a:r>
            <a:r>
              <a:rPr lang="hr-HR" sz="1800" b="1" u="sng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1800" b="1" u="sng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  <a:endParaRPr sz="1800" b="1" u="sng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dodaje podatke u red čekanja (u zajednički 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bufer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18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Ukoliko je red pun,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ide u stanje mirovanja (ili odbacuje podatak)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kada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ukloni podatak iz reda, šalje notifikaciju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produceru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čita podatke i briše ih iz 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buffera</a:t>
            </a:r>
            <a:endParaRPr sz="18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Ukoliko je red prazan,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ide u stanje mirovanja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Kada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18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doda sljedeći podatak u red, šalje notifikaciju </a:t>
            </a:r>
            <a:r>
              <a:rPr lang="hr-HR" sz="18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consumeru</a:t>
            </a:r>
            <a:endParaRPr sz="18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35538667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1EBC760-86CB-54DA-A270-0197FA14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7617880A-AE61-452B-7CF1-C81A58054EC2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Proizvođač/potrošač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/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lang="sv-SE" sz="2400" b="1" dirty="0"/>
          </a:p>
        </p:txBody>
      </p:sp>
      <p:pic>
        <p:nvPicPr>
          <p:cNvPr id="4" name="Google Shape;443;p82">
            <a:extLst>
              <a:ext uri="{FF2B5EF4-FFF2-40B4-BE49-F238E27FC236}">
                <a16:creationId xmlns:a16="http://schemas.microsoft.com/office/drawing/2014/main" id="{4635CD14-7664-EEE9-DCF5-64BDC556E90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320" y="1164240"/>
            <a:ext cx="6309360" cy="3837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CF6C4780-F4EF-3238-07DF-63F34FD9FE6B}"/>
              </a:ext>
            </a:extLst>
          </p:cNvPr>
          <p:cNvSpPr txBox="1"/>
          <p:nvPr/>
        </p:nvSpPr>
        <p:spPr>
          <a:xfrm>
            <a:off x="1165319" y="5134237"/>
            <a:ext cx="75169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Producer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Ako je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buffer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pun → čeka (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sleep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) ili odbacuje podatak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Dodaje podatak i šalje signal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Consumer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-u</a:t>
            </a:r>
          </a:p>
          <a:p>
            <a:pPr>
              <a:buNone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Consumer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Ako je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buffer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prazan → čeka (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sleep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Uzima podatak i šalje signal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Producer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-u</a:t>
            </a:r>
          </a:p>
        </p:txBody>
      </p:sp>
    </p:spTree>
    <p:extLst>
      <p:ext uri="{BB962C8B-B14F-4D97-AF65-F5344CB8AC3E}">
        <p14:creationId xmlns:p14="http://schemas.microsoft.com/office/powerpoint/2010/main" val="8979578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91F7E854-4189-C8A7-5940-8EDADFF5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14435B62-A1E9-9D6B-CC4A-A0F8E0C5E5F2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Proizvođač/potrošač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/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lang="sv-SE" sz="2400" b="1" dirty="0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69C5174-ED8B-4DDC-3C1C-27D029853CA9}"/>
              </a:ext>
            </a:extLst>
          </p:cNvPr>
          <p:cNvSpPr txBox="1"/>
          <p:nvPr/>
        </p:nvSpPr>
        <p:spPr>
          <a:xfrm>
            <a:off x="1165319" y="1394341"/>
            <a:ext cx="75169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Prednosti: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Decoupling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-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producer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consumer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nezavisni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Producer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consumer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mogu raditi različitom brzinom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Buffer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omogućava apsorpciju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burst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-ova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Nedostatci: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Složena sinkronizacija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Mogući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deadlock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ako nije pravilno implementirano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Ograničena veličina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buffera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67733043-481F-1CDE-DEF9-5D0EEDEC5822}"/>
              </a:ext>
            </a:extLst>
          </p:cNvPr>
          <p:cNvSpPr txBox="1"/>
          <p:nvPr/>
        </p:nvSpPr>
        <p:spPr>
          <a:xfrm>
            <a:off x="904756" y="4226975"/>
            <a:ext cx="82392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Primjena: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Event-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driven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sistemi - UI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events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i obrada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Logging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sistemi - aplikacija piše logove, pozadinska nit zapisuje u file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Mrežni serveri - primanje paketa i procesiranje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Multimedia streaming - učitavanje i reprodukcija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Print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</a:rPr>
              <a:t>spooler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 - slanje dokumenata na printer</a:t>
            </a:r>
          </a:p>
        </p:txBody>
      </p:sp>
    </p:spTree>
    <p:extLst>
      <p:ext uri="{BB962C8B-B14F-4D97-AF65-F5344CB8AC3E}">
        <p14:creationId xmlns:p14="http://schemas.microsoft.com/office/powerpoint/2010/main" val="285606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824C5ECD-8659-68AD-56CF-536E8FC5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20E331BF-3531-7EF4-DBE9-96EAC8AA4811}"/>
              </a:ext>
            </a:extLst>
          </p:cNvPr>
          <p:cNvSpPr txBox="1"/>
          <p:nvPr/>
        </p:nvSpPr>
        <p:spPr>
          <a:xfrm>
            <a:off x="1165319" y="704520"/>
            <a:ext cx="7516953" cy="87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Proizvođač/potrošač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/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lvl="0"/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endParaRPr lang="sv-SE" sz="2400" b="1" dirty="0"/>
          </a:p>
        </p:txBody>
      </p:sp>
      <p:sp>
        <p:nvSpPr>
          <p:cNvPr id="2" name="Google Shape;449;p83">
            <a:extLst>
              <a:ext uri="{FF2B5EF4-FFF2-40B4-BE49-F238E27FC236}">
                <a16:creationId xmlns:a16="http://schemas.microsoft.com/office/drawing/2014/main" id="{871B8244-CFE9-5CF9-6C50-D1AB1996C4B9}"/>
              </a:ext>
            </a:extLst>
          </p:cNvPr>
          <p:cNvSpPr txBox="1"/>
          <p:nvPr/>
        </p:nvSpPr>
        <p:spPr>
          <a:xfrm>
            <a:off x="1000767" y="2386895"/>
            <a:ext cx="3698421" cy="2893069"/>
          </a:xfrm>
          <a:prstGeom prst="rect">
            <a:avLst/>
          </a:prstGeom>
          <a:noFill/>
          <a:ln w="19050" cap="flat" cmpd="sng">
            <a:solidFill>
              <a:srgbClr val="39C0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 err="1">
                <a:solidFill>
                  <a:srgbClr val="FF9900"/>
                </a:solidFill>
              </a:rPr>
              <a:t>int</a:t>
            </a:r>
            <a:r>
              <a:rPr lang="hr-HR" sz="1600" i="1" dirty="0">
                <a:solidFill>
                  <a:srgbClr val="FF9900"/>
                </a:solidFill>
              </a:rPr>
              <a:t> </a:t>
            </a:r>
            <a:r>
              <a:rPr lang="hr-HR" sz="1600" i="1" dirty="0" err="1">
                <a:solidFill>
                  <a:srgbClr val="FF9900"/>
                </a:solidFill>
              </a:rPr>
              <a:t>itemCount</a:t>
            </a:r>
            <a:r>
              <a:rPr lang="hr-HR" sz="1600" i="1" dirty="0">
                <a:solidFill>
                  <a:srgbClr val="FF9900"/>
                </a:solidFill>
              </a:rPr>
              <a:t> = 0;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procedure </a:t>
            </a:r>
            <a:r>
              <a:rPr lang="hr-HR" sz="1600" i="1" dirty="0" err="1">
                <a:solidFill>
                  <a:srgbClr val="FF9900"/>
                </a:solidFill>
              </a:rPr>
              <a:t>producer</a:t>
            </a:r>
            <a:r>
              <a:rPr lang="hr-HR" sz="1600" i="1" dirty="0">
                <a:solidFill>
                  <a:srgbClr val="FF9900"/>
                </a:solidFill>
              </a:rPr>
              <a:t>()  {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</a:t>
            </a:r>
            <a:r>
              <a:rPr lang="hr-HR" sz="1600" i="1" dirty="0" err="1">
                <a:solidFill>
                  <a:srgbClr val="FF9900"/>
                </a:solidFill>
              </a:rPr>
              <a:t>while</a:t>
            </a:r>
            <a:r>
              <a:rPr lang="hr-HR" sz="1600" i="1" dirty="0">
                <a:solidFill>
                  <a:srgbClr val="FF9900"/>
                </a:solidFill>
              </a:rPr>
              <a:t> (</a:t>
            </a:r>
            <a:r>
              <a:rPr lang="hr-HR" sz="1600" i="1" dirty="0" err="1">
                <a:solidFill>
                  <a:srgbClr val="FF9900"/>
                </a:solidFill>
              </a:rPr>
              <a:t>true</a:t>
            </a:r>
            <a:r>
              <a:rPr lang="hr-HR" sz="1600" i="1" dirty="0">
                <a:solidFill>
                  <a:srgbClr val="FF9900"/>
                </a:solidFill>
              </a:rPr>
              <a:t>)    {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</a:t>
            </a:r>
            <a:r>
              <a:rPr lang="hr-HR" sz="1600" i="1" dirty="0" err="1">
                <a:solidFill>
                  <a:srgbClr val="FF9900"/>
                </a:solidFill>
              </a:rPr>
              <a:t>item</a:t>
            </a:r>
            <a:r>
              <a:rPr lang="hr-HR" sz="1600" i="1" dirty="0">
                <a:solidFill>
                  <a:srgbClr val="FF9900"/>
                </a:solidFill>
              </a:rPr>
              <a:t> = </a:t>
            </a:r>
            <a:r>
              <a:rPr lang="hr-HR" sz="1600" i="1" dirty="0" err="1">
                <a:solidFill>
                  <a:srgbClr val="FF9900"/>
                </a:solidFill>
              </a:rPr>
              <a:t>produceItem</a:t>
            </a:r>
            <a:r>
              <a:rPr lang="hr-HR" sz="1600" i="1" dirty="0">
                <a:solidFill>
                  <a:srgbClr val="FF9900"/>
                </a:solidFill>
              </a:rPr>
              <a:t>();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</a:t>
            </a:r>
            <a:r>
              <a:rPr lang="hr-HR" sz="1600" i="1" dirty="0" err="1">
                <a:solidFill>
                  <a:srgbClr val="FF9900"/>
                </a:solidFill>
              </a:rPr>
              <a:t>putItemIntoBuffer</a:t>
            </a:r>
            <a:r>
              <a:rPr lang="hr-HR" sz="1600" i="1" dirty="0">
                <a:solidFill>
                  <a:srgbClr val="FF9900"/>
                </a:solidFill>
              </a:rPr>
              <a:t>(</a:t>
            </a:r>
            <a:r>
              <a:rPr lang="hr-HR" sz="1600" i="1" dirty="0" err="1">
                <a:solidFill>
                  <a:srgbClr val="FF9900"/>
                </a:solidFill>
              </a:rPr>
              <a:t>item</a:t>
            </a:r>
            <a:r>
              <a:rPr lang="hr-HR" sz="1600" i="1" dirty="0">
                <a:solidFill>
                  <a:srgbClr val="FF9900"/>
                </a:solidFill>
              </a:rPr>
              <a:t>);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</a:t>
            </a:r>
            <a:r>
              <a:rPr lang="hr-HR" sz="1600" i="1" dirty="0" err="1">
                <a:solidFill>
                  <a:srgbClr val="FF9900"/>
                </a:solidFill>
              </a:rPr>
              <a:t>itemCount</a:t>
            </a:r>
            <a:r>
              <a:rPr lang="hr-HR" sz="1600" i="1" dirty="0">
                <a:solidFill>
                  <a:srgbClr val="FF9900"/>
                </a:solidFill>
              </a:rPr>
              <a:t>++;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}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}</a:t>
            </a:r>
            <a:endParaRPr sz="1600" i="1" dirty="0">
              <a:solidFill>
                <a:srgbClr val="FF9900"/>
              </a:solidFill>
            </a:endParaRPr>
          </a:p>
        </p:txBody>
      </p:sp>
      <p:sp>
        <p:nvSpPr>
          <p:cNvPr id="3" name="Google Shape;451;p83">
            <a:extLst>
              <a:ext uri="{FF2B5EF4-FFF2-40B4-BE49-F238E27FC236}">
                <a16:creationId xmlns:a16="http://schemas.microsoft.com/office/drawing/2014/main" id="{D7771BBC-9120-4F5B-0FEC-C47CA3CF7CAF}"/>
              </a:ext>
            </a:extLst>
          </p:cNvPr>
          <p:cNvSpPr txBox="1"/>
          <p:nvPr/>
        </p:nvSpPr>
        <p:spPr>
          <a:xfrm>
            <a:off x="4923794" y="2386895"/>
            <a:ext cx="3758477" cy="2893069"/>
          </a:xfrm>
          <a:prstGeom prst="rect">
            <a:avLst/>
          </a:prstGeom>
          <a:noFill/>
          <a:ln w="19050" cap="flat" cmpd="sng">
            <a:solidFill>
              <a:srgbClr val="39C0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procedure consumer()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sleep(1);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while (true)  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item = removeItemFromBuffer();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itemCount - -;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consumeItem(item);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}</a:t>
            </a:r>
            <a:endParaRPr sz="1600" i="1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7041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BF307B8-54DB-AF34-881A-14C2E56F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C3647AEA-CA91-29C7-9502-35AC2D40BB9C}"/>
              </a:ext>
            </a:extLst>
          </p:cNvPr>
          <p:cNvSpPr txBox="1"/>
          <p:nvPr/>
        </p:nvSpPr>
        <p:spPr>
          <a:xfrm>
            <a:off x="1165319" y="704520"/>
            <a:ext cx="7516953" cy="91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Proizvođač/potrošač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/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endParaRPr lang="sv-SE" sz="2400" b="1" dirty="0"/>
          </a:p>
        </p:txBody>
      </p:sp>
      <p:sp>
        <p:nvSpPr>
          <p:cNvPr id="4" name="Google Shape;457;p84">
            <a:extLst>
              <a:ext uri="{FF2B5EF4-FFF2-40B4-BE49-F238E27FC236}">
                <a16:creationId xmlns:a16="http://schemas.microsoft.com/office/drawing/2014/main" id="{330CFA2E-EED5-803C-8935-4D55C7AB6A9B}"/>
              </a:ext>
            </a:extLst>
          </p:cNvPr>
          <p:cNvSpPr txBox="1"/>
          <p:nvPr/>
        </p:nvSpPr>
        <p:spPr>
          <a:xfrm>
            <a:off x="1075963" y="1746815"/>
            <a:ext cx="3783180" cy="4616618"/>
          </a:xfrm>
          <a:prstGeom prst="rect">
            <a:avLst/>
          </a:prstGeom>
          <a:noFill/>
          <a:ln w="19050" cap="flat" cmpd="sng">
            <a:solidFill>
              <a:srgbClr val="39C0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int itemCount = 0;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procedure producer()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while (true) 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item = produceItem();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if (itemCount == BUFF_SIZE)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    sleep();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	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putItemIntoBuffer(item);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itemCount++;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if (itemCount == 1)    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    wakeup(consumer);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}</a:t>
            </a:r>
            <a:endParaRPr sz="1600" i="1">
              <a:solidFill>
                <a:srgbClr val="FF9900"/>
              </a:solidFill>
            </a:endParaRPr>
          </a:p>
        </p:txBody>
      </p:sp>
      <p:sp>
        <p:nvSpPr>
          <p:cNvPr id="5" name="Google Shape;459;p84">
            <a:extLst>
              <a:ext uri="{FF2B5EF4-FFF2-40B4-BE49-F238E27FC236}">
                <a16:creationId xmlns:a16="http://schemas.microsoft.com/office/drawing/2014/main" id="{2CF3493A-32F3-0C2C-3BFD-6744DD2FBCDA}"/>
              </a:ext>
            </a:extLst>
          </p:cNvPr>
          <p:cNvSpPr txBox="1"/>
          <p:nvPr/>
        </p:nvSpPr>
        <p:spPr>
          <a:xfrm>
            <a:off x="5070788" y="1746815"/>
            <a:ext cx="3844612" cy="4616618"/>
          </a:xfrm>
          <a:prstGeom prst="rect">
            <a:avLst/>
          </a:prstGeom>
          <a:noFill/>
          <a:ln w="19050" cap="flat" cmpd="sng">
            <a:solidFill>
              <a:srgbClr val="39C0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procedure consumer()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while (true)  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if (itemCount == 0)  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    sleep();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item = removeItemFromBuffer();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itemCount - -;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if (itemCount == BUFF_SIZE - 1) 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    wakeup(producer);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consumeItem(item);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}</a:t>
            </a:r>
            <a:endParaRPr sz="1600" i="1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300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5DF9084-47ED-D538-382A-44B62A46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F7D368D3-B5DE-1F07-2BF4-6EF2868A3BA6}"/>
              </a:ext>
            </a:extLst>
          </p:cNvPr>
          <p:cNvSpPr txBox="1"/>
          <p:nvPr/>
        </p:nvSpPr>
        <p:spPr>
          <a:xfrm>
            <a:off x="1165319" y="704520"/>
            <a:ext cx="7516953" cy="91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4</a:t>
            </a:r>
            <a:r>
              <a:rPr lang="sv-SE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. 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Proizvođač/potrošač (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producer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/</a:t>
            </a:r>
            <a:r>
              <a:rPr lang="hr-HR" sz="2400" b="1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consumer</a:t>
            </a:r>
            <a:r>
              <a:rPr lang="hr-HR" sz="2400" b="1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race </a:t>
            </a:r>
            <a:r>
              <a:rPr lang="hr-HR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condition</a:t>
            </a:r>
            <a:endParaRPr lang="sv-SE" sz="2400" b="1" dirty="0"/>
          </a:p>
        </p:txBody>
      </p:sp>
      <p:sp>
        <p:nvSpPr>
          <p:cNvPr id="2" name="Google Shape;465;p85">
            <a:extLst>
              <a:ext uri="{FF2B5EF4-FFF2-40B4-BE49-F238E27FC236}">
                <a16:creationId xmlns:a16="http://schemas.microsoft.com/office/drawing/2014/main" id="{03F2051E-AEC1-9B14-8EFB-8EC581F03F5F}"/>
              </a:ext>
            </a:extLst>
          </p:cNvPr>
          <p:cNvSpPr txBox="1"/>
          <p:nvPr/>
        </p:nvSpPr>
        <p:spPr>
          <a:xfrm>
            <a:off x="991589" y="2268018"/>
            <a:ext cx="3798706" cy="3631733"/>
          </a:xfrm>
          <a:prstGeom prst="rect">
            <a:avLst/>
          </a:prstGeom>
          <a:noFill/>
          <a:ln w="19050" cap="flat" cmpd="sng">
            <a:solidFill>
              <a:srgbClr val="39C0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while (true) 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item = produceItem();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if (itemCount == BUFF_SIZE)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    sleep();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	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putItemIntoBuffer(item);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itemCount++;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if (itemCount == 1)       {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    wakeup(consumer);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    }</a:t>
            </a:r>
            <a:endParaRPr sz="1600" i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>
                <a:solidFill>
                  <a:srgbClr val="FF9900"/>
                </a:solidFill>
              </a:rPr>
              <a:t>    }</a:t>
            </a:r>
            <a:endParaRPr sz="1600" i="1">
              <a:solidFill>
                <a:srgbClr val="FF9900"/>
              </a:solidFill>
            </a:endParaRPr>
          </a:p>
        </p:txBody>
      </p:sp>
      <p:sp>
        <p:nvSpPr>
          <p:cNvPr id="3" name="Google Shape;466;p85">
            <a:extLst>
              <a:ext uri="{FF2B5EF4-FFF2-40B4-BE49-F238E27FC236}">
                <a16:creationId xmlns:a16="http://schemas.microsoft.com/office/drawing/2014/main" id="{AAEE9241-9164-927F-1B70-FE593E90BC2A}"/>
              </a:ext>
            </a:extLst>
          </p:cNvPr>
          <p:cNvSpPr txBox="1"/>
          <p:nvPr/>
        </p:nvSpPr>
        <p:spPr>
          <a:xfrm>
            <a:off x="5059626" y="2566500"/>
            <a:ext cx="3860390" cy="4124176"/>
          </a:xfrm>
          <a:prstGeom prst="rect">
            <a:avLst/>
          </a:prstGeom>
          <a:noFill/>
          <a:ln w="19050" cap="flat" cmpd="sng">
            <a:solidFill>
              <a:srgbClr val="39C0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</a:t>
            </a:r>
            <a:r>
              <a:rPr lang="hr-HR" sz="1600" i="1" dirty="0" err="1">
                <a:solidFill>
                  <a:srgbClr val="FF9900"/>
                </a:solidFill>
              </a:rPr>
              <a:t>while</a:t>
            </a:r>
            <a:r>
              <a:rPr lang="hr-HR" sz="1600" i="1" dirty="0">
                <a:solidFill>
                  <a:srgbClr val="FF9900"/>
                </a:solidFill>
              </a:rPr>
              <a:t> (</a:t>
            </a:r>
            <a:r>
              <a:rPr lang="hr-HR" sz="1600" i="1" dirty="0" err="1">
                <a:solidFill>
                  <a:srgbClr val="FF9900"/>
                </a:solidFill>
              </a:rPr>
              <a:t>true</a:t>
            </a:r>
            <a:r>
              <a:rPr lang="hr-HR" sz="1600" i="1" dirty="0">
                <a:solidFill>
                  <a:srgbClr val="FF9900"/>
                </a:solidFill>
              </a:rPr>
              <a:t>)     {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</a:t>
            </a:r>
            <a:r>
              <a:rPr lang="hr-HR" sz="1600" i="1" dirty="0" err="1">
                <a:solidFill>
                  <a:srgbClr val="FF9900"/>
                </a:solidFill>
              </a:rPr>
              <a:t>if</a:t>
            </a:r>
            <a:r>
              <a:rPr lang="hr-HR" sz="1600" i="1" dirty="0">
                <a:solidFill>
                  <a:srgbClr val="FF9900"/>
                </a:solidFill>
              </a:rPr>
              <a:t> (</a:t>
            </a:r>
            <a:r>
              <a:rPr lang="hr-HR" sz="1600" i="1" dirty="0" err="1">
                <a:solidFill>
                  <a:srgbClr val="FF9900"/>
                </a:solidFill>
              </a:rPr>
              <a:t>itemCount</a:t>
            </a:r>
            <a:r>
              <a:rPr lang="hr-HR" sz="1600" i="1" dirty="0">
                <a:solidFill>
                  <a:srgbClr val="FF9900"/>
                </a:solidFill>
              </a:rPr>
              <a:t> == 0)     {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    </a:t>
            </a:r>
            <a:r>
              <a:rPr lang="hr-HR" sz="1600" i="1" dirty="0" err="1">
                <a:solidFill>
                  <a:srgbClr val="FF9900"/>
                </a:solidFill>
              </a:rPr>
              <a:t>sleep</a:t>
            </a:r>
            <a:r>
              <a:rPr lang="hr-HR" sz="1600" i="1" dirty="0">
                <a:solidFill>
                  <a:srgbClr val="FF9900"/>
                </a:solidFill>
              </a:rPr>
              <a:t>();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}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</a:t>
            </a:r>
            <a:r>
              <a:rPr lang="hr-HR" sz="1600" i="1" dirty="0" err="1">
                <a:solidFill>
                  <a:srgbClr val="FF9900"/>
                </a:solidFill>
              </a:rPr>
              <a:t>item</a:t>
            </a:r>
            <a:r>
              <a:rPr lang="hr-HR" sz="1600" i="1" dirty="0">
                <a:solidFill>
                  <a:srgbClr val="FF9900"/>
                </a:solidFill>
              </a:rPr>
              <a:t> = </a:t>
            </a:r>
            <a:r>
              <a:rPr lang="hr-HR" sz="1600" i="1" dirty="0" err="1">
                <a:solidFill>
                  <a:srgbClr val="FF9900"/>
                </a:solidFill>
              </a:rPr>
              <a:t>removeItemFromBuffer</a:t>
            </a:r>
            <a:r>
              <a:rPr lang="hr-HR" sz="1600" i="1" dirty="0">
                <a:solidFill>
                  <a:srgbClr val="FF9900"/>
                </a:solidFill>
              </a:rPr>
              <a:t>();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</a:t>
            </a:r>
            <a:r>
              <a:rPr lang="hr-HR" sz="1600" i="1" dirty="0" err="1">
                <a:solidFill>
                  <a:srgbClr val="FF9900"/>
                </a:solidFill>
              </a:rPr>
              <a:t>itemCount</a:t>
            </a:r>
            <a:r>
              <a:rPr lang="hr-HR" sz="1600" i="1" dirty="0">
                <a:solidFill>
                  <a:srgbClr val="FF9900"/>
                </a:solidFill>
              </a:rPr>
              <a:t> - -;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</a:t>
            </a:r>
            <a:r>
              <a:rPr lang="hr-HR" sz="1600" i="1" dirty="0" err="1">
                <a:solidFill>
                  <a:srgbClr val="FF9900"/>
                </a:solidFill>
              </a:rPr>
              <a:t>if</a:t>
            </a:r>
            <a:r>
              <a:rPr lang="hr-HR" sz="1600" i="1" dirty="0">
                <a:solidFill>
                  <a:srgbClr val="FF9900"/>
                </a:solidFill>
              </a:rPr>
              <a:t> (</a:t>
            </a:r>
            <a:r>
              <a:rPr lang="hr-HR" sz="1600" i="1" dirty="0" err="1">
                <a:solidFill>
                  <a:srgbClr val="FF9900"/>
                </a:solidFill>
              </a:rPr>
              <a:t>itemCount</a:t>
            </a:r>
            <a:r>
              <a:rPr lang="hr-HR" sz="1600" i="1" dirty="0">
                <a:solidFill>
                  <a:srgbClr val="FF9900"/>
                </a:solidFill>
              </a:rPr>
              <a:t> == BUFF_SIZE - 1) 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{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    </a:t>
            </a:r>
            <a:r>
              <a:rPr lang="hr-HR" sz="1600" i="1" dirty="0" err="1">
                <a:solidFill>
                  <a:srgbClr val="FF9900"/>
                </a:solidFill>
              </a:rPr>
              <a:t>wakeup</a:t>
            </a:r>
            <a:r>
              <a:rPr lang="hr-HR" sz="1600" i="1" dirty="0">
                <a:solidFill>
                  <a:srgbClr val="FF9900"/>
                </a:solidFill>
              </a:rPr>
              <a:t>(</a:t>
            </a:r>
            <a:r>
              <a:rPr lang="hr-HR" sz="1600" i="1" dirty="0" err="1">
                <a:solidFill>
                  <a:srgbClr val="FF9900"/>
                </a:solidFill>
              </a:rPr>
              <a:t>producer</a:t>
            </a:r>
            <a:r>
              <a:rPr lang="hr-HR" sz="1600" i="1" dirty="0">
                <a:solidFill>
                  <a:srgbClr val="FF9900"/>
                </a:solidFill>
              </a:rPr>
              <a:t>);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}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    </a:t>
            </a:r>
            <a:r>
              <a:rPr lang="hr-HR" sz="1600" i="1" dirty="0" err="1">
                <a:solidFill>
                  <a:srgbClr val="FF9900"/>
                </a:solidFill>
              </a:rPr>
              <a:t>consumeItem</a:t>
            </a:r>
            <a:r>
              <a:rPr lang="hr-HR" sz="1600" i="1" dirty="0">
                <a:solidFill>
                  <a:srgbClr val="FF9900"/>
                </a:solidFill>
              </a:rPr>
              <a:t>(</a:t>
            </a:r>
            <a:r>
              <a:rPr lang="hr-HR" sz="1600" i="1" dirty="0" err="1">
                <a:solidFill>
                  <a:srgbClr val="FF9900"/>
                </a:solidFill>
              </a:rPr>
              <a:t>item</a:t>
            </a:r>
            <a:r>
              <a:rPr lang="hr-HR" sz="1600" i="1" dirty="0">
                <a:solidFill>
                  <a:srgbClr val="FF9900"/>
                </a:solidFill>
              </a:rPr>
              <a:t>);</a:t>
            </a:r>
            <a:endParaRPr sz="1600" i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600" i="1" dirty="0">
                <a:solidFill>
                  <a:srgbClr val="FF9900"/>
                </a:solidFill>
              </a:rPr>
              <a:t>    }</a:t>
            </a:r>
            <a:endParaRPr sz="1600" i="1" dirty="0">
              <a:solidFill>
                <a:srgbClr val="FF9900"/>
              </a:solidFill>
            </a:endParaRPr>
          </a:p>
        </p:txBody>
      </p:sp>
      <p:cxnSp>
        <p:nvCxnSpPr>
          <p:cNvPr id="6" name="Google Shape;467;p85">
            <a:extLst>
              <a:ext uri="{FF2B5EF4-FFF2-40B4-BE49-F238E27FC236}">
                <a16:creationId xmlns:a16="http://schemas.microsoft.com/office/drawing/2014/main" id="{A3BCB223-9F79-19EE-DBFC-84E334BCF6E1}"/>
              </a:ext>
            </a:extLst>
          </p:cNvPr>
          <p:cNvCxnSpPr/>
          <p:nvPr/>
        </p:nvCxnSpPr>
        <p:spPr>
          <a:xfrm rot="10800000" flipH="1">
            <a:off x="953595" y="4710559"/>
            <a:ext cx="7673400" cy="30600"/>
          </a:xfrm>
          <a:prstGeom prst="straightConnector1">
            <a:avLst/>
          </a:prstGeom>
          <a:noFill/>
          <a:ln w="28575" cap="flat" cmpd="sng">
            <a:solidFill>
              <a:srgbClr val="C9211E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17506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4380</Words>
  <Application>Microsoft Office PowerPoint</Application>
  <PresentationFormat>Prikaz na zaslonu (4:3)</PresentationFormat>
  <Paragraphs>622</Paragraphs>
  <Slides>56</Slides>
  <Notes>56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3</vt:i4>
      </vt:variant>
      <vt:variant>
        <vt:lpstr>Naslovi slajdova</vt:lpstr>
      </vt:variant>
      <vt:variant>
        <vt:i4>56</vt:i4>
      </vt:variant>
    </vt:vector>
  </HeadingPairs>
  <TitlesOfParts>
    <vt:vector size="64" baseType="lpstr">
      <vt:lpstr>Quicksand</vt:lpstr>
      <vt:lpstr>Cambria</vt:lpstr>
      <vt:lpstr>Consolas</vt:lpstr>
      <vt:lpstr>Wingdings</vt:lpstr>
      <vt:lpstr>Arial</vt:lpstr>
      <vt:lpstr>Office Theme</vt:lpstr>
      <vt:lpstr>Office Theme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pthread_mutex_t lock_a, lock_b;  void* thread_A(void* arg) {     pthread_mutex_lock(&amp;lock_a);    // Korak 1: Dobio lock_a     sleep(1);  // Malo pauze da Thread B stigne do lock_b          pthread_mutex_lock(&amp;lock_b);    // Korak 3: Čeka lock_b (DEADLOCK!)          printf("Thread A u kritičnoj sekciji\n"); // Critical section          pthread_mutex_unlock(&amp;lock_b);     pthread_mutex_unlock(&amp;lock_a);     return NULL; }  void* thread_B(void* arg) {     pthread_mutex_lock(&amp;lock_b);    // Korak 2: Dobio lock_b     sleep(1);  // Malo pauze da Thread A stigne do lock_a          pthread_mutex_lock(&amp;lock_a);    // Korak 4: Čeka lock_a (DEADLOCK!)          printf("Thread B u kritičnoj sekciji\n"); // Critical section          pthread_mutex_unlock(&amp;lock_a);     pthread_mutex_unlock(&amp;lock_b);     return NULL; }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modified xsi:type="dcterms:W3CDTF">2025-10-22T11:09:29Z</dcterms:modified>
</cp:coreProperties>
</file>