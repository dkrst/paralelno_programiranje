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  <p:sldMasterId id="2147483685" r:id="rId5"/>
    <p:sldMasterId id="214748368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</p:sldIdLst>
  <p:sldSz cy="6858000" cx="9144000"/>
  <p:notesSz cx="6858000" cy="9144000"/>
  <p:embeddedFontLst>
    <p:embeddedFont>
      <p:font typeface="Quicksand"/>
      <p:regular r:id="rId69"/>
      <p:bold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3DF3B8-714D-4327-B88B-72998F82CDCC}">
  <a:tblStyle styleId="{F43DF3B8-714D-4327-B88B-72998F82CD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70" Type="http://schemas.openxmlformats.org/officeDocument/2006/relationships/font" Target="fonts/Quicksand-bold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Quicksand-regular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0f1854afd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b0f1854afd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0f1854afd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b0f1854afd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0f1854afd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b0f1854afd_0_2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0f1854afd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b0f1854afd_0_2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0f1854afd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b0f1854afd_0_2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0f1854afd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b0f1854afd_0_2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0f1854afd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b0f1854afd_0_2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0f1854afd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b0f1854afd_0_2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0f1854afd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b0f1854afd_0_2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0f1854afd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b0f1854afd_0_2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0f1854afd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b0f1854afd_0_3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0f1854afd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b0f1854afd_0_3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0f1854afd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b0f1854afd_0_3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0f1854afd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b0f1854afd_0_3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0f1854afd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b0f1854afd_0_3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0f1854afd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b0f1854afd_0_3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b0f1854afd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b0f1854afd_0_3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b0f1854afd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b0f1854afd_0_3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0f1854afd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b0f1854afd_0_3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0f1854afd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b0f1854afd_0_3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b0f1854afd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b0f1854afd_0_3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b0f1854afd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b0f1854afd_0_3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b0f1854afd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b0f1854afd_0_3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b0f1854afd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b0f1854afd_0_4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b0f1854afd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b0f1854afd_0_4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b0f1854afd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b0f1854afd_0_4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b108053f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b108053f7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b108053f7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b108053f7d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108053f7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b108053f7d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b108053f7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b108053f7d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b108053f7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b108053f7d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b108053f7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b108053f7d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108053f7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b108053f7d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b108053f7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b108053f7d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b108053f7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b108053f7d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b108053f7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b108053f7d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b108053f7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b108053f7d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108053f7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b108053f7d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b108053f7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b108053f7d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b108053f7d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b108053f7d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b108053f7d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b108053f7d_0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b108053f7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b108053f7d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b108053f7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b108053f7d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b108053f7d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b108053f7d_0_1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b108053f7d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b108053f7d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b108053f7d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b108053f7d_0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b108053f7d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3b108053f7d_0_1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b108053f7d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g3b108053f7d_0_1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b108053f7d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b108053f7d_0_1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b108053f7d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g3b108053f7d_0_1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b108053f7d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b108053f7d_0_1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b108053f7d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g3b108053f7d_0_1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b108053f7d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b108053f7d_0_2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b108053f7d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3b108053f7d_0_2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b108053f7d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g3b108053f7d_0_2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b108053f7d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g3b108053f7d_0_2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b108053f7d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g3b108053f7d_0_2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b108053f7d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g3b108053f7d_0_2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b108053f7d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g3b108053f7d_0_2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2" type="body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idx="1" type="subTitle"/>
          </p:nvPr>
        </p:nvSpPr>
        <p:spPr>
          <a:xfrm>
            <a:off x="1165320" y="666000"/>
            <a:ext cx="6857640" cy="2132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" type="body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2" type="body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3" type="body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" type="body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2" type="body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3" type="body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" type="body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2" type="body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3" type="body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1165320" y="160020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2" type="body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3" type="body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4" type="body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16532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228348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3" type="body"/>
          </p:nvPr>
        </p:nvSpPr>
        <p:spPr>
          <a:xfrm>
            <a:off x="340164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4" type="body"/>
          </p:nvPr>
        </p:nvSpPr>
        <p:spPr>
          <a:xfrm>
            <a:off x="116532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5" type="body"/>
          </p:nvPr>
        </p:nvSpPr>
        <p:spPr>
          <a:xfrm>
            <a:off x="228348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6" type="body"/>
          </p:nvPr>
        </p:nvSpPr>
        <p:spPr>
          <a:xfrm>
            <a:off x="340164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subTitle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" type="body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2" type="body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idx="1" type="subTitle"/>
          </p:nvPr>
        </p:nvSpPr>
        <p:spPr>
          <a:xfrm>
            <a:off x="1165320" y="666000"/>
            <a:ext cx="6857640" cy="2132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2" type="body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3" type="body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" type="body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2" type="body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3" type="body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2" type="body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3" type="body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1" type="body"/>
          </p:nvPr>
        </p:nvSpPr>
        <p:spPr>
          <a:xfrm>
            <a:off x="1165320" y="160020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2" type="body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" type="body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2" type="body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3" type="body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4" type="body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1" type="body"/>
          </p:nvPr>
        </p:nvSpPr>
        <p:spPr>
          <a:xfrm>
            <a:off x="116532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2" type="body"/>
          </p:nvPr>
        </p:nvSpPr>
        <p:spPr>
          <a:xfrm>
            <a:off x="228348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3" type="body"/>
          </p:nvPr>
        </p:nvSpPr>
        <p:spPr>
          <a:xfrm>
            <a:off x="340164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4" type="body"/>
          </p:nvPr>
        </p:nvSpPr>
        <p:spPr>
          <a:xfrm>
            <a:off x="116532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5" type="body"/>
          </p:nvPr>
        </p:nvSpPr>
        <p:spPr>
          <a:xfrm>
            <a:off x="228348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6" type="body"/>
          </p:nvPr>
        </p:nvSpPr>
        <p:spPr>
          <a:xfrm>
            <a:off x="340164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1" type="body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idx="2" type="body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0"/>
          <p:cNvSpPr txBox="1"/>
          <p:nvPr>
            <p:ph idx="1" type="subTitle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1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1"/>
          <p:cNvSpPr txBox="1"/>
          <p:nvPr>
            <p:ph idx="1" type="body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2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3"/>
          <p:cNvSpPr txBox="1"/>
          <p:nvPr>
            <p:ph idx="1" type="subTitle"/>
          </p:nvPr>
        </p:nvSpPr>
        <p:spPr>
          <a:xfrm>
            <a:off x="1165320" y="666000"/>
            <a:ext cx="6857640" cy="2132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4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4"/>
          <p:cNvSpPr txBox="1"/>
          <p:nvPr>
            <p:ph idx="1" type="body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4"/>
          <p:cNvSpPr txBox="1"/>
          <p:nvPr>
            <p:ph idx="2" type="body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4"/>
          <p:cNvSpPr txBox="1"/>
          <p:nvPr>
            <p:ph idx="3" type="body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5"/>
          <p:cNvSpPr txBox="1"/>
          <p:nvPr>
            <p:ph idx="1" type="body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5"/>
          <p:cNvSpPr txBox="1"/>
          <p:nvPr>
            <p:ph idx="2" type="body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5"/>
          <p:cNvSpPr txBox="1"/>
          <p:nvPr>
            <p:ph idx="3" type="body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6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6"/>
          <p:cNvSpPr txBox="1"/>
          <p:nvPr>
            <p:ph idx="1" type="body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6"/>
          <p:cNvSpPr txBox="1"/>
          <p:nvPr>
            <p:ph idx="2" type="body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6"/>
          <p:cNvSpPr txBox="1"/>
          <p:nvPr>
            <p:ph idx="3" type="body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7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7"/>
          <p:cNvSpPr txBox="1"/>
          <p:nvPr>
            <p:ph idx="1" type="body"/>
          </p:nvPr>
        </p:nvSpPr>
        <p:spPr>
          <a:xfrm>
            <a:off x="1165320" y="160020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7"/>
          <p:cNvSpPr txBox="1"/>
          <p:nvPr>
            <p:ph idx="2" type="body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8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8"/>
          <p:cNvSpPr txBox="1"/>
          <p:nvPr>
            <p:ph idx="1" type="body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8"/>
          <p:cNvSpPr txBox="1"/>
          <p:nvPr>
            <p:ph idx="2" type="body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8"/>
          <p:cNvSpPr txBox="1"/>
          <p:nvPr>
            <p:ph idx="3" type="body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8"/>
          <p:cNvSpPr txBox="1"/>
          <p:nvPr>
            <p:ph idx="4" type="body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9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9"/>
          <p:cNvSpPr txBox="1"/>
          <p:nvPr>
            <p:ph idx="1" type="body"/>
          </p:nvPr>
        </p:nvSpPr>
        <p:spPr>
          <a:xfrm>
            <a:off x="116532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9"/>
          <p:cNvSpPr txBox="1"/>
          <p:nvPr>
            <p:ph idx="2" type="body"/>
          </p:nvPr>
        </p:nvSpPr>
        <p:spPr>
          <a:xfrm>
            <a:off x="228348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9"/>
          <p:cNvSpPr txBox="1"/>
          <p:nvPr>
            <p:ph idx="3" type="body"/>
          </p:nvPr>
        </p:nvSpPr>
        <p:spPr>
          <a:xfrm>
            <a:off x="340164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9"/>
          <p:cNvSpPr txBox="1"/>
          <p:nvPr>
            <p:ph idx="4" type="body"/>
          </p:nvPr>
        </p:nvSpPr>
        <p:spPr>
          <a:xfrm>
            <a:off x="116532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9"/>
          <p:cNvSpPr txBox="1"/>
          <p:nvPr>
            <p:ph idx="5" type="body"/>
          </p:nvPr>
        </p:nvSpPr>
        <p:spPr>
          <a:xfrm>
            <a:off x="228348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9"/>
          <p:cNvSpPr txBox="1"/>
          <p:nvPr>
            <p:ph idx="6" type="body"/>
          </p:nvPr>
        </p:nvSpPr>
        <p:spPr>
          <a:xfrm>
            <a:off x="340164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303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319040" y="2876400"/>
            <a:ext cx="6680160" cy="15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/>
          <p:nvPr/>
        </p:nvSpPr>
        <p:spPr>
          <a:xfrm>
            <a:off x="903600" y="3563640"/>
            <a:ext cx="360" cy="3294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9525">
            <a:solidFill>
              <a:srgbClr val="999FA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" name="Google Shape;8;p1"/>
          <p:cNvSpPr/>
          <p:nvPr/>
        </p:nvSpPr>
        <p:spPr>
          <a:xfrm>
            <a:off x="768960" y="3294360"/>
            <a:ext cx="268920" cy="268920"/>
          </a:xfrm>
          <a:prstGeom prst="ellipse">
            <a:avLst/>
          </a:prstGeom>
          <a:solidFill>
            <a:srgbClr val="39C0BA"/>
          </a:solidFill>
          <a:ln cap="flat" cmpd="sng" w="28425">
            <a:solidFill>
              <a:srgbClr val="2E30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3037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530000" y="30769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0" name="Google Shape;60;p14"/>
          <p:cNvSpPr/>
          <p:nvPr/>
        </p:nvSpPr>
        <p:spPr>
          <a:xfrm>
            <a:off x="903960" y="-7920"/>
            <a:ext cx="360" cy="68659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9525">
            <a:solidFill>
              <a:srgbClr val="999FA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4"/>
          <p:cNvSpPr/>
          <p:nvPr/>
        </p:nvSpPr>
        <p:spPr>
          <a:xfrm>
            <a:off x="493560" y="3018960"/>
            <a:ext cx="819720" cy="819720"/>
          </a:xfrm>
          <a:prstGeom prst="ellipse">
            <a:avLst/>
          </a:prstGeom>
          <a:solidFill>
            <a:srgbClr val="39C0BA"/>
          </a:solidFill>
          <a:ln cap="flat" cmpd="sng" w="28425">
            <a:solidFill>
              <a:srgbClr val="2E30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3037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3" name="Google Shape;113;p27"/>
          <p:cNvSpPr txBox="1"/>
          <p:nvPr>
            <p:ph idx="1" type="body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4" name="Google Shape;114;p27"/>
          <p:cNvSpPr txBox="1"/>
          <p:nvPr>
            <p:ph idx="2" type="body"/>
          </p:nvPr>
        </p:nvSpPr>
        <p:spPr>
          <a:xfrm>
            <a:off x="46717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5" name="Google Shape;115;p27"/>
          <p:cNvSpPr/>
          <p:nvPr/>
        </p:nvSpPr>
        <p:spPr>
          <a:xfrm>
            <a:off x="903960" y="-7920"/>
            <a:ext cx="360" cy="68659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9525">
            <a:solidFill>
              <a:srgbClr val="999FA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27"/>
          <p:cNvSpPr/>
          <p:nvPr/>
        </p:nvSpPr>
        <p:spPr>
          <a:xfrm>
            <a:off x="808560" y="800640"/>
            <a:ext cx="189720" cy="189720"/>
          </a:xfrm>
          <a:prstGeom prst="ellipse">
            <a:avLst/>
          </a:prstGeom>
          <a:solidFill>
            <a:srgbClr val="39C0BA"/>
          </a:solidFill>
          <a:ln cap="flat" cmpd="sng" w="28425">
            <a:solidFill>
              <a:srgbClr val="2E30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7"/>
          <p:cNvSpPr/>
          <p:nvPr/>
        </p:nvSpPr>
        <p:spPr>
          <a:xfrm>
            <a:off x="768960" y="1861920"/>
            <a:ext cx="268920" cy="268920"/>
          </a:xfrm>
          <a:prstGeom prst="ellipse">
            <a:avLst/>
          </a:prstGeom>
          <a:solidFill>
            <a:srgbClr val="2E3037"/>
          </a:solidFill>
          <a:ln cap="flat" cmpd="sng" w="9525">
            <a:solidFill>
              <a:srgbClr val="999F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0"/>
          <p:cNvSpPr txBox="1"/>
          <p:nvPr/>
        </p:nvSpPr>
        <p:spPr>
          <a:xfrm>
            <a:off x="1319040" y="2876400"/>
            <a:ext cx="6680160" cy="15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hr-HR" sz="6000" u="none" cap="none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Paralelno programiranje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/>
          <p:cNvSpPr txBox="1"/>
          <p:nvPr/>
        </p:nvSpPr>
        <p:spPr>
          <a:xfrm>
            <a:off x="1530000" y="30769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MPI - Message Passing Interface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1"/>
          <p:cNvSpPr txBox="1"/>
          <p:nvPr/>
        </p:nvSpPr>
        <p:spPr>
          <a:xfrm>
            <a:off x="1530000" y="3710520"/>
            <a:ext cx="6927480" cy="4705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rPr>
              <a:t>Sustavi s distribuiranom memorijom</a:t>
            </a:r>
            <a:endParaRPr b="0" i="0" sz="18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7" name="Google Shape;177;p41"/>
          <p:cNvSpPr/>
          <p:nvPr/>
        </p:nvSpPr>
        <p:spPr>
          <a:xfrm>
            <a:off x="502560" y="3039840"/>
            <a:ext cx="80208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hr-HR" sz="3000" u="none" cap="none" strike="noStrike">
                <a:solidFill>
                  <a:srgbClr val="2E3037"/>
                </a:solidFill>
                <a:latin typeface="Quicksand"/>
                <a:ea typeface="Quicksand"/>
                <a:cs typeface="Quicksand"/>
                <a:sym typeface="Quicksand"/>
              </a:rPr>
              <a:t>1</a:t>
            </a:r>
            <a:endParaRPr b="0" i="0" sz="30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/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Sustavi s distribuiranom memorijom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2"/>
          <p:cNvSpPr/>
          <p:nvPr/>
        </p:nvSpPr>
        <p:spPr>
          <a:xfrm>
            <a:off x="1038600" y="1368000"/>
            <a:ext cx="73005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Distribuirana memorija</a:t>
            </a:r>
            <a:endParaRPr b="0" sz="2400" strike="noStrike">
              <a:latin typeface="Cambria"/>
              <a:ea typeface="Cambria"/>
              <a:cs typeface="Cambria"/>
              <a:sym typeface="Cambria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b="1" i="0" lang="hr-HR" sz="1800" u="none" cap="none" strike="noStrik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Svaki procesor (proces) ima vlastiti memorijski prostor</a:t>
            </a:r>
            <a:endParaRPr b="0" i="0" sz="1800" u="none" cap="none" strike="noStrike">
              <a:latin typeface="Cambria"/>
              <a:ea typeface="Cambria"/>
              <a:cs typeface="Cambria"/>
              <a:sym typeface="Cambria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b="1" i="0" lang="hr-HR" sz="1800" u="none" cap="none" strike="noStrik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Dijeljenje podataka među procesorima razmjenom poruka</a:t>
            </a:r>
            <a:endParaRPr b="0" i="0" sz="1800" u="none" cap="none" strike="noStrike">
              <a:latin typeface="Cambria"/>
              <a:ea typeface="Cambria"/>
              <a:cs typeface="Cambria"/>
              <a:sym typeface="Cambria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b="1" i="0" lang="hr-HR" sz="1800" u="none" cap="none" strike="noStrik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Brz pristup lokalnim podacima (u memorijskom prostoru promatranog procesa)</a:t>
            </a:r>
            <a:endParaRPr b="0" i="0" sz="1800" u="none" cap="none" strike="noStrike"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00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Složenija arhitektura</a:t>
            </a:r>
            <a:endParaRPr b="0" sz="2000" strike="noStrike">
              <a:latin typeface="Cambria"/>
              <a:ea typeface="Cambria"/>
              <a:cs typeface="Cambria"/>
              <a:sym typeface="Cambria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b="1" i="0" lang="hr-HR" sz="1800" u="none" cap="none" strike="noStrik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Podatke i podatkovne strukture potrebno je prilagoditi modelu</a:t>
            </a:r>
            <a:endParaRPr b="0" i="0" sz="1800" u="none" cap="none" strike="noStrike">
              <a:latin typeface="Cambria"/>
              <a:ea typeface="Cambria"/>
              <a:cs typeface="Cambria"/>
              <a:sym typeface="Cambria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b="1" i="0" lang="hr-HR" sz="1800" u="none" cap="none" strike="noStrik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Zahtjevniji razvoj algoritma (i programiranje)</a:t>
            </a:r>
            <a:endParaRPr b="0" i="0" sz="1800" u="none" cap="none" strike="noStrike"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200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Spor pristup podacima koji nisu u lokalnoj memoriji</a:t>
            </a:r>
            <a:endParaRPr b="0" sz="2200" strike="noStrike">
              <a:latin typeface="Cambria"/>
              <a:ea typeface="Cambria"/>
              <a:cs typeface="Cambria"/>
              <a:sym typeface="Cambria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b="1" i="0" lang="hr-HR" sz="1800" u="none" cap="none" strike="noStrik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Procesi koji razmjenjuju poruke (oba) zaustavljaju računanje</a:t>
            </a:r>
            <a:endParaRPr b="0" i="0" sz="1800" u="none" cap="none" strike="noStrike">
              <a:latin typeface="Cambria"/>
              <a:ea typeface="Cambria"/>
              <a:cs typeface="Cambria"/>
              <a:sym typeface="Cambria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b="1" i="0" lang="hr-HR" sz="1800" u="sng" cap="none" strike="noStrik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Zahtjevno za programiranje</a:t>
            </a:r>
            <a:endParaRPr b="0" i="0" sz="1800" u="none" cap="none" strike="noStrike">
              <a:latin typeface="Cambria"/>
              <a:ea typeface="Cambria"/>
              <a:cs typeface="Cambria"/>
              <a:sym typeface="Cambria"/>
            </a:endParaRPr>
          </a:p>
          <a:p>
            <a:pPr indent="-164564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None/>
            </a:pPr>
            <a:r>
              <a:t/>
            </a:r>
            <a:endParaRPr b="0" i="0" sz="1800" u="none" cap="none" strike="noStrike">
              <a:latin typeface="Cambria"/>
              <a:ea typeface="Cambria"/>
              <a:cs typeface="Cambria"/>
              <a:sym typeface="Cambria"/>
            </a:endParaRPr>
          </a:p>
          <a:p>
            <a:pPr indent="-113940" lvl="0" marL="45720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</a:pPr>
            <a:r>
              <a:t/>
            </a:r>
            <a:endParaRPr b="0" sz="1800" strike="noStrike">
              <a:latin typeface="Cambria"/>
              <a:ea typeface="Cambria"/>
              <a:cs typeface="Cambria"/>
              <a:sym typeface="Cambria"/>
            </a:endParaRPr>
          </a:p>
          <a:p>
            <a:pPr indent="-190259" lvl="1" marL="91440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3"/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hr-HR" sz="240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Distribuirana memorija – mrežne arhitekture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3"/>
          <p:cNvSpPr/>
          <p:nvPr/>
        </p:nvSpPr>
        <p:spPr>
          <a:xfrm>
            <a:off x="1038600" y="1368000"/>
            <a:ext cx="73005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000" u="sng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Completely connected networks</a:t>
            </a:r>
            <a:endParaRPr b="0" sz="2000" strike="noStrike">
              <a:latin typeface="Cambria"/>
              <a:ea typeface="Cambria"/>
              <a:cs typeface="Cambria"/>
              <a:sym typeface="Cambria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b="1" i="0" lang="hr-HR" sz="1800" u="none" cap="none" strike="noStrik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Svaki čvor povezan je sa svim ostalim čvorovima</a:t>
            </a:r>
            <a:endParaRPr b="0" i="0" sz="1800" u="none" cap="none" strike="noStrike">
              <a:latin typeface="Cambria"/>
              <a:ea typeface="Cambria"/>
              <a:cs typeface="Cambria"/>
              <a:sym typeface="Cambria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b="1" i="0" lang="hr-HR" sz="1800" u="none" cap="none" strike="noStrik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Složena (i skupa) arhitektura</a:t>
            </a:r>
            <a:endParaRPr b="0" i="0" sz="1800" u="none" cap="none" strike="noStrike">
              <a:latin typeface="Cambria"/>
              <a:ea typeface="Cambria"/>
              <a:cs typeface="Cambria"/>
              <a:sym typeface="Cambria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b="1" i="0" lang="hr-HR" sz="1800" u="none" cap="none" strike="noStrik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broj veza </a:t>
            </a:r>
            <a:r>
              <a:rPr b="1" i="1" lang="hr-HR" sz="1800" u="none" cap="none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N*(N-1)/2</a:t>
            </a:r>
            <a:r>
              <a:rPr b="1" i="0" lang="hr-HR" sz="1800" u="none" cap="none" strike="noStrik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, složenost mreže </a:t>
            </a:r>
            <a:r>
              <a:rPr b="1" i="1" lang="hr-HR" sz="1800" u="none" cap="none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O(N</a:t>
            </a:r>
            <a:r>
              <a:rPr b="1" baseline="30000" i="1" lang="hr-HR" sz="1800" u="none" cap="none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2</a:t>
            </a:r>
            <a:r>
              <a:rPr b="1" i="1" lang="hr-HR" sz="1800" u="none" cap="none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  <a:endParaRPr b="0" i="0" sz="1800" u="none" cap="none" strike="noStrike">
              <a:latin typeface="Cambria"/>
              <a:ea typeface="Cambria"/>
              <a:cs typeface="Cambria"/>
              <a:sym typeface="Cambria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b="1" i="0" lang="hr-HR" sz="1800" u="none" cap="none" strike="noStrik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Vremenska složenost komunikacije: </a:t>
            </a:r>
            <a:r>
              <a:rPr b="1" i="1" lang="hr-HR" sz="1800" u="none" cap="none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O(1)</a:t>
            </a:r>
            <a:endParaRPr b="0" i="0" sz="1800" u="none" cap="none" strike="noStrike"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000" u="sng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Limited connection networks</a:t>
            </a:r>
            <a:endParaRPr b="0" sz="2000" strike="noStrike">
              <a:latin typeface="Cambria"/>
              <a:ea typeface="Cambria"/>
              <a:cs typeface="Cambria"/>
              <a:sym typeface="Cambria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b="1" i="0" lang="hr-HR" sz="1800" u="none" cap="none" strike="noStrik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Ne postoji direktna veza od svakog čvora do bilo kojeg drugog čvora u mreži</a:t>
            </a:r>
            <a:endParaRPr b="0" i="0" sz="1800" u="none" cap="none" strike="noStrike">
              <a:latin typeface="Cambria"/>
              <a:ea typeface="Cambria"/>
              <a:cs typeface="Cambria"/>
              <a:sym typeface="Cambria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b="1" i="0" lang="hr-HR" sz="1800" u="none" cap="none" strike="noStrik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Komunikacija između čvorova koji nisu direktno povezani preusmjerava se kroz druge čvorove</a:t>
            </a:r>
            <a:endParaRPr b="0" i="0" sz="1800" u="none" cap="none" strike="noStrike">
              <a:latin typeface="Cambria"/>
              <a:ea typeface="Cambria"/>
              <a:cs typeface="Cambria"/>
              <a:sym typeface="Cambria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</a:pPr>
            <a:r>
              <a:rPr b="1" i="0" lang="hr-HR" sz="2000" u="none" cap="none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Linearni niz (linear array):</a:t>
            </a:r>
            <a:endParaRPr b="0" i="0" sz="2000" u="none" cap="none" strike="noStrike">
              <a:latin typeface="Cambria"/>
              <a:ea typeface="Cambria"/>
              <a:cs typeface="Cambria"/>
              <a:sym typeface="Cambria"/>
            </a:endParaRPr>
          </a:p>
          <a:p>
            <a:pPr indent="-216000" lvl="2" marL="647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b="1" i="0" lang="hr-HR" sz="1800" u="none" cap="none" strike="noStrik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Složenost mreže: </a:t>
            </a:r>
            <a:r>
              <a:rPr b="1" i="1" lang="hr-HR" sz="1800" u="none" cap="none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O(N)</a:t>
            </a:r>
            <a:endParaRPr b="0" i="0" sz="1800" u="none" cap="none" strike="noStrike">
              <a:latin typeface="Cambria"/>
              <a:ea typeface="Cambria"/>
              <a:cs typeface="Cambria"/>
              <a:sym typeface="Cambria"/>
            </a:endParaRPr>
          </a:p>
          <a:p>
            <a:pPr indent="-216000" lvl="2" marL="647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b="1" i="0" lang="hr-HR" sz="1800" u="none" cap="none" strike="noStrik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Vremenska složenost komunikacije:</a:t>
            </a:r>
            <a:r>
              <a:rPr b="1" i="1" lang="hr-HR" sz="1800" u="none" cap="none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 O(N)</a:t>
            </a:r>
            <a:endParaRPr b="0" i="0" sz="1800" u="none" cap="none" strike="noStrike">
              <a:latin typeface="Cambria"/>
              <a:ea typeface="Cambria"/>
              <a:cs typeface="Cambria"/>
              <a:sym typeface="Cambria"/>
            </a:endParaRPr>
          </a:p>
          <a:p>
            <a:pPr indent="-164564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None/>
            </a:pPr>
            <a:r>
              <a:t/>
            </a:r>
            <a:endParaRPr b="0" i="0" sz="1800" u="none" cap="none" strike="noStrike">
              <a:latin typeface="Cambria"/>
              <a:ea typeface="Cambria"/>
              <a:cs typeface="Cambria"/>
              <a:sym typeface="Cambria"/>
            </a:endParaRPr>
          </a:p>
          <a:p>
            <a:pPr indent="-113940" lvl="0" marL="45720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</a:pPr>
            <a:r>
              <a:t/>
            </a:r>
            <a:endParaRPr b="0" sz="1800" strike="noStrike">
              <a:latin typeface="Cambria"/>
              <a:ea typeface="Cambria"/>
              <a:cs typeface="Cambria"/>
              <a:sym typeface="Cambria"/>
            </a:endParaRPr>
          </a:p>
          <a:p>
            <a:pPr indent="-190259" lvl="1" marL="91440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4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Message passing systems for parallel computing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4"/>
          <p:cNvSpPr/>
          <p:nvPr/>
        </p:nvSpPr>
        <p:spPr>
          <a:xfrm>
            <a:off x="1038600" y="1368000"/>
            <a:ext cx="73005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000" u="sng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PVM - Parallel Virtual Machine (sredina 1990)</a:t>
            </a:r>
            <a:endParaRPr b="0" sz="2000" strike="noStrike">
              <a:latin typeface="Cambria"/>
              <a:ea typeface="Cambria"/>
              <a:cs typeface="Cambria"/>
              <a:sym typeface="Cambria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b="1" lang="hr-HR" sz="18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Upravljanje mrežom računala (Unix/Windows) koje se mogu koristiti kao distribuirano paralelno računalo</a:t>
            </a:r>
            <a:endParaRPr b="1" sz="18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b="1" lang="hr-HR" sz="18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Fokus na heterogene arhitekture</a:t>
            </a:r>
            <a:endParaRPr b="1" sz="18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78864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Char char="●"/>
            </a:pPr>
            <a:r>
              <a:rPr b="1" lang="hr-HR" sz="18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Apstrakcija virtualnog računala, upravljanje mrežom računala (Unix/Windows) koja se mogu koristiti kao distribuirano paralelno računalo</a:t>
            </a:r>
            <a:endParaRPr b="1" sz="18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78864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Char char="●"/>
            </a:pPr>
            <a:r>
              <a:rPr b="1" lang="hr-HR" sz="18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Snažna podrška za heterogene arhitekture</a:t>
            </a:r>
            <a:endParaRPr b="1" sz="18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78864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Char char="●"/>
            </a:pPr>
            <a:r>
              <a:rPr b="1" lang="hr-HR" sz="18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Napredno upravljanje procesima, fault tolerance, dinamičke arhitekture, skalabilnost</a:t>
            </a:r>
            <a:endParaRPr b="0" i="0" sz="1800" u="none" cap="none" strike="noStrike"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000" u="sng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MPI - Message Passing Interface</a:t>
            </a:r>
            <a:endParaRPr b="1" sz="18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78864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Char char="●"/>
            </a:pPr>
            <a:r>
              <a:rPr b="1" lang="hr-HR" sz="18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Fokus na učinkovitost (brzinu) komunikacije</a:t>
            </a:r>
            <a:endParaRPr b="1" sz="18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78864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Char char="●"/>
            </a:pPr>
            <a:r>
              <a:rPr b="1" lang="hr-HR" sz="18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Napredno upravljanje komunikacijom, topologije</a:t>
            </a:r>
            <a:endParaRPr b="1" sz="18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78864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Char char="●"/>
            </a:pPr>
            <a:r>
              <a:rPr b="1" lang="hr-HR" sz="18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Optimizacija za homogene sustave, efikasniji sustav</a:t>
            </a:r>
            <a:endParaRPr b="1" sz="18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190259" lvl="1" marL="91440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5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MPI - </a:t>
            </a: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Message Passing Interface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5"/>
          <p:cNvSpPr/>
          <p:nvPr/>
        </p:nvSpPr>
        <p:spPr>
          <a:xfrm>
            <a:off x="1038600" y="1368000"/>
            <a:ext cx="73005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 u="sng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Specifikacija biblioteke za prijenos poruka za programere</a:t>
            </a:r>
            <a:endParaRPr b="1" sz="24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91564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Char char="●"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Model paralelnog programiranja temeljen na razmjeni poruka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91564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Char char="●"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Prijenos podataka iz adresnog područja jednog pocesora u adresno podrulje drugog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91564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icksand"/>
              <a:buChar char="●"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Kooperativne operacije (suradnja dvaju ili više procesora)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91564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icksand"/>
              <a:buChar char="●"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Podrška za C/C++ i Fortran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91564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Char char="●"/>
            </a:pPr>
            <a:r>
              <a:rPr b="1" lang="hr-HR" sz="20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Značajke: portabilnost, praktičnost, učinkovitost, fleksibilnost</a:t>
            </a:r>
            <a:endParaRPr b="1" sz="20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 u="sng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Industry standard: nije dio IEEE ili ISO standarda</a:t>
            </a:r>
            <a:endParaRPr b="1" sz="2400" u="sng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6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MPI model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5725" y="1269850"/>
            <a:ext cx="6342000" cy="256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7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MPI model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5725" y="1269850"/>
            <a:ext cx="6342000" cy="256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5725" y="3943900"/>
            <a:ext cx="6342000" cy="2568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8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MPI - </a:t>
            </a: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Specifikacija biblioteke za prijenos poruka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8"/>
          <p:cNvSpPr/>
          <p:nvPr/>
        </p:nvSpPr>
        <p:spPr>
          <a:xfrm>
            <a:off x="1038600" y="1368000"/>
            <a:ext cx="73005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 u="sng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Implementacije:</a:t>
            </a:r>
            <a:endParaRPr b="1" sz="24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2400" u="sng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aphicFrame>
        <p:nvGraphicFramePr>
          <p:cNvPr id="221" name="Google Shape;221;p48"/>
          <p:cNvGraphicFramePr/>
          <p:nvPr/>
        </p:nvGraphicFramePr>
        <p:xfrm>
          <a:off x="952500" y="247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{F43DF3B8-714D-4327-B88B-72998F82CDCC}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Implementacija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OS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Compilers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MPICH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Unix/Linux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GNU, Intel, AOCC, ...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MVAPICH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Unix/Linux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GNU, Intel, Clang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Open MPI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Unix/Linux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GNU, Intel, Clang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Intel MPI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Unix/Linux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Intel, GNU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IBM MPI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Coral Early Access, Sierra clusters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IBM, GNU, PGI, Clang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9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Struktura MPI programa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988" y="1083327"/>
            <a:ext cx="4790013" cy="54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0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Komunikatori - kolekcije procesa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50"/>
          <p:cNvSpPr/>
          <p:nvPr/>
        </p:nvSpPr>
        <p:spPr>
          <a:xfrm>
            <a:off x="1038600" y="1368000"/>
            <a:ext cx="73005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 u="sng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Mogućnost definiranja skupina procesa koji mogu međusobno komunicirati</a:t>
            </a:r>
            <a:endParaRPr b="1" sz="24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91564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Char char="●"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MPI komunikacijske rutine u pravilu zahtijevaju navođenje kolekcije procesa (komunikatora) kao argumenta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91564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Char char="●"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Unutar </a:t>
            </a: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komunikatora</a:t>
            </a: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, svaki proces ima svoj jedinstveni identifikator - RANK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icksand"/>
              <a:buChar char="●"/>
            </a:pPr>
            <a:r>
              <a:rPr b="1" lang="hr-HR" sz="20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MPI_COMM_WORLD: </a:t>
            </a: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standardni komunikator koji uključuje sve procese u MPI programu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icksand"/>
              <a:buChar char="●"/>
            </a:pPr>
            <a:r>
              <a:rPr b="1" lang="hr-HR" sz="20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MPI_COMM_SELF:</a:t>
            </a: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komunikator koji uključuje samo proces pozivatelj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Char char="●"/>
            </a:pPr>
            <a:r>
              <a:rPr b="1" lang="hr-HR" sz="20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User-defined communicators:</a:t>
            </a:r>
            <a:r>
              <a:rPr b="1" lang="hr-HR" sz="20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dinamički kreirani komunikatori koji uključuju proizvoljan podskup procesa</a:t>
            </a:r>
            <a:endParaRPr b="1" sz="2400" u="sng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1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Komunikatori i grupe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51"/>
          <p:cNvSpPr/>
          <p:nvPr/>
        </p:nvSpPr>
        <p:spPr>
          <a:xfrm>
            <a:off x="1038600" y="1368000"/>
            <a:ext cx="73005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 u="sng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Grupa predstavlja kolekciju procesa koja se koristi kao temelj za kreiranje komunikatora</a:t>
            </a:r>
            <a:endParaRPr b="1" sz="2400" u="sng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u="sng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0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Komunikatori i grupe:</a:t>
            </a:r>
            <a:endParaRPr b="1" sz="20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91564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Char char="●"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Komunikator tvori komunikacijski kontekst, grupa definira kolekciju procesa za kreiranje komunikatora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91564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Char char="●"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Grupe se prvenstveno koriste za organiziranje procesa, dok se komunikatori koriste pri pozivanju MPI funkcijskih poziva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91564" lvl="1" marL="431999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icksand"/>
              <a:buChar char="●"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Iz iste grupe moguće je stvoriti više različitih komunikatora s različitim organizacijskim postavkama</a:t>
            </a:r>
            <a:endParaRPr b="1" sz="2400" u="sng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2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MPI environment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2"/>
          <p:cNvSpPr/>
          <p:nvPr/>
        </p:nvSpPr>
        <p:spPr>
          <a:xfrm>
            <a:off x="1038600" y="1368000"/>
            <a:ext cx="73005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NAME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MPI_Init -  Initialize the MPI execution environment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SYNOPSIS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#include "mpi.h"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int MPI_Init(int *argc, char ***argv)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INPUT PARAMETERS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argc   - Pointer to the number of arguments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argv   - Pointer to the argument vector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Inicijalizira MPI okruženje. Ova funkcija mora se pozvati u svakom MPI programu, mora se pozvati prije bilo koje druge MPI funkcije i mora se pozvati samo jednom u MPI programu.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 u="sng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2400" u="sng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3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MPI environment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3"/>
          <p:cNvSpPr/>
          <p:nvPr/>
        </p:nvSpPr>
        <p:spPr>
          <a:xfrm>
            <a:off x="910700" y="1368000"/>
            <a:ext cx="80898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NAME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MPI_Initialized -  Indicates whether MPI_Init has been called.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SYNOPSIS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#include "mpi.h"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int MPI_Initialized( int *flag 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OUTPUT PARAMETER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flag   -  Flag is true if MPI_Init has been called and false otherwise.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Provjerava jeli pozvana rutina MPI_Init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2400" u="sng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2400" u="sng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4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MPI environment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54"/>
          <p:cNvSpPr/>
          <p:nvPr/>
        </p:nvSpPr>
        <p:spPr>
          <a:xfrm>
            <a:off x="1038600" y="1368000"/>
            <a:ext cx="73005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NAME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MPI_Comm_size  -   Determines  the  size of the group  associated with a  communicator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SYNOPSIS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#include "mpi.h"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int MPI_Comm_size ( MPI_Comm comm, int *size 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INPUT PARAMETER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comm   - communicator (handle)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Vraća ukupni broj MPI procesa u zadanom komunikatoru. Ako je kao argument zadan  komunikator MPI_COMM_WORLD, tada predstavlja broj ukupan MPI zadataka dostupnih aplikaciji.</a:t>
            </a:r>
            <a:endParaRPr b="1" sz="2400" u="sng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5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MPI environment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5"/>
          <p:cNvSpPr/>
          <p:nvPr/>
        </p:nvSpPr>
        <p:spPr>
          <a:xfrm>
            <a:off x="1038600" y="1368000"/>
            <a:ext cx="73005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NAME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MPI_Comm_rank -  Determines the rank of the calling process in the communicator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SYNOPSIS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#include "mpi.h"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int MPI_Comm_rank ( MPI_Comm comm, int *rank 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INPUT PARAMETERS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comm   - communicator (handle)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Vraća rang pozivajućeg MPI procesa unutar zadanog komunikatora (jedinstveni cijeli broj od 0 do broja zadataka - 1 unutar komunikatora MPI_COMM_WORLD). Ako se proces poveže s drugim komunikatorima, imat će jedinstveni rang unutar svakog od njih.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6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MPI environment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56"/>
          <p:cNvSpPr/>
          <p:nvPr/>
        </p:nvSpPr>
        <p:spPr>
          <a:xfrm>
            <a:off x="1038600" y="1368000"/>
            <a:ext cx="78879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NAME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MPI_Get_processor_name -  Gets the name of the processor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SYNOPSIS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#include "mpi.h"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int MPI_Get_processor_name(char *name, int *resultlen)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OUTPUT PARAMETERS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name   -  A  unique  specifier  for  the actual node. This must be an array of  size  at  least  MPI_MAX_PROCESSOR_NAME .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Krajnji rezultat je definiran implementacijom. Ovo ime može, ali i ne mora, biti isto kao što se može dobiti putem gethostname, uname ili sysinfo.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7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MPI environment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57"/>
          <p:cNvSpPr/>
          <p:nvPr/>
        </p:nvSpPr>
        <p:spPr>
          <a:xfrm>
            <a:off x="1038600" y="1368000"/>
            <a:ext cx="78879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NAME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MPI_Abort -  Terminates MPI execution environment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SYNOPSIS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#include "mpi.h"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int MPI_Abort( MPI_Comm comm, int errorcode 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INPUT PARAMETERS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comm   - communicator of tasks to abort errorcode - error code to return to invoking environment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Prekida izvršavanje svih MPI procesa povezanih s komunikatorom. U većini MPI implementacija, obustavlja SVE procese bez obzira na komunikator koji je specificiran.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8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MPI environment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8"/>
          <p:cNvSpPr/>
          <p:nvPr/>
        </p:nvSpPr>
        <p:spPr>
          <a:xfrm>
            <a:off x="1038600" y="1368000"/>
            <a:ext cx="78879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NAME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MPI_Finalize -  Terminates MPI execution environment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SYNOPSIS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#include "mpi.h"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int MPI_Finalize()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Završava MPI izvršno okruženje. Ova funkcija treba biti posljednja MPI rutina koja se poziva u svakom MPI programu - nakon nje ne smiju se pozivati druge MPI rutine.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9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MPI environment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59"/>
          <p:cNvSpPr/>
          <p:nvPr/>
        </p:nvSpPr>
        <p:spPr>
          <a:xfrm>
            <a:off x="1038600" y="1368000"/>
            <a:ext cx="78879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MPI_Get_version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Returns the version and subversion of the MPI standard that’s implemented by the library.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MPI_Wtime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Returns an elapsed wall clock time in seconds (double precision) on the calling processor.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MPI_Wtick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Returns the resolution in seconds (double precision) of MPI_Wtime.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60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MPI environment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3" name="Google Shape;29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16450"/>
            <a:ext cx="8839198" cy="4382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61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Point to Point communication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61"/>
          <p:cNvSpPr/>
          <p:nvPr/>
        </p:nvSpPr>
        <p:spPr>
          <a:xfrm>
            <a:off x="1038600" y="1368000"/>
            <a:ext cx="78879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“Point to Point” komunikaija uključuje razmjenu poruka (Message Passing) između dva različita MPI procesa, pri čemu jedan zadatak šalje (send operation), a drugi prima (receive operation) podatke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0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Tipovi Point to Point operacija: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rtl="0" algn="l">
              <a:spcBef>
                <a:spcPts val="601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icksand"/>
              <a:buChar char="●"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Synchronous send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icksand"/>
              <a:buChar char="●"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Blocking send / blocking receive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icksand"/>
              <a:buChar char="●"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Non-blocking send / non-blocking receive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icksand"/>
              <a:buChar char="●"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Buffered send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icksand"/>
              <a:buChar char="●"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Combined send/receive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icksand"/>
              <a:buChar char="●"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“Ready” send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2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Synchronous Send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62"/>
          <p:cNvSpPr/>
          <p:nvPr/>
        </p:nvSpPr>
        <p:spPr>
          <a:xfrm>
            <a:off x="1038600" y="1368000"/>
            <a:ext cx="78879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Proces koji šalje poruku čeka da proces koji bi trebao primiti poruku ne </a:t>
            </a: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počne</a:t>
            </a: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s primanjem. Na </a:t>
            </a: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ovaj</a:t>
            </a: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način implicitno je implementirana i </a:t>
            </a: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sinkronizacija</a:t>
            </a: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među procesima - oba procesa moraju doći do zadane točke u programu prije nego što nastave dalje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Use Case: 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Koristi se kada je potrebno osigurati koordinaciju između pošiljetelja i primatelja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3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Blocking Send / Blocking Receive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63"/>
          <p:cNvSpPr/>
          <p:nvPr/>
        </p:nvSpPr>
        <p:spPr>
          <a:xfrm>
            <a:off x="1038600" y="1368000"/>
            <a:ext cx="78879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Proces koji šalje blokiran je dok se podaci ne kopiraju u sistemski </a:t>
            </a: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buffer</a:t>
            </a: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(implementiran na razini MPI platforme), nakon čega se buffer u pošiljatelju može koristiti za nove podatke. Kod primanja podataka, proces je blokiran dok poruka nije primljena u cjelini.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Use Case: 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Koristi se kada je potrebno osigurati da su podaci sigurno poslani ili primljeni prije nastavka izvršavanja procesa </a:t>
            </a:r>
            <a:r>
              <a:rPr b="1" lang="hr-HR" sz="2400" u="sng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(koji je pozvao odgovarajuću proceduru primanja ili slanja)</a:t>
            </a:r>
            <a:endParaRPr b="1" sz="2400" u="sng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4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Non-blocking Send / Non-blocking Receive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64"/>
          <p:cNvSpPr/>
          <p:nvPr/>
        </p:nvSpPr>
        <p:spPr>
          <a:xfrm>
            <a:off x="1038600" y="1368000"/>
            <a:ext cx="78879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Omogućuje procesu koji šalje ili prima podatke da nastavi s radom bez čekanja da se operacija slanja ili primanja u cijelosti izvrši. 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Use Case: 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Koriste se u kombinaciji s dugim izračunima koji ne koriste podatke koji se upravo šalju ili primaju, čime se maksimizira paralelizam i smanjuje vrijeme čekanja i neaktivnosti resursa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65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Buffered Send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65"/>
          <p:cNvSpPr/>
          <p:nvPr/>
        </p:nvSpPr>
        <p:spPr>
          <a:xfrm>
            <a:off x="1038600" y="1368000"/>
            <a:ext cx="78879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Poslani podaci pohranjuju se u </a:t>
            </a: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sistemski</a:t>
            </a: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MPI buffer gdje se zadržavaju dok primatelj nije spreman da ih primi. Pošiljatelj može poslati poruku i nastaviti s radom bez potrebe da primatelj dođe do određene točke u kodu.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Use Case:</a:t>
            </a: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Koristi se kada se ne može osigurati da će se vrijeme pozivanja operacija slanja i primanja u dva različita procesa podudarati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6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Combined Send/Receive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66"/>
          <p:cNvSpPr/>
          <p:nvPr/>
        </p:nvSpPr>
        <p:spPr>
          <a:xfrm>
            <a:off x="1038600" y="1368000"/>
            <a:ext cx="78879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Slanje i primanje poruka u jednom pozivu, pojednostavljuje kod smanjivanjem broja funkcijskih poziva. Mogućnost dodatne optimizacije koda kod nekih MPI implementacija.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Use Case: 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Korisno u jasno </a:t>
            </a: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strukturiranim</a:t>
            </a: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i usko povezanim programima u scenarijima gdje proces šalje podatke dok istovremeno očekuje nove podatke od drugog procesa. 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67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"Ready" Send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67"/>
          <p:cNvSpPr/>
          <p:nvPr/>
        </p:nvSpPr>
        <p:spPr>
          <a:xfrm>
            <a:off x="1038600" y="1368000"/>
            <a:ext cx="78879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Omogućuje pošiljatelju da izravno pošalje poruku primatelju. Pošiljatelj mora osiguratu da je proces primatelj objavio odgovarajuću operaciju primanja za tu poruku.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Use Case: 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Napredni scenariji kod kojih je obrazac komunikacije dobro definiran, a pošiljatelj može predvidjeti da je primatelj spreman prihvatiti poruku.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8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Buffering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68"/>
          <p:cNvSpPr/>
          <p:nvPr/>
        </p:nvSpPr>
        <p:spPr>
          <a:xfrm>
            <a:off x="1038600" y="1368000"/>
            <a:ext cx="78879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Omogućava razmjenu poruka između procesa koji nisu sinkronizirani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Način bufferiranja definiran</a:t>
            </a:r>
            <a:b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je na razini implementacije,</a:t>
            </a:r>
            <a:b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ne MPI standarda: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68300" lvl="0" marL="457200" rtl="0" algn="l">
              <a:spcBef>
                <a:spcPts val="601"/>
              </a:spcBef>
              <a:spcAft>
                <a:spcPts val="0"/>
              </a:spcAft>
              <a:buClr>
                <a:schemeClr val="lt1"/>
              </a:buClr>
              <a:buSzPts val="2200"/>
              <a:buFont typeface="Quicksand"/>
              <a:buChar char="●"/>
            </a:pP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Skriveno od programera</a:t>
            </a:r>
            <a:endParaRPr b="1" sz="22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Quicksand"/>
              <a:buChar char="●"/>
            </a:pP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Konačan resurs koji se</a:t>
            </a:r>
            <a:b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može lako iscrpiti</a:t>
            </a:r>
            <a:endParaRPr b="1" sz="22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Quicksand"/>
              <a:buChar char="●"/>
            </a:pP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Slabo dokumentirano</a:t>
            </a:r>
            <a:endParaRPr b="1" sz="22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Quicksand"/>
              <a:buChar char="●"/>
            </a:pP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Moguće implementacije na</a:t>
            </a:r>
            <a:b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strani pošiljatelja,</a:t>
            </a:r>
            <a:b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primatelja, ili na obje</a:t>
            </a:r>
            <a:b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strane</a:t>
            </a:r>
            <a:endParaRPr b="1" sz="22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342" name="Google Shape;34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5825" y="2159400"/>
            <a:ext cx="3715400" cy="356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9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Blocking vs. Non-blocking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69"/>
          <p:cNvSpPr/>
          <p:nvPr/>
        </p:nvSpPr>
        <p:spPr>
          <a:xfrm>
            <a:off x="1038600" y="1368000"/>
            <a:ext cx="78879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Većina MPI komunikacijskih rutina može se pozvati u blokirajućem i neblokirajućem modu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 u="sng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Blocking:</a:t>
            </a:r>
            <a:endParaRPr b="1" sz="2400" u="sng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68300" lvl="0" marL="457200" rtl="0" algn="l">
              <a:spcBef>
                <a:spcPts val="601"/>
              </a:spcBef>
              <a:spcAft>
                <a:spcPts val="0"/>
              </a:spcAft>
              <a:buClr>
                <a:schemeClr val="lt1"/>
              </a:buClr>
              <a:buSzPts val="2200"/>
              <a:buFont typeface="Quicksand"/>
              <a:buChar char="●"/>
            </a:pP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Blokirajuće slanje se vraća tek nakon što je sigurno modificirati buffer procesa (lokalne podatke)</a:t>
            </a:r>
            <a:endParaRPr b="1" sz="22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Quicksand"/>
              <a:buChar char="●"/>
            </a:pP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Ne implicira da su podaci primljeni</a:t>
            </a:r>
            <a:endParaRPr b="1" sz="22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Quicksand"/>
              <a:buChar char="●"/>
            </a:pP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Može biti sinkrono ili </a:t>
            </a: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asinkrono</a:t>
            </a: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(koristi se sistemski buffer)</a:t>
            </a:r>
            <a:endParaRPr b="1" sz="22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Quicksand"/>
              <a:buChar char="●"/>
            </a:pP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Blokirajuće primanje vraća se nakon što su podaci primljeni i spremni za upotrebu</a:t>
            </a:r>
            <a:endParaRPr b="1" sz="22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70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Blocking vs. Non-blocking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70"/>
          <p:cNvSpPr/>
          <p:nvPr/>
        </p:nvSpPr>
        <p:spPr>
          <a:xfrm>
            <a:off x="1038600" y="1368000"/>
            <a:ext cx="78879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 u="sng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Non-b</a:t>
            </a:r>
            <a:r>
              <a:rPr b="1" lang="hr-HR" sz="2400" u="sng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locking:</a:t>
            </a:r>
            <a:endParaRPr b="1" sz="2400" u="sng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68300" lvl="0" marL="457200" rtl="0" algn="l">
              <a:spcBef>
                <a:spcPts val="601"/>
              </a:spcBef>
              <a:spcAft>
                <a:spcPts val="0"/>
              </a:spcAft>
              <a:buClr>
                <a:schemeClr val="lt1"/>
              </a:buClr>
              <a:buSzPts val="2200"/>
              <a:buFont typeface="Quicksand"/>
              <a:buChar char="●"/>
            </a:pP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Poziv rutine (primanje i slanje) se vraća odmah, bez čekanja da se stvarna komunikacija završi</a:t>
            </a:r>
            <a:endParaRPr b="1" sz="22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Quicksand"/>
              <a:buChar char="●"/>
            </a:pP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Neblokirajuće operacije daju nalog MPI biblioteci da izvrši operaciju kada to bude moguće, bez mogućnosti predviđanja kada će se to stvarno dogoditi</a:t>
            </a:r>
            <a:endParaRPr b="1" sz="22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Quicksand"/>
              <a:buChar char="●"/>
            </a:pP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Programer mora osigurati da se lokalni buffer ne modificira dok se neblokirajuća operacija zaista ne izvrši</a:t>
            </a:r>
            <a:endParaRPr b="1" sz="22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Quicksand"/>
              <a:buChar char="●"/>
            </a:pP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Korisno za istovremeno izvršavanje izračuna i komunikacije</a:t>
            </a:r>
            <a:endParaRPr b="1" sz="22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71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Redoslijed</a:t>
            </a: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operacija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71"/>
          <p:cNvSpPr/>
          <p:nvPr/>
        </p:nvSpPr>
        <p:spPr>
          <a:xfrm>
            <a:off x="1038600" y="1368000"/>
            <a:ext cx="78879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MPI jamči da poruke ne mogu “prestizati” jedna drugu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68300" lvl="0" marL="457200" rtl="0" algn="l">
              <a:spcBef>
                <a:spcPts val="601"/>
              </a:spcBef>
              <a:spcAft>
                <a:spcPts val="0"/>
              </a:spcAft>
              <a:buClr>
                <a:schemeClr val="lt1"/>
              </a:buClr>
              <a:buSzPts val="2200"/>
              <a:buFont typeface="Quicksand"/>
              <a:buChar char="●"/>
            </a:pP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Ako pošiljatelj šalje dvije poruke (poruka 1 i poruka 2) uzastopno, istom primatelju, aobje se podudaraju s istim primanjem, operacija primanja će primiti poruku 1 prije poruke 2</a:t>
            </a:r>
            <a:endParaRPr b="1" sz="22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Quicksand"/>
              <a:buChar char="●"/>
            </a:pP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Ako primatelj postavi dva primanja (primanje 1 i primanje 2) uzastopno i oba traže istu poruku, primanje 1 će primiti poruku prije primanja 2</a:t>
            </a:r>
            <a:endParaRPr b="1" sz="22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Pravila redosljeda ne primjenjuju se ako u komunikacijskim operacijama sudjeluje više niti 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72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Pravednost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72"/>
          <p:cNvSpPr/>
          <p:nvPr/>
        </p:nvSpPr>
        <p:spPr>
          <a:xfrm>
            <a:off x="1038600" y="1368000"/>
            <a:ext cx="78879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MPI ne jamči pravednost - zadatak programera je da spriječi iscrpljivanje komunikacijskih resursa (operation starvation)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68300" lvl="0" marL="457200" rtl="0" algn="l">
              <a:spcBef>
                <a:spcPts val="601"/>
              </a:spcBef>
              <a:spcAft>
                <a:spcPts val="0"/>
              </a:spcAft>
              <a:buClr>
                <a:schemeClr val="lt1"/>
              </a:buClr>
              <a:buSzPts val="2200"/>
              <a:buFont typeface="Quicksand"/>
              <a:buChar char="●"/>
            </a:pP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Primjer: zadatak 0 šalje poruku zadatku 2. Međutim, zadatak 1 šalje konkuretne poruke koje se podudaraju s primanjem</a:t>
            </a:r>
            <a:b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zadatka 2. Samo jedna</a:t>
            </a:r>
            <a:b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od poslanih poruka će</a:t>
            </a:r>
            <a:b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biti primljena.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367" name="Google Shape;36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3150" y="3411950"/>
            <a:ext cx="3938750" cy="328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73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Argumenti MPI Point to Point funkcija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3" name="Google Shape;373;p73"/>
          <p:cNvGraphicFramePr/>
          <p:nvPr/>
        </p:nvGraphicFramePr>
        <p:xfrm>
          <a:off x="952500" y="137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{F43DF3B8-714D-4327-B88B-72998F82CDCC}</a:tableStyleId>
              </a:tblPr>
              <a:tblGrid>
                <a:gridCol w="2048725"/>
                <a:gridCol w="5732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Blocking sends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MPI_Send(buffer,count,type,dest,tag,comm) 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Non-blocking sends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MPI_Isend(buffer,count,type,dest,tag,comm,request) 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Blocking receive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MPI_Recv(buffer,count,type,source,tag,comm,status)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Non-blocking receive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MPI_Irecv(buffer,count,type,source,tag,comm,request)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74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Argumenti MPI Point to Point funkcija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9" name="Google Shape;379;p74"/>
          <p:cNvGraphicFramePr/>
          <p:nvPr/>
        </p:nvGraphicFramePr>
        <p:xfrm>
          <a:off x="952500" y="137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{F43DF3B8-714D-4327-B88B-72998F82CDCC}</a:tableStyleId>
              </a:tblPr>
              <a:tblGrid>
                <a:gridCol w="2048725"/>
                <a:gridCol w="5732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Blocking sends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MPI_Send(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buffer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,count,type,dest,tag,comm) 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Non-blocking sends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MPI_Isend(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buffer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,count,type,dest,tag,comm,request) 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Blocking receive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MPI_Recv(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buffer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,count,type,source,tag,comm,status)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Non-blocking receive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MPI_Irecv(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buffer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,count,type,source,tag,comm,request)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0" name="Google Shape;380;p74"/>
          <p:cNvSpPr txBox="1"/>
          <p:nvPr/>
        </p:nvSpPr>
        <p:spPr>
          <a:xfrm>
            <a:off x="952500" y="3885375"/>
            <a:ext cx="7781700" cy="23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buffer</a:t>
            </a:r>
            <a:endParaRPr b="1" sz="22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Adresni prostor procesa (varijabla) koji referencira podatke koje šaljemo ili primamo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U C programima ovaj argument često prenosimo po referenci (npr. &amp;var)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b="1" sz="22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75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Argumenti MPI Point to Point funkcija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6" name="Google Shape;386;p75"/>
          <p:cNvGraphicFramePr/>
          <p:nvPr/>
        </p:nvGraphicFramePr>
        <p:xfrm>
          <a:off x="952500" y="137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{F43DF3B8-714D-4327-B88B-72998F82CDCC}</a:tableStyleId>
              </a:tblPr>
              <a:tblGrid>
                <a:gridCol w="2048725"/>
                <a:gridCol w="5732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Blocking sends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MPI_Send(buffer,count,type,dest,tag,comm) 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Non-blocking sends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MPI_Isend(buffer,count,type,dest,tag,comm,request) 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Blocking receive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MPI_Recv(buffer,count,type,source,tag,comm,status)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Non-blocking receive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MPI_Irecv(buffer,count,type,source,tag,comm,request)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7" name="Google Shape;387;p75"/>
          <p:cNvSpPr txBox="1"/>
          <p:nvPr/>
        </p:nvSpPr>
        <p:spPr>
          <a:xfrm>
            <a:off x="952500" y="3885375"/>
            <a:ext cx="7781700" cy="23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count</a:t>
            </a:r>
            <a:endParaRPr b="1" sz="22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Adresni prostor procesa (varijabla) koji referencira podatke koje šaljemo ili primamo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U C programima ovaj argument često prenosimo po referenci (npr. &amp;var)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b="1" sz="22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76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Argumenti MPI Point to Point funkcija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3" name="Google Shape;393;p76"/>
          <p:cNvGraphicFramePr/>
          <p:nvPr/>
        </p:nvGraphicFramePr>
        <p:xfrm>
          <a:off x="952500" y="137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{F43DF3B8-714D-4327-B88B-72998F82CDCC}</a:tableStyleId>
              </a:tblPr>
              <a:tblGrid>
                <a:gridCol w="2048725"/>
                <a:gridCol w="5732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Blocking sends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MPI_Send(buffer,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count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,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type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,dest,tag,comm) 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Non-blocking sends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MPI_Isend(buffer,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count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,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type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,dest,tag,comm,request) 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Blocking receive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MPI_Recv(buffer,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count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,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type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,source,tag,comm,status)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Non-blocking receive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MPI_Irecv(buffer,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count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,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type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,source,tag,comm,request)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4" name="Google Shape;394;p76"/>
          <p:cNvSpPr txBox="1"/>
          <p:nvPr/>
        </p:nvSpPr>
        <p:spPr>
          <a:xfrm>
            <a:off x="952500" y="3885375"/>
            <a:ext cx="7781700" cy="20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count</a:t>
            </a:r>
            <a:endParaRPr b="1" sz="22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Broj podataka koji se šalje ili prima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r-HR" sz="2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type</a:t>
            </a:r>
            <a:endParaRPr b="1" sz="22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Tip podataka - MPI definira vlastite tipove podataka (zbog portabilnosti)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77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Argumenti MPI Point to Point funkcija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0" name="Google Shape;400;p77"/>
          <p:cNvGraphicFramePr/>
          <p:nvPr/>
        </p:nvGraphicFramePr>
        <p:xfrm>
          <a:off x="952500" y="137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{F43DF3B8-714D-4327-B88B-72998F82CDCC}</a:tableStyleId>
              </a:tblPr>
              <a:tblGrid>
                <a:gridCol w="2048725"/>
                <a:gridCol w="5732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Blocking sends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MPI_Send(buffer,count,type,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dest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,tag,comm) 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Non-blocking sends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MPI_Isend(buffer,count,type,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dest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,tag,comm,request) 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Blocking receive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MPI_Recv(buffer,count,type,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source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,tag,comm,status)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Non-blocking receive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MPI_Irecv(buffer,count,type,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source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,tag,comm,request)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1" name="Google Shape;401;p77"/>
          <p:cNvSpPr txBox="1"/>
          <p:nvPr/>
        </p:nvSpPr>
        <p:spPr>
          <a:xfrm>
            <a:off x="952500" y="3885375"/>
            <a:ext cx="7781700" cy="25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dest</a:t>
            </a:r>
            <a:endParaRPr b="1" sz="22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Definira rank procesa primatelja u zadanom komunikatoru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r-HR" sz="2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source</a:t>
            </a:r>
            <a:endParaRPr b="1" sz="22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Definira rank procesa pošiljatelja u zadanom komunikatoru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Kod primanja se može koristiti oznaka </a:t>
            </a:r>
            <a:r>
              <a:rPr b="1" lang="hr-HR" sz="20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MPI_ANY_SOURCE</a:t>
            </a:r>
            <a:endParaRPr b="1" sz="20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b="1" sz="22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8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Argumenti MPI Point to Point funkcija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7" name="Google Shape;407;p78"/>
          <p:cNvGraphicFramePr/>
          <p:nvPr/>
        </p:nvGraphicFramePr>
        <p:xfrm>
          <a:off x="952500" y="137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{F43DF3B8-714D-4327-B88B-72998F82CDCC}</a:tableStyleId>
              </a:tblPr>
              <a:tblGrid>
                <a:gridCol w="2048725"/>
                <a:gridCol w="5732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Blocking sends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MPI_Send(buffer,count,type,dest,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tag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,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comm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) 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Non-blocking sends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MPI_Isend(buffer,count,type,dest,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tag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,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comm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,request) 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Blocking receive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MPI_Recv(buffer,count,type,source,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tag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,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comm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,status)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Non-blocking receive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MPI_Irecv(buffer,count,type,source,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tag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,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comm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,request)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8" name="Google Shape;408;p78"/>
          <p:cNvSpPr txBox="1"/>
          <p:nvPr/>
        </p:nvSpPr>
        <p:spPr>
          <a:xfrm>
            <a:off x="952500" y="3885375"/>
            <a:ext cx="7899600" cy="28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comm</a:t>
            </a:r>
            <a:endParaRPr b="1" sz="22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komunikator - komunikacijski kontekst, skup procesa. Inicijalno, svi procesi dio su komunikatora </a:t>
            </a:r>
            <a:r>
              <a:rPr b="1" lang="hr-HR" sz="20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MPI_COMM_WORLD</a:t>
            </a:r>
            <a:endParaRPr b="1" sz="20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r-HR" sz="2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tag</a:t>
            </a:r>
            <a:endParaRPr b="1" sz="22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Oznaka poruke, nenegativni cijeli broj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Za operaciju primanja može se koristiti tag </a:t>
            </a:r>
            <a:r>
              <a:rPr b="1" lang="hr-HR" sz="20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MPI_ANY_TAG</a:t>
            </a:r>
            <a:endParaRPr b="1" sz="20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b="1" sz="22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79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Argumenti MPI Point to Point funkcija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4" name="Google Shape;414;p79"/>
          <p:cNvGraphicFramePr/>
          <p:nvPr/>
        </p:nvGraphicFramePr>
        <p:xfrm>
          <a:off x="952500" y="137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{F43DF3B8-714D-4327-B88B-72998F82CDCC}</a:tableStyleId>
              </a:tblPr>
              <a:tblGrid>
                <a:gridCol w="2048725"/>
                <a:gridCol w="5732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Blocking sends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MPI_Send(buffer,count,type,dest,tag,comm) 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Non-blocking sends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MPI_Isend(buffer,count,type,dest,tag,comm,request) 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Blocking receive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MPI_Recv(buffer,count,type,source,tag,comm,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status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)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Non-blocking receive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MPI_Irecv(buffer,count,type,source,tag,comm,request)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15" name="Google Shape;415;p79"/>
          <p:cNvSpPr txBox="1"/>
          <p:nvPr/>
        </p:nvSpPr>
        <p:spPr>
          <a:xfrm>
            <a:off x="952500" y="3885375"/>
            <a:ext cx="7781700" cy="20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status</a:t>
            </a:r>
            <a:endParaRPr b="1" sz="22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Nakon izvršene operacije sadrži izvor i oznaku poruke (u C-u struktura </a:t>
            </a:r>
            <a:r>
              <a:rPr b="1" lang="hr-HR" sz="20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MPI_status</a:t>
            </a: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Može se koristiti konstanta </a:t>
            </a:r>
            <a:r>
              <a:rPr b="1" lang="hr-HR" sz="20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MPI_STATUS_IGNORE</a:t>
            </a:r>
            <a:endParaRPr b="1" sz="20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b="1" sz="22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80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Argumenti MPI Point to Point funkcija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21" name="Google Shape;421;p80"/>
          <p:cNvGraphicFramePr/>
          <p:nvPr/>
        </p:nvGraphicFramePr>
        <p:xfrm>
          <a:off x="952500" y="137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{F43DF3B8-714D-4327-B88B-72998F82CDCC}</a:tableStyleId>
              </a:tblPr>
              <a:tblGrid>
                <a:gridCol w="2048725"/>
                <a:gridCol w="5732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Blocking sends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MPI_Send(buffer,count,type,dest,tag,comm) 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Non-blocking sends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MPI_Isend(buffer,count,type,dest,tag,comm,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request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) 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Blocking receive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MPI_Recv(buffer,count,type,source,tag,comm,status)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Non-blocking receive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MPI_Irecv(buffer,count,type,source,tag,comm,</a:t>
                      </a:r>
                      <a:r>
                        <a:rPr lang="hr-HR" sz="1800">
                          <a:solidFill>
                            <a:srgbClr val="39C0BA"/>
                          </a:solidFill>
                        </a:rPr>
                        <a:t>request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)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22" name="Google Shape;422;p80"/>
          <p:cNvSpPr txBox="1"/>
          <p:nvPr/>
        </p:nvSpPr>
        <p:spPr>
          <a:xfrm>
            <a:off x="952500" y="3885375"/>
            <a:ext cx="7781700" cy="26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request</a:t>
            </a:r>
            <a:endParaRPr b="1" sz="22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Vraća jedinstveni request handle (identifikator zahtjeva). Ovaj podataka naknadno se koristi za provjeru jeli zahtjev izvršen ili ne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U C-u se koristi pokazivač na predefiniranu strukturu </a:t>
            </a:r>
            <a:r>
              <a:rPr b="1" lang="hr-HR" sz="20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MPI_Request</a:t>
            </a:r>
            <a:endParaRPr b="1" sz="20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b="1" sz="22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81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MPI tipovi podataka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28" name="Google Shape;428;p81"/>
          <p:cNvGraphicFramePr/>
          <p:nvPr/>
        </p:nvGraphicFramePr>
        <p:xfrm>
          <a:off x="952500" y="137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{F43DF3B8-714D-4327-B88B-72998F82CDCC}</a:tableStyleId>
              </a:tblPr>
              <a:tblGrid>
                <a:gridCol w="3072475"/>
                <a:gridCol w="4709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MPI_CHAR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char</a:t>
                      </a: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 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MPI_SHORT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signed short int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signed int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MPI_LONG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signed long int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MPI_LONG_LONG_INT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signed long long int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MPI_UNSIGNED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unsigned int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MPI_FLOAT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float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MPI_DOUBLE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double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MPI_LONG_DOUBLE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long double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800">
                          <a:solidFill>
                            <a:schemeClr val="lt1"/>
                          </a:solidFill>
                        </a:rPr>
                        <a:t>…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82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Blokirajuće P2P komunikacijske rutine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82"/>
          <p:cNvSpPr txBox="1"/>
          <p:nvPr/>
        </p:nvSpPr>
        <p:spPr>
          <a:xfrm>
            <a:off x="1165325" y="1233450"/>
            <a:ext cx="7781700" cy="56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NAME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MPI_Send -  Performs a basic send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SYNOPSIS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#include "mpi.h"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457200" lvl="0" marL="0" rtl="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int MPI_Send( void *buf, int count, MPI_Datatype datatype, </a:t>
            </a:r>
            <a:b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					int dest, int tag, MPI_Comm comm )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INPUT PARAMETERS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buf    - initial address of send buffer (choice)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count  - number of elements in send buffer (nonnegative</a:t>
            </a:r>
            <a:b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			integer) datatype - datatype of each send buffer</a:t>
            </a:r>
            <a:b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			element (handle)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dest   - rank of destination (integer)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tag    - message tag (integer)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comm   - communicator (handle)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2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83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Blokirajuće P2P komunikacijske rutine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83"/>
          <p:cNvSpPr txBox="1"/>
          <p:nvPr/>
        </p:nvSpPr>
        <p:spPr>
          <a:xfrm>
            <a:off x="1117925" y="1164050"/>
            <a:ext cx="7781700" cy="56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NAME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MPI_Recv -  Basic receive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SYNOPSIS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#include "mpi.h"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int MPI_Recv( void *buf, int count, MPI_Datatype datatype, </a:t>
            </a:r>
            <a:b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					int source, int tag, MPI_Comm comm,</a:t>
            </a:r>
            <a:b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					MPI_Status *status 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OUTPUT PARAMETERS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buf    - initial address of receive buffer (choice)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status - status object (Status)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INPUT PARAMETERS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count  - maximum number of elements in receive buffer 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datatype - datatype of each receive buffer element (handle)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source - rank of source (integer)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tag    - message tag (integer)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comm   - communicator (handle)</a:t>
            </a:r>
            <a:endParaRPr b="1" sz="22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84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Blokirajuće P2P komunikacijske rutine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84"/>
          <p:cNvSpPr txBox="1"/>
          <p:nvPr/>
        </p:nvSpPr>
        <p:spPr>
          <a:xfrm>
            <a:off x="1117925" y="1164050"/>
            <a:ext cx="7781700" cy="47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NAME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MPI_Ssend -  Basic synchronous send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SYNOPSIS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#include "mpi.h"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int MPI_Ssend( void *buf, int count, MPI_Datatype datatype,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               		int dest, int tag, MPI_Comm comm )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INPUT PARAMETERS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buf    - initial address of send buffer (choice)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count  - number of elements in send buffer 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datatype - datatype of each send buffer element (handle)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dest   - rank of destination (integer)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tag    - message tag (integer)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comm   - communicator (handle)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85"/>
          <p:cNvSpPr txBox="1"/>
          <p:nvPr/>
        </p:nvSpPr>
        <p:spPr>
          <a:xfrm>
            <a:off x="1165326" y="441725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Blokirajuće P2P komunikacijske rutine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85"/>
          <p:cNvSpPr txBox="1"/>
          <p:nvPr/>
        </p:nvSpPr>
        <p:spPr>
          <a:xfrm>
            <a:off x="1117925" y="929700"/>
            <a:ext cx="7781700" cy="60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NAME</a:t>
            </a:r>
            <a:endParaRPr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MPI_Sendrecv -  Sends and receives a message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SYNOPSIS</a:t>
            </a:r>
            <a:endParaRPr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#include "mpi.h"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int MPI_Sendrecv( void *sendbuf, int sendcount, MPI_Datatype sendtype,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                 int dest, int sendtag, void *recvbuf, int recvcount,</a:t>
            </a:r>
            <a:b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			MPI_Datatype recvtype, int source, int recvtag, </a:t>
            </a:r>
            <a:b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			MPI_Comm comm, MPI_Status *status )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INPUT PARAMETERS</a:t>
            </a:r>
            <a:endParaRPr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</a:t>
            </a:r>
            <a:r>
              <a:rPr b="1" lang="hr-HR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b="1" lang="hr-HR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sendbuf - initial address of send buffer (choice)</a:t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sendcount - number of elements in send buffer (integer)</a:t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sendtype - type of elements in send buffer (handle)</a:t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dest   - rank of destination (integer)</a:t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sendtag - send tag (integer)</a:t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recvcount - number of elements in receive buffer (integer)</a:t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recvtype - type of elements in receive buffer (handle)</a:t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source - rank of source (integer)</a:t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recvtag - receive tag (integer)</a:t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comm   - communicator (handle)</a:t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86"/>
          <p:cNvSpPr txBox="1"/>
          <p:nvPr/>
        </p:nvSpPr>
        <p:spPr>
          <a:xfrm>
            <a:off x="1165326" y="441725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Blokirajuće P2P komunikacijske rutine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86"/>
          <p:cNvSpPr txBox="1"/>
          <p:nvPr/>
        </p:nvSpPr>
        <p:spPr>
          <a:xfrm>
            <a:off x="1117925" y="929700"/>
            <a:ext cx="7781700" cy="3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NAME</a:t>
            </a:r>
            <a:endParaRPr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MPI_Sendrecv -  Sends and receives a message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SYNOPSIS</a:t>
            </a:r>
            <a:endParaRPr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#include "mpi.h"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int MPI_Sendrecv( void *sendbuf, int sendcount, MPI_Datatype sendtype,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                 int dest, int sendtag, void *recvbuf, int recvcount,</a:t>
            </a:r>
            <a:b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			MPI_Datatype recvtype, int source, int recvtag, </a:t>
            </a:r>
            <a:b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			MPI_Comm comm, MPI_Status *status )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OUTPUT PARAMETERS</a:t>
            </a:r>
            <a:endParaRPr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</a:t>
            </a:r>
            <a:r>
              <a:rPr b="1" lang="hr-HR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recvbuf - initial address of receive buffer (choice)</a:t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status - status object (Status).  This refers to the receive operation.</a:t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87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Blokirajuće P2P komunikacijske rutine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87"/>
          <p:cNvSpPr txBox="1"/>
          <p:nvPr/>
        </p:nvSpPr>
        <p:spPr>
          <a:xfrm>
            <a:off x="1117925" y="1336725"/>
            <a:ext cx="7781700" cy="46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#include "mpi.h"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b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int MPI_Wait (MPI_Request  *request, MPI_Status   *status)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int MPI_Waitany(int count, MPI_Request array_of_requests[],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        			int *index, MPI_Status *status )</a:t>
            </a:r>
            <a:b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int MPI_Waitall(int count, MPI_Request array_of_requests[],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        			MPI_Status array_of_statuses[] )</a:t>
            </a:r>
            <a:b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int MPI_Waitsome(int incount, MPI_Request array_of_requests[],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        			int *outcount, int array_of_indices[],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        			MPI_Status array_of_statuses[] 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int MPI_Probe( int source, int tag, MPI_Comm comm, </a:t>
            </a:r>
            <a:b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					MPI_Status *status )</a:t>
            </a:r>
            <a:b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int MPI_Get_count(MPI_Status *status, MPI_Datatype datatype,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        			int *count 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88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Kolektivne komunikacijske rutine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0" name="Google Shape;470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325" y="1316425"/>
            <a:ext cx="7436151" cy="4900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89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Kolektivne komunikacijske rutine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89"/>
          <p:cNvSpPr txBox="1"/>
          <p:nvPr/>
        </p:nvSpPr>
        <p:spPr>
          <a:xfrm>
            <a:off x="1117925" y="1295125"/>
            <a:ext cx="7781700" cy="44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Uključuju sve procese u komunikatoru</a:t>
            </a:r>
            <a:endParaRPr b="1" sz="22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rtl="0" algn="l">
              <a:spcBef>
                <a:spcPts val="601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icksand"/>
              <a:buChar char="●"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Ukoliko neki od procesa od komunikatora ne sudjeluje (ne pozove odgovarajuću rutinu), rezultat nije predvidiv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icksand"/>
              <a:buChar char="●"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Ne koriste message tag argument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Tipovi kolektivnih operacija</a:t>
            </a:r>
            <a:endParaRPr b="1" sz="22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rtl="0" algn="l">
              <a:spcBef>
                <a:spcPts val="601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icksand"/>
              <a:buChar char="●"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Sinkronizacija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icksand"/>
              <a:buChar char="●"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Premještanje podataka - broadcast, scatter/gather, all to all 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Quicksand"/>
              <a:buChar char="●"/>
            </a:pPr>
            <a:r>
              <a:rPr b="1" lang="hr-HR" sz="20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Kolektivno računanje: reduction</a:t>
            </a:r>
            <a:endParaRPr b="1" sz="20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 programeru je odgovornost da osigura da svi procesi u komunikatoru pozovu odgovarajuću rutinu</a:t>
            </a:r>
            <a:endParaRPr b="1" sz="22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2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b="1" sz="22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90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Kolektivne komunikacijske rutine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90"/>
          <p:cNvSpPr txBox="1"/>
          <p:nvPr/>
        </p:nvSpPr>
        <p:spPr>
          <a:xfrm>
            <a:off x="1117925" y="1164050"/>
            <a:ext cx="7781700" cy="52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NAME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MPI_Barrier -  Blocks until all process have reached this routine.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SYNOPSIS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#include "mpi.h"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int MPI_Barrier (MPI_Comm comm 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INPUT PARAMETERS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comm   - communicator (handle)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NOTES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Blocks  the  caller  until  all  group members have called it; the</a:t>
            </a:r>
            <a:b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	call returns at any process only after all group members have</a:t>
            </a:r>
            <a:b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	entered the call.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91"/>
          <p:cNvSpPr txBox="1"/>
          <p:nvPr/>
        </p:nvSpPr>
        <p:spPr>
          <a:xfrm>
            <a:off x="1165326" y="73775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Kolektivne komunikacijske rutine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91"/>
          <p:cNvSpPr txBox="1"/>
          <p:nvPr/>
        </p:nvSpPr>
        <p:spPr>
          <a:xfrm>
            <a:off x="1117925" y="1164050"/>
            <a:ext cx="7781700" cy="6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NAME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MPI_Bcast  -  Broadcasts a message from the process with rank</a:t>
            </a:r>
            <a:b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	"root" to all other processes of the group.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SYNOPSIS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#include "mpi.h"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int MPI_Bcast ( void *buffer, int count, MPI_Datatype datatype,</a:t>
            </a:r>
            <a:b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					int root, MPI_Comm comm 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INPUT/OUTPUT PARAMETERS</a:t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buffer - starting address of buffer (choice)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count  - number of entries in buffer (integer)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datatype - data type of buffer (handle)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root   - rank of broadcast root (integer)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comm   - communicator (handle)</a:t>
            </a:r>
            <a:endParaRPr b="1" sz="18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92"/>
          <p:cNvSpPr txBox="1"/>
          <p:nvPr/>
        </p:nvSpPr>
        <p:spPr>
          <a:xfrm>
            <a:off x="1116001" y="10870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Kolektivne komunikacijske rutine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92"/>
          <p:cNvSpPr txBox="1"/>
          <p:nvPr/>
        </p:nvSpPr>
        <p:spPr>
          <a:xfrm>
            <a:off x="1028100" y="535000"/>
            <a:ext cx="8005200" cy="59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NAME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MPI_Scatter -  Sends data from one task to all other tasks in a group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SYNOPSIS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#include "mpi.h"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int MPI_Scatter (void *sendbuf, int sendcnt, MPI_Datatype sendtype,</a:t>
            </a:r>
            <a:b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					void *recvbuf, int recvcnt, MPI_Datatype recvtype,</a:t>
            </a:r>
            <a:b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					int root, MPI_Comm comm 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INPUT PARAMETERS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sendbuf - address of send buffer (choice, significant only at root 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sendcount -  number of elements sent to each process (integer,</a:t>
            </a:r>
            <a:b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				significant only at root 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sendtype - data type of send buffer elements (significant only at</a:t>
            </a:r>
            <a:b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				root  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recvcount - number of elements in receive buffer (integer)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recvtype - data type of receive buffer elements (handle)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root - rank of sending process (integer)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comm - communicator (handle)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OUTPUT PARAMETER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recvbuf - address of receive buffer (choice)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93"/>
          <p:cNvSpPr txBox="1"/>
          <p:nvPr/>
        </p:nvSpPr>
        <p:spPr>
          <a:xfrm>
            <a:off x="1116001" y="10870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Kolektivne komunikacijske rutine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93"/>
          <p:cNvSpPr txBox="1"/>
          <p:nvPr/>
        </p:nvSpPr>
        <p:spPr>
          <a:xfrm>
            <a:off x="1028100" y="535000"/>
            <a:ext cx="8005200" cy="67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NAME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MPI_Gather -  Gathers together values from a group of processes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SYNOPSIS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#include "mpi.h"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int MPI_Gather ( void *sendbuf, int sendcnt, MPI_Datatype sendtype,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                			void *recvbuf, int recvcount, MPI_Datatype recvtype,</a:t>
            </a:r>
            <a:b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					int root, MPI_Comm comm )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INPUT PARAMETERS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sendbuf - starting address of send buffer (choice)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sendcount - number of elements in send buffer (integer)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sendtype - data type of send buffer elements (handle)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recvcount -  number  of elements for any single receive (integer, </a:t>
            </a:r>
            <a:b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			     significant only at root)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recvtype - data type of recv buffer elements (significant only  at  root)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root   - rank of receiving process (integer)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comm   - communicator (handle)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OUTPUT PARAMETER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recvbuf - address of receive buffer (choice, significant only at root 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94"/>
          <p:cNvSpPr txBox="1"/>
          <p:nvPr/>
        </p:nvSpPr>
        <p:spPr>
          <a:xfrm>
            <a:off x="1116001" y="10870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Kolektivne komunikacijske rutine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94"/>
          <p:cNvSpPr txBox="1"/>
          <p:nvPr/>
        </p:nvSpPr>
        <p:spPr>
          <a:xfrm>
            <a:off x="1028100" y="535000"/>
            <a:ext cx="8005200" cy="6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NAME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MPI_Allgather - Gathers data from all tasks and distribute it to all tasks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SYNOPSIS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#include "mpi.h"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int MPI_Allgather ( void *sendbuf, int sendcount, MPI_Datatype sendtype,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                    		void *recvbuf, int recvcount, MPI_Datatype recvtype,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                   		MPI_Comm comm 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INPUT PARAMETERS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sendbuf - starting address of send buffer (choice)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sendcount - number of elements in send buffer (integer)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sendtype - data type of send buffer elements (handle)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recvcount - number of elements received from any process (integer)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recvtype - data type of receive buffer elements (handle)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comm - communicator (handle)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OUTPUT PARAMETER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recvbuf - address of receive buffer (choice)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95"/>
          <p:cNvSpPr txBox="1"/>
          <p:nvPr/>
        </p:nvSpPr>
        <p:spPr>
          <a:xfrm>
            <a:off x="1116001" y="10870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Kolektivne komunikacijske rutine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95"/>
          <p:cNvSpPr txBox="1"/>
          <p:nvPr/>
        </p:nvSpPr>
        <p:spPr>
          <a:xfrm>
            <a:off x="1028100" y="535000"/>
            <a:ext cx="8005200" cy="6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NAME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MPI_Reduce -  Reduces values on all processes to a single value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SYNOPSIS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#include "mpi.h"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int MPI_Reduce ( void *sendbuf, void *recvbuf, int count,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                MPI_Datatype datatype, MPI_Op op, int root, MPI_Comm comm 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INPUT PARAMETERS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sendbuf - address of send buffer (choice)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count - number of elements in send buffer (integer)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datatype - data type of elements of send buffer (handle)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op - reduce operation (handle)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root - rank of root process (integer)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comm - communicator (handle)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OUTPUT PARAMETER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recvbuf - address of receive buffer (choice, significant only at root 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96"/>
          <p:cNvSpPr txBox="1"/>
          <p:nvPr/>
        </p:nvSpPr>
        <p:spPr>
          <a:xfrm>
            <a:off x="1116001" y="10870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Kolektivne komunikacijske rutine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18" name="Google Shape;518;p96"/>
          <p:cNvGraphicFramePr/>
          <p:nvPr/>
        </p:nvGraphicFramePr>
        <p:xfrm>
          <a:off x="952500" y="952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{F43DF3B8-714D-4327-B88B-72998F82CDCC}</a:tableStyleId>
              </a:tblPr>
              <a:tblGrid>
                <a:gridCol w="2413000"/>
                <a:gridCol w="2413000"/>
                <a:gridCol w="24130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hr-HR">
                          <a:solidFill>
                            <a:srgbClr val="39C0BA"/>
                          </a:solidFill>
                        </a:rPr>
                        <a:t>MPI Reduce Operation</a:t>
                      </a:r>
                      <a:endParaRPr b="1">
                        <a:solidFill>
                          <a:srgbClr val="39C0BA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hr-HR">
                          <a:solidFill>
                            <a:srgbClr val="39C0BA"/>
                          </a:solidFill>
                        </a:rPr>
                        <a:t>C Data Typ</a:t>
                      </a:r>
                      <a:r>
                        <a:rPr lang="hr-HR">
                          <a:solidFill>
                            <a:srgbClr val="39C0BA"/>
                          </a:solidFill>
                        </a:rPr>
                        <a:t>e</a:t>
                      </a:r>
                      <a:endParaRPr>
                        <a:solidFill>
                          <a:srgbClr val="39C0BA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MPI_MAX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maximum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integer, float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MPI_MIN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minimum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integer, float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MPI_SUM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sum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integer, float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MPI_PROD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product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integer, float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MPI_LAND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logical AND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integer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MPI_BAND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bit-wise AND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integer, MPI_BYTE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MPI_LOR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logical OR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integer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MPI_BOR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bit-wise OR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integer, MPI_BYTE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MPI_LXOR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logical XOR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integer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MPI_BXOR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bit-wise XOR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integer, MPI_BYTE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MPI_MAXLOC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max value and location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float, double, long double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MPI_MINLOC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min value and location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hr-HR">
                          <a:solidFill>
                            <a:schemeClr val="lt1"/>
                          </a:solidFill>
                        </a:rPr>
                        <a:t>float, double, long double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97"/>
          <p:cNvSpPr txBox="1"/>
          <p:nvPr/>
        </p:nvSpPr>
        <p:spPr>
          <a:xfrm>
            <a:off x="1116001" y="10870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Kolektivne komunikacijske rutine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97"/>
          <p:cNvSpPr txBox="1"/>
          <p:nvPr/>
        </p:nvSpPr>
        <p:spPr>
          <a:xfrm>
            <a:off x="1028100" y="535000"/>
            <a:ext cx="8005200" cy="49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NAME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MPI_Allreduce  -  Combines values from all processes and distribute the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result back to all processes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SYNOPSIS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#include "mpi.h"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int MPI_Allreduce ( void *sendbuf, void *recvbuf, int count,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                   MPI_Datatype datatype, MPI_Op op, MPI_Comm comm 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INPUT PARAMETERS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sendbuf - starting address of send buffer (choice)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count - number of elements in send buffer (integer)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datatype - data type of elements of send buffer (handle)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op - operation (handle)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comm - communicator (handle)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OUTPUT PARAMETER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recvbuf - starting address of receive buffer (choice)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98"/>
          <p:cNvSpPr txBox="1"/>
          <p:nvPr/>
        </p:nvSpPr>
        <p:spPr>
          <a:xfrm>
            <a:off x="1116001" y="10870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Kolektivne komunikacijske rutine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98"/>
          <p:cNvSpPr txBox="1"/>
          <p:nvPr/>
        </p:nvSpPr>
        <p:spPr>
          <a:xfrm>
            <a:off x="1028100" y="535000"/>
            <a:ext cx="8005200" cy="57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NAME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MPI_Reduce_scatter -  Combines values and scatters the results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SYNOPSIS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#include "mpi.h"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int MPI_Reduce_scatter ( void *sendbuf, void *recvbuf, int *recvcnts,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                       MPI_Datatype datatype, MPI_Op op, MPI_Comm comm 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INPUT PARAMETERS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sendbuf - starting address of send buffer (choice)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recvcounts - integer array specifying the number of elements in result</a:t>
            </a:r>
            <a:b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			distributed to each process.  Array must be identical on all</a:t>
            </a:r>
            <a:b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			calling processes.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datatype - data type of elements of input buffer (handle)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op - operation (handle)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comm - communicator (handle)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OUTPUT PARAMETER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recvbuf - starting address of receive buffer (choice)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99"/>
          <p:cNvSpPr txBox="1"/>
          <p:nvPr/>
        </p:nvSpPr>
        <p:spPr>
          <a:xfrm>
            <a:off x="1116001" y="10870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Kolektivne komunikacijske rutine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99"/>
          <p:cNvSpPr txBox="1"/>
          <p:nvPr/>
        </p:nvSpPr>
        <p:spPr>
          <a:xfrm>
            <a:off x="1015750" y="868025"/>
            <a:ext cx="8005200" cy="58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NAME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MPI_Alltoall -  Sends data from all to all processes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SYNOPSIS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#include "mpi.h"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int MPI_Alltoall( void *sendbuf, int sendcount, MPI_Datatype sendtype,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                  		void *recvbuf, int recvcnt, MPI_Datatype recvtype,</a:t>
            </a:r>
            <a:b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					MPI_Comm comm 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INPUT PARAMETERS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sendbuf - starting address of send buffer (choice)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sendcount - number of elements to send to each process (integer)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sendtype - data type of send buffer elements (handle)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recvcount - number of elements received from any process (integer)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recvtype - data type of receive buffer elements (handle)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comm  - communicator (handle)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OUTPUT PARAMETER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recvbuf - address of receive buffer (choice)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00"/>
          <p:cNvSpPr txBox="1"/>
          <p:nvPr/>
        </p:nvSpPr>
        <p:spPr>
          <a:xfrm>
            <a:off x="1116001" y="108700"/>
            <a:ext cx="76869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Kolektivne komunikacijske rutine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00"/>
          <p:cNvSpPr txBox="1"/>
          <p:nvPr/>
        </p:nvSpPr>
        <p:spPr>
          <a:xfrm>
            <a:off x="892400" y="868025"/>
            <a:ext cx="8251500" cy="57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NAME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MPI_Scan -  Computes the scan (partial reductions) of data on a collec-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tion of processes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SYNOPSIS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#include "mpi.h"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int MPI_Scan ( void *sendbuf, void *recvbuf, int count, </a:t>
            </a:r>
            <a:b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				MPI_Datatype datatype, MPI_Op op, MPI_Comm comm 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INPUT PARAMETERS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sendbuf - starting address of send buffer (choice)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count - number of elements in input buffer (integer)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datatype - data type of elements of input buffer (handle)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op - operation (handle)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      comm - communicator (handle)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OUTPUT PARAMETER</a:t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rPr b="1" lang="hr-HR" sz="16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      </a:t>
            </a: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recvbuf - starting address of receive</a:t>
            </a:r>
            <a:b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lang="hr-HR"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buffer (choice)</a:t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543" name="Google Shape;543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6075" y="4396420"/>
            <a:ext cx="3708450" cy="235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