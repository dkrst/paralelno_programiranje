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4" r:id="rId3"/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y="6858000" cx="9144000"/>
  <p:notesSz cx="6858000" cy="9144000"/>
  <p:embeddedFontLst>
    <p:embeddedFont>
      <p:font typeface="Quicksand"/>
      <p:regular r:id="rId54"/>
      <p:bold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Quicksand-bold.fntdata"/><Relationship Id="rId10" Type="http://schemas.openxmlformats.org/officeDocument/2006/relationships/slide" Target="slides/slide4.xml"/><Relationship Id="rId54" Type="http://schemas.openxmlformats.org/officeDocument/2006/relationships/font" Target="fonts/Quicksand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2561c818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2561c8183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2561c818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2561c81830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2561c818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2561c81830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561c818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2561c81830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2561c8183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2561c81830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2561c81830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2561c81830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2561c8183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2561c81830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2561c81830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2561c81830_0_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2561c8183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32561c81830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2561c8183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2561c81830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2561c81830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2561c81830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561c81830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2561c81830_0_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2561c8183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2561c81830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2561c8183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2561c81830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561c81830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g32561c81830_0_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561c81830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2561c81830_0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2561c81830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2561c81830_0_1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2561c81830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2561c81830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2561c8183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2561c81830_0_1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2561c81830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2561c81830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2561c8183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2561c81830_0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2561c8183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g32561c81830_0_1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2561c81830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g32561c81830_0_1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2561c8183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32561c81830_0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2561c81830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32561c81830_0_1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2561c81830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g32561c81830_0_1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561c81830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g32561c81830_0_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2561c81830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32561c81830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2561c8183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2561c81830_0_1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2561c81830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2561c81830_0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2561c81830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2561c81830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2561c81830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2561c81830_0_1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2561c81830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2561c81830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2561c81830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g32561c81830_0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2561c81830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2561c81830_0_2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2561c81830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g32561c81830_0_2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2561c8183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g32561c81830_0_2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2561c8183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32561c81830_0_2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2561c81830_0_2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2561c81830_0_2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2561c81830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2561c81830_0_26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2561c81830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2561c81830_0_2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2561c81830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2561c81830_0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2561c81830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g32561c81830_0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2561c81830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g32561c81830_0_2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" type="subTitle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8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9"/>
          <p:cNvSpPr txBox="1"/>
          <p:nvPr>
            <p:ph idx="3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3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body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body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5" type="body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6" type="body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subTitle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3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3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4"/>
          <p:cNvSpPr txBox="1"/>
          <p:nvPr>
            <p:ph idx="1" type="body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4"/>
          <p:cNvSpPr txBox="1"/>
          <p:nvPr>
            <p:ph idx="2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5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5"/>
          <p:cNvSpPr txBox="1"/>
          <p:nvPr>
            <p:ph idx="4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2" type="body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6"/>
          <p:cNvSpPr txBox="1"/>
          <p:nvPr>
            <p:ph idx="3" type="body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6"/>
          <p:cNvSpPr txBox="1"/>
          <p:nvPr>
            <p:ph idx="4" type="body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6"/>
          <p:cNvSpPr txBox="1"/>
          <p:nvPr>
            <p:ph idx="5" type="body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6"/>
          <p:cNvSpPr txBox="1"/>
          <p:nvPr>
            <p:ph idx="6" type="body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0"/>
          <p:cNvSpPr txBox="1"/>
          <p:nvPr>
            <p:ph idx="1" type="subTitle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1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1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2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3"/>
          <p:cNvSpPr txBox="1"/>
          <p:nvPr>
            <p:ph idx="1" type="subTitle"/>
          </p:nvPr>
        </p:nvSpPr>
        <p:spPr>
          <a:xfrm>
            <a:off x="1165320" y="666000"/>
            <a:ext cx="6857640" cy="2132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4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4"/>
          <p:cNvSpPr txBox="1"/>
          <p:nvPr>
            <p:ph idx="2" type="body"/>
          </p:nvPr>
        </p:nvSpPr>
        <p:spPr>
          <a:xfrm>
            <a:off x="285984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4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" type="body"/>
          </p:nvPr>
        </p:nvSpPr>
        <p:spPr>
          <a:xfrm>
            <a:off x="1165320" y="1600200"/>
            <a:ext cx="161352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3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36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6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6"/>
          <p:cNvSpPr txBox="1"/>
          <p:nvPr>
            <p:ph idx="3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7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7"/>
          <p:cNvSpPr txBox="1"/>
          <p:nvPr>
            <p:ph idx="1" type="body"/>
          </p:nvPr>
        </p:nvSpPr>
        <p:spPr>
          <a:xfrm>
            <a:off x="1165320" y="160020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37"/>
          <p:cNvSpPr txBox="1"/>
          <p:nvPr>
            <p:ph idx="2" type="body"/>
          </p:nvPr>
        </p:nvSpPr>
        <p:spPr>
          <a:xfrm>
            <a:off x="1165320" y="4194720"/>
            <a:ext cx="330660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8"/>
          <p:cNvSpPr txBox="1"/>
          <p:nvPr>
            <p:ph idx="1" type="body"/>
          </p:nvPr>
        </p:nvSpPr>
        <p:spPr>
          <a:xfrm>
            <a:off x="116532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38"/>
          <p:cNvSpPr txBox="1"/>
          <p:nvPr>
            <p:ph idx="2" type="body"/>
          </p:nvPr>
        </p:nvSpPr>
        <p:spPr>
          <a:xfrm>
            <a:off x="2859840" y="160020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38"/>
          <p:cNvSpPr txBox="1"/>
          <p:nvPr>
            <p:ph idx="3" type="body"/>
          </p:nvPr>
        </p:nvSpPr>
        <p:spPr>
          <a:xfrm>
            <a:off x="116532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8"/>
          <p:cNvSpPr txBox="1"/>
          <p:nvPr>
            <p:ph idx="4" type="body"/>
          </p:nvPr>
        </p:nvSpPr>
        <p:spPr>
          <a:xfrm>
            <a:off x="2859840" y="4194720"/>
            <a:ext cx="1613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9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39"/>
          <p:cNvSpPr txBox="1"/>
          <p:nvPr>
            <p:ph idx="1" type="body"/>
          </p:nvPr>
        </p:nvSpPr>
        <p:spPr>
          <a:xfrm>
            <a:off x="116532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39"/>
          <p:cNvSpPr txBox="1"/>
          <p:nvPr>
            <p:ph idx="2" type="body"/>
          </p:nvPr>
        </p:nvSpPr>
        <p:spPr>
          <a:xfrm>
            <a:off x="228348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9"/>
          <p:cNvSpPr txBox="1"/>
          <p:nvPr>
            <p:ph idx="3" type="body"/>
          </p:nvPr>
        </p:nvSpPr>
        <p:spPr>
          <a:xfrm>
            <a:off x="3401640" y="160020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39"/>
          <p:cNvSpPr txBox="1"/>
          <p:nvPr>
            <p:ph idx="4" type="body"/>
          </p:nvPr>
        </p:nvSpPr>
        <p:spPr>
          <a:xfrm>
            <a:off x="116532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39"/>
          <p:cNvSpPr txBox="1"/>
          <p:nvPr>
            <p:ph idx="5" type="body"/>
          </p:nvPr>
        </p:nvSpPr>
        <p:spPr>
          <a:xfrm>
            <a:off x="228348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9"/>
          <p:cNvSpPr txBox="1"/>
          <p:nvPr>
            <p:ph idx="6" type="body"/>
          </p:nvPr>
        </p:nvSpPr>
        <p:spPr>
          <a:xfrm>
            <a:off x="3401640" y="4194720"/>
            <a:ext cx="1064520" cy="2369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03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/>
          <p:nvPr/>
        </p:nvSpPr>
        <p:spPr>
          <a:xfrm>
            <a:off x="903600" y="3563640"/>
            <a:ext cx="360" cy="32940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" name="Google Shape;8;p1"/>
          <p:cNvSpPr/>
          <p:nvPr/>
        </p:nvSpPr>
        <p:spPr>
          <a:xfrm>
            <a:off x="768960" y="3294360"/>
            <a:ext cx="268920" cy="268920"/>
          </a:xfrm>
          <a:prstGeom prst="ellipse">
            <a:avLst/>
          </a:prstGeom>
          <a:solidFill>
            <a:srgbClr val="39C0BA"/>
          </a:solidFill>
          <a:ln cap="flat" cmpd="sng" w="28425">
            <a:solidFill>
              <a:srgbClr val="2E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037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4"/>
          <p:cNvSpPr/>
          <p:nvPr/>
        </p:nvSpPr>
        <p:spPr>
          <a:xfrm>
            <a:off x="903960" y="-7920"/>
            <a:ext cx="360" cy="6865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14"/>
          <p:cNvSpPr/>
          <p:nvPr/>
        </p:nvSpPr>
        <p:spPr>
          <a:xfrm>
            <a:off x="493560" y="3018960"/>
            <a:ext cx="819720" cy="819720"/>
          </a:xfrm>
          <a:prstGeom prst="ellipse">
            <a:avLst/>
          </a:prstGeom>
          <a:solidFill>
            <a:srgbClr val="39C0BA"/>
          </a:solidFill>
          <a:ln cap="flat" cmpd="sng" w="28425">
            <a:solidFill>
              <a:srgbClr val="2E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E3037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7"/>
          <p:cNvSpPr txBox="1"/>
          <p:nvPr>
            <p:ph type="title"/>
          </p:nvPr>
        </p:nvSpPr>
        <p:spPr>
          <a:xfrm>
            <a:off x="1165320" y="666000"/>
            <a:ext cx="6857640" cy="45972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3" name="Google Shape;113;p27"/>
          <p:cNvSpPr txBox="1"/>
          <p:nvPr>
            <p:ph idx="1" type="body"/>
          </p:nvPr>
        </p:nvSpPr>
        <p:spPr>
          <a:xfrm>
            <a:off x="11653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4" name="Google Shape;114;p27"/>
          <p:cNvSpPr txBox="1"/>
          <p:nvPr>
            <p:ph idx="2" type="body"/>
          </p:nvPr>
        </p:nvSpPr>
        <p:spPr>
          <a:xfrm>
            <a:off x="4671720" y="1600200"/>
            <a:ext cx="3306600" cy="496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5" name="Google Shape;115;p27"/>
          <p:cNvSpPr/>
          <p:nvPr/>
        </p:nvSpPr>
        <p:spPr>
          <a:xfrm>
            <a:off x="903960" y="-7920"/>
            <a:ext cx="360" cy="686592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27"/>
          <p:cNvSpPr/>
          <p:nvPr/>
        </p:nvSpPr>
        <p:spPr>
          <a:xfrm>
            <a:off x="808560" y="800640"/>
            <a:ext cx="189720" cy="189720"/>
          </a:xfrm>
          <a:prstGeom prst="ellipse">
            <a:avLst/>
          </a:prstGeom>
          <a:solidFill>
            <a:srgbClr val="39C0BA"/>
          </a:solidFill>
          <a:ln cap="flat" cmpd="sng" w="28425">
            <a:solidFill>
              <a:srgbClr val="2E30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7"/>
          <p:cNvSpPr/>
          <p:nvPr/>
        </p:nvSpPr>
        <p:spPr>
          <a:xfrm>
            <a:off x="768960" y="1861920"/>
            <a:ext cx="268920" cy="268920"/>
          </a:xfrm>
          <a:prstGeom prst="ellipse">
            <a:avLst/>
          </a:prstGeom>
          <a:solidFill>
            <a:srgbClr val="2E3037"/>
          </a:solidFill>
          <a:ln cap="flat" cmpd="sng" w="9525">
            <a:solidFill>
              <a:srgbClr val="999F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9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0"/>
          <p:cNvSpPr txBox="1"/>
          <p:nvPr/>
        </p:nvSpPr>
        <p:spPr>
          <a:xfrm>
            <a:off x="1319040" y="2876400"/>
            <a:ext cx="6680160" cy="15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r-HR" sz="6000" u="none" cap="none" strike="noStrike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Paralelno programiranje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1"/>
          <p:cNvSpPr txBox="1"/>
          <p:nvPr/>
        </p:nvSpPr>
        <p:spPr>
          <a:xfrm>
            <a:off x="1530000" y="3076920"/>
            <a:ext cx="6766920" cy="709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Grafički procesori (GPU)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1"/>
          <p:cNvSpPr txBox="1"/>
          <p:nvPr/>
        </p:nvSpPr>
        <p:spPr>
          <a:xfrm>
            <a:off x="1530000" y="3710520"/>
            <a:ext cx="6927480" cy="470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General computing on GPU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7" name="Google Shape;177;p41"/>
          <p:cNvSpPr/>
          <p:nvPr/>
        </p:nvSpPr>
        <p:spPr>
          <a:xfrm>
            <a:off x="502560" y="3039840"/>
            <a:ext cx="802080" cy="78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hr-HR" sz="3000" u="none" cap="none" strike="noStrike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1</a:t>
            </a:r>
            <a:endParaRPr b="0" i="0" sz="30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2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CPU vs. GPU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25" y="1569625"/>
            <a:ext cx="8839199" cy="4355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3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CPU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3"/>
          <p:cNvSpPr/>
          <p:nvPr/>
        </p:nvSpPr>
        <p:spPr>
          <a:xfrm>
            <a:off x="1074750" y="116412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Složeni procesori opće namjene sposobni za izvršavanje različitih zadataka - </a:t>
            </a:r>
            <a:r>
              <a:rPr b="1"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ključna komponenta računala</a:t>
            </a:r>
            <a:endParaRPr b="1" sz="2400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optimizacija korištenja resursa (instruction scheduling, dependency management, out of order execution, memory management, …)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fleksibilnost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 u="sng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niska latencija</a:t>
            </a:r>
            <a:endParaRPr b="1" sz="2400" u="sng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performanse</a:t>
            </a:r>
            <a:endParaRPr b="1" sz="9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Mogućnost pokretanja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operativnih sistema s mogućnošću pokretanja i efikasnog izvršavanja vrlo raznolikih aplikacija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 u="sng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Potrošnja energije:</a:t>
            </a: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ograničen broj jezgri na jednom čipu</a:t>
            </a:r>
            <a:endParaRPr b="0" i="0" sz="2400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4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4"/>
          <p:cNvSpPr/>
          <p:nvPr/>
        </p:nvSpPr>
        <p:spPr>
          <a:xfrm>
            <a:off x="1050650" y="129567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Jednostavnija arhitektura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Jednostavnija jezgra, manji broj tranzistora (manja površina, manja potrošnja energije)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jednostavnija kontrolna jedinica (dijeli je više jezgri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“više” hardwarea za računanje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manja fleksibilnost, ograničen programski model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 u="sng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Veliki broj jednostavnih jezgri na čipu, mogućnost istovremenog izvršavanja velikog broja (istih) aritmetičkih operacija: </a:t>
            </a:r>
            <a:r>
              <a:rPr b="1" lang="hr-HR" sz="2400" u="sng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visoka propusnost</a:t>
            </a:r>
            <a:endParaRPr b="0" i="0" sz="2400" u="sng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5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Latency vs. Throughput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5"/>
          <p:cNvSpPr/>
          <p:nvPr/>
        </p:nvSpPr>
        <p:spPr>
          <a:xfrm>
            <a:off x="1050650" y="129567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Latencija: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vrijeme za izvršavanje jednog zadatka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jedinica: sekunde, …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procjena učinkovitosti CPU-a</a:t>
            </a:r>
            <a:endParaRPr b="1" sz="24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Cilj: minimizirati vrijeme izvršavanja jednog zadatka</a:t>
            </a:r>
            <a:endParaRPr b="1" sz="2400" u="sng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Propusnost:</a:t>
            </a:r>
            <a:endParaRPr b="1" sz="2400" u="sng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broj pojedinačnih zadataka u jedinici vremena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requsets/sec, pixels/s, jobs/sec, …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procjena učinkovitosti GPU-a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 u="sng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Cilj: maksimizirati broj izvršenih zadataka u jedinici vremena</a:t>
            </a:r>
            <a:endParaRPr b="1" sz="2400" u="sng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6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Heterogeni programski model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6"/>
          <p:cNvSpPr/>
          <p:nvPr/>
        </p:nvSpPr>
        <p:spPr>
          <a:xfrm>
            <a:off x="1050650" y="129567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CPU (host): glavni program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kompleksni programski model (arhitektura)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pokreće ga OS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upravlja sa izvođenjem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(device): “kernel”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pokreće ga host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zaseban dio koda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, jednostavniji programski model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fokusiran na izvođenje jednostavnih i repetitivnih  matematičkih zadataka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7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Heterogeni programski model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7"/>
          <p:cNvSpPr/>
          <p:nvPr/>
        </p:nvSpPr>
        <p:spPr>
          <a:xfrm>
            <a:off x="1050650" y="129567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Jedinstveni program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Prevođenje i povezivanje: jedinstveni programski kod (cjelina) - isti kompajler generira kod za CPU i GPU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Dio se izvršava na CPU jedinici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Dio se izvršava na GPU jedinici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Upravljanje memorijom: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Odvojeni DRAM za CPU i GPU jedinice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upravlja memorijom, uključujući GPU memoriju: alociranje, prebacivanje podataka, oslobađanje memorije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8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8"/>
          <p:cNvSpPr/>
          <p:nvPr/>
        </p:nvSpPr>
        <p:spPr>
          <a:xfrm>
            <a:off x="1050650" y="129567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Computer Unified Device Architecture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Programski model  i hardwerska platforma razvijena od strane NVIDIA koja mogoćava korištenje grafičkih procesora (GPU) za opće računanje - </a:t>
            </a:r>
            <a:r>
              <a:rPr b="1" lang="hr-HR" sz="2400" u="sng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General Purpose computing on Graphic Processing Unit (GPGPU)</a:t>
            </a:r>
            <a:endParaRPr b="1" sz="2400" u="sng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Korištenje uobičajenih programskih jezika (C, C++, …), specifične CUDA ekstentzije i API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Visoke performanse: kombiniranje prednosti CPU za izradu kompleksnih programa i GPU za efikasno paralelno računanje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9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alternative: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9"/>
          <p:cNvSpPr/>
          <p:nvPr/>
        </p:nvSpPr>
        <p:spPr>
          <a:xfrm>
            <a:off x="1050650" y="1295675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OpenCL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otvoreni kod, podržava razne hardwerske platforme, fleksibilnost</a:t>
            </a:r>
            <a:endParaRPr b="1" sz="2400" u="sng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HIP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Razvijen od strane AMD-a, optimiranje za AMD GPU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DirectCompute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Microsoft DirectX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Vulkan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TensorFlow, PyTorch, …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OpenMP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programiranje na višoj razini, korištenje GPU resursa uz minimalne izmjene u kodu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0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programska paradigma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0"/>
          <p:cNvSpPr/>
          <p:nvPr/>
        </p:nvSpPr>
        <p:spPr>
          <a:xfrm>
            <a:off x="1050650" y="1584950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Tipični CUDA program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alocira memoriju (CPU) i generira ulazne podatke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alocira GPU memoriju (cudaMalloc)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kopira podatke na GPU (cudaMemcpy)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pokreće kernel na GPU 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C9211E"/>
              </a:buClr>
              <a:buSzPts val="2400"/>
              <a:buFont typeface="Quicksand"/>
              <a:buAutoNum type="arabicPeriod"/>
            </a:pPr>
            <a:r>
              <a:rPr b="1" lang="hr-HR" sz="2400" u="sng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GPU izvršava kernel (na više jezgri istovremeno - paralelizam)</a:t>
            </a:r>
            <a:endParaRPr b="1" sz="2400" u="sng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kopira podatke (izlazne) s GPU na CPU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Computation/communication tradeof - balansiranje troškova prebacivanja podataka (komunikacije) i obrade podataka (računanja)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51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Kernel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1"/>
          <p:cNvSpPr/>
          <p:nvPr/>
        </p:nvSpPr>
        <p:spPr>
          <a:xfrm>
            <a:off x="1050650" y="1584950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Pokreće ga CPU na GPU jedinici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Sekvencijalni program (nema paralelizma)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Jedan kernel pokreće se u jednoj niti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Istovremeno pokretanje istog krenela na više jezgri (više niti) u GPU jedinici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Svaka nit zna svoj identifikator (ID) u ukupnom bazenu niti (jezgri) koje se koriste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Na temelju identifikatora nit uzima mali dio ulaznih podataka (mali dio problema) i na njemu izvršava zadani sekvencijalni program (matematičku operaciju)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2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Kernel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2"/>
          <p:cNvSpPr/>
          <p:nvPr/>
        </p:nvSpPr>
        <p:spPr>
          <a:xfrm>
            <a:off x="1050650" y="1584950"/>
            <a:ext cx="7799100" cy="2699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void cuda_square(int *d_in, int *d_out) {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idx = threadIdx.x;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d_out[idx] = d_in[idx]*d_in[idx];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53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primjer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3"/>
          <p:cNvSpPr/>
          <p:nvPr/>
        </p:nvSpPr>
        <p:spPr>
          <a:xfrm>
            <a:off x="1050650" y="1584950"/>
            <a:ext cx="7799100" cy="4748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#define N 64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main(int argc, char **argv) {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k;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CPU memory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h_in[N];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h_out[N];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	// Ulazni podaci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for (k=0; k&lt;N; k++)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		h_in[k] = k;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4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primjer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54"/>
          <p:cNvSpPr/>
          <p:nvPr/>
        </p:nvSpPr>
        <p:spPr>
          <a:xfrm>
            <a:off x="1050650" y="1584950"/>
            <a:ext cx="7799100" cy="38811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GPU memory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int *d_in;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int *d_out;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cudaMalloc((void**)&amp;d_in, 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N*sizeof(int));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cudaMalloc((void**)&amp;d_out,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N*sizeof(int));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5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primjer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55"/>
          <p:cNvSpPr/>
          <p:nvPr/>
        </p:nvSpPr>
        <p:spPr>
          <a:xfrm>
            <a:off x="1050650" y="1584950"/>
            <a:ext cx="7799100" cy="4363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Copy data GPU &lt;--- GPU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cudaMemcpy(d_in, h_in, N*sizeof(int),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cudaMemcpyHostToDevice);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Pokreni kernel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cuda_square&lt;&lt;&lt;1, N&gt;&gt;&gt; (d_in, d_out);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Copy data CPU &lt;--- GPU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cudaMemcpy(h_out, d_out, N*sizeof(int),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cudaMemcpyDeviceToHost);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6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primjer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56"/>
          <p:cNvSpPr/>
          <p:nvPr/>
        </p:nvSpPr>
        <p:spPr>
          <a:xfrm>
            <a:off x="1050650" y="1584950"/>
            <a:ext cx="7799100" cy="38448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Free GPU memory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cudaFree(d_in);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cudaFree(d_out);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Ispisi rezultat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for (k=0; k&lt;N; k++)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printf("%2d:\t%4d\n", h_in[k],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h_out[k]);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7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kvadrati.cu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7"/>
          <p:cNvSpPr/>
          <p:nvPr/>
        </p:nvSpPr>
        <p:spPr>
          <a:xfrm>
            <a:off x="665925" y="1355925"/>
            <a:ext cx="3845100" cy="5158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#include &lt;stdio.h&gt;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#define N 64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void cuda_square(int *d_in, int *d_out) {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idx = threadIdx.x;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d_out[idx] = d_in[idx]*d_in[idx];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int main(int argc, char **argv) {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k;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CPU memory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h_in[N];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h_out[N];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for (k=0; k&lt;N; k++)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  h_in[k] = k;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GPU memory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*d_in;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*d_out;</a:t>
            </a:r>
            <a:endParaRPr b="1" sz="12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74" name="Google Shape;274;p57"/>
          <p:cNvSpPr/>
          <p:nvPr/>
        </p:nvSpPr>
        <p:spPr>
          <a:xfrm>
            <a:off x="4703575" y="1355925"/>
            <a:ext cx="4242600" cy="51585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cudaMalloc((void**)&amp;d_in, N*sizeof(int));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cudaMalloc((void**)&amp;d_out, N*sizeof(int));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Copy data GPU &lt;--- GPU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cudaMemcpy(d_in, h_in, N*sizeof(int),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cudaMemcpyHostToDevice);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Pokreni kernel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cuda_square&lt;&lt;&lt;1, N&gt;&gt;&gt; (d_in, d_out);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Copy data CPU &lt;--- GPU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cudaMemcpy(h_out, d_out, N*sizeof(int),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cudaMemcpyDeviceToHost);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Free GPU memory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cudaFree(d_in);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cudaFree(d_out);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// Ispisi rezultat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for (k=0; k&lt;N; k++)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  printf("%2d:\t%4d\n", h_in[k], h_out[k]);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return 0;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2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58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nvcc - NVIDIA CUDA C Compiler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8"/>
          <p:cNvSpPr/>
          <p:nvPr/>
        </p:nvSpPr>
        <p:spPr>
          <a:xfrm>
            <a:off x="1050650" y="1584950"/>
            <a:ext cx="7799100" cy="43269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nvcc kvadrati.cu -o kvadrati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Prevođenje C/C++ CUDA programa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Integracija sa standardnim kompajlerima (gcc)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Podrška za različite platforme (UNIX, Windows, MacOS)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Optimizacija koda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Podrška za razne GPU arhitekture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9"/>
          <p:cNvSpPr txBox="1"/>
          <p:nvPr/>
        </p:nvSpPr>
        <p:spPr>
          <a:xfrm>
            <a:off x="1530000" y="3076920"/>
            <a:ext cx="67668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arhitektura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9"/>
          <p:cNvSpPr txBox="1"/>
          <p:nvPr/>
        </p:nvSpPr>
        <p:spPr>
          <a:xfrm>
            <a:off x="1530000" y="3710520"/>
            <a:ext cx="6927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Arhitektura i verzije GPU jedinica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7" name="Google Shape;287;p59"/>
          <p:cNvSpPr/>
          <p:nvPr/>
        </p:nvSpPr>
        <p:spPr>
          <a:xfrm>
            <a:off x="502560" y="3039840"/>
            <a:ext cx="8022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2</a:t>
            </a:r>
            <a:endParaRPr b="0" i="0" sz="30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0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verzije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7700" y="1319774"/>
            <a:ext cx="8348001" cy="497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1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0575" y="128625"/>
            <a:ext cx="2535526" cy="161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925" y="1530850"/>
            <a:ext cx="6730525" cy="472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2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925" y="1488500"/>
            <a:ext cx="8131524" cy="486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3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(Fermi 2010)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00" y="1316525"/>
            <a:ext cx="8839198" cy="5288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64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(Fermi 2010)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900" y="1316525"/>
            <a:ext cx="8839198" cy="52881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200" y="796938"/>
            <a:ext cx="5791200" cy="59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5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(Pascal 2016)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00" y="1412064"/>
            <a:ext cx="8258525" cy="38877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6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(Pascal 2016)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200" y="1412064"/>
            <a:ext cx="8258525" cy="3887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03075" y="1319075"/>
            <a:ext cx="7415374" cy="518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7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(Volta 2017)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6525"/>
            <a:ext cx="8839200" cy="4866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8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(Volta 2017)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6525"/>
            <a:ext cx="8839200" cy="4866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7975" y="704513"/>
            <a:ext cx="4648200" cy="5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9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(Volta 2017)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1" name="Google Shape;35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6525"/>
            <a:ext cx="8839200" cy="4866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7975" y="704513"/>
            <a:ext cx="4648200" cy="5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0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(Pascal 2016)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" name="Google Shape;35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4825" y="1428250"/>
            <a:ext cx="6636099" cy="463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1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GPU arhitektura 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71"/>
          <p:cNvSpPr/>
          <p:nvPr/>
        </p:nvSpPr>
        <p:spPr>
          <a:xfrm>
            <a:off x="1050650" y="1584950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Apstrakcija CUDA arhitektura omogućava pokretanje istog koda na raznim verzijama arhitekture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Future architecture compatibility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Različite podverzije iste arhitekture mogu imati drugačiji omjer funkcionalnosti jezgara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2"/>
          <p:cNvSpPr txBox="1"/>
          <p:nvPr/>
        </p:nvSpPr>
        <p:spPr>
          <a:xfrm>
            <a:off x="1530000" y="3076920"/>
            <a:ext cx="67668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programski model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72"/>
          <p:cNvSpPr txBox="1"/>
          <p:nvPr/>
        </p:nvSpPr>
        <p:spPr>
          <a:xfrm>
            <a:off x="1530000" y="3710520"/>
            <a:ext cx="69276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rPr>
              <a:t>Programiranje GPU</a:t>
            </a:r>
            <a:endParaRPr b="0" i="0" sz="18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71" name="Google Shape;371;p72"/>
          <p:cNvSpPr/>
          <p:nvPr/>
        </p:nvSpPr>
        <p:spPr>
          <a:xfrm>
            <a:off x="502560" y="3039840"/>
            <a:ext cx="802200" cy="7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3000">
                <a:solidFill>
                  <a:srgbClr val="2E3037"/>
                </a:solidFill>
                <a:latin typeface="Quicksand"/>
                <a:ea typeface="Quicksand"/>
                <a:cs typeface="Quicksand"/>
                <a:sym typeface="Quicksand"/>
              </a:rPr>
              <a:t>3</a:t>
            </a:r>
            <a:endParaRPr b="0" i="0" sz="3000" u="none" cap="none" strike="noStrike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3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programska paradigma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3"/>
          <p:cNvSpPr/>
          <p:nvPr/>
        </p:nvSpPr>
        <p:spPr>
          <a:xfrm>
            <a:off x="1050650" y="1584950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Host vs. Device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HOST: CPU, host memory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DEVICE: GPU, device memory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Računanje na CUDA arhitekturi: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Copy data: device memory ← host memory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CPU 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Učitavanje GPU kernela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pokreće CPU, izvršava GPU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AutoNum type="arabicPeriod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Copy data: host memory ← device memory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	CPU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- prevođenje i povezivanje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74"/>
          <p:cNvSpPr/>
          <p:nvPr/>
        </p:nvSpPr>
        <p:spPr>
          <a:xfrm>
            <a:off x="1050650" y="1584950"/>
            <a:ext cx="77991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nvcc kompajler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Off-line prevođenje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○"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Host: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✓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prevođenje u x86 binarnu datoteku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✓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pokretanje kernela na GPU jedinici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○"/>
            </a:pPr>
            <a:r>
              <a:rPr b="1" lang="hr-HR" sz="2400" u="sng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Device:</a:t>
            </a:r>
            <a:endParaRPr b="1" sz="2400" u="sng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✓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prevođenje u PTX (Parallel Thread Execution) kod, osigurava prenosivost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JIT (just in time) prevođenje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✓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Prevođenje PTX instrukcija u naticni GPU kod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✓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back &amp; forward compatibility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75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kernel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5"/>
          <p:cNvSpPr/>
          <p:nvPr/>
        </p:nvSpPr>
        <p:spPr>
          <a:xfrm>
            <a:off x="4498675" y="1584950"/>
            <a:ext cx="4350900" cy="3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Paralelizam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Istovremeno izvršavanje na više GPU jezgri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višenitnost (shared memory)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90" name="Google Shape;39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7125" y="1750425"/>
            <a:ext cx="294322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6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Topologija niti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76"/>
          <p:cNvSpPr/>
          <p:nvPr/>
        </p:nvSpPr>
        <p:spPr>
          <a:xfrm>
            <a:off x="1259075" y="3645925"/>
            <a:ext cx="7058100" cy="20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Svaki kernel izvršava se u zasebnoj niti (</a:t>
            </a:r>
            <a:r>
              <a:rPr b="1"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thread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- na zasebnoj jezgri)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Niti su organizirane u </a:t>
            </a:r>
            <a:r>
              <a:rPr b="1"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blokove</a:t>
            </a: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 niti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Blokovi su organizirani u </a:t>
            </a:r>
            <a:r>
              <a:rPr b="1"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grid</a:t>
            </a:r>
            <a:endParaRPr b="1" sz="2400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C9211E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Mogućnost pokretanja niti organiziranih u blokove i grid prilagođeno arhitekturi ili topologiji problema koji rješavamo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397" name="Google Shape;397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1250" y="1244200"/>
            <a:ext cx="6720525" cy="21870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7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Topologija niti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3" name="Google Shape;40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581" y="1473200"/>
            <a:ext cx="8839194" cy="4472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8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GPU apstrakcija i skalabilnost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025" y="1164125"/>
            <a:ext cx="5490800" cy="47538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78"/>
          <p:cNvSpPr txBox="1"/>
          <p:nvPr/>
        </p:nvSpPr>
        <p:spPr>
          <a:xfrm>
            <a:off x="1322025" y="5917950"/>
            <a:ext cx="7359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rgbClr val="C9211E"/>
                </a:solidFill>
                <a:latin typeface="Quicksand"/>
                <a:ea typeface="Quicksand"/>
                <a:cs typeface="Quicksand"/>
                <a:sym typeface="Quicksand"/>
              </a:rPr>
              <a:t>Ne možemo se osloniti na redoslijed izvršavanja!</a:t>
            </a:r>
            <a:endParaRPr>
              <a:solidFill>
                <a:srgbClr val="C9211E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79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kernel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79"/>
          <p:cNvSpPr/>
          <p:nvPr/>
        </p:nvSpPr>
        <p:spPr>
          <a:xfrm>
            <a:off x="1050650" y="1584950"/>
            <a:ext cx="7799100" cy="2699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void cuda_square(int *d_in, int *d_out) {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idx = threadIdx.x;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d_out[idx] = d_in[idx]*d_in[idx];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17" name="Google Shape;417;p79"/>
          <p:cNvSpPr/>
          <p:nvPr/>
        </p:nvSpPr>
        <p:spPr>
          <a:xfrm>
            <a:off x="1050650" y="4598125"/>
            <a:ext cx="7799100" cy="1627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Pokreni kernel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cuda_square&lt;&lt;&lt;1, N&gt;&gt;&gt; (d_in, d_out);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0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 kernel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80"/>
          <p:cNvSpPr/>
          <p:nvPr/>
        </p:nvSpPr>
        <p:spPr>
          <a:xfrm>
            <a:off x="1050650" y="1584950"/>
            <a:ext cx="7799100" cy="26997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__global__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void cuda_square(int *d_in, int *d_out) {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int idx = threadIdx.x;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  d_out[idx] = d_in[idx]*d_in[idx];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4" name="Google Shape;424;p80"/>
          <p:cNvSpPr/>
          <p:nvPr/>
        </p:nvSpPr>
        <p:spPr>
          <a:xfrm>
            <a:off x="1050650" y="4598125"/>
            <a:ext cx="7799100" cy="1627200"/>
          </a:xfrm>
          <a:prstGeom prst="rect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// Pokreni kernel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cuda_square&lt;&lt;&lt;</a:t>
            </a:r>
            <a:r>
              <a:rPr lang="hr-HR" sz="3000">
                <a:solidFill>
                  <a:srgbClr val="C9211E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hr-HR" sz="3000">
                <a:solidFill>
                  <a:srgbClr val="FF00FF"/>
                </a:solidFill>
                <a:latin typeface="Courier New"/>
                <a:ea typeface="Courier New"/>
                <a:cs typeface="Courier New"/>
                <a:sym typeface="Courier New"/>
              </a:rPr>
              <a:t>N</a:t>
            </a: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&gt;&gt;&gt; (d_in, d_out);</a:t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99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25" name="Google Shape;425;p80"/>
          <p:cNvSpPr/>
          <p:nvPr/>
        </p:nvSpPr>
        <p:spPr>
          <a:xfrm>
            <a:off x="1618075" y="4188325"/>
            <a:ext cx="2639700" cy="855900"/>
          </a:xfrm>
          <a:prstGeom prst="wedgeRoundRectCallout">
            <a:avLst>
              <a:gd fmla="val 47254" name="adj1"/>
              <a:gd fmla="val 97859" name="adj2"/>
              <a:gd fmla="val 0" name="adj3"/>
            </a:avLst>
          </a:prstGeom>
          <a:solidFill>
            <a:srgbClr val="C9211E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chemeClr val="lt1"/>
                </a:solidFill>
              </a:rPr>
              <a:t>Broj blokova u gridu</a:t>
            </a:r>
            <a:endParaRPr sz="2400">
              <a:solidFill>
                <a:schemeClr val="lt1"/>
              </a:solidFill>
            </a:endParaRPr>
          </a:p>
        </p:txBody>
      </p:sp>
      <p:sp>
        <p:nvSpPr>
          <p:cNvPr id="426" name="Google Shape;426;p80"/>
          <p:cNvSpPr/>
          <p:nvPr/>
        </p:nvSpPr>
        <p:spPr>
          <a:xfrm>
            <a:off x="4771600" y="4598125"/>
            <a:ext cx="2639700" cy="542400"/>
          </a:xfrm>
          <a:prstGeom prst="wedgeRoundRectCallout">
            <a:avLst>
              <a:gd fmla="val -40705" name="adj1"/>
              <a:gd fmla="val 107681" name="adj2"/>
              <a:gd fmla="val 0" name="adj3"/>
            </a:avLst>
          </a:prstGeom>
          <a:solidFill>
            <a:srgbClr val="FF00FF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chemeClr val="lt1"/>
                </a:solidFill>
              </a:rPr>
              <a:t>Broj niti u bloku</a:t>
            </a: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81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HOST Run-Time configuration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2" name="Google Shape;43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4700" y="1641950"/>
            <a:ext cx="8839201" cy="4468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2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DEVICE </a:t>
            </a: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Run-Time configuration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8" name="Google Shape;43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488" y="1376800"/>
            <a:ext cx="6677025" cy="230505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82"/>
          <p:cNvSpPr txBox="1"/>
          <p:nvPr/>
        </p:nvSpPr>
        <p:spPr>
          <a:xfrm>
            <a:off x="1233500" y="4110075"/>
            <a:ext cx="7359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Svaka nit procesira manji dio podataka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Kernel (jezgra) mora znati svoju run-time konfiguraciju: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3D poziciju bloka unutar grida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3D poziciju niti unutar bloka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83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Primjer: zbrajanje matrica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41950"/>
            <a:ext cx="8839200" cy="4599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84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Primjer: 3D topologija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1" name="Google Shape;45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5050" y="1111625"/>
            <a:ext cx="7926276" cy="285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050" y="3971375"/>
            <a:ext cx="7926275" cy="1648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85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CUDA: deklaracija funkcija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8" name="Google Shape;458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5325" y="1256250"/>
            <a:ext cx="6635800" cy="249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85"/>
          <p:cNvSpPr txBox="1"/>
          <p:nvPr/>
        </p:nvSpPr>
        <p:spPr>
          <a:xfrm>
            <a:off x="1165325" y="4134075"/>
            <a:ext cx="697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Prefiks </a:t>
            </a:r>
            <a:r>
              <a:rPr lang="hr-HR" sz="2400">
                <a:solidFill>
                  <a:srgbClr val="FF9900"/>
                </a:solidFill>
                <a:latin typeface="Courier New"/>
                <a:ea typeface="Courier New"/>
                <a:cs typeface="Courier New"/>
                <a:sym typeface="Courier New"/>
              </a:rPr>
              <a:t>__host__</a:t>
            </a: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u pravilu se ne navodi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6"/>
          <p:cNvSpPr txBox="1"/>
          <p:nvPr/>
        </p:nvSpPr>
        <p:spPr>
          <a:xfrm>
            <a:off x="1165325" y="704525"/>
            <a:ext cx="7245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SIMT - Single Instruction Multiple Thread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86"/>
          <p:cNvSpPr txBox="1"/>
          <p:nvPr/>
        </p:nvSpPr>
        <p:spPr>
          <a:xfrm>
            <a:off x="1165325" y="1813925"/>
            <a:ext cx="6973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Istovremeno izvršavanje velikog broja niti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Pipeline execution (Streaming Processor)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2400"/>
              <a:buFont typeface="Quicksand"/>
              <a:buChar char="●"/>
            </a:pPr>
            <a:r>
              <a:rPr b="1" lang="hr-HR" sz="24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rPr>
              <a:t>Jednostavna kontrola toka</a:t>
            </a:r>
            <a:endParaRPr b="1" sz="2400">
              <a:solidFill>
                <a:srgbClr val="39C0BA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Niti se ne izvršavaju u lock-step modu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Ne postoji predviđanje grananja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Quicksand"/>
              <a:buChar char="○"/>
            </a:pPr>
            <a:r>
              <a:rPr b="1" lang="hr-HR" sz="24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In-order instruction execution: čekanje na nezavisne instrukcije može uzrokovati latencije - dio niti čeka</a:t>
            </a:r>
            <a:endParaRPr b="1" sz="24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