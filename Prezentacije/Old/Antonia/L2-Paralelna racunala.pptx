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slideLayouts/slideLayout37.xml" ContentType="application/vnd.openxmlformats-officedocument.presentationml.slideLayout+xml"/>
  <Override PartName="/ppt/theme/theme5.xml" ContentType="application/vnd.openxmlformats-officedocument.theme+xml"/>
  <Override PartName="/ppt/slideLayouts/slideLayout3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embedTrueTypeFonts="1" saveSubsetFonts="1" autoCompressPictures="0">
  <p:sldMasterIdLst>
    <p:sldMasterId id="2147483684" r:id="rId1"/>
    <p:sldMasterId id="2147483685" r:id="rId2"/>
    <p:sldMasterId id="2147483686" r:id="rId3"/>
    <p:sldMasterId id="2147483687" r:id="rId4"/>
    <p:sldMasterId id="2147483689" r:id="rId5"/>
    <p:sldMasterId id="2147483691" r:id="rId6"/>
  </p:sldMasterIdLst>
  <p:notesMasterIdLst>
    <p:notesMasterId r:id="rId5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87" r:id="rId15"/>
    <p:sldId id="293" r:id="rId16"/>
    <p:sldId id="294" r:id="rId17"/>
    <p:sldId id="295" r:id="rId18"/>
    <p:sldId id="264" r:id="rId19"/>
    <p:sldId id="265" r:id="rId20"/>
    <p:sldId id="266" r:id="rId21"/>
    <p:sldId id="267" r:id="rId22"/>
    <p:sldId id="268" r:id="rId23"/>
    <p:sldId id="291" r:id="rId24"/>
    <p:sldId id="273" r:id="rId25"/>
    <p:sldId id="289" r:id="rId26"/>
    <p:sldId id="290" r:id="rId27"/>
    <p:sldId id="296" r:id="rId28"/>
    <p:sldId id="297" r:id="rId29"/>
    <p:sldId id="298" r:id="rId30"/>
    <p:sldId id="299" r:id="rId31"/>
    <p:sldId id="305" r:id="rId32"/>
    <p:sldId id="301" r:id="rId33"/>
    <p:sldId id="302" r:id="rId34"/>
    <p:sldId id="303" r:id="rId35"/>
    <p:sldId id="304" r:id="rId36"/>
    <p:sldId id="306" r:id="rId37"/>
    <p:sldId id="269" r:id="rId38"/>
    <p:sldId id="270" r:id="rId39"/>
    <p:sldId id="271" r:id="rId40"/>
    <p:sldId id="272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</p:sldIdLst>
  <p:sldSz cx="9144000" cy="6858000" type="screen4x3"/>
  <p:notesSz cx="6858000" cy="9144000"/>
  <p:embeddedFontLst>
    <p:embeddedFont>
      <p:font typeface="Cambria" panose="02040503050406030204" pitchFamily="18" charset="0"/>
      <p:regular r:id="rId55"/>
      <p:bold r:id="rId56"/>
      <p:italic r:id="rId57"/>
      <p:boldItalic r:id="rId58"/>
    </p:embeddedFont>
    <p:embeddedFont>
      <p:font typeface="Consolas" panose="020B0609020204030204" pitchFamily="49" charset="0"/>
      <p:regular r:id="rId59"/>
      <p:bold r:id="rId60"/>
      <p:italic r:id="rId61"/>
      <p:boldItalic r:id="rId62"/>
    </p:embeddedFont>
    <p:embeddedFont>
      <p:font typeface="Quicksand" panose="020B0604020202020204" charset="0"/>
      <p:regular r:id="rId63"/>
      <p:bold r:id="rId64"/>
    </p:embeddedFont>
    <p:embeddedFont>
      <p:font typeface="Segoe UI" panose="020B0502040204020203" pitchFamily="34" charset="0"/>
      <p:regular r:id="rId65"/>
      <p:bold r:id="rId66"/>
      <p:italic r:id="rId67"/>
      <p:boldItalic r:id="rId6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C0BA"/>
    <a:srgbClr val="569A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849" autoAdjust="0"/>
  </p:normalViewPr>
  <p:slideViewPr>
    <p:cSldViewPr snapToGrid="0">
      <p:cViewPr varScale="1">
        <p:scale>
          <a:sx n="106" d="100"/>
          <a:sy n="106" d="100"/>
        </p:scale>
        <p:origin x="168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font" Target="fonts/font9.fntdata"/><Relationship Id="rId68" Type="http://schemas.openxmlformats.org/officeDocument/2006/relationships/font" Target="fonts/font14.fntdata"/><Relationship Id="rId7" Type="http://schemas.openxmlformats.org/officeDocument/2006/relationships/slide" Target="slides/slide1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font" Target="fonts/font4.fntdata"/><Relationship Id="rId66" Type="http://schemas.openxmlformats.org/officeDocument/2006/relationships/font" Target="fonts/font12.fntdata"/><Relationship Id="rId5" Type="http://schemas.openxmlformats.org/officeDocument/2006/relationships/slideMaster" Target="slideMasters/slideMaster5.xml"/><Relationship Id="rId61" Type="http://schemas.openxmlformats.org/officeDocument/2006/relationships/font" Target="fonts/font7.fntdata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font" Target="fonts/font2.fntdata"/><Relationship Id="rId64" Type="http://schemas.openxmlformats.org/officeDocument/2006/relationships/font" Target="fonts/font10.fntdata"/><Relationship Id="rId69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font" Target="fonts/font5.fntdata"/><Relationship Id="rId67" Type="http://schemas.openxmlformats.org/officeDocument/2006/relationships/font" Target="fonts/font13.fntdata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notesMaster" Target="notesMasters/notesMaster1.xml"/><Relationship Id="rId62" Type="http://schemas.openxmlformats.org/officeDocument/2006/relationships/font" Target="fonts/font8.fntdata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font" Target="fonts/font3.fntdata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font" Target="fonts/font6.fntdata"/><Relationship Id="rId65" Type="http://schemas.openxmlformats.org/officeDocument/2006/relationships/font" Target="fonts/font11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0" name="Google Shape;1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193" name="Google Shape;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3" name="Google Shape;20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211" name="Google Shape;21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b8181b91e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9" name="Google Shape;219;g30b8181b91e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C8512CC7-7B70-E5B3-AF03-684585ABF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>
            <a:extLst>
              <a:ext uri="{FF2B5EF4-FFF2-40B4-BE49-F238E27FC236}">
                <a16:creationId xmlns:a16="http://schemas.microsoft.com/office/drawing/2014/main" id="{7FF52280-08AD-919A-7EC1-CB64727143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1" name="Google Shape;211;p7:notes">
            <a:extLst>
              <a:ext uri="{FF2B5EF4-FFF2-40B4-BE49-F238E27FC236}">
                <a16:creationId xmlns:a16="http://schemas.microsoft.com/office/drawing/2014/main" id="{94F0EBE6-379F-E637-89A9-4478DB902A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9256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B3BFA9CB-21CF-F6B4-30A2-F8BC69184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0b8181b91e_1_22:notes">
            <a:extLst>
              <a:ext uri="{FF2B5EF4-FFF2-40B4-BE49-F238E27FC236}">
                <a16:creationId xmlns:a16="http://schemas.microsoft.com/office/drawing/2014/main" id="{6130BE76-6D56-F3DF-03F6-86B46DF028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254" name="Google Shape;254;g30b8181b91e_1_22:notes">
            <a:extLst>
              <a:ext uri="{FF2B5EF4-FFF2-40B4-BE49-F238E27FC236}">
                <a16:creationId xmlns:a16="http://schemas.microsoft.com/office/drawing/2014/main" id="{05B966D8-4C28-5E19-181F-D71680767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64765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8B54900A-3735-5084-01F9-DD83D9F9F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0b8181b91e_1_22:notes">
            <a:extLst>
              <a:ext uri="{FF2B5EF4-FFF2-40B4-BE49-F238E27FC236}">
                <a16:creationId xmlns:a16="http://schemas.microsoft.com/office/drawing/2014/main" id="{BF485DF6-8F56-E016-850E-99397C2737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254" name="Google Shape;254;g30b8181b91e_1_22:notes">
            <a:extLst>
              <a:ext uri="{FF2B5EF4-FFF2-40B4-BE49-F238E27FC236}">
                <a16:creationId xmlns:a16="http://schemas.microsoft.com/office/drawing/2014/main" id="{39409342-A8E2-F3DE-8FE9-C52B213E2C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09040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E8119932-AA30-D2A7-0B53-8307BA924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0b8181b91e_1_22:notes">
            <a:extLst>
              <a:ext uri="{FF2B5EF4-FFF2-40B4-BE49-F238E27FC236}">
                <a16:creationId xmlns:a16="http://schemas.microsoft.com/office/drawing/2014/main" id="{2C923BFB-1BB4-7455-0AAA-8CB0E1DEE0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254" name="Google Shape;254;g30b8181b91e_1_22:notes">
            <a:extLst>
              <a:ext uri="{FF2B5EF4-FFF2-40B4-BE49-F238E27FC236}">
                <a16:creationId xmlns:a16="http://schemas.microsoft.com/office/drawing/2014/main" id="{1B9F41D8-0B0D-B6D5-3018-853DAEA777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16351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5" name="Google Shape;2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0b8181b91e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1" name="Google Shape;241;g30b8181b91e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248" name="Google Shape;2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0b8181b91e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4" name="Google Shape;254;g30b8181b91e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5BED7418-540E-4AD6-BA8C-0FA5C6D11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>
            <a:extLst>
              <a:ext uri="{FF2B5EF4-FFF2-40B4-BE49-F238E27FC236}">
                <a16:creationId xmlns:a16="http://schemas.microsoft.com/office/drawing/2014/main" id="{9A5855AB-AA08-584F-C41A-59F7504A1D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>
            <a:extLst>
              <a:ext uri="{FF2B5EF4-FFF2-40B4-BE49-F238E27FC236}">
                <a16:creationId xmlns:a16="http://schemas.microsoft.com/office/drawing/2014/main" id="{64B77EBC-9CF9-800A-1F34-66D692599B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04203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f5e7845bbb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gf5e7845bbb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7352FD0F-0953-5065-25AD-4A0B97A19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0b8181b91e_1_22:notes">
            <a:extLst>
              <a:ext uri="{FF2B5EF4-FFF2-40B4-BE49-F238E27FC236}">
                <a16:creationId xmlns:a16="http://schemas.microsoft.com/office/drawing/2014/main" id="{7235C48C-C33A-EBAB-0F82-3DECBCF126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4" name="Google Shape;254;g30b8181b91e_1_22:notes">
            <a:extLst>
              <a:ext uri="{FF2B5EF4-FFF2-40B4-BE49-F238E27FC236}">
                <a16:creationId xmlns:a16="http://schemas.microsoft.com/office/drawing/2014/main" id="{74BED53D-DBF7-4B77-BA5D-392B904907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87111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0BBAC9AD-3CF0-7434-2F22-6A28F6FE9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0b8181b91e_1_22:notes">
            <a:extLst>
              <a:ext uri="{FF2B5EF4-FFF2-40B4-BE49-F238E27FC236}">
                <a16:creationId xmlns:a16="http://schemas.microsoft.com/office/drawing/2014/main" id="{84E174FA-29AC-9232-7C62-9312ED759D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254" name="Google Shape;254;g30b8181b91e_1_22:notes">
            <a:extLst>
              <a:ext uri="{FF2B5EF4-FFF2-40B4-BE49-F238E27FC236}">
                <a16:creationId xmlns:a16="http://schemas.microsoft.com/office/drawing/2014/main" id="{5F693D53-D1A0-5276-3DB6-E07AB402A0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76856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6889265D-20C4-C4BB-D95E-FC0C3C2AE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>
            <a:extLst>
              <a:ext uri="{FF2B5EF4-FFF2-40B4-BE49-F238E27FC236}">
                <a16:creationId xmlns:a16="http://schemas.microsoft.com/office/drawing/2014/main" id="{6CCDD92B-7DEB-23D7-687A-AE849944E9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>
            <a:extLst>
              <a:ext uri="{FF2B5EF4-FFF2-40B4-BE49-F238E27FC236}">
                <a16:creationId xmlns:a16="http://schemas.microsoft.com/office/drawing/2014/main" id="{6C6CB9DB-BD6A-E7B8-3666-2EC8AF08A3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431824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DC8E80AE-3EAD-ECBF-C4B4-DB0A3BA7E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0b8181b91e_1_22:notes">
            <a:extLst>
              <a:ext uri="{FF2B5EF4-FFF2-40B4-BE49-F238E27FC236}">
                <a16:creationId xmlns:a16="http://schemas.microsoft.com/office/drawing/2014/main" id="{56C1818D-F626-C5F4-9235-35ADEE0607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254" name="Google Shape;254;g30b8181b91e_1_22:notes">
            <a:extLst>
              <a:ext uri="{FF2B5EF4-FFF2-40B4-BE49-F238E27FC236}">
                <a16:creationId xmlns:a16="http://schemas.microsoft.com/office/drawing/2014/main" id="{C8F8C890-2808-CC83-73E8-6C5498F0A0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93428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4FF6B269-B6F3-883D-3505-06B1693AD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0b8181b91e_1_22:notes">
            <a:extLst>
              <a:ext uri="{FF2B5EF4-FFF2-40B4-BE49-F238E27FC236}">
                <a16:creationId xmlns:a16="http://schemas.microsoft.com/office/drawing/2014/main" id="{53C5F525-D4AD-E6CE-7695-6573B2AA28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254" name="Google Shape;254;g30b8181b91e_1_22:notes">
            <a:extLst>
              <a:ext uri="{FF2B5EF4-FFF2-40B4-BE49-F238E27FC236}">
                <a16:creationId xmlns:a16="http://schemas.microsoft.com/office/drawing/2014/main" id="{4A0995CB-C6AF-71E1-D43F-83CD1D5B2E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13832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C439B19D-90EC-0924-D9D3-5465199C0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0b8181b91e_1_22:notes">
            <a:extLst>
              <a:ext uri="{FF2B5EF4-FFF2-40B4-BE49-F238E27FC236}">
                <a16:creationId xmlns:a16="http://schemas.microsoft.com/office/drawing/2014/main" id="{B272EED5-FDD6-4C67-C170-629E1708CB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254" name="Google Shape;254;g30b8181b91e_1_22:notes">
            <a:extLst>
              <a:ext uri="{FF2B5EF4-FFF2-40B4-BE49-F238E27FC236}">
                <a16:creationId xmlns:a16="http://schemas.microsoft.com/office/drawing/2014/main" id="{9EA6FDEF-2549-E22D-0489-F7F905AC08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28556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A54B94C7-C1D2-73D9-3181-91C1F287F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>
            <a:extLst>
              <a:ext uri="{FF2B5EF4-FFF2-40B4-BE49-F238E27FC236}">
                <a16:creationId xmlns:a16="http://schemas.microsoft.com/office/drawing/2014/main" id="{A9655DEE-D829-5EA1-728F-363CFCBC6F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>
            <a:extLst>
              <a:ext uri="{FF2B5EF4-FFF2-40B4-BE49-F238E27FC236}">
                <a16:creationId xmlns:a16="http://schemas.microsoft.com/office/drawing/2014/main" id="{71F3FDDF-94C5-FC12-B1F9-C64623B96A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24839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0" name="Google Shape;1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070D6242-EB29-E6A7-ED04-7839B3E92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0B626E45-2CED-72A5-799C-993C5BE4F0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2F4FEB95-7C63-23C3-04FA-C4E0715983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88467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28FF24EC-342D-CB26-E447-E1966940D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70B0E444-DF72-938C-A1D1-EA1E90D066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701C4F53-D4E4-9948-B43A-E673048A5D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98709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B3166BF4-4C40-743D-987E-64549524B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C8056B07-3AE0-605F-2C67-F5197C78C3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E816C06E-1422-5F6E-208F-FA73CF7A62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46381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6FC0F63-8B19-45FA-100F-8B415A0B6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>
            <a:extLst>
              <a:ext uri="{FF2B5EF4-FFF2-40B4-BE49-F238E27FC236}">
                <a16:creationId xmlns:a16="http://schemas.microsoft.com/office/drawing/2014/main" id="{F66053B6-23A9-68B5-872F-257CD70E10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>
            <a:extLst>
              <a:ext uri="{FF2B5EF4-FFF2-40B4-BE49-F238E27FC236}">
                <a16:creationId xmlns:a16="http://schemas.microsoft.com/office/drawing/2014/main" id="{8F63EECB-7021-916F-7A63-2E5CA8B9CC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91540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0" name="Google Shape;26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8" name="Google Shape;26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f5e7845bbb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281" name="Google Shape;281;gf5e7845bbb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5" name="Google Shape;29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1" name="Google Shape;30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3" name="Google Shape;31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f637441cc8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gf637441cc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3" name="Google Shape;33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9" name="Google Shape;35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f5e7845bbb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gf5e7845bbb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f5e7845bbb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gf5e7845bbb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subTitle" idx="1"/>
          </p:nvPr>
        </p:nvSpPr>
        <p:spPr>
          <a:xfrm>
            <a:off x="1165320" y="666000"/>
            <a:ext cx="6857640" cy="213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body" idx="3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4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2"/>
          </p:nvPr>
        </p:nvSpPr>
        <p:spPr>
          <a:xfrm>
            <a:off x="228348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3"/>
          </p:nvPr>
        </p:nvSpPr>
        <p:spPr>
          <a:xfrm>
            <a:off x="340164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4"/>
          </p:nvPr>
        </p:nvSpPr>
        <p:spPr>
          <a:xfrm>
            <a:off x="116532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5"/>
          </p:nvPr>
        </p:nvSpPr>
        <p:spPr>
          <a:xfrm>
            <a:off x="228348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6"/>
          </p:nvPr>
        </p:nvSpPr>
        <p:spPr>
          <a:xfrm>
            <a:off x="340164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ubTitle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>
            <a:spLocks noGrp="1"/>
          </p:cNvSpPr>
          <p:nvPr>
            <p:ph type="subTitle" idx="1"/>
          </p:nvPr>
        </p:nvSpPr>
        <p:spPr>
          <a:xfrm>
            <a:off x="1165320" y="666000"/>
            <a:ext cx="6857640" cy="213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body" idx="3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4"/>
          <p:cNvSpPr txBox="1">
            <a:spLocks noGrp="1"/>
          </p:cNvSpPr>
          <p:nvPr>
            <p:ph type="body" idx="2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5"/>
          <p:cNvSpPr txBox="1">
            <a:spLocks noGrp="1"/>
          </p:cNvSpPr>
          <p:nvPr>
            <p:ph type="body" idx="4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6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body" idx="2"/>
          </p:nvPr>
        </p:nvSpPr>
        <p:spPr>
          <a:xfrm>
            <a:off x="228348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6"/>
          <p:cNvSpPr txBox="1">
            <a:spLocks noGrp="1"/>
          </p:cNvSpPr>
          <p:nvPr>
            <p:ph type="body" idx="3"/>
          </p:nvPr>
        </p:nvSpPr>
        <p:spPr>
          <a:xfrm>
            <a:off x="340164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6"/>
          <p:cNvSpPr txBox="1">
            <a:spLocks noGrp="1"/>
          </p:cNvSpPr>
          <p:nvPr>
            <p:ph type="body" idx="4"/>
          </p:nvPr>
        </p:nvSpPr>
        <p:spPr>
          <a:xfrm>
            <a:off x="116532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6"/>
          <p:cNvSpPr txBox="1">
            <a:spLocks noGrp="1"/>
          </p:cNvSpPr>
          <p:nvPr>
            <p:ph type="body" idx="5"/>
          </p:nvPr>
        </p:nvSpPr>
        <p:spPr>
          <a:xfrm>
            <a:off x="228348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 txBox="1">
            <a:spLocks noGrp="1"/>
          </p:cNvSpPr>
          <p:nvPr>
            <p:ph type="body" idx="6"/>
          </p:nvPr>
        </p:nvSpPr>
        <p:spPr>
          <a:xfrm>
            <a:off x="340164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8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8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30"/>
          <p:cNvSpPr txBox="1">
            <a:spLocks noGrp="1"/>
          </p:cNvSpPr>
          <p:nvPr>
            <p:ph type="subTitle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1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1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2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3"/>
          <p:cNvSpPr txBox="1">
            <a:spLocks noGrp="1"/>
          </p:cNvSpPr>
          <p:nvPr>
            <p:ph type="subTitle" idx="1"/>
          </p:nvPr>
        </p:nvSpPr>
        <p:spPr>
          <a:xfrm>
            <a:off x="1165320" y="666000"/>
            <a:ext cx="6857640" cy="213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4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4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4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4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5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35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5"/>
          <p:cNvSpPr txBox="1">
            <a:spLocks noGrp="1"/>
          </p:cNvSpPr>
          <p:nvPr>
            <p:ph type="body" idx="3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6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6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7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37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7"/>
          <p:cNvSpPr txBox="1">
            <a:spLocks noGrp="1"/>
          </p:cNvSpPr>
          <p:nvPr>
            <p:ph type="body" idx="2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8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8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8"/>
          <p:cNvSpPr txBox="1">
            <a:spLocks noGrp="1"/>
          </p:cNvSpPr>
          <p:nvPr>
            <p:ph type="body" idx="4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9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39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39"/>
          <p:cNvSpPr txBox="1">
            <a:spLocks noGrp="1"/>
          </p:cNvSpPr>
          <p:nvPr>
            <p:ph type="body" idx="2"/>
          </p:nvPr>
        </p:nvSpPr>
        <p:spPr>
          <a:xfrm>
            <a:off x="228348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39"/>
          <p:cNvSpPr txBox="1">
            <a:spLocks noGrp="1"/>
          </p:cNvSpPr>
          <p:nvPr>
            <p:ph type="body" idx="3"/>
          </p:nvPr>
        </p:nvSpPr>
        <p:spPr>
          <a:xfrm>
            <a:off x="340164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9"/>
          <p:cNvSpPr txBox="1">
            <a:spLocks noGrp="1"/>
          </p:cNvSpPr>
          <p:nvPr>
            <p:ph type="body" idx="4"/>
          </p:nvPr>
        </p:nvSpPr>
        <p:spPr>
          <a:xfrm>
            <a:off x="116532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39"/>
          <p:cNvSpPr txBox="1">
            <a:spLocks noGrp="1"/>
          </p:cNvSpPr>
          <p:nvPr>
            <p:ph type="body" idx="5"/>
          </p:nvPr>
        </p:nvSpPr>
        <p:spPr>
          <a:xfrm>
            <a:off x="228348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39"/>
          <p:cNvSpPr txBox="1">
            <a:spLocks noGrp="1"/>
          </p:cNvSpPr>
          <p:nvPr>
            <p:ph type="body" idx="6"/>
          </p:nvPr>
        </p:nvSpPr>
        <p:spPr>
          <a:xfrm>
            <a:off x="340164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8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8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8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8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8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8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36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37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037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319040" y="2876400"/>
            <a:ext cx="6680160" cy="15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903600" y="3563640"/>
            <a:ext cx="360" cy="32940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r-HR"/>
          </a:p>
        </p:txBody>
      </p:sp>
      <p:sp>
        <p:nvSpPr>
          <p:cNvPr id="8" name="Google Shape;8;p1"/>
          <p:cNvSpPr/>
          <p:nvPr/>
        </p:nvSpPr>
        <p:spPr>
          <a:xfrm>
            <a:off x="768960" y="3294360"/>
            <a:ext cx="268920" cy="268920"/>
          </a:xfrm>
          <a:prstGeom prst="ellipse">
            <a:avLst/>
          </a:prstGeom>
          <a:solidFill>
            <a:srgbClr val="39C0BA"/>
          </a:solidFill>
          <a:ln w="28425" cap="flat" cmpd="sng">
            <a:solidFill>
              <a:srgbClr val="2E30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037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1530000" y="3076920"/>
            <a:ext cx="6766920" cy="70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903960" y="-7920"/>
            <a:ext cx="360" cy="6865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r-HR"/>
          </a:p>
        </p:txBody>
      </p:sp>
      <p:sp>
        <p:nvSpPr>
          <p:cNvPr id="61" name="Google Shape;61;p14"/>
          <p:cNvSpPr/>
          <p:nvPr/>
        </p:nvSpPr>
        <p:spPr>
          <a:xfrm>
            <a:off x="493560" y="3018960"/>
            <a:ext cx="819720" cy="819720"/>
          </a:xfrm>
          <a:prstGeom prst="ellipse">
            <a:avLst/>
          </a:prstGeom>
          <a:solidFill>
            <a:srgbClr val="39C0BA"/>
          </a:solidFill>
          <a:ln w="28425" cap="flat" cmpd="sng">
            <a:solidFill>
              <a:srgbClr val="2E30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037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body" idx="2"/>
          </p:nvPr>
        </p:nvSpPr>
        <p:spPr>
          <a:xfrm>
            <a:off x="46717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5" name="Google Shape;115;p27"/>
          <p:cNvSpPr/>
          <p:nvPr/>
        </p:nvSpPr>
        <p:spPr>
          <a:xfrm>
            <a:off x="903960" y="-7920"/>
            <a:ext cx="360" cy="6865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r-HR"/>
          </a:p>
        </p:txBody>
      </p:sp>
      <p:sp>
        <p:nvSpPr>
          <p:cNvPr id="116" name="Google Shape;116;p27"/>
          <p:cNvSpPr/>
          <p:nvPr/>
        </p:nvSpPr>
        <p:spPr>
          <a:xfrm>
            <a:off x="808560" y="800640"/>
            <a:ext cx="189720" cy="189720"/>
          </a:xfrm>
          <a:prstGeom prst="ellipse">
            <a:avLst/>
          </a:prstGeom>
          <a:solidFill>
            <a:srgbClr val="39C0BA"/>
          </a:solidFill>
          <a:ln w="28425" cap="flat" cmpd="sng">
            <a:solidFill>
              <a:srgbClr val="2E30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7"/>
          <p:cNvSpPr/>
          <p:nvPr/>
        </p:nvSpPr>
        <p:spPr>
          <a:xfrm>
            <a:off x="768960" y="1861920"/>
            <a:ext cx="268920" cy="268920"/>
          </a:xfrm>
          <a:prstGeom prst="ellipse">
            <a:avLst/>
          </a:prstGeom>
          <a:solidFill>
            <a:srgbClr val="2E3037"/>
          </a:solidFill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037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body" idx="2"/>
          </p:nvPr>
        </p:nvSpPr>
        <p:spPr>
          <a:xfrm>
            <a:off x="46717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5" name="Google Shape;115;p27"/>
          <p:cNvSpPr/>
          <p:nvPr/>
        </p:nvSpPr>
        <p:spPr>
          <a:xfrm>
            <a:off x="903960" y="-7920"/>
            <a:ext cx="360" cy="6865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r-HR"/>
          </a:p>
        </p:txBody>
      </p:sp>
      <p:sp>
        <p:nvSpPr>
          <p:cNvPr id="116" name="Google Shape;116;p27"/>
          <p:cNvSpPr/>
          <p:nvPr/>
        </p:nvSpPr>
        <p:spPr>
          <a:xfrm>
            <a:off x="808560" y="800640"/>
            <a:ext cx="189720" cy="189720"/>
          </a:xfrm>
          <a:prstGeom prst="ellipse">
            <a:avLst/>
          </a:prstGeom>
          <a:solidFill>
            <a:srgbClr val="39C0BA"/>
          </a:solidFill>
          <a:ln w="28425" cap="flat" cmpd="sng">
            <a:solidFill>
              <a:srgbClr val="2E30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7"/>
          <p:cNvSpPr/>
          <p:nvPr/>
        </p:nvSpPr>
        <p:spPr>
          <a:xfrm>
            <a:off x="768960" y="1861920"/>
            <a:ext cx="268920" cy="268920"/>
          </a:xfrm>
          <a:prstGeom prst="ellipse">
            <a:avLst/>
          </a:prstGeom>
          <a:solidFill>
            <a:srgbClr val="2E3037"/>
          </a:solidFill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037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body" idx="2"/>
          </p:nvPr>
        </p:nvSpPr>
        <p:spPr>
          <a:xfrm>
            <a:off x="46717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5" name="Google Shape;115;p27"/>
          <p:cNvSpPr/>
          <p:nvPr/>
        </p:nvSpPr>
        <p:spPr>
          <a:xfrm>
            <a:off x="903960" y="-7920"/>
            <a:ext cx="360" cy="6865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r-HR"/>
          </a:p>
        </p:txBody>
      </p:sp>
      <p:sp>
        <p:nvSpPr>
          <p:cNvPr id="116" name="Google Shape;116;p27"/>
          <p:cNvSpPr/>
          <p:nvPr/>
        </p:nvSpPr>
        <p:spPr>
          <a:xfrm>
            <a:off x="808560" y="800640"/>
            <a:ext cx="189720" cy="189720"/>
          </a:xfrm>
          <a:prstGeom prst="ellipse">
            <a:avLst/>
          </a:prstGeom>
          <a:solidFill>
            <a:srgbClr val="39C0BA"/>
          </a:solidFill>
          <a:ln w="28425" cap="flat" cmpd="sng">
            <a:solidFill>
              <a:srgbClr val="2E30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7"/>
          <p:cNvSpPr/>
          <p:nvPr/>
        </p:nvSpPr>
        <p:spPr>
          <a:xfrm>
            <a:off x="768960" y="1861920"/>
            <a:ext cx="268920" cy="268920"/>
          </a:xfrm>
          <a:prstGeom prst="ellipse">
            <a:avLst/>
          </a:prstGeom>
          <a:solidFill>
            <a:srgbClr val="2E3037"/>
          </a:solidFill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037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body" idx="2"/>
          </p:nvPr>
        </p:nvSpPr>
        <p:spPr>
          <a:xfrm>
            <a:off x="46717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5" name="Google Shape;115;p27"/>
          <p:cNvSpPr/>
          <p:nvPr/>
        </p:nvSpPr>
        <p:spPr>
          <a:xfrm>
            <a:off x="903960" y="-7920"/>
            <a:ext cx="360" cy="6865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r-HR"/>
          </a:p>
        </p:txBody>
      </p:sp>
      <p:sp>
        <p:nvSpPr>
          <p:cNvPr id="116" name="Google Shape;116;p27"/>
          <p:cNvSpPr/>
          <p:nvPr/>
        </p:nvSpPr>
        <p:spPr>
          <a:xfrm>
            <a:off x="808560" y="800640"/>
            <a:ext cx="189720" cy="189720"/>
          </a:xfrm>
          <a:prstGeom prst="ellipse">
            <a:avLst/>
          </a:prstGeom>
          <a:solidFill>
            <a:srgbClr val="39C0BA"/>
          </a:solidFill>
          <a:ln w="28425" cap="flat" cmpd="sng">
            <a:solidFill>
              <a:srgbClr val="2E30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7"/>
          <p:cNvSpPr/>
          <p:nvPr/>
        </p:nvSpPr>
        <p:spPr>
          <a:xfrm>
            <a:off x="768960" y="1861920"/>
            <a:ext cx="268920" cy="268920"/>
          </a:xfrm>
          <a:prstGeom prst="ellipse">
            <a:avLst/>
          </a:prstGeom>
          <a:solidFill>
            <a:srgbClr val="2E3037"/>
          </a:solidFill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3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0"/>
          <p:cNvSpPr txBox="1"/>
          <p:nvPr/>
        </p:nvSpPr>
        <p:spPr>
          <a:xfrm>
            <a:off x="1319040" y="2876400"/>
            <a:ext cx="6680160" cy="15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6000" b="0" i="0" u="none" strike="noStrike" cap="non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Paralelno programiranje</a:t>
            </a:r>
            <a:endParaRPr sz="6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1"/>
          <p:cNvSpPr txBox="1"/>
          <p:nvPr/>
        </p:nvSpPr>
        <p:spPr>
          <a:xfrm>
            <a:off x="1530000" y="3076920"/>
            <a:ext cx="6766920" cy="70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0" i="0" u="none" strike="noStrike" cap="non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Paraleln</a:t>
            </a:r>
            <a:r>
              <a:rPr lang="hr-HR" sz="30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e arhitekture</a:t>
            </a:r>
            <a:endParaRPr sz="3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1"/>
          <p:cNvSpPr txBox="1"/>
          <p:nvPr/>
        </p:nvSpPr>
        <p:spPr>
          <a:xfrm>
            <a:off x="1530000" y="3710520"/>
            <a:ext cx="6927480" cy="47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0" i="0" u="none" strike="noStrike" cap="none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rPr>
              <a:t>Modeli paralelnih računala, </a:t>
            </a:r>
            <a:r>
              <a:rPr lang="hr-HR" sz="18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rPr>
              <a:t>memorijski modeli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7" name="Google Shape;177;p41"/>
          <p:cNvSpPr/>
          <p:nvPr/>
        </p:nvSpPr>
        <p:spPr>
          <a:xfrm>
            <a:off x="502560" y="3039840"/>
            <a:ext cx="802080" cy="78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0" i="0" u="none" strike="noStrike" cap="none">
                <a:solidFill>
                  <a:srgbClr val="2E3037"/>
                </a:solidFill>
                <a:latin typeface="Quicksand"/>
                <a:ea typeface="Quicksand"/>
                <a:cs typeface="Quicksand"/>
                <a:sym typeface="Quicksand"/>
              </a:rPr>
              <a:t>1</a:t>
            </a:r>
            <a:endParaRPr sz="3000" b="0" i="0" u="none" strike="noStrike" cap="non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Paralelno računalo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2"/>
          <p:cNvSpPr/>
          <p:nvPr/>
        </p:nvSpPr>
        <p:spPr>
          <a:xfrm>
            <a:off x="1038600" y="1368000"/>
            <a:ext cx="730044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2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000"/>
              <a:buFont typeface="Quicksand"/>
              <a:buChar char="●"/>
            </a:pPr>
            <a:r>
              <a:rPr lang="hr-HR" sz="2000" b="1" i="0" u="none" strike="noStrike" cap="non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Više procesorskih (računalnih) jedinica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648000" marR="0" lvl="2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više jezgri/procesora/računala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000"/>
              <a:buFont typeface="Quicksand"/>
              <a:buChar char="●"/>
            </a:pPr>
            <a:r>
              <a:rPr lang="hr-HR" sz="2000" b="1" i="0" u="none" strike="noStrike" cap="non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Veza među računalnim jedinica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648000" marR="0" lvl="2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sabirnica, mreža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000"/>
              <a:buFont typeface="Quicksand"/>
              <a:buChar char="●"/>
            </a:pPr>
            <a:r>
              <a:rPr lang="hr-HR" sz="2000" b="1" i="0" u="sng" strike="noStrike" cap="non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Arhitektura paralelnog računala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000"/>
              <a:buFont typeface="Quicksand"/>
              <a:buChar char="●"/>
            </a:pPr>
            <a:r>
              <a:rPr lang="hr-HR" sz="2000" b="1" i="0" u="none" strike="noStrike" cap="non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Okruženje za razvoj i izvršavanje paralelnog algoritma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648000" marR="0" lvl="2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operativni sustav, razvojno okruženje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Quicksand"/>
              <a:buChar char="●"/>
            </a:pPr>
            <a:r>
              <a:rPr lang="hr-HR" sz="2400" b="1" i="0" u="sng" strike="noStrike" cap="non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Paralelni algoritam (i odgovarajući program pripremljen za arhitekturu koju koristimo)</a:t>
            </a:r>
            <a:endParaRPr sz="24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758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None/>
            </a:pPr>
            <a:endParaRPr sz="24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1521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Quicksand"/>
              <a:buNone/>
            </a:pPr>
            <a:endParaRPr sz="2400" b="0" i="0" u="none" strike="noStrike" cap="non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3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i="0" u="none" strike="noStrike" cap="non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Arhitekture (modeli) paralelnih računala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0480" y="1728000"/>
            <a:ext cx="7211160" cy="40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43"/>
          <p:cNvSpPr txBox="1"/>
          <p:nvPr/>
        </p:nvSpPr>
        <p:spPr>
          <a:xfrm>
            <a:off x="1224000" y="1224000"/>
            <a:ext cx="4104000" cy="113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000" b="1" i="0" u="sng" strike="noStrike" cap="non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Flynn’s taxonomy (1966.):</a:t>
            </a: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SISD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4"/>
          <p:cNvSpPr/>
          <p:nvPr/>
        </p:nvSpPr>
        <p:spPr>
          <a:xfrm>
            <a:off x="1038600" y="1368000"/>
            <a:ext cx="730044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Von </a:t>
            </a:r>
            <a:r>
              <a:rPr lang="hr-HR" sz="18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Neumannov</a:t>
            </a:r>
            <a:r>
              <a:rPr lang="hr-HR" sz="18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model računala (1946.)</a:t>
            </a:r>
            <a:endParaRPr sz="18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648000" marR="0" lvl="2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18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Jedan procesor, jedna memorijska jedinica</a:t>
            </a: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  <a:p>
            <a:pPr marL="648000" marR="0" lvl="2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18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Jedna instrukcija obrađuje jedan podatak</a:t>
            </a: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  <a:p>
            <a:pPr marL="648000" marR="0" lvl="2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1800" b="1" i="0" u="none" strike="noStrike" cap="none" dirty="0" err="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Sljedno</a:t>
            </a:r>
            <a:r>
              <a:rPr lang="hr-HR" sz="18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 (serijsko) izvršavanje</a:t>
            </a: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012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000"/>
              <a:buFont typeface="Quicksand"/>
              <a:buNone/>
            </a:pP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012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000"/>
              <a:buFont typeface="Quicksand"/>
              <a:buNone/>
            </a:pP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177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None/>
            </a:pPr>
            <a:endParaRPr sz="20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97" name="Google Shape;197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1940" y="2880000"/>
            <a:ext cx="3528000" cy="204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44"/>
          <p:cNvSpPr txBox="1"/>
          <p:nvPr/>
        </p:nvSpPr>
        <p:spPr>
          <a:xfrm>
            <a:off x="830780" y="4891594"/>
            <a:ext cx="4109940" cy="256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 b="0" i="1" strike="noStrike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https://hr.wikipedia.org/wiki/Von_Neumannova_arhitektura</a:t>
            </a:r>
            <a:endParaRPr sz="1200" b="0" strike="noStrike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99" name="Google Shape;199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24641" y="2490701"/>
            <a:ext cx="3168000" cy="31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44"/>
          <p:cNvSpPr txBox="1"/>
          <p:nvPr/>
        </p:nvSpPr>
        <p:spPr>
          <a:xfrm>
            <a:off x="5659121" y="5658701"/>
            <a:ext cx="3299040" cy="260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 b="0" i="1" strike="noStrike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https://en.wikipedia.org/wiki/Flynn’s_taxonomy</a:t>
            </a:r>
            <a:endParaRPr sz="1200" b="0" strike="noStrike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60CDF39-24BD-4188-DD1B-95A24D1D9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731" y="5264369"/>
            <a:ext cx="4172040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sr-Latn-RS" altLang="sr-Latn-R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Control</a:t>
            </a:r>
            <a:r>
              <a:rPr kumimoji="0" lang="sr-Latn-RS" altLang="sr-Latn-R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sr-Latn-RS" altLang="sr-Latn-R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Unit</a:t>
            </a:r>
            <a:r>
              <a:rPr kumimoji="0" lang="sr-Latn-RS" altLang="sr-Latn-R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- donosi odluke, dohvaća sljedeću instrukciju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ALU</a:t>
            </a:r>
            <a:r>
              <a:rPr kumimoji="0" lang="sr-Latn-RS" altLang="sr-Latn-R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sr-Latn-RS" altLang="sr-Latn-R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Arithmetic</a:t>
            </a:r>
            <a:r>
              <a:rPr kumimoji="0" lang="sr-Latn-RS" altLang="sr-Latn-R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sr-Latn-RS" altLang="sr-Latn-R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Logic</a:t>
            </a:r>
            <a:r>
              <a:rPr kumimoji="0" lang="sr-Latn-RS" altLang="sr-Latn-R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sr-Latn-RS" altLang="sr-Latn-R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Unit</a:t>
            </a:r>
            <a:r>
              <a:rPr kumimoji="0" lang="sr-Latn-RS" altLang="sr-Latn-R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 - izvršava operacije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sr-Latn-RS" altLang="sr-Latn-R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Memory</a:t>
            </a:r>
            <a:r>
              <a:rPr kumimoji="0" lang="sr-Latn-RS" altLang="sr-Latn-R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sr-Latn-RS" altLang="sr-Latn-R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Unit</a:t>
            </a:r>
            <a:r>
              <a:rPr kumimoji="0" lang="sr-Latn-RS" altLang="sr-Latn-R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- pohranjuje i programe i podatke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Input / </a:t>
            </a:r>
            <a:r>
              <a:rPr kumimoji="0" lang="sr-Latn-RS" altLang="sr-Latn-R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Output</a:t>
            </a:r>
            <a:r>
              <a:rPr kumimoji="0" lang="sr-Latn-RS" altLang="sr-Latn-R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5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SIMD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5"/>
          <p:cNvSpPr/>
          <p:nvPr/>
        </p:nvSpPr>
        <p:spPr>
          <a:xfrm>
            <a:off x="1038600" y="1368000"/>
            <a:ext cx="730044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Podatkovni paralelizam (</a:t>
            </a:r>
            <a:r>
              <a:rPr lang="hr-HR" sz="2400" b="1" u="sng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data </a:t>
            </a:r>
            <a:r>
              <a:rPr lang="hr-HR" sz="2400" b="1" u="sng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level</a:t>
            </a: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  <a:endParaRPr sz="24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648000" marR="0" lvl="2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Polje jednakih procesora</a:t>
            </a:r>
            <a:endParaRPr sz="20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  <a:p>
            <a:pPr marL="648000" marR="0" lvl="2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Jedna (ista) instrukcija izvodi se istovremeno na svim procesorima, obrađuje različiti podatak</a:t>
            </a:r>
            <a:endParaRPr sz="20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  <a:p>
            <a:pPr marL="648000" marR="0" lvl="2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Procesori rade sinkronizirano</a:t>
            </a:r>
            <a:endParaRPr sz="20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Primjena:</a:t>
            </a:r>
            <a:endParaRPr sz="24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Vektorska obrada: jednolika </a:t>
            </a:r>
            <a:br>
              <a:rPr lang="hr-HR" sz="1800" b="0" i="0" u="none" strike="noStrike" cap="none" dirty="0">
                <a:latin typeface="Arial"/>
                <a:ea typeface="Arial"/>
                <a:cs typeface="Arial"/>
                <a:sym typeface="Arial"/>
              </a:rPr>
            </a:br>
            <a:r>
              <a:rPr lang="hr-HR" sz="20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obrada velikog skupa podataka</a:t>
            </a:r>
            <a:endParaRPr sz="20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Problem:</a:t>
            </a:r>
            <a:endParaRPr sz="24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Grananje</a:t>
            </a:r>
            <a:br>
              <a:rPr lang="hr-HR" sz="1800" b="0" i="0" u="none" strike="noStrike" cap="none" dirty="0">
                <a:latin typeface="Arial"/>
                <a:ea typeface="Arial"/>
                <a:cs typeface="Arial"/>
                <a:sym typeface="Arial"/>
              </a:rPr>
            </a:br>
            <a:r>
              <a:rPr lang="hr-HR" sz="20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sz="20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012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000"/>
              <a:buFont typeface="Quicksand"/>
              <a:buNone/>
            </a:pP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012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000"/>
              <a:buFont typeface="Quicksand"/>
              <a:buNone/>
            </a:pP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177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None/>
            </a:pPr>
            <a:endParaRPr sz="20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07" name="Google Shape;207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16000" y="2949840"/>
            <a:ext cx="3431520" cy="353016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45"/>
          <p:cNvSpPr txBox="1"/>
          <p:nvPr/>
        </p:nvSpPr>
        <p:spPr>
          <a:xfrm>
            <a:off x="5040000" y="6427440"/>
            <a:ext cx="4104000" cy="43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400" b="0" i="1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https://en.wikipedia.org/wiki/Flynn’s_taxonomy</a:t>
            </a:r>
            <a:endParaRPr sz="1400" b="0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3184" y="1367999"/>
            <a:ext cx="2133950" cy="123034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46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SIMD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6"/>
          <p:cNvSpPr/>
          <p:nvPr/>
        </p:nvSpPr>
        <p:spPr>
          <a:xfrm>
            <a:off x="1038600" y="1368000"/>
            <a:ext cx="730050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Array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processor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- vektorske operacije</a:t>
            </a:r>
            <a:endParaRPr sz="24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ILLIAC IV (1966.)</a:t>
            </a: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Vektorska superračunala od 1970-ih</a:t>
            </a: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Pipelined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processor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- 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register-based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SIMD</a:t>
            </a:r>
            <a:endParaRPr sz="24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Primaju jednu instrukciju</a:t>
            </a:r>
            <a:endParaRPr sz="1800" b="1" dirty="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čitanje seta podataka iz centralne memorije</a:t>
            </a:r>
            <a:endParaRPr sz="1800" b="1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višestruka obrada </a:t>
            </a:r>
            <a:r>
              <a:rPr lang="hr-HR" sz="1800" b="1" u="sng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(podaci u registrima)</a:t>
            </a:r>
            <a:r>
              <a:rPr lang="hr-HR" sz="18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, pri čemu svaka jedinica obrađuje fragment podataka</a:t>
            </a:r>
            <a:endParaRPr sz="1800" b="1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pohrana rezultata u centralnu memoriju</a:t>
            </a:r>
            <a:endParaRPr sz="1800" b="1" dirty="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Associative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processor</a:t>
            </a:r>
            <a:endParaRPr sz="24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Primaju istu instrukciju, ali svaka jedinica donosi nezavisnu odluku na temelju lokalnih</a:t>
            </a:r>
            <a:endParaRPr sz="1800" b="1" dirty="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Predikatni ili maskirani SIMD - procesor može 'isključiti' neke jedinice</a:t>
            </a:r>
            <a:endParaRPr sz="1800" b="1" dirty="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32000" marR="0" lvl="1" indent="-16456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None/>
            </a:pP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1393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</a:pPr>
            <a:endParaRPr sz="18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19026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None/>
            </a:pP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16" name="Google Shape;216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53184" y="150357"/>
            <a:ext cx="2133950" cy="110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7"/>
          <p:cNvSpPr txBox="1"/>
          <p:nvPr/>
        </p:nvSpPr>
        <p:spPr>
          <a:xfrm>
            <a:off x="1165320" y="704520"/>
            <a:ext cx="6857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SIMD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7"/>
          <p:cNvSpPr/>
          <p:nvPr/>
        </p:nvSpPr>
        <p:spPr>
          <a:xfrm>
            <a:off x="1038600" y="1368000"/>
            <a:ext cx="730050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hr-HR" sz="24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Lock-step execution</a:t>
            </a: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Ista operacija izvršava se u istom trenutku paralelno na svim procesorskim jedinicama</a:t>
            </a:r>
            <a:endParaRPr sz="1800" b="1" i="0" u="none" strike="noStrike" cap="none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hr-HR" sz="2400" b="1" u="sng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SIMT: Single Instruction, Multiple Threads</a:t>
            </a: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Višenitna SIMD arhitektura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Sve niti izvršavaju isti kod (lock-step execution)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Svaka nit ima svoj stog</a:t>
            </a:r>
            <a:endParaRPr sz="1800" b="1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Niti su organizirane u blokove (dijele iste resurse)</a:t>
            </a:r>
            <a:endParaRPr sz="1800" b="1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9211E"/>
              </a:buClr>
              <a:buSzPts val="810"/>
              <a:buFont typeface="Noto Sans Symbols"/>
              <a:buChar char="●"/>
            </a:pPr>
            <a:r>
              <a:rPr lang="hr-HR" sz="1800" b="1" i="0" u="sng" strike="noStrike" cap="non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Koristi se u GPU jedinicama</a:t>
            </a:r>
            <a:endParaRPr sz="1800" b="0" i="0" u="sng" strike="noStrike" cap="none">
              <a:solidFill>
                <a:srgbClr val="C9211E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31999" marR="0" lvl="1" indent="-1645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None/>
            </a:pP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1394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19025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None/>
            </a:pP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9E1FAF3F-53F8-4959-D663-E9CAC4DB3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6">
            <a:extLst>
              <a:ext uri="{FF2B5EF4-FFF2-40B4-BE49-F238E27FC236}">
                <a16:creationId xmlns:a16="http://schemas.microsoft.com/office/drawing/2014/main" id="{4B153E87-E192-BE34-019E-8C0E5682BA0B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SIMD – VEKTORSKI PRIMJER</a:t>
            </a:r>
            <a:endParaRPr sz="24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C522C905-B6D7-BE0B-3AB9-57F517759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1" y="1711660"/>
            <a:ext cx="7439323" cy="974389"/>
          </a:xfrm>
          <a:prstGeom prst="rect">
            <a:avLst/>
          </a:prstGeom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D9865A74-2982-A580-257E-BDA4AA8FD432}"/>
              </a:ext>
            </a:extLst>
          </p:cNvPr>
          <p:cNvSpPr txBox="1"/>
          <p:nvPr/>
        </p:nvSpPr>
        <p:spPr>
          <a:xfrm>
            <a:off x="1012372" y="1284061"/>
            <a:ext cx="3332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dirty="0">
                <a:solidFill>
                  <a:schemeClr val="bg1"/>
                </a:solidFill>
              </a:rPr>
              <a:t>SCALAR (sekvencijalno) – 8 ciklusa</a:t>
            </a: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2F1CF914-01C0-636E-FA3A-46A70A00C5C9}"/>
              </a:ext>
            </a:extLst>
          </p:cNvPr>
          <p:cNvSpPr txBox="1"/>
          <p:nvPr/>
        </p:nvSpPr>
        <p:spPr>
          <a:xfrm>
            <a:off x="1085851" y="2686049"/>
            <a:ext cx="2967479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Ciklus 1: A[0] + B[0] = C[0]</a:t>
            </a:r>
            <a:b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Ciklus 2: A[1] + B[1] = C[1]</a:t>
            </a:r>
            <a:b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Ciklus 3: A[2] + B[2] = C[2]</a:t>
            </a:r>
            <a:b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...</a:t>
            </a:r>
            <a:b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Ciklus 8: A[7] + B[7] = C[7]</a:t>
            </a: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44BB7566-A514-2A92-2A06-8AA3377EFB8B}"/>
              </a:ext>
            </a:extLst>
          </p:cNvPr>
          <p:cNvSpPr txBox="1"/>
          <p:nvPr/>
        </p:nvSpPr>
        <p:spPr>
          <a:xfrm>
            <a:off x="1012372" y="4018063"/>
            <a:ext cx="27222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dirty="0">
                <a:solidFill>
                  <a:schemeClr val="bg1"/>
                </a:solidFill>
              </a:rPr>
              <a:t>SIMD (paralelno) – 1 ciklus</a:t>
            </a:r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0D8EF76E-EDB2-962D-4361-20437D7A2E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51" y="4488303"/>
            <a:ext cx="7441200" cy="955974"/>
          </a:xfrm>
          <a:prstGeom prst="rect">
            <a:avLst/>
          </a:prstGeom>
        </p:spPr>
      </p:pic>
      <p:sp>
        <p:nvSpPr>
          <p:cNvPr id="9" name="TekstniOkvir 8">
            <a:extLst>
              <a:ext uri="{FF2B5EF4-FFF2-40B4-BE49-F238E27FC236}">
                <a16:creationId xmlns:a16="http://schemas.microsoft.com/office/drawing/2014/main" id="{B6FBC1B8-30DB-1C40-7F8B-F0B1744AFA3F}"/>
              </a:ext>
            </a:extLst>
          </p:cNvPr>
          <p:cNvSpPr txBox="1"/>
          <p:nvPr/>
        </p:nvSpPr>
        <p:spPr>
          <a:xfrm>
            <a:off x="1085851" y="5657854"/>
            <a:ext cx="38619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solidFill>
                  <a:schemeClr val="bg1"/>
                </a:solidFill>
                <a:latin typeface="Consolas" panose="020B0609020204030204" pitchFamily="49" charset="0"/>
              </a:rPr>
              <a:t>Ciklus</a:t>
            </a:r>
            <a:r>
              <a:rPr lang="it-IT" dirty="0">
                <a:solidFill>
                  <a:schemeClr val="bg1"/>
                </a:solidFill>
                <a:latin typeface="Consolas" panose="020B0609020204030204" pitchFamily="49" charset="0"/>
              </a:rPr>
              <a:t> 1: A[0..7] + B[0..7] = C[0..7]</a:t>
            </a:r>
            <a:br>
              <a:rPr lang="it-IT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</a:rPr>
              <a:t>- Sve istovremeno!</a:t>
            </a:r>
          </a:p>
        </p:txBody>
      </p:sp>
    </p:spTree>
    <p:extLst>
      <p:ext uri="{BB962C8B-B14F-4D97-AF65-F5344CB8AC3E}">
        <p14:creationId xmlns:p14="http://schemas.microsoft.com/office/powerpoint/2010/main" val="3379526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>
          <a:extLst>
            <a:ext uri="{FF2B5EF4-FFF2-40B4-BE49-F238E27FC236}">
              <a16:creationId xmlns:a16="http://schemas.microsoft.com/office/drawing/2014/main" id="{49C9E677-51BA-4C10-8E5B-5FE13D54A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2">
            <a:extLst>
              <a:ext uri="{FF2B5EF4-FFF2-40B4-BE49-F238E27FC236}">
                <a16:creationId xmlns:a16="http://schemas.microsoft.com/office/drawing/2014/main" id="{B6329A07-5DE1-CBC3-2C53-9AB31E9ED9E5}"/>
              </a:ext>
            </a:extLst>
          </p:cNvPr>
          <p:cNvSpPr txBox="1"/>
          <p:nvPr/>
        </p:nvSpPr>
        <p:spPr>
          <a:xfrm>
            <a:off x="1165319" y="704520"/>
            <a:ext cx="7317373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dirty="0">
                <a:solidFill>
                  <a:srgbClr val="39C0BA"/>
                </a:solidFill>
                <a:latin typeface="+mj-lt"/>
                <a:ea typeface="Quicksand"/>
                <a:cs typeface="Quicksand"/>
                <a:sym typeface="Quicksand"/>
              </a:rPr>
              <a:t>SIMD divergencija</a:t>
            </a:r>
            <a:endParaRPr lang="hr-HR" sz="2400" dirty="0">
              <a:latin typeface="+mj-lt"/>
            </a:endParaRPr>
          </a:p>
        </p:txBody>
      </p:sp>
      <p:sp>
        <p:nvSpPr>
          <p:cNvPr id="9" name="TekstniOkvir 8">
            <a:extLst>
              <a:ext uri="{FF2B5EF4-FFF2-40B4-BE49-F238E27FC236}">
                <a16:creationId xmlns:a16="http://schemas.microsoft.com/office/drawing/2014/main" id="{14208476-C947-77C5-42D4-469BAC98C161}"/>
              </a:ext>
            </a:extLst>
          </p:cNvPr>
          <p:cNvSpPr txBox="1"/>
          <p:nvPr/>
        </p:nvSpPr>
        <p:spPr>
          <a:xfrm>
            <a:off x="1165319" y="1164120"/>
            <a:ext cx="3986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800" dirty="0">
                <a:solidFill>
                  <a:schemeClr val="bg1"/>
                </a:solidFill>
              </a:rPr>
              <a:t>Problem: divergentno izvršavanje</a:t>
            </a:r>
            <a:endParaRPr lang="hr-HR" sz="1800" dirty="0">
              <a:solidFill>
                <a:schemeClr val="bg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" name="TekstniOkvir 9">
            <a:extLst>
              <a:ext uri="{FF2B5EF4-FFF2-40B4-BE49-F238E27FC236}">
                <a16:creationId xmlns:a16="http://schemas.microsoft.com/office/drawing/2014/main" id="{6551F16D-E291-1A72-D049-F44289A4C882}"/>
              </a:ext>
            </a:extLst>
          </p:cNvPr>
          <p:cNvSpPr txBox="1"/>
          <p:nvPr/>
        </p:nvSpPr>
        <p:spPr>
          <a:xfrm>
            <a:off x="1269546" y="1993052"/>
            <a:ext cx="7649936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forall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i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from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0 to 8) {                     </a:t>
            </a: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(x[i] &gt; 0) {                              </a:t>
            </a: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y[i] = x[i] * x[i];    // MUL operacija</a:t>
            </a: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   }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else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{                                      </a:t>
            </a: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y[i] = x[i] + 100;     // ADD operacija     </a:t>
            </a: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   }                                             </a:t>
            </a: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} </a:t>
            </a:r>
          </a:p>
          <a:p>
            <a:endParaRPr lang="hr-HR" dirty="0">
              <a:solidFill>
                <a:schemeClr val="bg1"/>
              </a:solidFill>
            </a:endParaRPr>
          </a:p>
          <a:p>
            <a:endParaRPr lang="hr-HR" dirty="0">
              <a:solidFill>
                <a:schemeClr val="bg1"/>
              </a:solidFill>
            </a:endParaRPr>
          </a:p>
          <a:p>
            <a:r>
              <a:rPr lang="hr-HR" sz="1600" dirty="0">
                <a:solidFill>
                  <a:srgbClr val="FF0000"/>
                </a:solidFill>
              </a:rPr>
              <a:t>PROBLEM: </a:t>
            </a:r>
            <a:r>
              <a:rPr lang="hr-HR" sz="1600" dirty="0">
                <a:solidFill>
                  <a:schemeClr val="bg1"/>
                </a:solidFill>
              </a:rPr>
              <a:t>Različiti ALU-ovi trebaju izvršiti RAZLIČITE instrukcije! </a:t>
            </a:r>
          </a:p>
          <a:p>
            <a:endParaRPr lang="hr-HR" sz="1600" dirty="0">
              <a:solidFill>
                <a:schemeClr val="bg1"/>
              </a:solidFill>
            </a:endParaRPr>
          </a:p>
          <a:p>
            <a:r>
              <a:rPr lang="hr-HR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RJEŠENJE: </a:t>
            </a:r>
            <a:r>
              <a:rPr lang="hr-HR" sz="1600" dirty="0">
                <a:solidFill>
                  <a:schemeClr val="bg1"/>
                </a:solidFill>
              </a:rPr>
              <a:t>SIMD mora izvršiti OBE grane SEKVENCIJALNO.</a:t>
            </a:r>
          </a:p>
          <a:p>
            <a:endParaRPr lang="hr-HR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104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>
          <a:extLst>
            <a:ext uri="{FF2B5EF4-FFF2-40B4-BE49-F238E27FC236}">
              <a16:creationId xmlns:a16="http://schemas.microsoft.com/office/drawing/2014/main" id="{EB892BB1-DB79-592F-1079-D7C616AA1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2">
            <a:extLst>
              <a:ext uri="{FF2B5EF4-FFF2-40B4-BE49-F238E27FC236}">
                <a16:creationId xmlns:a16="http://schemas.microsoft.com/office/drawing/2014/main" id="{43588E69-6F69-E942-8F9F-E9A8952AD6CF}"/>
              </a:ext>
            </a:extLst>
          </p:cNvPr>
          <p:cNvSpPr txBox="1"/>
          <p:nvPr/>
        </p:nvSpPr>
        <p:spPr>
          <a:xfrm>
            <a:off x="1165319" y="704520"/>
            <a:ext cx="7317373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dirty="0">
                <a:solidFill>
                  <a:srgbClr val="39C0BA"/>
                </a:solidFill>
                <a:latin typeface="+mj-lt"/>
                <a:ea typeface="Quicksand"/>
                <a:cs typeface="Quicksand"/>
                <a:sym typeface="Quicksand"/>
              </a:rPr>
              <a:t>SIMD </a:t>
            </a:r>
            <a:r>
              <a:rPr lang="hr-HR" sz="2400" dirty="0">
                <a:solidFill>
                  <a:srgbClr val="39C0BA"/>
                </a:solidFill>
                <a:ea typeface="Quicksand"/>
                <a:cs typeface="Quicksand"/>
                <a:sym typeface="Quicksand"/>
              </a:rPr>
              <a:t>divergencija</a:t>
            </a:r>
            <a:endParaRPr lang="hr-HR" sz="2400" dirty="0">
              <a:latin typeface="+mj-lt"/>
            </a:endParaRP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31AC296A-0514-B5DE-5AD1-CD4DE2A4CD7B}"/>
              </a:ext>
            </a:extLst>
          </p:cNvPr>
          <p:cNvSpPr txBox="1"/>
          <p:nvPr/>
        </p:nvSpPr>
        <p:spPr>
          <a:xfrm>
            <a:off x="1165319" y="1281793"/>
            <a:ext cx="22310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800" dirty="0">
                <a:solidFill>
                  <a:schemeClr val="bg1"/>
                </a:solidFill>
              </a:rPr>
              <a:t>RJEŠENJE: </a:t>
            </a:r>
            <a:r>
              <a:rPr lang="hr-HR" sz="1800" b="1" dirty="0">
                <a:solidFill>
                  <a:schemeClr val="bg1"/>
                </a:solidFill>
              </a:rPr>
              <a:t>SIMD MASKING </a:t>
            </a:r>
          </a:p>
          <a:p>
            <a:r>
              <a:rPr lang="hr-HR" sz="1800" dirty="0">
                <a:solidFill>
                  <a:schemeClr val="bg1"/>
                </a:solidFill>
              </a:rPr>
              <a:t>(Izvršavaj obje grane, ali odbacuje rezultate neaktivnih ALU-ova)</a:t>
            </a:r>
          </a:p>
          <a:p>
            <a:endParaRPr lang="hr-HR" sz="1800" dirty="0">
              <a:solidFill>
                <a:schemeClr val="bg1"/>
              </a:solidFill>
            </a:endParaRPr>
          </a:p>
          <a:p>
            <a:endParaRPr lang="hr-HR" sz="1800" dirty="0">
              <a:solidFill>
                <a:schemeClr val="bg1"/>
              </a:solidFill>
            </a:endParaRPr>
          </a:p>
          <a:p>
            <a:r>
              <a:rPr lang="hr-HR" sz="1800" dirty="0">
                <a:solidFill>
                  <a:schemeClr val="bg1"/>
                </a:solidFill>
              </a:rPr>
              <a:t>Primjer (desno):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hr-HR" sz="1800" dirty="0">
                <a:solidFill>
                  <a:schemeClr val="bg1"/>
                </a:solidFill>
              </a:rPr>
              <a:t>1 ciklus bez divergencije (idealno)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hr-HR" sz="1800" dirty="0">
                <a:solidFill>
                  <a:schemeClr val="bg1"/>
                </a:solidFill>
              </a:rPr>
              <a:t>2 ciklusa s divergencijom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hr-HR" sz="1800" dirty="0">
                <a:solidFill>
                  <a:schemeClr val="bg1"/>
                </a:solidFill>
              </a:rPr>
              <a:t>50% </a:t>
            </a:r>
            <a:r>
              <a:rPr lang="hr-HR" sz="1800" dirty="0" err="1">
                <a:solidFill>
                  <a:schemeClr val="bg1"/>
                </a:solidFill>
              </a:rPr>
              <a:t>peak</a:t>
            </a:r>
            <a:r>
              <a:rPr lang="hr-HR" sz="1800" dirty="0">
                <a:solidFill>
                  <a:schemeClr val="bg1"/>
                </a:solidFill>
              </a:rPr>
              <a:t> </a:t>
            </a:r>
            <a:r>
              <a:rPr lang="hr-HR" sz="1800" dirty="0" err="1">
                <a:solidFill>
                  <a:schemeClr val="bg1"/>
                </a:solidFill>
              </a:rPr>
              <a:t>performance</a:t>
            </a:r>
            <a:endParaRPr lang="hr-HR" sz="1800" dirty="0">
              <a:solidFill>
                <a:schemeClr val="bg1"/>
              </a:solidFill>
            </a:endParaRPr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DBDC096F-8B8E-91D3-414A-C93C2C8550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289" t="7976" r="8281" b="31773"/>
          <a:stretch>
            <a:fillRect/>
          </a:stretch>
        </p:blipFill>
        <p:spPr>
          <a:xfrm>
            <a:off x="4114800" y="797378"/>
            <a:ext cx="4799390" cy="4631872"/>
          </a:xfrm>
          <a:prstGeom prst="rect">
            <a:avLst/>
          </a:prstGeom>
        </p:spPr>
      </p:pic>
      <p:sp>
        <p:nvSpPr>
          <p:cNvPr id="11" name="TekstniOkvir 10">
            <a:extLst>
              <a:ext uri="{FF2B5EF4-FFF2-40B4-BE49-F238E27FC236}">
                <a16:creationId xmlns:a16="http://schemas.microsoft.com/office/drawing/2014/main" id="{390FDC23-A3C0-0171-91D1-86DB7C2216C1}"/>
              </a:ext>
            </a:extLst>
          </p:cNvPr>
          <p:cNvSpPr txBox="1"/>
          <p:nvPr/>
        </p:nvSpPr>
        <p:spPr>
          <a:xfrm>
            <a:off x="6862025" y="5522108"/>
            <a:ext cx="2052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rgbClr val="92D050"/>
                </a:solidFill>
              </a:rPr>
              <a:t>✓ Rezultat se koristi</a:t>
            </a:r>
          </a:p>
          <a:p>
            <a:r>
              <a:rPr lang="en-US" dirty="0">
                <a:solidFill>
                  <a:srgbClr val="FF0000"/>
                </a:solidFill>
              </a:rPr>
              <a:t>✗</a:t>
            </a:r>
            <a:r>
              <a:rPr lang="hr-HR" dirty="0">
                <a:solidFill>
                  <a:srgbClr val="FF0000"/>
                </a:solidFill>
              </a:rPr>
              <a:t> Rezultat se odbacuje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325318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>
          <a:extLst>
            <a:ext uri="{FF2B5EF4-FFF2-40B4-BE49-F238E27FC236}">
              <a16:creationId xmlns:a16="http://schemas.microsoft.com/office/drawing/2014/main" id="{5D4BE554-2E5F-FB2E-08CD-69793FC0C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2">
            <a:extLst>
              <a:ext uri="{FF2B5EF4-FFF2-40B4-BE49-F238E27FC236}">
                <a16:creationId xmlns:a16="http://schemas.microsoft.com/office/drawing/2014/main" id="{6A47A674-1D25-4E10-4277-C4F61510D699}"/>
              </a:ext>
            </a:extLst>
          </p:cNvPr>
          <p:cNvSpPr txBox="1"/>
          <p:nvPr/>
        </p:nvSpPr>
        <p:spPr>
          <a:xfrm>
            <a:off x="1165319" y="704520"/>
            <a:ext cx="7317373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dirty="0">
                <a:solidFill>
                  <a:srgbClr val="39C0BA"/>
                </a:solidFill>
                <a:latin typeface="+mj-lt"/>
                <a:ea typeface="Quicksand"/>
                <a:cs typeface="Quicksand"/>
                <a:sym typeface="Quicksand"/>
              </a:rPr>
              <a:t>SIMD</a:t>
            </a:r>
            <a:endParaRPr lang="hr-HR" sz="2400" dirty="0">
              <a:latin typeface="+mj-lt"/>
            </a:endParaRP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3BBD8C22-31F2-8051-7CD5-C213E8A5FD8E}"/>
              </a:ext>
            </a:extLst>
          </p:cNvPr>
          <p:cNvSpPr txBox="1"/>
          <p:nvPr/>
        </p:nvSpPr>
        <p:spPr>
          <a:xfrm>
            <a:off x="1034689" y="1273629"/>
            <a:ext cx="295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800" dirty="0" err="1">
                <a:solidFill>
                  <a:schemeClr val="bg1"/>
                </a:solidFill>
              </a:rPr>
              <a:t>Worst</a:t>
            </a:r>
            <a:r>
              <a:rPr lang="hr-HR" sz="1800" dirty="0">
                <a:solidFill>
                  <a:schemeClr val="bg1"/>
                </a:solidFill>
              </a:rPr>
              <a:t> </a:t>
            </a:r>
            <a:r>
              <a:rPr lang="hr-HR" sz="1800" dirty="0" err="1">
                <a:solidFill>
                  <a:schemeClr val="bg1"/>
                </a:solidFill>
              </a:rPr>
              <a:t>case</a:t>
            </a:r>
            <a:r>
              <a:rPr lang="hr-HR" sz="1800" dirty="0">
                <a:solidFill>
                  <a:schemeClr val="bg1"/>
                </a:solidFill>
              </a:rPr>
              <a:t> SIMD scenarij</a:t>
            </a: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85B51A1A-CC00-183D-8970-1AA5E34AA03D}"/>
              </a:ext>
            </a:extLst>
          </p:cNvPr>
          <p:cNvSpPr txBox="1"/>
          <p:nvPr/>
        </p:nvSpPr>
        <p:spPr>
          <a:xfrm>
            <a:off x="1034689" y="1651125"/>
            <a:ext cx="53906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forall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i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from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0 to 8) {</a:t>
            </a: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   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(i == 0) {</a:t>
            </a: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        // 10 instrukcija</a:t>
            </a: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        // samo za prvi element!</a:t>
            </a: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        y[i] =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complex_calculation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(x[i]);</a:t>
            </a: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9B8EC8FD-C1D2-EAA3-1234-CA630C9E4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7973" y="442532"/>
            <a:ext cx="3659023" cy="2080232"/>
          </a:xfrm>
          <a:prstGeom prst="rect">
            <a:avLst/>
          </a:prstGeom>
        </p:spPr>
      </p:pic>
      <p:sp>
        <p:nvSpPr>
          <p:cNvPr id="9" name="TekstniOkvir 8">
            <a:extLst>
              <a:ext uri="{FF2B5EF4-FFF2-40B4-BE49-F238E27FC236}">
                <a16:creationId xmlns:a16="http://schemas.microsoft.com/office/drawing/2014/main" id="{C48910B3-9C46-C4B1-A1DB-80A919724916}"/>
              </a:ext>
            </a:extLst>
          </p:cNvPr>
          <p:cNvSpPr txBox="1"/>
          <p:nvPr/>
        </p:nvSpPr>
        <p:spPr>
          <a:xfrm>
            <a:off x="1034689" y="3698247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1600" b="1" dirty="0" err="1">
                <a:solidFill>
                  <a:schemeClr val="bg1"/>
                </a:solidFill>
              </a:rPr>
              <a:t>Performance</a:t>
            </a:r>
            <a:r>
              <a:rPr lang="hr-HR" sz="1600" b="1" dirty="0">
                <a:solidFill>
                  <a:schemeClr val="bg1"/>
                </a:solidFill>
              </a:rPr>
              <a:t>: 12.5% </a:t>
            </a:r>
            <a:r>
              <a:rPr lang="hr-HR" sz="1600" dirty="0">
                <a:solidFill>
                  <a:schemeClr val="bg1"/>
                </a:solidFill>
              </a:rPr>
              <a:t>= 1/8 </a:t>
            </a:r>
            <a:r>
              <a:rPr lang="hr-HR" sz="1600" dirty="0" err="1">
                <a:solidFill>
                  <a:schemeClr val="bg1"/>
                </a:solidFill>
              </a:rPr>
              <a:t>peak</a:t>
            </a:r>
            <a:endParaRPr lang="hr-HR" sz="1600" dirty="0">
              <a:solidFill>
                <a:schemeClr val="bg1"/>
              </a:solidFill>
            </a:endParaRPr>
          </a:p>
        </p:txBody>
      </p:sp>
      <p:sp>
        <p:nvSpPr>
          <p:cNvPr id="11" name="TekstniOkvir 10">
            <a:extLst>
              <a:ext uri="{FF2B5EF4-FFF2-40B4-BE49-F238E27FC236}">
                <a16:creationId xmlns:a16="http://schemas.microsoft.com/office/drawing/2014/main" id="{F5E3A1EF-E78B-16FD-8347-EC7598894DAE}"/>
              </a:ext>
            </a:extLst>
          </p:cNvPr>
          <p:cNvSpPr txBox="1"/>
          <p:nvPr/>
        </p:nvSpPr>
        <p:spPr>
          <a:xfrm>
            <a:off x="4572000" y="4517512"/>
            <a:ext cx="2645229" cy="1897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</a:pPr>
            <a:r>
              <a:rPr lang="hr-HR" b="1" dirty="0">
                <a:solidFill>
                  <a:srgbClr val="FF0000"/>
                </a:solidFill>
                <a:latin typeface="Segoe UI" panose="020B0502040204020203" pitchFamily="34" charset="0"/>
              </a:rPr>
              <a:t>✗ </a:t>
            </a:r>
            <a:r>
              <a:rPr lang="hr-HR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Loše za SIMD </a:t>
            </a:r>
          </a:p>
          <a:p>
            <a:pPr algn="l">
              <a:spcAft>
                <a:spcPts val="750"/>
              </a:spcAft>
              <a:buNone/>
            </a:pPr>
            <a:r>
              <a:rPr lang="hr-HR" b="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• Puno IF/ELSE </a:t>
            </a:r>
            <a:r>
              <a:rPr lang="hr-HR" b="0" i="0" dirty="0" err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granjanja</a:t>
            </a:r>
            <a:endParaRPr lang="hr-HR" b="0" i="0" dirty="0">
              <a:solidFill>
                <a:srgbClr val="FFFFFF"/>
              </a:solidFill>
              <a:effectLst/>
              <a:latin typeface="Segoe UI" panose="020B0502040204020203" pitchFamily="34" charset="0"/>
            </a:endParaRPr>
          </a:p>
          <a:p>
            <a:pPr algn="l">
              <a:spcAft>
                <a:spcPts val="750"/>
              </a:spcAft>
              <a:buNone/>
            </a:pPr>
            <a:r>
              <a:rPr lang="hr-HR" b="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• Nepravilne strukture</a:t>
            </a:r>
          </a:p>
          <a:p>
            <a:pPr algn="l">
              <a:spcAft>
                <a:spcPts val="750"/>
              </a:spcAft>
              <a:buNone/>
            </a:pPr>
            <a:r>
              <a:rPr lang="hr-HR" b="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• Grafovi, stabla</a:t>
            </a:r>
          </a:p>
          <a:p>
            <a:pPr algn="l">
              <a:spcAft>
                <a:spcPts val="750"/>
              </a:spcAft>
              <a:buNone/>
            </a:pPr>
            <a:r>
              <a:rPr lang="hr-HR" b="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• Neujednačeni podaci</a:t>
            </a:r>
          </a:p>
          <a:p>
            <a:pPr algn="l">
              <a:spcAft>
                <a:spcPts val="750"/>
              </a:spcAft>
              <a:buNone/>
            </a:pPr>
            <a:r>
              <a:rPr lang="hr-HR" b="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• Različita grananja</a:t>
            </a:r>
          </a:p>
        </p:txBody>
      </p:sp>
      <p:sp>
        <p:nvSpPr>
          <p:cNvPr id="13" name="TekstniOkvir 12">
            <a:extLst>
              <a:ext uri="{FF2B5EF4-FFF2-40B4-BE49-F238E27FC236}">
                <a16:creationId xmlns:a16="http://schemas.microsoft.com/office/drawing/2014/main" id="{2CAA04F5-FD69-D4D8-0CDF-24433A3A220F}"/>
              </a:ext>
            </a:extLst>
          </p:cNvPr>
          <p:cNvSpPr txBox="1"/>
          <p:nvPr/>
        </p:nvSpPr>
        <p:spPr>
          <a:xfrm>
            <a:off x="1034689" y="4517513"/>
            <a:ext cx="2827018" cy="1897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hr-HR" b="1" i="0" dirty="0">
                <a:solidFill>
                  <a:srgbClr val="92D050"/>
                </a:solidFill>
                <a:effectLst/>
                <a:latin typeface="Segoe UI" panose="020B0502040204020203" pitchFamily="34" charset="0"/>
              </a:rPr>
              <a:t>✓</a:t>
            </a:r>
            <a:r>
              <a:rPr lang="hr-HR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 Dobro za SIMD:</a:t>
            </a:r>
          </a:p>
          <a:p>
            <a:pPr algn="l">
              <a:spcAft>
                <a:spcPts val="750"/>
              </a:spcAft>
              <a:buNone/>
            </a:pPr>
            <a:r>
              <a:rPr lang="hr-HR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• Grafika (pikseli)</a:t>
            </a:r>
          </a:p>
          <a:p>
            <a:pPr algn="l">
              <a:spcAft>
                <a:spcPts val="750"/>
              </a:spcAft>
              <a:buNone/>
            </a:pPr>
            <a:r>
              <a:rPr lang="hr-HR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• Matrice (jednolika obrada)</a:t>
            </a:r>
          </a:p>
          <a:p>
            <a:pPr algn="l">
              <a:spcAft>
                <a:spcPts val="750"/>
              </a:spcAft>
              <a:buNone/>
            </a:pPr>
            <a:r>
              <a:rPr lang="hr-HR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• Audio obrada</a:t>
            </a:r>
          </a:p>
          <a:p>
            <a:pPr algn="l">
              <a:spcAft>
                <a:spcPts val="750"/>
              </a:spcAft>
              <a:buNone/>
            </a:pPr>
            <a:r>
              <a:rPr lang="hr-HR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• Uniformni podaci</a:t>
            </a:r>
          </a:p>
          <a:p>
            <a:pPr algn="l">
              <a:spcAft>
                <a:spcPts val="750"/>
              </a:spcAft>
              <a:buNone/>
            </a:pPr>
            <a:r>
              <a:rPr lang="hr-HR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• Bez/malo </a:t>
            </a:r>
            <a:r>
              <a:rPr lang="hr-HR" i="0" dirty="0" err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granjanja</a:t>
            </a:r>
            <a:endParaRPr lang="hr-HR" i="0" dirty="0">
              <a:solidFill>
                <a:srgbClr val="FFFFFF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14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8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MISD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8"/>
          <p:cNvSpPr/>
          <p:nvPr/>
        </p:nvSpPr>
        <p:spPr>
          <a:xfrm>
            <a:off x="1038600" y="1368000"/>
            <a:ext cx="730044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Paralelizam na razini operacije</a:t>
            </a: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648000" marR="0" lvl="2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Niz primitivnih operacija mogu se složiti u grupe koje će se izvršavati istovremeno na istim podacima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4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Primjena:</a:t>
            </a: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Pipeline arhitekture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i="0" u="sng" strike="noStrike" cap="non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Task replication</a:t>
            </a:r>
            <a:r>
              <a:rPr lang="hr-HR" sz="20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4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Problem:</a:t>
            </a: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Složena implementacija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000" b="1" u="sng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Space Shuttle flight control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2000" b="1" u="sng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computers</a:t>
            </a: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012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000"/>
              <a:buFont typeface="Quicksand"/>
              <a:buNone/>
            </a:pP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012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000"/>
              <a:buFont typeface="Quicksand"/>
              <a:buNone/>
            </a:pP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177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None/>
            </a:pP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29" name="Google Shape;229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28000" y="2619000"/>
            <a:ext cx="3645000" cy="364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48"/>
          <p:cNvSpPr txBox="1"/>
          <p:nvPr/>
        </p:nvSpPr>
        <p:spPr>
          <a:xfrm>
            <a:off x="5500980" y="6264000"/>
            <a:ext cx="3299040" cy="234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 b="0" i="1" strike="noStrike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https://en.wikipedia.org/wiki/Flynn’s_taxonomy</a:t>
            </a:r>
            <a:endParaRPr sz="1200" b="0" strike="noStrike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9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MIMD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9"/>
          <p:cNvSpPr/>
          <p:nvPr/>
        </p:nvSpPr>
        <p:spPr>
          <a:xfrm>
            <a:off x="1038600" y="1368000"/>
            <a:ext cx="730044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Izvršavanje različitih operacija na različitim skupovima podataka</a:t>
            </a: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Više procesorskih jedinica izvršava nezavisne sljedove operacija na različitim</a:t>
            </a:r>
            <a:br>
              <a:rPr lang="hr-HR" sz="1800" b="0" i="0" u="none" strike="noStrike" cap="none">
                <a:latin typeface="Arial"/>
                <a:ea typeface="Arial"/>
                <a:cs typeface="Arial"/>
                <a:sym typeface="Arial"/>
              </a:rPr>
            </a:br>
            <a:r>
              <a:rPr lang="hr-HR" sz="20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podacima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Zadaćni paralelizam</a:t>
            </a:r>
            <a:endParaRPr sz="2000" b="1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Visoka fleksibilnost i efikasnost</a:t>
            </a:r>
            <a:endParaRPr sz="2000" b="1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Ključna komponenta modernih</a:t>
            </a:r>
            <a:br>
              <a:rPr lang="hr-HR" sz="2000" b="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lang="hr-HR" sz="2000" b="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računalnih arhitektura</a:t>
            </a: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012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000"/>
              <a:buFont typeface="Quicksand"/>
              <a:buNone/>
            </a:pP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177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None/>
            </a:pP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7" name="Google Shape;237;p49"/>
          <p:cNvSpPr txBox="1"/>
          <p:nvPr/>
        </p:nvSpPr>
        <p:spPr>
          <a:xfrm>
            <a:off x="5686560" y="6264000"/>
            <a:ext cx="3299040" cy="244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 b="0" i="1" strike="noStrike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https://en.wikipedia.org/wiki/Flynn’s_taxonomy</a:t>
            </a:r>
            <a:endParaRPr sz="1200" b="0" strike="noStrike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38" name="Google Shape;238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86560" y="2880000"/>
            <a:ext cx="3385440" cy="3385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0"/>
          <p:cNvSpPr txBox="1"/>
          <p:nvPr/>
        </p:nvSpPr>
        <p:spPr>
          <a:xfrm>
            <a:off x="1165320" y="704520"/>
            <a:ext cx="6857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MIMD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50"/>
          <p:cNvSpPr/>
          <p:nvPr/>
        </p:nvSpPr>
        <p:spPr>
          <a:xfrm>
            <a:off x="1038600" y="1368000"/>
            <a:ext cx="730050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31999" marR="0" lvl="1" indent="-21599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Koristi se za širok spektar aplikacija (ne nužno HPC)</a:t>
            </a:r>
            <a:endParaRPr sz="2000"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U HPC primjenama često u obliku manager/worker arhitekture (jedan čvor pristupa podacima i dijeli poslove ostalim čvorovima)</a:t>
            </a:r>
            <a:endParaRPr sz="2000"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Može se koristiti u sustavim s distribuiranom i dijeljenom memorijom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4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Prednosti:</a:t>
            </a: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Paralelno izvođenje više poslova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Nezavisno izvršavanje (?) 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4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Problemi:</a:t>
            </a: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Load-balancing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Sinhronizacija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Složenost algoritma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01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000"/>
              <a:buFont typeface="Quicksand"/>
              <a:buNone/>
            </a:pP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01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000"/>
              <a:buFont typeface="Quicksand"/>
              <a:buNone/>
            </a:pP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17755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None/>
            </a:pP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5" name="Google Shape;245;p50"/>
          <p:cNvSpPr txBox="1"/>
          <p:nvPr/>
        </p:nvSpPr>
        <p:spPr>
          <a:xfrm>
            <a:off x="5040000" y="6265440"/>
            <a:ext cx="4104000" cy="4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400" b="0" i="1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https://en.wikipedia.org/wiki/Flynn’s_taxonomy</a:t>
            </a:r>
            <a:endParaRPr sz="1400" b="0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1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SPMD – Single Program, Multiple Data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1"/>
          <p:cNvSpPr/>
          <p:nvPr/>
        </p:nvSpPr>
        <p:spPr>
          <a:xfrm>
            <a:off x="1038600" y="1224000"/>
            <a:ext cx="7300440" cy="3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Podvrsta MIMD arhitekture</a:t>
            </a:r>
            <a:endParaRPr sz="24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Isti zadatak (algoritam) izvršava se istovremeno na više procesora na različitim ulaznim podacima</a:t>
            </a:r>
            <a:br>
              <a:rPr lang="hr-HR" sz="1800" b="0" i="0" u="none" strike="noStrike" cap="none" dirty="0">
                <a:latin typeface="Arial"/>
                <a:ea typeface="Arial"/>
                <a:cs typeface="Arial"/>
                <a:sym typeface="Arial"/>
              </a:rPr>
            </a:br>
            <a:r>
              <a:rPr lang="hr-HR" sz="2000" b="1" i="0" u="none" strike="noStrike" cap="none" dirty="0" err="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podacima</a:t>
            </a:r>
            <a:endParaRPr sz="2000" b="1" i="0" u="none" strike="noStrike" cap="none" dirty="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Procesori mogu međusobno komunicirati (npr. putem MPI sučelja, ili </a:t>
            </a:r>
            <a:r>
              <a:rPr lang="hr-HR" sz="2000" b="1" dirty="0" err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dijljenom</a:t>
            </a:r>
            <a:r>
              <a:rPr lang="hr-HR" sz="20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memorijom)</a:t>
            </a:r>
            <a:endParaRPr sz="2000" b="1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Relativno jednostavniji kod, s obzirom da svi procesori izvršavaju isti program</a:t>
            </a:r>
            <a:br>
              <a:rPr lang="hr-HR" sz="20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endParaRPr sz="2000" b="1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Primjene</a:t>
            </a:r>
            <a:endParaRPr sz="2000" b="1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Simulacije (klimatski modeli, dinamika fluida, financijski modeli, …)</a:t>
            </a:r>
            <a:endParaRPr sz="2000" b="1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Obrada slike</a:t>
            </a:r>
            <a:endParaRPr sz="2000" b="1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Distribuirani sistemi</a:t>
            </a:r>
            <a:endParaRPr sz="2000" b="1" dirty="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marR="0" lvl="0" indent="-1012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000"/>
              <a:buFont typeface="Quicksand"/>
              <a:buNone/>
            </a:pP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012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000"/>
              <a:buFont typeface="Quicksand"/>
              <a:buNone/>
            </a:pP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177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None/>
            </a:pPr>
            <a:endParaRPr sz="20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2"/>
          <p:cNvSpPr txBox="1"/>
          <p:nvPr/>
        </p:nvSpPr>
        <p:spPr>
          <a:xfrm>
            <a:off x="1165320" y="704520"/>
            <a:ext cx="6857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SPMD – Single Program, Multiple Data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52"/>
          <p:cNvSpPr/>
          <p:nvPr/>
        </p:nvSpPr>
        <p:spPr>
          <a:xfrm>
            <a:off x="1038600" y="1224000"/>
            <a:ext cx="7300500" cy="3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400" b="1" u="sng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SPMD vs. SIMD:</a:t>
            </a: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SIMD: Lock-step izvršavanje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864000" marR="0" lvl="3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bazirano na vektorskim procesorima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864000" marR="0" lvl="3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nemogućnost nezavisnog grananja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864000" marR="0" lvl="3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Data level parallelism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SPMD: više čvorova izvršava isti program nezavisno</a:t>
            </a:r>
            <a:r>
              <a:rPr lang="hr-HR" sz="2000" b="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, na različitim podacima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864000" marR="0" lvl="3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Nezavisna grananja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864000" marR="0" lvl="3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D</a:t>
            </a:r>
            <a:r>
              <a:rPr lang="hr-HR" sz="2000" b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ata &amp; task level parallelism</a:t>
            </a:r>
            <a:endParaRPr sz="2000" b="1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864000" marR="0" lvl="3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Fleksibilnost</a:t>
            </a:r>
            <a:endParaRPr sz="2000" b="1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864000" marR="0" lvl="3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Komunikacija među čvorovima</a:t>
            </a:r>
            <a:endParaRPr sz="2000" b="1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864000" marR="0" lvl="3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Složenija implementacija i složenije upravljanje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01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000"/>
              <a:buFont typeface="Quicksand"/>
              <a:buNone/>
            </a:pP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01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000"/>
              <a:buFont typeface="Quicksand"/>
              <a:buNone/>
            </a:pP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17755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None/>
            </a:pP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FB398749-5AFF-03FE-E9B8-09475FFFF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1">
            <a:extLst>
              <a:ext uri="{FF2B5EF4-FFF2-40B4-BE49-F238E27FC236}">
                <a16:creationId xmlns:a16="http://schemas.microsoft.com/office/drawing/2014/main" id="{EDDEFE45-A9C5-ED6C-E9C3-126F407EB6E1}"/>
              </a:ext>
            </a:extLst>
          </p:cNvPr>
          <p:cNvSpPr txBox="1"/>
          <p:nvPr/>
        </p:nvSpPr>
        <p:spPr>
          <a:xfrm>
            <a:off x="1530000" y="3074220"/>
            <a:ext cx="6766920" cy="70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0" i="0" u="none" strike="noStrike" cap="non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Superskalarni</a:t>
            </a:r>
            <a:r>
              <a:rPr lang="hr-HR" sz="3000" b="0" i="0" u="none" strike="noStrike" cap="non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procesori i ILP</a:t>
            </a:r>
            <a:endParaRPr sz="3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1">
            <a:extLst>
              <a:ext uri="{FF2B5EF4-FFF2-40B4-BE49-F238E27FC236}">
                <a16:creationId xmlns:a16="http://schemas.microsoft.com/office/drawing/2014/main" id="{A5E65EE3-17B3-0C53-5FFC-4F33025D245E}"/>
              </a:ext>
            </a:extLst>
          </p:cNvPr>
          <p:cNvSpPr/>
          <p:nvPr/>
        </p:nvSpPr>
        <p:spPr>
          <a:xfrm>
            <a:off x="502560" y="3039840"/>
            <a:ext cx="802080" cy="78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0" i="0" u="none" strike="noStrike" cap="none" dirty="0">
                <a:latin typeface="Cambria"/>
                <a:ea typeface="Cambria"/>
                <a:cs typeface="Cambria"/>
                <a:sym typeface="Cambria"/>
              </a:rPr>
              <a:t>2</a:t>
            </a:r>
            <a:endParaRPr sz="30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726543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7"/>
          <p:cNvSpPr txBox="1"/>
          <p:nvPr/>
        </p:nvSpPr>
        <p:spPr>
          <a:xfrm>
            <a:off x="1165320" y="704520"/>
            <a:ext cx="6857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800" dirty="0" err="1">
                <a:solidFill>
                  <a:srgbClr val="39C0BA"/>
                </a:solidFill>
                <a:latin typeface="+mj-lt"/>
                <a:ea typeface="Quicksand"/>
                <a:cs typeface="Quicksand"/>
                <a:sym typeface="Quicksand"/>
              </a:rPr>
              <a:t>Superskalarni</a:t>
            </a:r>
            <a:r>
              <a:rPr lang="hr-HR" sz="2800" dirty="0">
                <a:solidFill>
                  <a:srgbClr val="39C0BA"/>
                </a:solidFill>
                <a:latin typeface="+mj-lt"/>
                <a:ea typeface="Quicksand"/>
                <a:cs typeface="Quicksand"/>
                <a:sym typeface="Quicksand"/>
              </a:rPr>
              <a:t> procesori</a:t>
            </a:r>
            <a:endParaRPr sz="2800" b="0" strike="noStrike" dirty="0">
              <a:solidFill>
                <a:srgbClr val="39C0BA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57"/>
          <p:cNvSpPr/>
          <p:nvPr/>
        </p:nvSpPr>
        <p:spPr>
          <a:xfrm>
            <a:off x="1038600" y="1224000"/>
            <a:ext cx="7745400" cy="3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2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Paralelizam na razini instrukcije</a:t>
            </a:r>
            <a:endParaRPr sz="1600" b="1" dirty="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Char char="●"/>
            </a:pPr>
            <a:r>
              <a:rPr lang="hr-HR" sz="1800" b="1" dirty="0" err="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Instruction-level</a:t>
            </a:r>
            <a:r>
              <a:rPr lang="hr-HR" sz="1800" b="1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hr-HR" sz="1800" b="1" dirty="0" err="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parallelism</a:t>
            </a:r>
            <a:r>
              <a:rPr lang="hr-HR" sz="1800" b="1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 (ILP)</a:t>
            </a:r>
            <a:r>
              <a:rPr lang="hr-HR" sz="18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je simultano izvršavanje niza uputa u računalnom programu.</a:t>
            </a:r>
            <a:endParaRPr sz="1800" b="1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icksand"/>
              <a:buChar char="●"/>
            </a:pPr>
            <a:r>
              <a:rPr lang="hr-HR" sz="18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jedna nit izvršavanja</a:t>
            </a:r>
            <a:endParaRPr sz="1800" b="1" dirty="0">
              <a:solidFill>
                <a:srgbClr val="C9211E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icksand"/>
              <a:buChar char="●"/>
            </a:pPr>
            <a:r>
              <a:rPr lang="hr-HR" sz="18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statički (software </a:t>
            </a:r>
            <a:r>
              <a:rPr lang="hr-HR" sz="1800" b="1" dirty="0" err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level</a:t>
            </a:r>
            <a:r>
              <a:rPr lang="hr-HR" sz="18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) paralelizam: kompajler u trenutku prevođenja </a:t>
            </a:r>
            <a:r>
              <a:rPr lang="hr-HR" sz="1800" b="1" dirty="0" err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optimira</a:t>
            </a:r>
            <a:r>
              <a:rPr lang="hr-HR" sz="18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kod za paralelno izvršavanje</a:t>
            </a:r>
            <a:endParaRPr sz="1800" b="1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icksand"/>
              <a:buChar char="●"/>
            </a:pPr>
            <a:r>
              <a:rPr lang="hr-HR" sz="2000" b="1" u="sng" dirty="0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dinamički (hardware </a:t>
            </a:r>
            <a:r>
              <a:rPr lang="hr-HR" sz="2000" b="1" u="sng" dirty="0" err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level</a:t>
            </a:r>
            <a:r>
              <a:rPr lang="hr-HR" sz="2000" b="1" u="sng" dirty="0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) paralelizam: procesor u trenutku izvršavanja odlučuje koje se naredbe mogu </a:t>
            </a:r>
            <a:r>
              <a:rPr lang="hr-HR" sz="2000" b="1" u="sng" dirty="0" err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iizvršiti</a:t>
            </a:r>
            <a:r>
              <a:rPr lang="hr-HR" sz="2000" b="1" u="sng" dirty="0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 istovremeno</a:t>
            </a:r>
            <a:endParaRPr sz="2000" b="1" u="sng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icksand"/>
              <a:buChar char="●"/>
            </a:pPr>
            <a:r>
              <a:rPr lang="hr-HR" sz="18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instrukcije se izvršavaju paralelno na različitim izvršnim jedinicama u procesoru (ne na više procesora ili više jezgri!), npr. na različitim aritmetičko logičkim jedinicama (ili FPU)</a:t>
            </a:r>
            <a:endParaRPr sz="1800" b="1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0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Dispečer čita upute iz memorije i odlučuje koje se mogu pokrenuti paralelno, šaljući svaku u jednu od nekoliko izvršnih jedinica koje se nalaze unutar jednog CPU -a.</a:t>
            </a:r>
            <a:endParaRPr sz="2000" b="1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>
          <a:extLst>
            <a:ext uri="{FF2B5EF4-FFF2-40B4-BE49-F238E27FC236}">
              <a16:creationId xmlns:a16="http://schemas.microsoft.com/office/drawing/2014/main" id="{0713662E-409D-C841-28C9-2B48A4084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2">
            <a:extLst>
              <a:ext uri="{FF2B5EF4-FFF2-40B4-BE49-F238E27FC236}">
                <a16:creationId xmlns:a16="http://schemas.microsoft.com/office/drawing/2014/main" id="{0E7922DC-7340-3EB9-D356-F92DB46C7527}"/>
              </a:ext>
            </a:extLst>
          </p:cNvPr>
          <p:cNvSpPr txBox="1"/>
          <p:nvPr/>
        </p:nvSpPr>
        <p:spPr>
          <a:xfrm>
            <a:off x="1165320" y="704520"/>
            <a:ext cx="6857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 dirty="0">
                <a:solidFill>
                  <a:srgbClr val="39C0BA"/>
                </a:solidFill>
                <a:latin typeface="Arial"/>
                <a:ea typeface="Arial"/>
                <a:cs typeface="Arial"/>
                <a:sym typeface="Arial"/>
              </a:rPr>
              <a:t>INSTRUCTION-LEVEL PARALLELISM (ILP)</a:t>
            </a:r>
            <a:endParaRPr sz="2400" b="0" strike="noStrike" dirty="0">
              <a:solidFill>
                <a:srgbClr val="39C0B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" name="Grupa 19">
            <a:extLst>
              <a:ext uri="{FF2B5EF4-FFF2-40B4-BE49-F238E27FC236}">
                <a16:creationId xmlns:a16="http://schemas.microsoft.com/office/drawing/2014/main" id="{B16C9C33-FFDA-B6DB-D6CE-A4B225352B1E}"/>
              </a:ext>
            </a:extLst>
          </p:cNvPr>
          <p:cNvGrpSpPr/>
          <p:nvPr/>
        </p:nvGrpSpPr>
        <p:grpSpPr>
          <a:xfrm>
            <a:off x="5267924" y="2064231"/>
            <a:ext cx="3465140" cy="2729537"/>
            <a:chOff x="3586081" y="3791335"/>
            <a:chExt cx="3465140" cy="2729537"/>
          </a:xfrm>
        </p:grpSpPr>
        <p:sp>
          <p:nvSpPr>
            <p:cNvPr id="4" name="Pravokutnik 3">
              <a:extLst>
                <a:ext uri="{FF2B5EF4-FFF2-40B4-BE49-F238E27FC236}">
                  <a16:creationId xmlns:a16="http://schemas.microsoft.com/office/drawing/2014/main" id="{19A7DD9C-8A95-C2D0-92D9-CB823E80860A}"/>
                </a:ext>
              </a:extLst>
            </p:cNvPr>
            <p:cNvSpPr/>
            <p:nvPr/>
          </p:nvSpPr>
          <p:spPr>
            <a:xfrm>
              <a:off x="4594170" y="3791335"/>
              <a:ext cx="1349430" cy="734785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r-HR" dirty="0" err="1"/>
                <a:t>Fetch</a:t>
              </a:r>
              <a:r>
                <a:rPr lang="hr-HR" dirty="0"/>
                <a:t>/</a:t>
              </a:r>
              <a:r>
                <a:rPr lang="hr-HR" dirty="0" err="1"/>
                <a:t>Decode</a:t>
              </a:r>
              <a:endParaRPr lang="hr-HR" dirty="0"/>
            </a:p>
            <a:p>
              <a:pPr algn="ctr"/>
              <a:r>
                <a:rPr lang="hr-HR" dirty="0"/>
                <a:t>(čita i dekodira instrukcije)</a:t>
              </a:r>
            </a:p>
          </p:txBody>
        </p:sp>
        <p:sp>
          <p:nvSpPr>
            <p:cNvPr id="5" name="Pravokutnik 4">
              <a:extLst>
                <a:ext uri="{FF2B5EF4-FFF2-40B4-BE49-F238E27FC236}">
                  <a16:creationId xmlns:a16="http://schemas.microsoft.com/office/drawing/2014/main" id="{6F269368-363A-05E3-79E7-CB19D70F24E4}"/>
                </a:ext>
              </a:extLst>
            </p:cNvPr>
            <p:cNvSpPr/>
            <p:nvPr/>
          </p:nvSpPr>
          <p:spPr>
            <a:xfrm>
              <a:off x="3586081" y="4751999"/>
              <a:ext cx="1349430" cy="734785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r-HR" dirty="0"/>
                <a:t>ALU 1</a:t>
              </a:r>
            </a:p>
            <a:p>
              <a:pPr algn="ctr"/>
              <a:r>
                <a:rPr lang="hr-HR" dirty="0"/>
                <a:t>(</a:t>
              </a:r>
              <a:r>
                <a:rPr lang="hr-HR" dirty="0" err="1"/>
                <a:t>exec</a:t>
              </a:r>
              <a:r>
                <a:rPr lang="hr-HR" dirty="0"/>
                <a:t>)</a:t>
              </a:r>
            </a:p>
          </p:txBody>
        </p:sp>
        <p:sp>
          <p:nvSpPr>
            <p:cNvPr id="6" name="Pravokutnik 5">
              <a:extLst>
                <a:ext uri="{FF2B5EF4-FFF2-40B4-BE49-F238E27FC236}">
                  <a16:creationId xmlns:a16="http://schemas.microsoft.com/office/drawing/2014/main" id="{4534B618-D2A7-9E58-DFFF-744E99DDD9FD}"/>
                </a:ext>
              </a:extLst>
            </p:cNvPr>
            <p:cNvSpPr/>
            <p:nvPr/>
          </p:nvSpPr>
          <p:spPr>
            <a:xfrm>
              <a:off x="5701791" y="4751998"/>
              <a:ext cx="1349430" cy="734785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r-HR" dirty="0"/>
                <a:t>ALU 2</a:t>
              </a:r>
            </a:p>
            <a:p>
              <a:pPr algn="ctr"/>
              <a:r>
                <a:rPr lang="hr-HR" dirty="0"/>
                <a:t>(</a:t>
              </a:r>
              <a:r>
                <a:rPr lang="hr-HR" dirty="0" err="1"/>
                <a:t>exec</a:t>
              </a:r>
              <a:r>
                <a:rPr lang="hr-HR" dirty="0"/>
                <a:t>)</a:t>
              </a:r>
            </a:p>
          </p:txBody>
        </p:sp>
        <p:sp>
          <p:nvSpPr>
            <p:cNvPr id="7" name="Pravokutnik 6">
              <a:extLst>
                <a:ext uri="{FF2B5EF4-FFF2-40B4-BE49-F238E27FC236}">
                  <a16:creationId xmlns:a16="http://schemas.microsoft.com/office/drawing/2014/main" id="{52A99C1F-DB6A-6330-27D3-E33F857C7A3C}"/>
                </a:ext>
              </a:extLst>
            </p:cNvPr>
            <p:cNvSpPr/>
            <p:nvPr/>
          </p:nvSpPr>
          <p:spPr>
            <a:xfrm>
              <a:off x="4594171" y="5786087"/>
              <a:ext cx="1349430" cy="734785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r-HR" dirty="0"/>
                <a:t>Registri</a:t>
              </a:r>
            </a:p>
            <a:p>
              <a:pPr algn="ctr"/>
              <a:r>
                <a:rPr lang="hr-HR" dirty="0"/>
                <a:t>(R0-R7, PC)</a:t>
              </a:r>
            </a:p>
          </p:txBody>
        </p:sp>
        <p:cxnSp>
          <p:nvCxnSpPr>
            <p:cNvPr id="9" name="Poveznik: kutno 8">
              <a:extLst>
                <a:ext uri="{FF2B5EF4-FFF2-40B4-BE49-F238E27FC236}">
                  <a16:creationId xmlns:a16="http://schemas.microsoft.com/office/drawing/2014/main" id="{8A574EAC-78FA-DC63-81F7-6EB56C972206}"/>
                </a:ext>
              </a:extLst>
            </p:cNvPr>
            <p:cNvCxnSpPr>
              <a:stCxn id="4" idx="1"/>
              <a:endCxn id="5" idx="0"/>
            </p:cNvCxnSpPr>
            <p:nvPr/>
          </p:nvCxnSpPr>
          <p:spPr>
            <a:xfrm rot="10800000" flipV="1">
              <a:off x="4260796" y="4158727"/>
              <a:ext cx="333374" cy="593271"/>
            </a:xfrm>
            <a:prstGeom prst="bentConnector2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Poveznik: kutno 10">
              <a:extLst>
                <a:ext uri="{FF2B5EF4-FFF2-40B4-BE49-F238E27FC236}">
                  <a16:creationId xmlns:a16="http://schemas.microsoft.com/office/drawing/2014/main" id="{5DF52099-7FEA-7D03-5CBE-C55E467908A2}"/>
                </a:ext>
              </a:extLst>
            </p:cNvPr>
            <p:cNvCxnSpPr>
              <a:stCxn id="4" idx="3"/>
              <a:endCxn id="6" idx="0"/>
            </p:cNvCxnSpPr>
            <p:nvPr/>
          </p:nvCxnSpPr>
          <p:spPr>
            <a:xfrm>
              <a:off x="5943600" y="4158728"/>
              <a:ext cx="432906" cy="593270"/>
            </a:xfrm>
            <a:prstGeom prst="bentConnector2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Poveznik: kutno 12">
              <a:extLst>
                <a:ext uri="{FF2B5EF4-FFF2-40B4-BE49-F238E27FC236}">
                  <a16:creationId xmlns:a16="http://schemas.microsoft.com/office/drawing/2014/main" id="{40731337-10A9-5817-C7AA-B64379DFAD2B}"/>
                </a:ext>
              </a:extLst>
            </p:cNvPr>
            <p:cNvCxnSpPr>
              <a:cxnSpLocks/>
              <a:stCxn id="5" idx="2"/>
              <a:endCxn id="7" idx="0"/>
            </p:cNvCxnSpPr>
            <p:nvPr/>
          </p:nvCxnSpPr>
          <p:spPr>
            <a:xfrm rot="16200000" flipH="1">
              <a:off x="4615190" y="5132390"/>
              <a:ext cx="299303" cy="1008090"/>
            </a:xfrm>
            <a:prstGeom prst="bentConnector3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Poveznik: kutno 14">
              <a:extLst>
                <a:ext uri="{FF2B5EF4-FFF2-40B4-BE49-F238E27FC236}">
                  <a16:creationId xmlns:a16="http://schemas.microsoft.com/office/drawing/2014/main" id="{6925D6C0-879A-7E7B-F217-461E772E8D53}"/>
                </a:ext>
              </a:extLst>
            </p:cNvPr>
            <p:cNvCxnSpPr>
              <a:cxnSpLocks/>
              <a:stCxn id="6" idx="2"/>
              <a:endCxn id="7" idx="0"/>
            </p:cNvCxnSpPr>
            <p:nvPr/>
          </p:nvCxnSpPr>
          <p:spPr>
            <a:xfrm rot="5400000">
              <a:off x="5673044" y="5082625"/>
              <a:ext cx="299304" cy="1107620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kstniOkvir 20">
            <a:extLst>
              <a:ext uri="{FF2B5EF4-FFF2-40B4-BE49-F238E27FC236}">
                <a16:creationId xmlns:a16="http://schemas.microsoft.com/office/drawing/2014/main" id="{F737817E-C493-A305-D71B-0BE699C31A3E}"/>
              </a:ext>
            </a:extLst>
          </p:cNvPr>
          <p:cNvSpPr txBox="1"/>
          <p:nvPr/>
        </p:nvSpPr>
        <p:spPr>
          <a:xfrm>
            <a:off x="1165320" y="1931497"/>
            <a:ext cx="2533101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800" dirty="0">
                <a:solidFill>
                  <a:schemeClr val="bg1"/>
                </a:solidFill>
              </a:rPr>
              <a:t>PRIMJER KODA:</a:t>
            </a:r>
          </a:p>
          <a:p>
            <a:endParaRPr lang="hr-HR" sz="2000" dirty="0">
              <a:solidFill>
                <a:schemeClr val="bg1"/>
              </a:solidFill>
            </a:endParaRPr>
          </a:p>
          <a:p>
            <a:r>
              <a:rPr lang="hr-HR" sz="2000" dirty="0">
                <a:solidFill>
                  <a:schemeClr val="bg1"/>
                </a:solidFill>
                <a:latin typeface="Consolas" panose="020B0609020204030204" pitchFamily="49" charset="0"/>
              </a:rPr>
              <a:t>a = b + c</a:t>
            </a:r>
          </a:p>
          <a:p>
            <a:r>
              <a:rPr lang="hr-HR" sz="2000" dirty="0">
                <a:solidFill>
                  <a:schemeClr val="bg1"/>
                </a:solidFill>
                <a:latin typeface="Consolas" panose="020B0609020204030204" pitchFamily="49" charset="0"/>
              </a:rPr>
              <a:t>d = e * f</a:t>
            </a:r>
          </a:p>
          <a:p>
            <a:endParaRPr lang="hr-HR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2000" dirty="0">
                <a:solidFill>
                  <a:schemeClr val="bg1"/>
                </a:solidFill>
                <a:latin typeface="Consolas" panose="020B0609020204030204" pitchFamily="49" charset="0"/>
              </a:rPr>
              <a:t>g = a + d – </a:t>
            </a:r>
            <a:endParaRPr lang="hr-HR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TekstniOkvir 21">
            <a:extLst>
              <a:ext uri="{FF2B5EF4-FFF2-40B4-BE49-F238E27FC236}">
                <a16:creationId xmlns:a16="http://schemas.microsoft.com/office/drawing/2014/main" id="{5459D829-0E9E-A583-7E65-65329B2CC17D}"/>
              </a:ext>
            </a:extLst>
          </p:cNvPr>
          <p:cNvSpPr txBox="1"/>
          <p:nvPr/>
        </p:nvSpPr>
        <p:spPr>
          <a:xfrm>
            <a:off x="1165320" y="1164120"/>
            <a:ext cx="3788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800" dirty="0">
                <a:solidFill>
                  <a:schemeClr val="bg1"/>
                </a:solidFill>
              </a:rPr>
              <a:t>Paralelizam unutar jednog </a:t>
            </a:r>
            <a:r>
              <a:rPr lang="hr-HR" sz="1800" dirty="0" err="1">
                <a:solidFill>
                  <a:schemeClr val="bg1"/>
                </a:solidFill>
              </a:rPr>
              <a:t>thread</a:t>
            </a:r>
            <a:r>
              <a:rPr lang="hr-HR" sz="1800" dirty="0">
                <a:solidFill>
                  <a:schemeClr val="bg1"/>
                </a:solidFill>
              </a:rPr>
              <a:t>-a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Desna vitičasta zagrada 22">
            <a:extLst>
              <a:ext uri="{FF2B5EF4-FFF2-40B4-BE49-F238E27FC236}">
                <a16:creationId xmlns:a16="http://schemas.microsoft.com/office/drawing/2014/main" id="{454A3477-69E5-7949-4602-6BC011776E1C}"/>
              </a:ext>
            </a:extLst>
          </p:cNvPr>
          <p:cNvSpPr/>
          <p:nvPr/>
        </p:nvSpPr>
        <p:spPr>
          <a:xfrm>
            <a:off x="2694214" y="2620736"/>
            <a:ext cx="171450" cy="506185"/>
          </a:xfrm>
          <a:prstGeom prst="rightBrac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4" name="TekstniOkvir 23">
            <a:extLst>
              <a:ext uri="{FF2B5EF4-FFF2-40B4-BE49-F238E27FC236}">
                <a16:creationId xmlns:a16="http://schemas.microsoft.com/office/drawing/2014/main" id="{2BFB48E6-DBA0-BDE6-A47A-AEE609BA564C}"/>
              </a:ext>
            </a:extLst>
          </p:cNvPr>
          <p:cNvSpPr txBox="1"/>
          <p:nvPr/>
        </p:nvSpPr>
        <p:spPr>
          <a:xfrm>
            <a:off x="2943808" y="2539524"/>
            <a:ext cx="10262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r-HR" sz="1600" dirty="0">
                <a:solidFill>
                  <a:schemeClr val="bg1"/>
                </a:solidFill>
              </a:rPr>
              <a:t>paralelno</a:t>
            </a:r>
          </a:p>
          <a:p>
            <a:pPr algn="ctr"/>
            <a:r>
              <a:rPr lang="hr-HR" sz="1600" dirty="0">
                <a:solidFill>
                  <a:schemeClr val="bg1"/>
                </a:solidFill>
              </a:rPr>
              <a:t>(</a:t>
            </a:r>
            <a:r>
              <a:rPr lang="hr-HR" sz="1600" dirty="0" err="1">
                <a:solidFill>
                  <a:schemeClr val="bg1"/>
                </a:solidFill>
              </a:rPr>
              <a:t>Clock</a:t>
            </a:r>
            <a:r>
              <a:rPr lang="hr-HR" sz="1600" dirty="0">
                <a:solidFill>
                  <a:schemeClr val="bg1"/>
                </a:solidFill>
              </a:rPr>
              <a:t> 1)</a:t>
            </a:r>
          </a:p>
        </p:txBody>
      </p:sp>
      <p:sp>
        <p:nvSpPr>
          <p:cNvPr id="25" name="TekstniOkvir 24">
            <a:extLst>
              <a:ext uri="{FF2B5EF4-FFF2-40B4-BE49-F238E27FC236}">
                <a16:creationId xmlns:a16="http://schemas.microsoft.com/office/drawing/2014/main" id="{1FB17286-6808-B6A3-DD7D-E1883F65D90D}"/>
              </a:ext>
            </a:extLst>
          </p:cNvPr>
          <p:cNvSpPr txBox="1"/>
          <p:nvPr/>
        </p:nvSpPr>
        <p:spPr>
          <a:xfrm>
            <a:off x="2954227" y="3320256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r-HR" sz="1600" dirty="0">
                <a:solidFill>
                  <a:srgbClr val="39C0BA"/>
                </a:solidFill>
              </a:rPr>
              <a:t>čeka</a:t>
            </a:r>
          </a:p>
          <a:p>
            <a:pPr algn="ctr"/>
            <a:r>
              <a:rPr lang="hr-HR" sz="1600" dirty="0">
                <a:solidFill>
                  <a:schemeClr val="bg1"/>
                </a:solidFill>
              </a:rPr>
              <a:t>(</a:t>
            </a:r>
            <a:r>
              <a:rPr lang="hr-HR" sz="1600" dirty="0" err="1">
                <a:solidFill>
                  <a:schemeClr val="bg1"/>
                </a:solidFill>
              </a:rPr>
              <a:t>Clock</a:t>
            </a:r>
            <a:r>
              <a:rPr lang="hr-HR" sz="1600" dirty="0">
                <a:solidFill>
                  <a:schemeClr val="bg1"/>
                </a:solidFill>
              </a:rPr>
              <a:t> 2)</a:t>
            </a:r>
          </a:p>
        </p:txBody>
      </p:sp>
      <p:sp>
        <p:nvSpPr>
          <p:cNvPr id="27" name="TekstniOkvir 26">
            <a:extLst>
              <a:ext uri="{FF2B5EF4-FFF2-40B4-BE49-F238E27FC236}">
                <a16:creationId xmlns:a16="http://schemas.microsoft.com/office/drawing/2014/main" id="{3FF4F24C-D29A-ADD5-021B-DEE1ECB2D6FC}"/>
              </a:ext>
            </a:extLst>
          </p:cNvPr>
          <p:cNvSpPr txBox="1"/>
          <p:nvPr/>
        </p:nvSpPr>
        <p:spPr>
          <a:xfrm>
            <a:off x="1036864" y="5230150"/>
            <a:ext cx="71176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600" dirty="0" err="1">
                <a:solidFill>
                  <a:schemeClr val="bg1"/>
                </a:solidFill>
              </a:rPr>
              <a:t>Clock</a:t>
            </a:r>
            <a:r>
              <a:rPr lang="hr-HR" sz="1600" dirty="0">
                <a:solidFill>
                  <a:schemeClr val="bg1"/>
                </a:solidFill>
              </a:rPr>
              <a:t> 1: ALU 1 izvršava "a=</a:t>
            </a:r>
            <a:r>
              <a:rPr lang="hr-HR" sz="1600" dirty="0" err="1">
                <a:solidFill>
                  <a:schemeClr val="bg1"/>
                </a:solidFill>
              </a:rPr>
              <a:t>b+c</a:t>
            </a:r>
            <a:r>
              <a:rPr lang="hr-HR" sz="1600" dirty="0">
                <a:solidFill>
                  <a:schemeClr val="bg1"/>
                </a:solidFill>
              </a:rPr>
              <a:t>", ALU 2 izvršava "d=e*f" – ISTOVREMENO!</a:t>
            </a:r>
          </a:p>
          <a:p>
            <a:r>
              <a:rPr lang="hr-HR" sz="1600" dirty="0" err="1">
                <a:solidFill>
                  <a:schemeClr val="bg1"/>
                </a:solidFill>
              </a:rPr>
              <a:t>Clock</a:t>
            </a:r>
            <a:r>
              <a:rPr lang="hr-HR" sz="1600" dirty="0">
                <a:solidFill>
                  <a:schemeClr val="bg1"/>
                </a:solidFill>
              </a:rPr>
              <a:t> 2: ALU 1 izvršava "g=</a:t>
            </a:r>
            <a:r>
              <a:rPr lang="hr-HR" sz="1600" dirty="0" err="1">
                <a:solidFill>
                  <a:schemeClr val="bg1"/>
                </a:solidFill>
              </a:rPr>
              <a:t>a+d</a:t>
            </a:r>
            <a:r>
              <a:rPr lang="hr-HR" sz="1600" dirty="0">
                <a:solidFill>
                  <a:schemeClr val="bg1"/>
                </a:solidFill>
              </a:rPr>
              <a:t>" (čeka rezultate) </a:t>
            </a:r>
          </a:p>
          <a:p>
            <a:r>
              <a:rPr lang="hr-HR" sz="1600" dirty="0">
                <a:solidFill>
                  <a:schemeClr val="bg1"/>
                </a:solidFill>
              </a:rPr>
              <a:t>Rezultat: 2 ciklusa umjesto 3 → 1.5× brže!</a:t>
            </a:r>
          </a:p>
        </p:txBody>
      </p:sp>
    </p:spTree>
    <p:extLst>
      <p:ext uri="{BB962C8B-B14F-4D97-AF65-F5344CB8AC3E}">
        <p14:creationId xmlns:p14="http://schemas.microsoft.com/office/powerpoint/2010/main" val="30792739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>
          <a:extLst>
            <a:ext uri="{FF2B5EF4-FFF2-40B4-BE49-F238E27FC236}">
              <a16:creationId xmlns:a16="http://schemas.microsoft.com/office/drawing/2014/main" id="{FC28D1B6-01FF-0CB3-66DB-726FFA03E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2">
            <a:extLst>
              <a:ext uri="{FF2B5EF4-FFF2-40B4-BE49-F238E27FC236}">
                <a16:creationId xmlns:a16="http://schemas.microsoft.com/office/drawing/2014/main" id="{E2806010-9D17-9DE6-2711-48BD77432C94}"/>
              </a:ext>
            </a:extLst>
          </p:cNvPr>
          <p:cNvSpPr txBox="1"/>
          <p:nvPr/>
        </p:nvSpPr>
        <p:spPr>
          <a:xfrm>
            <a:off x="1165320" y="704520"/>
            <a:ext cx="6857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dirty="0" err="1">
                <a:solidFill>
                  <a:srgbClr val="39C0BA"/>
                </a:solidFill>
                <a:latin typeface="+mj-lt"/>
                <a:ea typeface="Quicksand"/>
                <a:cs typeface="Quicksand"/>
                <a:sym typeface="Quicksand"/>
              </a:rPr>
              <a:t>Superskalarni</a:t>
            </a:r>
            <a:r>
              <a:rPr lang="hr-HR" sz="2400" dirty="0">
                <a:solidFill>
                  <a:srgbClr val="39C0BA"/>
                </a:solidFill>
                <a:latin typeface="+mj-lt"/>
                <a:ea typeface="Quicksand"/>
                <a:cs typeface="Quicksand"/>
                <a:sym typeface="Quicksand"/>
              </a:rPr>
              <a:t> procesori</a:t>
            </a:r>
            <a:endParaRPr lang="hr-HR" sz="2400" dirty="0">
              <a:latin typeface="+mj-lt"/>
            </a:endParaRPr>
          </a:p>
        </p:txBody>
      </p:sp>
      <p:sp>
        <p:nvSpPr>
          <p:cNvPr id="257" name="Google Shape;257;p52">
            <a:extLst>
              <a:ext uri="{FF2B5EF4-FFF2-40B4-BE49-F238E27FC236}">
                <a16:creationId xmlns:a16="http://schemas.microsoft.com/office/drawing/2014/main" id="{0EC17B53-EC42-2F74-F4B4-ABBEC1A41362}"/>
              </a:ext>
            </a:extLst>
          </p:cNvPr>
          <p:cNvSpPr/>
          <p:nvPr/>
        </p:nvSpPr>
        <p:spPr>
          <a:xfrm>
            <a:off x="955221" y="1268082"/>
            <a:ext cx="6811377" cy="49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indent="-177559">
              <a:spcBef>
                <a:spcPts val="601"/>
              </a:spcBef>
              <a:buClr>
                <a:srgbClr val="FFFFFF"/>
              </a:buClr>
              <a:buSzPts val="2000"/>
            </a:pPr>
            <a:r>
              <a:rPr lang="hr-HR" sz="2400" dirty="0">
                <a:solidFill>
                  <a:schemeClr val="bg1"/>
                </a:solidFill>
              </a:rPr>
              <a:t>Koje parove možemo izvršiti istovremeno?</a:t>
            </a:r>
            <a:endParaRPr sz="2400" b="0" i="0" u="none" strike="noStrike" cap="none" dirty="0">
              <a:solidFill>
                <a:schemeClr val="bg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BA1484D4-8499-22D3-2D33-4ABBF5397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515" y="2018528"/>
            <a:ext cx="6811377" cy="4097609"/>
          </a:xfrm>
          <a:prstGeom prst="rect">
            <a:avLst/>
          </a:prstGeom>
        </p:spPr>
      </p:pic>
      <p:sp>
        <p:nvSpPr>
          <p:cNvPr id="4" name="Pravokutnik 3">
            <a:extLst>
              <a:ext uri="{FF2B5EF4-FFF2-40B4-BE49-F238E27FC236}">
                <a16:creationId xmlns:a16="http://schemas.microsoft.com/office/drawing/2014/main" id="{63518F7D-606D-B2E2-9EA6-298295B83FF6}"/>
              </a:ext>
            </a:extLst>
          </p:cNvPr>
          <p:cNvSpPr/>
          <p:nvPr/>
        </p:nvSpPr>
        <p:spPr>
          <a:xfrm>
            <a:off x="1600200" y="2873829"/>
            <a:ext cx="1167493" cy="498021"/>
          </a:xfrm>
          <a:prstGeom prst="rect">
            <a:avLst/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5" name="Pravokutnik 4">
            <a:extLst>
              <a:ext uri="{FF2B5EF4-FFF2-40B4-BE49-F238E27FC236}">
                <a16:creationId xmlns:a16="http://schemas.microsoft.com/office/drawing/2014/main" id="{B8F056DB-7DF9-FD7F-2F58-9B2313AEA75C}"/>
              </a:ext>
            </a:extLst>
          </p:cNvPr>
          <p:cNvSpPr/>
          <p:nvPr/>
        </p:nvSpPr>
        <p:spPr>
          <a:xfrm>
            <a:off x="1600200" y="3796394"/>
            <a:ext cx="2090057" cy="359228"/>
          </a:xfrm>
          <a:prstGeom prst="rect">
            <a:avLst/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Pravokutnik 5">
            <a:extLst>
              <a:ext uri="{FF2B5EF4-FFF2-40B4-BE49-F238E27FC236}">
                <a16:creationId xmlns:a16="http://schemas.microsoft.com/office/drawing/2014/main" id="{01614E2C-A542-FFE8-0E4A-4FD4A571BC6E}"/>
              </a:ext>
            </a:extLst>
          </p:cNvPr>
          <p:cNvSpPr/>
          <p:nvPr/>
        </p:nvSpPr>
        <p:spPr>
          <a:xfrm>
            <a:off x="1600200" y="3992878"/>
            <a:ext cx="2090057" cy="413663"/>
          </a:xfrm>
          <a:prstGeom prst="rect">
            <a:avLst/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7" name="Pravokutnik 6">
            <a:extLst>
              <a:ext uri="{FF2B5EF4-FFF2-40B4-BE49-F238E27FC236}">
                <a16:creationId xmlns:a16="http://schemas.microsoft.com/office/drawing/2014/main" id="{1A5C1C15-4E4D-9376-F123-88BEA77C9A57}"/>
              </a:ext>
            </a:extLst>
          </p:cNvPr>
          <p:cNvSpPr/>
          <p:nvPr/>
        </p:nvSpPr>
        <p:spPr>
          <a:xfrm>
            <a:off x="1600200" y="4398090"/>
            <a:ext cx="2351314" cy="41366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8" name="Pravokutnik 7">
            <a:extLst>
              <a:ext uri="{FF2B5EF4-FFF2-40B4-BE49-F238E27FC236}">
                <a16:creationId xmlns:a16="http://schemas.microsoft.com/office/drawing/2014/main" id="{95F3F98C-AB6E-995F-06C2-ECC92D2BAB63}"/>
              </a:ext>
            </a:extLst>
          </p:cNvPr>
          <p:cNvSpPr/>
          <p:nvPr/>
        </p:nvSpPr>
        <p:spPr>
          <a:xfrm>
            <a:off x="1600200" y="3578265"/>
            <a:ext cx="2090057" cy="41366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9" name="TekstniOkvir 8">
            <a:extLst>
              <a:ext uri="{FF2B5EF4-FFF2-40B4-BE49-F238E27FC236}">
                <a16:creationId xmlns:a16="http://schemas.microsoft.com/office/drawing/2014/main" id="{4CF7DB33-AB8A-392B-D2C3-E7D4D1DE2E5B}"/>
              </a:ext>
            </a:extLst>
          </p:cNvPr>
          <p:cNvSpPr txBox="1"/>
          <p:nvPr/>
        </p:nvSpPr>
        <p:spPr>
          <a:xfrm>
            <a:off x="1250417" y="6116137"/>
            <a:ext cx="6643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200" dirty="0">
                <a:solidFill>
                  <a:schemeClr val="bg1"/>
                </a:solidFill>
              </a:rPr>
              <a:t>https://gfxcourses.stanford.edu/cs149/fall23content/media/multicore/02_basicarch_xX3ssOi.pdf</a:t>
            </a:r>
          </a:p>
        </p:txBody>
      </p:sp>
    </p:spTree>
    <p:extLst>
      <p:ext uri="{BB962C8B-B14F-4D97-AF65-F5344CB8AC3E}">
        <p14:creationId xmlns:p14="http://schemas.microsoft.com/office/powerpoint/2010/main" val="582141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8" grpId="0" animBg="1"/>
      <p:bldP spid="8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354982C4-05CE-ACBB-EF36-2EE14B8FE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1">
            <a:extLst>
              <a:ext uri="{FF2B5EF4-FFF2-40B4-BE49-F238E27FC236}">
                <a16:creationId xmlns:a16="http://schemas.microsoft.com/office/drawing/2014/main" id="{1C246A02-68DD-3D51-BDC2-92A2C3A57CF7}"/>
              </a:ext>
            </a:extLst>
          </p:cNvPr>
          <p:cNvSpPr txBox="1"/>
          <p:nvPr/>
        </p:nvSpPr>
        <p:spPr>
          <a:xfrm>
            <a:off x="1530000" y="3074220"/>
            <a:ext cx="6766920" cy="70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0" i="0" u="none" strike="noStrike" cap="none" dirty="0">
                <a:solidFill>
                  <a:srgbClr val="39C0BA"/>
                </a:solidFill>
                <a:latin typeface="Quicksand"/>
                <a:ea typeface="Arial"/>
                <a:cs typeface="Arial"/>
                <a:sym typeface="Quicksand"/>
              </a:rPr>
              <a:t>Multi-</a:t>
            </a:r>
            <a:r>
              <a:rPr lang="hr-HR" sz="3000" b="0" i="0" u="none" strike="noStrike" cap="none" dirty="0" err="1">
                <a:solidFill>
                  <a:srgbClr val="39C0BA"/>
                </a:solidFill>
                <a:latin typeface="Quicksand"/>
                <a:ea typeface="Arial"/>
                <a:cs typeface="Arial"/>
                <a:sym typeface="Quicksand"/>
              </a:rPr>
              <a:t>core</a:t>
            </a:r>
            <a:r>
              <a:rPr lang="hr-HR" sz="3000" b="0" i="0" u="none" strike="noStrike" cap="none" dirty="0">
                <a:solidFill>
                  <a:srgbClr val="39C0BA"/>
                </a:solidFill>
                <a:latin typeface="Quicksand"/>
                <a:ea typeface="Arial"/>
                <a:cs typeface="Arial"/>
                <a:sym typeface="Quicksand"/>
              </a:rPr>
              <a:t> procesor</a:t>
            </a:r>
            <a:endParaRPr sz="3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1">
            <a:extLst>
              <a:ext uri="{FF2B5EF4-FFF2-40B4-BE49-F238E27FC236}">
                <a16:creationId xmlns:a16="http://schemas.microsoft.com/office/drawing/2014/main" id="{EAB4D863-3072-0A96-8675-C7C04ACCDCE1}"/>
              </a:ext>
            </a:extLst>
          </p:cNvPr>
          <p:cNvSpPr/>
          <p:nvPr/>
        </p:nvSpPr>
        <p:spPr>
          <a:xfrm>
            <a:off x="502560" y="3039840"/>
            <a:ext cx="802080" cy="78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dirty="0">
                <a:latin typeface="Cambria"/>
                <a:ea typeface="Cambria"/>
                <a:cs typeface="Cambria"/>
                <a:sym typeface="Cambria"/>
              </a:rPr>
              <a:t>3</a:t>
            </a:r>
            <a:endParaRPr sz="30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1117665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>
          <a:extLst>
            <a:ext uri="{FF2B5EF4-FFF2-40B4-BE49-F238E27FC236}">
              <a16:creationId xmlns:a16="http://schemas.microsoft.com/office/drawing/2014/main" id="{264D9AE7-C8AF-A3B6-54BF-7225C2F35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2">
            <a:extLst>
              <a:ext uri="{FF2B5EF4-FFF2-40B4-BE49-F238E27FC236}">
                <a16:creationId xmlns:a16="http://schemas.microsoft.com/office/drawing/2014/main" id="{4BC75CF1-569D-08C1-226A-44858FCDB0E6}"/>
              </a:ext>
            </a:extLst>
          </p:cNvPr>
          <p:cNvSpPr txBox="1"/>
          <p:nvPr/>
        </p:nvSpPr>
        <p:spPr>
          <a:xfrm>
            <a:off x="1165319" y="704520"/>
            <a:ext cx="7317373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dirty="0">
                <a:solidFill>
                  <a:srgbClr val="39C0BA"/>
                </a:solidFill>
                <a:latin typeface="+mj-lt"/>
                <a:sym typeface="Quicksand"/>
              </a:rPr>
              <a:t>MULTI-CORE PROCESOR</a:t>
            </a:r>
            <a:endParaRPr lang="hr-HR" sz="2400" dirty="0">
              <a:latin typeface="+mj-lt"/>
            </a:endParaRP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6C6134CB-F71C-4F31-E319-49E99909B1E4}"/>
              </a:ext>
            </a:extLst>
          </p:cNvPr>
          <p:cNvSpPr txBox="1"/>
          <p:nvPr/>
        </p:nvSpPr>
        <p:spPr>
          <a:xfrm>
            <a:off x="887733" y="3772831"/>
            <a:ext cx="3797614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600" b="1" dirty="0">
                <a:solidFill>
                  <a:schemeClr val="bg1"/>
                </a:solidFill>
              </a:rPr>
              <a:t>Pre-2005: </a:t>
            </a:r>
            <a:r>
              <a:rPr lang="hr-HR" sz="1600" dirty="0">
                <a:solidFill>
                  <a:schemeClr val="bg1"/>
                </a:solidFill>
              </a:rPr>
              <a:t>Jedan kompleksan procesor</a:t>
            </a:r>
          </a:p>
          <a:p>
            <a:r>
              <a:rPr lang="hr-HR" sz="1600" dirty="0">
                <a:solidFill>
                  <a:schemeClr val="bg1"/>
                </a:solidFill>
              </a:rPr>
              <a:t>- Out-</a:t>
            </a:r>
            <a:r>
              <a:rPr lang="hr-HR" sz="1600" dirty="0" err="1">
                <a:solidFill>
                  <a:schemeClr val="bg1"/>
                </a:solidFill>
              </a:rPr>
              <a:t>of</a:t>
            </a:r>
            <a:r>
              <a:rPr lang="hr-HR" sz="1600" dirty="0">
                <a:solidFill>
                  <a:schemeClr val="bg1"/>
                </a:solidFill>
              </a:rPr>
              <a:t>-</a:t>
            </a:r>
            <a:r>
              <a:rPr lang="hr-HR" sz="1600" dirty="0" err="1">
                <a:solidFill>
                  <a:schemeClr val="bg1"/>
                </a:solidFill>
              </a:rPr>
              <a:t>order</a:t>
            </a:r>
            <a:r>
              <a:rPr lang="hr-HR" sz="1600" dirty="0">
                <a:solidFill>
                  <a:schemeClr val="bg1"/>
                </a:solidFill>
              </a:rPr>
              <a:t> </a:t>
            </a:r>
            <a:r>
              <a:rPr lang="hr-HR" sz="1600" dirty="0" err="1">
                <a:solidFill>
                  <a:schemeClr val="bg1"/>
                </a:solidFill>
              </a:rPr>
              <a:t>execution</a:t>
            </a:r>
            <a:r>
              <a:rPr lang="hr-HR" sz="1600" dirty="0">
                <a:solidFill>
                  <a:schemeClr val="bg1"/>
                </a:solidFill>
              </a:rPr>
              <a:t> - procesor izvršava instrukcije ne kako ste vi napisali kod, već kako je njemu najbolje</a:t>
            </a:r>
          </a:p>
          <a:p>
            <a:r>
              <a:rPr lang="hr-HR" sz="1600" dirty="0">
                <a:solidFill>
                  <a:schemeClr val="bg1"/>
                </a:solidFill>
              </a:rPr>
              <a:t>- </a:t>
            </a:r>
            <a:r>
              <a:rPr lang="hr-HR" sz="1600" dirty="0" err="1">
                <a:solidFill>
                  <a:schemeClr val="bg1"/>
                </a:solidFill>
              </a:rPr>
              <a:t>Branch</a:t>
            </a:r>
            <a:r>
              <a:rPr lang="hr-HR" sz="1600" dirty="0">
                <a:solidFill>
                  <a:schemeClr val="bg1"/>
                </a:solidFill>
              </a:rPr>
              <a:t> </a:t>
            </a:r>
            <a:r>
              <a:rPr lang="hr-HR" sz="1600" dirty="0" err="1">
                <a:solidFill>
                  <a:schemeClr val="bg1"/>
                </a:solidFill>
              </a:rPr>
              <a:t>prediction</a:t>
            </a:r>
            <a:r>
              <a:rPr lang="hr-HR" sz="1600" dirty="0">
                <a:solidFill>
                  <a:schemeClr val="bg1"/>
                </a:solidFill>
              </a:rPr>
              <a:t> - procesor pogađa koje će grane IF-a biti izvršene i spekulativno ih izvršava unaprijed</a:t>
            </a:r>
          </a:p>
          <a:p>
            <a:r>
              <a:rPr lang="hr-HR" sz="1600" dirty="0">
                <a:solidFill>
                  <a:schemeClr val="bg1"/>
                </a:solidFill>
              </a:rPr>
              <a:t>- Velike </a:t>
            </a:r>
            <a:r>
              <a:rPr lang="hr-HR" sz="1600" dirty="0" err="1">
                <a:solidFill>
                  <a:schemeClr val="bg1"/>
                </a:solidFill>
              </a:rPr>
              <a:t>cache</a:t>
            </a:r>
            <a:r>
              <a:rPr lang="hr-HR" sz="1600" dirty="0">
                <a:solidFill>
                  <a:schemeClr val="bg1"/>
                </a:solidFill>
              </a:rPr>
              <a:t> memorije - da sakrije latenciju DRAM-a (</a:t>
            </a:r>
            <a:r>
              <a:rPr lang="hr-HR" sz="1600" dirty="0" err="1">
                <a:solidFill>
                  <a:schemeClr val="bg1"/>
                </a:solidFill>
              </a:rPr>
              <a:t>d</a:t>
            </a:r>
            <a:r>
              <a:rPr lang="hr-HR" dirty="0" err="1">
                <a:solidFill>
                  <a:schemeClr val="bg1"/>
                </a:solidFill>
              </a:rPr>
              <a:t>ynamic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random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access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memory</a:t>
            </a:r>
            <a:r>
              <a:rPr lang="hr-HR" dirty="0">
                <a:solidFill>
                  <a:schemeClr val="bg1"/>
                </a:solidFill>
              </a:rPr>
              <a:t>)</a:t>
            </a:r>
            <a:endParaRPr lang="hr-HR" sz="16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hr-HR" sz="1600" dirty="0">
              <a:solidFill>
                <a:schemeClr val="bg1"/>
              </a:solidFill>
            </a:endParaRPr>
          </a:p>
          <a:p>
            <a:r>
              <a:rPr lang="hr-HR" sz="1600" dirty="0">
                <a:solidFill>
                  <a:schemeClr val="bg1"/>
                </a:solidFill>
              </a:rPr>
              <a:t>--&gt;Brži pojedinačni </a:t>
            </a:r>
            <a:r>
              <a:rPr lang="hr-HR" sz="1600" dirty="0" err="1">
                <a:solidFill>
                  <a:schemeClr val="bg1"/>
                </a:solidFill>
              </a:rPr>
              <a:t>thread</a:t>
            </a:r>
            <a:endParaRPr lang="hr-HR" sz="1600" dirty="0">
              <a:solidFill>
                <a:schemeClr val="bg1"/>
              </a:solidFill>
            </a:endParaRPr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F57E93FD-18D2-155F-0F4A-5FC63E9ED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204" y="1336035"/>
            <a:ext cx="4645601" cy="2264880"/>
          </a:xfrm>
          <a:prstGeom prst="rect">
            <a:avLst/>
          </a:prstGeom>
        </p:spPr>
      </p:pic>
      <p:sp>
        <p:nvSpPr>
          <p:cNvPr id="7" name="TekstniOkvir 6">
            <a:extLst>
              <a:ext uri="{FF2B5EF4-FFF2-40B4-BE49-F238E27FC236}">
                <a16:creationId xmlns:a16="http://schemas.microsoft.com/office/drawing/2014/main" id="{58138152-870F-4EE1-3ABA-9960F0A10657}"/>
              </a:ext>
            </a:extLst>
          </p:cNvPr>
          <p:cNvSpPr txBox="1"/>
          <p:nvPr/>
        </p:nvSpPr>
        <p:spPr>
          <a:xfrm>
            <a:off x="4938440" y="3772831"/>
            <a:ext cx="366249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600" b="1" dirty="0">
                <a:solidFill>
                  <a:schemeClr val="bg1"/>
                </a:solidFill>
              </a:rPr>
              <a:t>Post-2005: </a:t>
            </a:r>
            <a:r>
              <a:rPr lang="hr-HR" sz="1600" dirty="0">
                <a:solidFill>
                  <a:schemeClr val="bg1"/>
                </a:solidFill>
              </a:rPr>
              <a:t>Više jednostavnijih jezgri</a:t>
            </a:r>
          </a:p>
          <a:p>
            <a:r>
              <a:rPr lang="hr-HR" sz="1600" dirty="0">
                <a:solidFill>
                  <a:schemeClr val="bg1"/>
                </a:solidFill>
              </a:rPr>
              <a:t>- Jednostavnije jezgre (75% brzine)</a:t>
            </a:r>
          </a:p>
          <a:p>
            <a:r>
              <a:rPr lang="hr-HR" sz="1600" dirty="0">
                <a:solidFill>
                  <a:schemeClr val="bg1"/>
                </a:solidFill>
              </a:rPr>
              <a:t>- 4 jezgre × 0.75 = 3× </a:t>
            </a:r>
            <a:r>
              <a:rPr lang="hr-HR" sz="1600" dirty="0" err="1">
                <a:solidFill>
                  <a:schemeClr val="bg1"/>
                </a:solidFill>
              </a:rPr>
              <a:t>speedup</a:t>
            </a:r>
            <a:r>
              <a:rPr lang="hr-HR" sz="1600" dirty="0">
                <a:solidFill>
                  <a:schemeClr val="bg1"/>
                </a:solidFill>
              </a:rPr>
              <a:t>!</a:t>
            </a:r>
          </a:p>
          <a:p>
            <a:endParaRPr lang="hr-HR" sz="1600" dirty="0">
              <a:solidFill>
                <a:schemeClr val="bg1"/>
              </a:solidFill>
            </a:endParaRPr>
          </a:p>
          <a:p>
            <a:r>
              <a:rPr lang="hr-HR" sz="1600" dirty="0">
                <a:solidFill>
                  <a:schemeClr val="bg1"/>
                </a:solidFill>
              </a:rPr>
              <a:t>ZAŠTO? Power </a:t>
            </a:r>
            <a:r>
              <a:rPr lang="hr-HR" sz="1600" dirty="0" err="1">
                <a:solidFill>
                  <a:schemeClr val="bg1"/>
                </a:solidFill>
              </a:rPr>
              <a:t>wall</a:t>
            </a:r>
            <a:r>
              <a:rPr lang="hr-HR" sz="1600" dirty="0">
                <a:solidFill>
                  <a:schemeClr val="bg1"/>
                </a:solidFill>
              </a:rPr>
              <a:t> - procesor se previše zagrijava. Potrošnja energije raste s kvadratom frekvencije.</a:t>
            </a:r>
          </a:p>
        </p:txBody>
      </p:sp>
    </p:spTree>
    <p:extLst>
      <p:ext uri="{BB962C8B-B14F-4D97-AF65-F5344CB8AC3E}">
        <p14:creationId xmlns:p14="http://schemas.microsoft.com/office/powerpoint/2010/main" val="26521101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>
          <a:extLst>
            <a:ext uri="{FF2B5EF4-FFF2-40B4-BE49-F238E27FC236}">
              <a16:creationId xmlns:a16="http://schemas.microsoft.com/office/drawing/2014/main" id="{EB0F4156-CFE1-5B95-A02A-EDAAE5630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2">
            <a:extLst>
              <a:ext uri="{FF2B5EF4-FFF2-40B4-BE49-F238E27FC236}">
                <a16:creationId xmlns:a16="http://schemas.microsoft.com/office/drawing/2014/main" id="{E98C26DB-4234-0292-42E8-A75F587076D0}"/>
              </a:ext>
            </a:extLst>
          </p:cNvPr>
          <p:cNvSpPr txBox="1"/>
          <p:nvPr/>
        </p:nvSpPr>
        <p:spPr>
          <a:xfrm>
            <a:off x="1165319" y="704520"/>
            <a:ext cx="7317373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dirty="0">
                <a:solidFill>
                  <a:srgbClr val="39C0BA"/>
                </a:solidFill>
                <a:latin typeface="+mj-lt"/>
                <a:sym typeface="Quicksand"/>
              </a:rPr>
              <a:t>THREAD-LEVEL PARALLELISM</a:t>
            </a:r>
            <a:endParaRPr lang="hr-HR" sz="2400" dirty="0">
              <a:latin typeface="+mj-lt"/>
            </a:endParaRPr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25786EFD-8872-8190-7EEF-73CDD92DC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702" y="1270249"/>
            <a:ext cx="4692565" cy="4591707"/>
          </a:xfrm>
          <a:prstGeom prst="rect">
            <a:avLst/>
          </a:prstGeom>
        </p:spPr>
      </p:pic>
      <p:sp>
        <p:nvSpPr>
          <p:cNvPr id="5" name="TekstniOkvir 4">
            <a:extLst>
              <a:ext uri="{FF2B5EF4-FFF2-40B4-BE49-F238E27FC236}">
                <a16:creationId xmlns:a16="http://schemas.microsoft.com/office/drawing/2014/main" id="{A9B769D5-2125-E284-A5AD-2D330FD532F2}"/>
              </a:ext>
            </a:extLst>
          </p:cNvPr>
          <p:cNvSpPr txBox="1"/>
          <p:nvPr/>
        </p:nvSpPr>
        <p:spPr>
          <a:xfrm>
            <a:off x="1165319" y="1836964"/>
            <a:ext cx="3129383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Svaka jezgra ima: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dirty="0">
                <a:solidFill>
                  <a:schemeClr val="bg1"/>
                </a:solidFill>
              </a:rPr>
              <a:t>Vlastiti program </a:t>
            </a:r>
            <a:r>
              <a:rPr lang="hr-HR" dirty="0" err="1">
                <a:solidFill>
                  <a:schemeClr val="bg1"/>
                </a:solidFill>
              </a:rPr>
              <a:t>counter</a:t>
            </a:r>
            <a:r>
              <a:rPr lang="hr-HR" dirty="0">
                <a:solidFill>
                  <a:schemeClr val="bg1"/>
                </a:solidFill>
              </a:rPr>
              <a:t> (PC)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dirty="0">
                <a:solidFill>
                  <a:schemeClr val="bg1"/>
                </a:solidFill>
              </a:rPr>
              <a:t>Vlastite registre (R0-R7)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dirty="0">
                <a:solidFill>
                  <a:schemeClr val="bg1"/>
                </a:solidFill>
              </a:rPr>
              <a:t>Vlastiti L1 </a:t>
            </a:r>
            <a:r>
              <a:rPr lang="hr-HR" dirty="0" err="1">
                <a:solidFill>
                  <a:schemeClr val="bg1"/>
                </a:solidFill>
              </a:rPr>
              <a:t>cache</a:t>
            </a:r>
            <a:r>
              <a:rPr lang="hr-HR" dirty="0">
                <a:solidFill>
                  <a:schemeClr val="bg1"/>
                </a:solidFill>
              </a:rPr>
              <a:t> (32 KB)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dirty="0">
                <a:solidFill>
                  <a:schemeClr val="bg1"/>
                </a:solidFill>
              </a:rPr>
              <a:t>Vlastiti L2 </a:t>
            </a:r>
            <a:r>
              <a:rPr lang="hr-HR" dirty="0" err="1">
                <a:solidFill>
                  <a:schemeClr val="bg1"/>
                </a:solidFill>
              </a:rPr>
              <a:t>cache</a:t>
            </a:r>
            <a:r>
              <a:rPr lang="hr-HR" dirty="0">
                <a:solidFill>
                  <a:schemeClr val="bg1"/>
                </a:solidFill>
              </a:rPr>
              <a:t> (256 KB)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hr-HR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hr-HR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hr-HR" dirty="0">
                <a:solidFill>
                  <a:schemeClr val="bg1"/>
                </a:solidFill>
              </a:rPr>
              <a:t>Sve jezgre dijele: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dirty="0">
                <a:solidFill>
                  <a:schemeClr val="bg1"/>
                </a:solidFill>
              </a:rPr>
              <a:t>L3 </a:t>
            </a:r>
            <a:r>
              <a:rPr lang="hr-HR" dirty="0" err="1">
                <a:solidFill>
                  <a:schemeClr val="bg1"/>
                </a:solidFill>
              </a:rPr>
              <a:t>cache</a:t>
            </a:r>
            <a:r>
              <a:rPr lang="hr-HR" dirty="0">
                <a:solidFill>
                  <a:schemeClr val="bg1"/>
                </a:solidFill>
              </a:rPr>
              <a:t> (8-20MB)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dirty="0">
                <a:solidFill>
                  <a:schemeClr val="bg1"/>
                </a:solidFill>
              </a:rPr>
              <a:t>Glavnu memoriju (DRAM)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dirty="0">
                <a:solidFill>
                  <a:schemeClr val="bg1"/>
                </a:solidFill>
              </a:rPr>
              <a:t>Komunikacija među </a:t>
            </a:r>
            <a:r>
              <a:rPr lang="hr-HR" dirty="0" err="1">
                <a:solidFill>
                  <a:schemeClr val="bg1"/>
                </a:solidFill>
              </a:rPr>
              <a:t>thread</a:t>
            </a:r>
            <a:r>
              <a:rPr lang="hr-HR" dirty="0">
                <a:solidFill>
                  <a:schemeClr val="bg1"/>
                </a:solidFill>
              </a:rPr>
              <a:t>-ovima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hr-HR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hr-HR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hr-HR" dirty="0">
                <a:solidFill>
                  <a:schemeClr val="bg1"/>
                </a:solidFill>
              </a:rPr>
              <a:t>Alati za kreiranje </a:t>
            </a:r>
            <a:r>
              <a:rPr lang="hr-HR" dirty="0" err="1">
                <a:solidFill>
                  <a:schemeClr val="bg1"/>
                </a:solidFill>
              </a:rPr>
              <a:t>thread</a:t>
            </a:r>
            <a:r>
              <a:rPr lang="hr-HR" dirty="0">
                <a:solidFill>
                  <a:schemeClr val="bg1"/>
                </a:solidFill>
              </a:rPr>
              <a:t>-ova:</a:t>
            </a:r>
          </a:p>
          <a:p>
            <a:pPr>
              <a:buClr>
                <a:schemeClr val="bg1"/>
              </a:buClr>
            </a:pPr>
            <a:r>
              <a:rPr lang="hr-HR" dirty="0" err="1">
                <a:solidFill>
                  <a:schemeClr val="bg1"/>
                </a:solidFill>
              </a:rPr>
              <a:t>OpenMP</a:t>
            </a:r>
            <a:r>
              <a:rPr lang="hr-HR" dirty="0">
                <a:solidFill>
                  <a:schemeClr val="bg1"/>
                </a:solidFill>
              </a:rPr>
              <a:t>, </a:t>
            </a:r>
            <a:r>
              <a:rPr lang="hr-HR" dirty="0" err="1">
                <a:solidFill>
                  <a:schemeClr val="bg1"/>
                </a:solidFill>
              </a:rPr>
              <a:t>pthreads</a:t>
            </a:r>
            <a:r>
              <a:rPr lang="hr-HR" dirty="0">
                <a:solidFill>
                  <a:schemeClr val="bg1"/>
                </a:solidFill>
              </a:rPr>
              <a:t>, C++ </a:t>
            </a:r>
            <a:r>
              <a:rPr lang="hr-HR" dirty="0" err="1">
                <a:solidFill>
                  <a:schemeClr val="bg1"/>
                </a:solidFill>
              </a:rPr>
              <a:t>std</a:t>
            </a:r>
            <a:r>
              <a:rPr lang="hr-HR" dirty="0">
                <a:solidFill>
                  <a:schemeClr val="bg1"/>
                </a:solidFill>
              </a:rPr>
              <a:t>::</a:t>
            </a:r>
            <a:r>
              <a:rPr lang="hr-HR" dirty="0" err="1">
                <a:solidFill>
                  <a:schemeClr val="bg1"/>
                </a:solidFill>
              </a:rPr>
              <a:t>thread</a:t>
            </a:r>
            <a:endParaRPr lang="hr-H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54528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>
          <a:extLst>
            <a:ext uri="{FF2B5EF4-FFF2-40B4-BE49-F238E27FC236}">
              <a16:creationId xmlns:a16="http://schemas.microsoft.com/office/drawing/2014/main" id="{B2ABE6C0-A8F1-58DC-2177-E6110A3DB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2">
            <a:extLst>
              <a:ext uri="{FF2B5EF4-FFF2-40B4-BE49-F238E27FC236}">
                <a16:creationId xmlns:a16="http://schemas.microsoft.com/office/drawing/2014/main" id="{BEEEF9DB-F791-16BD-770D-F3E6BE085DF8}"/>
              </a:ext>
            </a:extLst>
          </p:cNvPr>
          <p:cNvSpPr txBox="1"/>
          <p:nvPr/>
        </p:nvSpPr>
        <p:spPr>
          <a:xfrm>
            <a:off x="1165319" y="704520"/>
            <a:ext cx="7317373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dirty="0">
                <a:solidFill>
                  <a:srgbClr val="39C0BA"/>
                </a:solidFill>
                <a:latin typeface="+mj-lt"/>
                <a:sym typeface="Quicksand"/>
              </a:rPr>
              <a:t>PONOVIMO</a:t>
            </a:r>
            <a:endParaRPr lang="hr-HR" sz="2400" dirty="0">
              <a:latin typeface="+mj-lt"/>
            </a:endParaRP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64D50015-A3F4-832B-DBB7-843FA53F8EA8}"/>
              </a:ext>
            </a:extLst>
          </p:cNvPr>
          <p:cNvSpPr txBox="1"/>
          <p:nvPr/>
        </p:nvSpPr>
        <p:spPr>
          <a:xfrm>
            <a:off x="1034689" y="1273629"/>
            <a:ext cx="644379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800" dirty="0">
                <a:solidFill>
                  <a:schemeClr val="bg1"/>
                </a:solidFill>
              </a:rPr>
              <a:t>TRI OBLIKA PARALELIZMA</a:t>
            </a:r>
          </a:p>
          <a:p>
            <a:endParaRPr lang="hr-HR" sz="1800" dirty="0">
              <a:solidFill>
                <a:schemeClr val="bg1"/>
              </a:solidFill>
            </a:endParaRPr>
          </a:p>
          <a:p>
            <a:r>
              <a:rPr lang="hr-HR" sz="1800" dirty="0">
                <a:solidFill>
                  <a:schemeClr val="bg1"/>
                </a:solidFill>
              </a:rPr>
              <a:t>1. INSTRUCTION-LEVEL (</a:t>
            </a:r>
            <a:r>
              <a:rPr lang="hr-HR" sz="1800" dirty="0" err="1">
                <a:solidFill>
                  <a:schemeClr val="bg1"/>
                </a:solidFill>
              </a:rPr>
              <a:t>Superscalar</a:t>
            </a:r>
            <a:r>
              <a:rPr lang="hr-HR" sz="1800" dirty="0">
                <a:solidFill>
                  <a:schemeClr val="bg1"/>
                </a:solidFill>
              </a:rPr>
              <a:t>):</a:t>
            </a:r>
          </a:p>
          <a:p>
            <a:r>
              <a:rPr lang="hr-HR" sz="1800" dirty="0">
                <a:solidFill>
                  <a:schemeClr val="bg1"/>
                </a:solidFill>
              </a:rPr>
              <a:t>   • Hardware automatski</a:t>
            </a:r>
          </a:p>
          <a:p>
            <a:r>
              <a:rPr lang="hr-HR" sz="1800" dirty="0">
                <a:solidFill>
                  <a:schemeClr val="bg1"/>
                </a:solidFill>
              </a:rPr>
              <a:t>   • Unutar jednog </a:t>
            </a:r>
            <a:r>
              <a:rPr lang="hr-HR" sz="1800" dirty="0" err="1">
                <a:solidFill>
                  <a:schemeClr val="bg1"/>
                </a:solidFill>
              </a:rPr>
              <a:t>thread</a:t>
            </a:r>
            <a:r>
              <a:rPr lang="hr-HR" sz="1800" dirty="0">
                <a:solidFill>
                  <a:schemeClr val="bg1"/>
                </a:solidFill>
              </a:rPr>
              <a:t>-a</a:t>
            </a:r>
          </a:p>
          <a:p>
            <a:r>
              <a:rPr lang="hr-HR" sz="1800" dirty="0">
                <a:solidFill>
                  <a:schemeClr val="bg1"/>
                </a:solidFill>
              </a:rPr>
              <a:t>   </a:t>
            </a:r>
          </a:p>
          <a:p>
            <a:r>
              <a:rPr lang="hr-HR" sz="1800" dirty="0">
                <a:solidFill>
                  <a:schemeClr val="bg1"/>
                </a:solidFill>
              </a:rPr>
              <a:t>2. DATA-LEVEL (SIMD):</a:t>
            </a:r>
          </a:p>
          <a:p>
            <a:r>
              <a:rPr lang="hr-HR" sz="1800" dirty="0">
                <a:solidFill>
                  <a:schemeClr val="bg1"/>
                </a:solidFill>
              </a:rPr>
              <a:t>   • Kompajler ili programer</a:t>
            </a:r>
          </a:p>
          <a:p>
            <a:r>
              <a:rPr lang="hr-HR" sz="1800" dirty="0">
                <a:solidFill>
                  <a:schemeClr val="bg1"/>
                </a:solidFill>
              </a:rPr>
              <a:t>   • Vektorske operacije</a:t>
            </a:r>
          </a:p>
          <a:p>
            <a:r>
              <a:rPr lang="hr-HR" sz="1800" dirty="0">
                <a:solidFill>
                  <a:schemeClr val="bg1"/>
                </a:solidFill>
              </a:rPr>
              <a:t>   • OPREZ: divergencija!</a:t>
            </a:r>
          </a:p>
          <a:p>
            <a:endParaRPr lang="hr-HR" sz="1800" dirty="0">
              <a:solidFill>
                <a:schemeClr val="bg1"/>
              </a:solidFill>
            </a:endParaRPr>
          </a:p>
          <a:p>
            <a:r>
              <a:rPr lang="hr-HR" sz="1800" dirty="0">
                <a:solidFill>
                  <a:schemeClr val="bg1"/>
                </a:solidFill>
              </a:rPr>
              <a:t>3. THREAD-LEVEL (Multi-</a:t>
            </a:r>
            <a:r>
              <a:rPr lang="hr-HR" sz="1800" dirty="0" err="1">
                <a:solidFill>
                  <a:schemeClr val="bg1"/>
                </a:solidFill>
              </a:rPr>
              <a:t>core</a:t>
            </a:r>
            <a:r>
              <a:rPr lang="hr-HR" sz="1800" dirty="0">
                <a:solidFill>
                  <a:schemeClr val="bg1"/>
                </a:solidFill>
              </a:rPr>
              <a:t>):</a:t>
            </a:r>
          </a:p>
          <a:p>
            <a:r>
              <a:rPr lang="hr-HR" sz="1800" dirty="0">
                <a:solidFill>
                  <a:schemeClr val="bg1"/>
                </a:solidFill>
              </a:rPr>
              <a:t>   • Programer kreira </a:t>
            </a:r>
            <a:r>
              <a:rPr lang="hr-HR" sz="1800" dirty="0" err="1">
                <a:solidFill>
                  <a:schemeClr val="bg1"/>
                </a:solidFill>
              </a:rPr>
              <a:t>threads</a:t>
            </a:r>
            <a:endParaRPr lang="hr-HR" sz="1800" dirty="0">
              <a:solidFill>
                <a:schemeClr val="bg1"/>
              </a:solidFill>
            </a:endParaRPr>
          </a:p>
          <a:p>
            <a:r>
              <a:rPr lang="hr-HR" sz="1800" dirty="0">
                <a:solidFill>
                  <a:schemeClr val="bg1"/>
                </a:solidFill>
              </a:rPr>
              <a:t>   • Neovisne jezgre</a:t>
            </a:r>
          </a:p>
          <a:p>
            <a:endParaRPr lang="hr-HR" sz="1800" dirty="0">
              <a:solidFill>
                <a:schemeClr val="bg1"/>
              </a:solidFill>
            </a:endParaRPr>
          </a:p>
          <a:p>
            <a:r>
              <a:rPr lang="hr-HR" sz="1800" dirty="0">
                <a:solidFill>
                  <a:schemeClr val="bg1"/>
                </a:solidFill>
              </a:rPr>
              <a:t>MODERNI PROCESORI KOMBINIRAJU SVA TRI!</a:t>
            </a:r>
          </a:p>
        </p:txBody>
      </p:sp>
    </p:spTree>
    <p:extLst>
      <p:ext uri="{BB962C8B-B14F-4D97-AF65-F5344CB8AC3E}">
        <p14:creationId xmlns:p14="http://schemas.microsoft.com/office/powerpoint/2010/main" val="15139445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011EEEDA-6C43-4454-72E0-3C7105736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1">
            <a:extLst>
              <a:ext uri="{FF2B5EF4-FFF2-40B4-BE49-F238E27FC236}">
                <a16:creationId xmlns:a16="http://schemas.microsoft.com/office/drawing/2014/main" id="{51AE6FED-A583-E708-6FAB-872BDF1C1F29}"/>
              </a:ext>
            </a:extLst>
          </p:cNvPr>
          <p:cNvSpPr txBox="1"/>
          <p:nvPr/>
        </p:nvSpPr>
        <p:spPr>
          <a:xfrm>
            <a:off x="1530000" y="3074220"/>
            <a:ext cx="6766920" cy="70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dirty="0" err="1">
                <a:solidFill>
                  <a:srgbClr val="39C0BA"/>
                </a:solidFill>
                <a:latin typeface="Quicksand"/>
                <a:sym typeface="Quicksand"/>
              </a:rPr>
              <a:t>Cache</a:t>
            </a:r>
            <a:r>
              <a:rPr lang="hr-HR" sz="3000" dirty="0">
                <a:solidFill>
                  <a:srgbClr val="39C0BA"/>
                </a:solidFill>
                <a:latin typeface="Quicksand"/>
                <a:sym typeface="Quicksand"/>
              </a:rPr>
              <a:t> memorija</a:t>
            </a:r>
            <a:endParaRPr sz="3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1">
            <a:extLst>
              <a:ext uri="{FF2B5EF4-FFF2-40B4-BE49-F238E27FC236}">
                <a16:creationId xmlns:a16="http://schemas.microsoft.com/office/drawing/2014/main" id="{5D21A072-AFCD-0EFC-1364-D7D24C39133E}"/>
              </a:ext>
            </a:extLst>
          </p:cNvPr>
          <p:cNvSpPr/>
          <p:nvPr/>
        </p:nvSpPr>
        <p:spPr>
          <a:xfrm>
            <a:off x="502560" y="3039840"/>
            <a:ext cx="802080" cy="78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0" i="0" u="none" strike="noStrike" cap="none" dirty="0">
                <a:latin typeface="Cambria"/>
                <a:ea typeface="Cambria"/>
                <a:cs typeface="Cambria"/>
                <a:sym typeface="Cambria"/>
              </a:rPr>
              <a:t>4</a:t>
            </a:r>
            <a:endParaRPr sz="30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5994878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CACHE MEMORIJA</a:t>
            </a:r>
            <a:endParaRPr lang="hr-HR"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95D9F7-F4F3-CA6C-3B96-60BE8D435236}"/>
              </a:ext>
            </a:extLst>
          </p:cNvPr>
          <p:cNvSpPr txBox="1"/>
          <p:nvPr/>
        </p:nvSpPr>
        <p:spPr>
          <a:xfrm>
            <a:off x="919992" y="1414862"/>
            <a:ext cx="3652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800" dirty="0">
                <a:solidFill>
                  <a:schemeClr val="bg1"/>
                </a:solidFill>
              </a:rPr>
              <a:t>Problem: </a:t>
            </a:r>
            <a:r>
              <a:rPr lang="hr-HR" sz="1800" dirty="0" err="1">
                <a:solidFill>
                  <a:schemeClr val="bg1"/>
                </a:solidFill>
              </a:rPr>
              <a:t>memory</a:t>
            </a:r>
            <a:r>
              <a:rPr lang="hr-HR" sz="1800" dirty="0">
                <a:solidFill>
                  <a:schemeClr val="bg1"/>
                </a:solidFill>
              </a:rPr>
              <a:t> </a:t>
            </a:r>
            <a:r>
              <a:rPr lang="hr-HR" sz="1800" dirty="0" err="1">
                <a:solidFill>
                  <a:schemeClr val="bg1"/>
                </a:solidFill>
              </a:rPr>
              <a:t>latency</a:t>
            </a:r>
            <a:endParaRPr lang="hr-HR" sz="18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69DCB1-4F45-D5E9-AB98-277FAEC93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56598"/>
            <a:ext cx="4455444" cy="2930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BC0678-F596-619E-FA57-711976723D39}"/>
              </a:ext>
            </a:extLst>
          </p:cNvPr>
          <p:cNvSpPr txBox="1"/>
          <p:nvPr/>
        </p:nvSpPr>
        <p:spPr>
          <a:xfrm>
            <a:off x="4572000" y="1275753"/>
            <a:ext cx="4455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chemeClr val="bg1"/>
                </a:solidFill>
              </a:rPr>
              <a:t>Vrijeme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pristupa</a:t>
            </a:r>
            <a:r>
              <a:rPr lang="en-US" sz="1800" dirty="0">
                <a:solidFill>
                  <a:schemeClr val="bg1"/>
                </a:solidFill>
              </a:rPr>
              <a:t> (Intel Kaby Lake, 4 GHz)</a:t>
            </a:r>
            <a:endParaRPr lang="hr-HR" sz="1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B21C17-F7CA-32D1-43F2-BD5AB8924472}"/>
              </a:ext>
            </a:extLst>
          </p:cNvPr>
          <p:cNvSpPr txBox="1"/>
          <p:nvPr/>
        </p:nvSpPr>
        <p:spPr>
          <a:xfrm>
            <a:off x="931144" y="2007220"/>
            <a:ext cx="364085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/>
                </a:solidFill>
              </a:rPr>
              <a:t>Procesor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provodi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većinu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vremena</a:t>
            </a:r>
            <a:r>
              <a:rPr lang="en-US" sz="1800" dirty="0">
                <a:solidFill>
                  <a:schemeClr val="bg1"/>
                </a:solidFill>
              </a:rPr>
              <a:t> ČEKAJUĆI </a:t>
            </a:r>
            <a:r>
              <a:rPr lang="en-US" sz="1800" dirty="0" err="1">
                <a:solidFill>
                  <a:schemeClr val="bg1"/>
                </a:solidFill>
              </a:rPr>
              <a:t>podatke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iz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memorije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</a:rPr>
              <a:t>L1 cache</a:t>
            </a:r>
            <a:r>
              <a:rPr lang="en-US" sz="1800" dirty="0">
                <a:solidFill>
                  <a:schemeClr val="bg1"/>
                </a:solidFill>
              </a:rPr>
              <a:t> - </a:t>
            </a:r>
            <a:r>
              <a:rPr lang="en-US" sz="1800" dirty="0" err="1">
                <a:solidFill>
                  <a:schemeClr val="bg1"/>
                </a:solidFill>
              </a:rPr>
              <a:t>najbrža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memorija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direktno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na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procesoru</a:t>
            </a:r>
            <a:r>
              <a:rPr lang="en-US" sz="1800" dirty="0">
                <a:solidFill>
                  <a:schemeClr val="bg1"/>
                </a:solidFill>
              </a:rPr>
              <a:t>, 4 </a:t>
            </a:r>
            <a:r>
              <a:rPr lang="en-US" sz="1800" dirty="0" err="1">
                <a:solidFill>
                  <a:schemeClr val="bg1"/>
                </a:solidFill>
              </a:rPr>
              <a:t>ciklusa</a:t>
            </a:r>
            <a:r>
              <a:rPr lang="en-US" sz="1800" dirty="0">
                <a:solidFill>
                  <a:schemeClr val="bg1"/>
                </a:solidFill>
              </a:rPr>
              <a:t> – 1ns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</a:rPr>
              <a:t>L2 cache </a:t>
            </a:r>
            <a:r>
              <a:rPr lang="en-US" sz="1800" dirty="0">
                <a:solidFill>
                  <a:schemeClr val="bg1"/>
                </a:solidFill>
              </a:rPr>
              <a:t>- </a:t>
            </a:r>
            <a:r>
              <a:rPr lang="en-US" sz="1800" dirty="0" err="1">
                <a:solidFill>
                  <a:schemeClr val="bg1"/>
                </a:solidFill>
              </a:rPr>
              <a:t>malo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veća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malo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dalja</a:t>
            </a:r>
            <a:r>
              <a:rPr lang="en-US" sz="1800" dirty="0">
                <a:solidFill>
                  <a:schemeClr val="bg1"/>
                </a:solidFill>
              </a:rPr>
              <a:t>. 12 </a:t>
            </a:r>
            <a:r>
              <a:rPr lang="en-US" sz="1800" dirty="0" err="1">
                <a:solidFill>
                  <a:schemeClr val="bg1"/>
                </a:solidFill>
              </a:rPr>
              <a:t>ciklusa</a:t>
            </a:r>
            <a:r>
              <a:rPr lang="en-US" sz="1800" dirty="0">
                <a:solidFill>
                  <a:schemeClr val="bg1"/>
                </a:solidFill>
              </a:rPr>
              <a:t> – 3ns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</a:rPr>
              <a:t>L3 </a:t>
            </a:r>
            <a:r>
              <a:rPr lang="hr-HR" sz="1800" b="1" dirty="0" err="1">
                <a:solidFill>
                  <a:schemeClr val="bg1"/>
                </a:solidFill>
              </a:rPr>
              <a:t>cache</a:t>
            </a:r>
            <a:r>
              <a:rPr lang="hr-HR" sz="1800" b="1" dirty="0">
                <a:solidFill>
                  <a:schemeClr val="bg1"/>
                </a:solidFill>
              </a:rPr>
              <a:t> </a:t>
            </a:r>
            <a:r>
              <a:rPr lang="hr-HR" sz="1800" dirty="0">
                <a:solidFill>
                  <a:schemeClr val="bg1"/>
                </a:solidFill>
              </a:rPr>
              <a:t>- još veća, dijeljena među jezgrama. 38 ciklusa </a:t>
            </a:r>
            <a:r>
              <a:rPr lang="en-US" sz="1800" dirty="0">
                <a:solidFill>
                  <a:schemeClr val="bg1"/>
                </a:solidFill>
              </a:rPr>
              <a:t>– </a:t>
            </a:r>
            <a:r>
              <a:rPr lang="hr-HR" sz="1800" dirty="0">
                <a:solidFill>
                  <a:schemeClr val="bg1"/>
                </a:solidFill>
              </a:rPr>
              <a:t>10 </a:t>
            </a:r>
            <a:r>
              <a:rPr lang="hr-HR" sz="1800" dirty="0" err="1">
                <a:solidFill>
                  <a:schemeClr val="bg1"/>
                </a:solidFill>
              </a:rPr>
              <a:t>ns</a:t>
            </a:r>
            <a:endParaRPr lang="hr-HR" sz="1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dirty="0">
                <a:solidFill>
                  <a:schemeClr val="bg1"/>
                </a:solidFill>
              </a:rPr>
              <a:t>DRAM - glavna memorija. Gigabajti podataka.</a:t>
            </a:r>
            <a:r>
              <a:rPr lang="en-US" sz="1800" b="1" dirty="0"/>
              <a:t> </a:t>
            </a:r>
            <a:r>
              <a:rPr lang="en-US" sz="1800" b="1" dirty="0">
                <a:solidFill>
                  <a:schemeClr val="bg1"/>
                </a:solidFill>
              </a:rPr>
              <a:t>248 </a:t>
            </a:r>
            <a:r>
              <a:rPr lang="en-US" sz="1800" b="1" dirty="0" err="1">
                <a:solidFill>
                  <a:schemeClr val="bg1"/>
                </a:solidFill>
              </a:rPr>
              <a:t>ciklusa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dirty="0">
                <a:solidFill>
                  <a:schemeClr val="bg1"/>
                </a:solidFill>
              </a:rPr>
              <a:t>– 62 ns</a:t>
            </a:r>
            <a:endParaRPr lang="hr-HR" sz="18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6E4978-EC86-8BA8-69F7-5CF359329FBB}"/>
              </a:ext>
            </a:extLst>
          </p:cNvPr>
          <p:cNvSpPr txBox="1"/>
          <p:nvPr/>
        </p:nvSpPr>
        <p:spPr>
          <a:xfrm>
            <a:off x="4817327" y="5386039"/>
            <a:ext cx="4047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DRAM je </a:t>
            </a:r>
            <a:r>
              <a:rPr lang="en-US" sz="1600" b="1" dirty="0">
                <a:solidFill>
                  <a:srgbClr val="FF0000"/>
                </a:solidFill>
              </a:rPr>
              <a:t>62 puta </a:t>
            </a:r>
            <a:r>
              <a:rPr lang="en-US" sz="1600" b="1" dirty="0" err="1">
                <a:solidFill>
                  <a:srgbClr val="FF0000"/>
                </a:solidFill>
              </a:rPr>
              <a:t>sporiji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>
                <a:solidFill>
                  <a:schemeClr val="bg1"/>
                </a:solidFill>
              </a:rPr>
              <a:t>od L1 cache-a!</a:t>
            </a:r>
            <a:endParaRPr lang="hr-HR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80061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0A1677E5-B62D-33F8-5C74-B74B17D81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7A2B8704-AC21-1CF0-1858-C286D43BCA38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CACHE LINE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1A31EC-5EE7-FFBC-3856-8454DB867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320" y="1567985"/>
            <a:ext cx="7112000" cy="1625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9A0B8B-A93A-D654-573C-3859541C7A13}"/>
              </a:ext>
            </a:extLst>
          </p:cNvPr>
          <p:cNvSpPr txBox="1"/>
          <p:nvPr/>
        </p:nvSpPr>
        <p:spPr>
          <a:xfrm>
            <a:off x="1165320" y="3891775"/>
            <a:ext cx="64107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dirty="0" err="1">
                <a:solidFill>
                  <a:schemeClr val="bg1"/>
                </a:solidFill>
              </a:rPr>
              <a:t>Cache</a:t>
            </a:r>
            <a:r>
              <a:rPr lang="hr-HR" sz="1800" dirty="0">
                <a:solidFill>
                  <a:schemeClr val="bg1"/>
                </a:solidFill>
              </a:rPr>
              <a:t> line obično ima 64 </a:t>
            </a:r>
            <a:r>
              <a:rPr lang="hr-HR" sz="1800" dirty="0" err="1">
                <a:solidFill>
                  <a:schemeClr val="bg1"/>
                </a:solidFill>
              </a:rPr>
              <a:t>byte</a:t>
            </a:r>
            <a:r>
              <a:rPr lang="hr-HR" sz="1800" dirty="0">
                <a:solidFill>
                  <a:schemeClr val="bg1"/>
                </a:solidFill>
              </a:rPr>
              <a:t>-a (16 elemenata </a:t>
            </a:r>
            <a:r>
              <a:rPr lang="hr-HR" sz="1800" dirty="0" err="1">
                <a:solidFill>
                  <a:schemeClr val="bg1"/>
                </a:solidFill>
              </a:rPr>
              <a:t>int</a:t>
            </a:r>
            <a:r>
              <a:rPr lang="hr-HR" sz="1800" dirty="0">
                <a:solidFill>
                  <a:schemeClr val="bg1"/>
                </a:solidFill>
              </a:rPr>
              <a:t> ili </a:t>
            </a:r>
            <a:r>
              <a:rPr lang="hr-HR" sz="1800" dirty="0" err="1">
                <a:solidFill>
                  <a:schemeClr val="bg1"/>
                </a:solidFill>
              </a:rPr>
              <a:t>float</a:t>
            </a:r>
            <a:r>
              <a:rPr lang="hr-HR" sz="1800" dirty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dirty="0" err="1">
                <a:solidFill>
                  <a:schemeClr val="bg1"/>
                </a:solidFill>
              </a:rPr>
              <a:t>Cache</a:t>
            </a:r>
            <a:r>
              <a:rPr lang="hr-HR" sz="1800" dirty="0">
                <a:solidFill>
                  <a:schemeClr val="bg1"/>
                </a:solidFill>
              </a:rPr>
              <a:t> ne radi s pojedinačnim bajtovima!</a:t>
            </a:r>
            <a:br>
              <a:rPr lang="hr-HR" sz="1800" dirty="0">
                <a:solidFill>
                  <a:schemeClr val="bg1"/>
                </a:solidFill>
              </a:rPr>
            </a:br>
            <a:r>
              <a:rPr lang="hr-HR" sz="1800" dirty="0">
                <a:solidFill>
                  <a:schemeClr val="bg1"/>
                </a:solidFill>
              </a:rPr>
              <a:t>Radi s blokovima (</a:t>
            </a:r>
            <a:r>
              <a:rPr lang="hr-HR" sz="1800" dirty="0" err="1">
                <a:solidFill>
                  <a:schemeClr val="bg1"/>
                </a:solidFill>
              </a:rPr>
              <a:t>cache</a:t>
            </a:r>
            <a:r>
              <a:rPr lang="hr-HR" sz="1800" dirty="0">
                <a:solidFill>
                  <a:schemeClr val="bg1"/>
                </a:solidFill>
              </a:rPr>
              <a:t> </a:t>
            </a:r>
            <a:r>
              <a:rPr lang="hr-HR" sz="1800" dirty="0" err="1">
                <a:solidFill>
                  <a:schemeClr val="bg1"/>
                </a:solidFill>
              </a:rPr>
              <a:t>lines</a:t>
            </a:r>
            <a:r>
              <a:rPr lang="hr-HR" sz="1800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672932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964787A7-C2EB-524B-B890-D8FE4330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92E06665-5094-7F0A-314F-E77B75C0A8D1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CACHE LOCALITY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075CDA-7B58-0AB3-F98C-EC4D8B7E9DF2}"/>
              </a:ext>
            </a:extLst>
          </p:cNvPr>
          <p:cNvSpPr txBox="1"/>
          <p:nvPr/>
        </p:nvSpPr>
        <p:spPr>
          <a:xfrm>
            <a:off x="1165320" y="1418921"/>
            <a:ext cx="4769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dirty="0">
                <a:solidFill>
                  <a:schemeClr val="bg1"/>
                </a:solidFill>
              </a:rPr>
              <a:t>SPATIAL LOCALITY (prostorna </a:t>
            </a:r>
            <a:r>
              <a:rPr lang="hr-HR" sz="1800" dirty="0" err="1">
                <a:solidFill>
                  <a:schemeClr val="bg1"/>
                </a:solidFill>
              </a:rPr>
              <a:t>lokalnost</a:t>
            </a:r>
            <a:r>
              <a:rPr lang="hr-HR" sz="18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DBCF4B-44D8-BCE9-A087-2603DBAECB46}"/>
              </a:ext>
            </a:extLst>
          </p:cNvPr>
          <p:cNvSpPr txBox="1"/>
          <p:nvPr/>
        </p:nvSpPr>
        <p:spPr>
          <a:xfrm>
            <a:off x="1165320" y="1933172"/>
            <a:ext cx="44827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N;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  <a:b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sum += array[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  <a:b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array[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 array[i+1], array[i+2]...</a:t>
            </a:r>
            <a:b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Sekvencijalno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u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memoriji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!</a:t>
            </a:r>
            <a:endParaRPr lang="hr-HR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B1CDCE-CE22-2EA1-4CD7-9E59FDF9C56A}"/>
              </a:ext>
            </a:extLst>
          </p:cNvPr>
          <p:cNvSpPr txBox="1"/>
          <p:nvPr/>
        </p:nvSpPr>
        <p:spPr>
          <a:xfrm>
            <a:off x="6116099" y="2035794"/>
            <a:ext cx="26822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Ako </a:t>
            </a:r>
            <a:r>
              <a:rPr lang="en-US" sz="1800" dirty="0" err="1">
                <a:solidFill>
                  <a:schemeClr val="bg1"/>
                </a:solidFill>
              </a:rPr>
              <a:t>pristupate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adresi</a:t>
            </a:r>
            <a:r>
              <a:rPr lang="en-US" sz="1800" dirty="0">
                <a:solidFill>
                  <a:schemeClr val="bg1"/>
                </a:solidFill>
              </a:rPr>
              <a:t> X, </a:t>
            </a:r>
            <a:r>
              <a:rPr lang="en-US" sz="1800" dirty="0" err="1">
                <a:solidFill>
                  <a:schemeClr val="bg1"/>
                </a:solidFill>
              </a:rPr>
              <a:t>vjerojatno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ćete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uskoro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pristupiti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i</a:t>
            </a:r>
            <a:r>
              <a:rPr lang="en-US" sz="1800" dirty="0">
                <a:solidFill>
                  <a:schemeClr val="bg1"/>
                </a:solidFill>
              </a:rPr>
              <a:t> X+1, X+2...</a:t>
            </a:r>
            <a:endParaRPr lang="hr-HR" sz="1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4D4FD9-993D-A3B2-EDB6-EC3EB7A16335}"/>
              </a:ext>
            </a:extLst>
          </p:cNvPr>
          <p:cNvSpPr txBox="1"/>
          <p:nvPr/>
        </p:nvSpPr>
        <p:spPr>
          <a:xfrm>
            <a:off x="1165320" y="4058589"/>
            <a:ext cx="5243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dirty="0">
                <a:solidFill>
                  <a:schemeClr val="bg1"/>
                </a:solidFill>
              </a:rPr>
              <a:t>TEMPORAL LOCALITY (vremenska </a:t>
            </a:r>
            <a:r>
              <a:rPr lang="hr-HR" sz="1800" dirty="0" err="1">
                <a:solidFill>
                  <a:schemeClr val="bg1"/>
                </a:solidFill>
              </a:rPr>
              <a:t>lokalnost</a:t>
            </a:r>
            <a:r>
              <a:rPr lang="hr-HR" sz="18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8F805D-064C-75EB-5CBE-4A710910415E}"/>
              </a:ext>
            </a:extLst>
          </p:cNvPr>
          <p:cNvSpPr txBox="1"/>
          <p:nvPr/>
        </p:nvSpPr>
        <p:spPr>
          <a:xfrm>
            <a:off x="1165320" y="4781663"/>
            <a:ext cx="545854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counter = 0;</a:t>
            </a:r>
            <a:b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N;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  <a:b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counter++; //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isti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podatak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svaku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iteraciju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!</a:t>
            </a:r>
            <a:b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counter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ostaje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u cache-u</a:t>
            </a:r>
            <a:endParaRPr lang="hr-HR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1460B3-3309-4563-F6F2-DA60CB98BC4D}"/>
              </a:ext>
            </a:extLst>
          </p:cNvPr>
          <p:cNvSpPr txBox="1"/>
          <p:nvPr/>
        </p:nvSpPr>
        <p:spPr>
          <a:xfrm>
            <a:off x="6757640" y="4873995"/>
            <a:ext cx="2386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Ako </a:t>
            </a:r>
            <a:r>
              <a:rPr lang="en-US" sz="1800" dirty="0" err="1">
                <a:solidFill>
                  <a:schemeClr val="bg1"/>
                </a:solidFill>
              </a:rPr>
              <a:t>pristupate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podatku</a:t>
            </a:r>
            <a:r>
              <a:rPr lang="en-US" sz="1800" dirty="0">
                <a:solidFill>
                  <a:schemeClr val="bg1"/>
                </a:solidFill>
              </a:rPr>
              <a:t> </a:t>
            </a:r>
            <a:r>
              <a:rPr lang="en-US" sz="1800" b="1" dirty="0" err="1">
                <a:solidFill>
                  <a:schemeClr val="bg1"/>
                </a:solidFill>
              </a:rPr>
              <a:t>sada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vjerojatno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ćete</a:t>
            </a:r>
            <a:r>
              <a:rPr lang="en-US" sz="1800" dirty="0">
                <a:solidFill>
                  <a:schemeClr val="bg1"/>
                </a:solidFill>
              </a:rPr>
              <a:t> mu </a:t>
            </a:r>
            <a:r>
              <a:rPr lang="en-US" sz="1800" dirty="0" err="1">
                <a:solidFill>
                  <a:schemeClr val="bg1"/>
                </a:solidFill>
              </a:rPr>
              <a:t>pristupiti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opet</a:t>
            </a:r>
            <a:r>
              <a:rPr lang="en-US" sz="1800" dirty="0">
                <a:solidFill>
                  <a:schemeClr val="bg1"/>
                </a:solidFill>
              </a:rPr>
              <a:t> </a:t>
            </a:r>
            <a:r>
              <a:rPr lang="en-US" sz="1800" b="1" dirty="0" err="1">
                <a:solidFill>
                  <a:schemeClr val="bg1"/>
                </a:solidFill>
              </a:rPr>
              <a:t>uskoro</a:t>
            </a:r>
            <a:endParaRPr lang="hr-HR" sz="1800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F3FE203-88B8-9E60-D82C-5A56624F3E50}"/>
              </a:ext>
            </a:extLst>
          </p:cNvPr>
          <p:cNvCxnSpPr>
            <a:cxnSpLocks/>
          </p:cNvCxnSpPr>
          <p:nvPr/>
        </p:nvCxnSpPr>
        <p:spPr>
          <a:xfrm>
            <a:off x="914401" y="3679903"/>
            <a:ext cx="8106936" cy="0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4521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D43AB98D-6EE0-A48B-D13D-747F490B2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97ABC3FC-2EA8-9294-DD67-5869EE49993D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CACHE: Dobar vs Loš kod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AFC705-567B-C3A3-5A8F-DB23E63E545B}"/>
              </a:ext>
            </a:extLst>
          </p:cNvPr>
          <p:cNvSpPr txBox="1"/>
          <p:nvPr/>
        </p:nvSpPr>
        <p:spPr>
          <a:xfrm>
            <a:off x="1064959" y="1363986"/>
            <a:ext cx="33174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hr-HR" sz="2200" dirty="0">
                <a:solidFill>
                  <a:srgbClr val="92D050"/>
                </a:solidFill>
              </a:rPr>
              <a:t>✓ Sekvencijalan pristup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E81EFB-5B96-A31C-490E-A2770E264FB5}"/>
              </a:ext>
            </a:extLst>
          </p:cNvPr>
          <p:cNvSpPr txBox="1"/>
          <p:nvPr/>
        </p:nvSpPr>
        <p:spPr>
          <a:xfrm>
            <a:off x="1064959" y="1949695"/>
            <a:ext cx="38527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N;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  <a:b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sum += array[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  <a:b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Pristupa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uzastopnim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elementima</a:t>
            </a:r>
            <a:endParaRPr lang="hr-HR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6CD444-89BC-6349-965B-86BA8358AADC}"/>
              </a:ext>
            </a:extLst>
          </p:cNvPr>
          <p:cNvSpPr txBox="1"/>
          <p:nvPr/>
        </p:nvSpPr>
        <p:spPr>
          <a:xfrm>
            <a:off x="1064959" y="4235253"/>
            <a:ext cx="75729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US" sz="1800" b="1" dirty="0" err="1">
                <a:solidFill>
                  <a:schemeClr val="bg1"/>
                </a:solidFill>
              </a:rPr>
              <a:t>Razlika</a:t>
            </a:r>
            <a:r>
              <a:rPr lang="en-US" sz="1800" b="1" dirty="0">
                <a:solidFill>
                  <a:schemeClr val="bg1"/>
                </a:solidFill>
              </a:rPr>
              <a:t> u </a:t>
            </a:r>
            <a:r>
              <a:rPr lang="en-US" sz="1800" b="1" dirty="0" err="1">
                <a:solidFill>
                  <a:schemeClr val="bg1"/>
                </a:solidFill>
              </a:rPr>
              <a:t>performansama</a:t>
            </a:r>
            <a:r>
              <a:rPr lang="en-US" sz="1800" b="1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</a:rPr>
              <a:t>10-50× </a:t>
            </a:r>
            <a:r>
              <a:rPr lang="en-US" sz="1800" b="1" dirty="0" err="1">
                <a:solidFill>
                  <a:schemeClr val="bg1"/>
                </a:solidFill>
              </a:rPr>
              <a:t>brže</a:t>
            </a:r>
            <a:r>
              <a:rPr lang="en-US" sz="1800" dirty="0">
                <a:solidFill>
                  <a:schemeClr val="bg1"/>
                </a:solidFill>
              </a:rPr>
              <a:t> za </a:t>
            </a:r>
            <a:r>
              <a:rPr lang="en-US" sz="1800" dirty="0" err="1">
                <a:solidFill>
                  <a:schemeClr val="bg1"/>
                </a:solidFill>
              </a:rPr>
              <a:t>sekvencijalni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pristup</a:t>
            </a:r>
            <a:r>
              <a:rPr lang="en-US" sz="1800" dirty="0">
                <a:solidFill>
                  <a:schemeClr val="bg1"/>
                </a:solidFill>
              </a:rPr>
              <a:t>!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Isti </a:t>
            </a:r>
            <a:r>
              <a:rPr lang="en-US" sz="1800" dirty="0" err="1">
                <a:solidFill>
                  <a:schemeClr val="bg1"/>
                </a:solidFill>
              </a:rPr>
              <a:t>algoritam</a:t>
            </a:r>
            <a:r>
              <a:rPr lang="en-US" sz="1800" dirty="0">
                <a:solidFill>
                  <a:schemeClr val="bg1"/>
                </a:solidFill>
              </a:rPr>
              <a:t>. Isti </a:t>
            </a:r>
            <a:r>
              <a:rPr lang="en-US" sz="1800" dirty="0" err="1">
                <a:solidFill>
                  <a:schemeClr val="bg1"/>
                </a:solidFill>
              </a:rPr>
              <a:t>procesor</a:t>
            </a:r>
            <a:r>
              <a:rPr lang="en-US" sz="1800" dirty="0">
                <a:solidFill>
                  <a:schemeClr val="bg1"/>
                </a:solidFill>
              </a:rPr>
              <a:t>. </a:t>
            </a:r>
            <a:r>
              <a:rPr lang="en-US" sz="1800" dirty="0">
                <a:solidFill>
                  <a:schemeClr val="bg1"/>
                </a:solidFill>
                <a:sym typeface="Wingdings" pitchFamily="2" charset="2"/>
              </a:rPr>
              <a:t> </a:t>
            </a:r>
            <a:r>
              <a:rPr lang="en-US" sz="1800" dirty="0">
                <a:solidFill>
                  <a:schemeClr val="bg1"/>
                </a:solidFill>
              </a:rPr>
              <a:t>Samo </a:t>
            </a:r>
            <a:r>
              <a:rPr lang="en-US" sz="1800" dirty="0" err="1">
                <a:solidFill>
                  <a:schemeClr val="bg1"/>
                </a:solidFill>
              </a:rPr>
              <a:t>različit</a:t>
            </a:r>
            <a:r>
              <a:rPr lang="en-US" sz="1800" dirty="0">
                <a:solidFill>
                  <a:schemeClr val="bg1"/>
                </a:solidFill>
              </a:rPr>
              <a:t> pattern </a:t>
            </a:r>
            <a:r>
              <a:rPr lang="en-US" sz="1800" dirty="0" err="1">
                <a:solidFill>
                  <a:schemeClr val="bg1"/>
                </a:solidFill>
              </a:rPr>
              <a:t>pristupa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memoriji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F492D9-F945-AC36-CD4E-35F1938B25D4}"/>
              </a:ext>
            </a:extLst>
          </p:cNvPr>
          <p:cNvSpPr txBox="1"/>
          <p:nvPr/>
        </p:nvSpPr>
        <p:spPr>
          <a:xfrm>
            <a:off x="5648110" y="1364473"/>
            <a:ext cx="33174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US" sz="2200" dirty="0">
                <a:solidFill>
                  <a:srgbClr val="FF0000"/>
                </a:solidFill>
              </a:rPr>
              <a:t>✗ Random </a:t>
            </a:r>
            <a:r>
              <a:rPr lang="en-US" sz="2200" dirty="0" err="1">
                <a:solidFill>
                  <a:srgbClr val="FF0000"/>
                </a:solidFill>
              </a:rPr>
              <a:t>pristup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FAD4D9-1D8F-2BD7-E6FE-1851D25B33FC}"/>
              </a:ext>
            </a:extLst>
          </p:cNvPr>
          <p:cNvSpPr txBox="1"/>
          <p:nvPr/>
        </p:nvSpPr>
        <p:spPr>
          <a:xfrm>
            <a:off x="5575627" y="1949694"/>
            <a:ext cx="34624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 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N;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  <a:b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sum += array[random()];</a:t>
            </a:r>
            <a:b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Pristupa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random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elementima</a:t>
            </a:r>
            <a:endParaRPr lang="hr-HR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E3088A9-9834-790D-D560-5D2F84C51E0E}"/>
              </a:ext>
            </a:extLst>
          </p:cNvPr>
          <p:cNvCxnSpPr>
            <a:cxnSpLocks/>
          </p:cNvCxnSpPr>
          <p:nvPr/>
        </p:nvCxnSpPr>
        <p:spPr>
          <a:xfrm>
            <a:off x="5151864" y="1366024"/>
            <a:ext cx="0" cy="2062976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80190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18FA5099-631A-68DD-9F62-4143CFC28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1">
            <a:extLst>
              <a:ext uri="{FF2B5EF4-FFF2-40B4-BE49-F238E27FC236}">
                <a16:creationId xmlns:a16="http://schemas.microsoft.com/office/drawing/2014/main" id="{B01AD7A3-AEED-5063-982A-D698EF637E4C}"/>
              </a:ext>
            </a:extLst>
          </p:cNvPr>
          <p:cNvSpPr txBox="1"/>
          <p:nvPr/>
        </p:nvSpPr>
        <p:spPr>
          <a:xfrm>
            <a:off x="1530000" y="3074220"/>
            <a:ext cx="6766920" cy="70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dirty="0">
                <a:solidFill>
                  <a:srgbClr val="39C0BA"/>
                </a:solidFill>
                <a:latin typeface="Quicksand"/>
                <a:sym typeface="Quicksand"/>
              </a:rPr>
              <a:t>Memorijske arhitekture</a:t>
            </a:r>
            <a:endParaRPr sz="3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1">
            <a:extLst>
              <a:ext uri="{FF2B5EF4-FFF2-40B4-BE49-F238E27FC236}">
                <a16:creationId xmlns:a16="http://schemas.microsoft.com/office/drawing/2014/main" id="{FC9A408E-DDBB-7CBE-62C8-EDE772A8829E}"/>
              </a:ext>
            </a:extLst>
          </p:cNvPr>
          <p:cNvSpPr/>
          <p:nvPr/>
        </p:nvSpPr>
        <p:spPr>
          <a:xfrm>
            <a:off x="502560" y="3039840"/>
            <a:ext cx="802080" cy="78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dirty="0">
                <a:latin typeface="Cambria"/>
                <a:ea typeface="Cambria"/>
                <a:cs typeface="Cambria"/>
                <a:sym typeface="Cambria"/>
              </a:rPr>
              <a:t>5</a:t>
            </a:r>
            <a:endParaRPr sz="30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2807824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3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Memorijske arhitekture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53"/>
          <p:cNvSpPr/>
          <p:nvPr/>
        </p:nvSpPr>
        <p:spPr>
          <a:xfrm>
            <a:off x="1038600" y="1368000"/>
            <a:ext cx="730044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Dijeljena memorija (</a:t>
            </a:r>
            <a:r>
              <a:rPr lang="hr-HR" sz="24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shared</a:t>
            </a: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hr-HR" sz="24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memory</a:t>
            </a: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  <a:endParaRPr sz="24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648000" marR="0" lvl="2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Procesori izvršavaju neovisne sljedove operacija, ali dijele isti memorijski prostor</a:t>
            </a: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  <a:p>
            <a:pPr marL="648000" marR="0" lvl="2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sng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Bus-</a:t>
            </a:r>
            <a:r>
              <a:rPr lang="hr-HR" sz="1800" b="1" i="0" u="sng" strike="noStrike" cap="none" dirty="0" err="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based</a:t>
            </a:r>
            <a:r>
              <a:rPr lang="hr-HR" sz="1800" b="1" i="0" u="sng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:</a:t>
            </a:r>
            <a:r>
              <a:rPr lang="hr-HR" sz="18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 svi procesori dijele istu sabirnicu</a:t>
            </a: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  <a:p>
            <a:pPr marL="648000" marR="0" lvl="2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sng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hijerarhijska struktura memorije</a:t>
            </a:r>
            <a:r>
              <a:rPr lang="hr-HR" sz="18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 (</a:t>
            </a:r>
            <a:r>
              <a:rPr lang="hr-HR" sz="1800" b="1" i="0" u="none" strike="noStrike" cap="none" dirty="0" err="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fat-tree</a:t>
            </a:r>
            <a:r>
              <a:rPr lang="hr-HR" sz="18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 arhitektura)</a:t>
            </a: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0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Jednostavna arhitektura (s aspekta programera)</a:t>
            </a: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Jednostavnija izrada (ili prilagodba) algoritma paralelnom izvršavanju</a:t>
            </a: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Jednostavniji pristup memoriji</a:t>
            </a: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Nema razmjene podataka</a:t>
            </a:r>
            <a:br>
              <a:rPr lang="hr-HR" sz="1800" b="0" i="0" u="none" strike="noStrike" cap="none" dirty="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među procesima</a:t>
            </a: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18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139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</a:pPr>
            <a:endParaRPr sz="18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1902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None/>
            </a:pP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64" name="Google Shape;264;p53"/>
          <p:cNvSpPr txBox="1"/>
          <p:nvPr/>
        </p:nvSpPr>
        <p:spPr>
          <a:xfrm>
            <a:off x="5040000" y="6264000"/>
            <a:ext cx="4104000" cy="43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400" b="0" i="1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https://en.wikipedia.org/wiki/Fat_tree</a:t>
            </a:r>
            <a:endParaRPr sz="1400" b="0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65" name="Google Shape;265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36480" y="3960000"/>
            <a:ext cx="3935520" cy="2361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54875" y="3801725"/>
            <a:ext cx="4589126" cy="2902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54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</a:t>
            </a: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emorijske</a:t>
            </a: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arhitekture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54"/>
          <p:cNvSpPr/>
          <p:nvPr/>
        </p:nvSpPr>
        <p:spPr>
          <a:xfrm>
            <a:off x="1038600" y="1224000"/>
            <a:ext cx="7745400" cy="3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Non-uniform Memory Access – NUMA</a:t>
            </a: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Dijeljena memorija, svi procesori mogu pristupiti cijelom adresnom prostoru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Brzina pristupa ovisi o relativnoj lokaciji memorije za koju je zatražen pristup u odnosu na procesor koji traži pristup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Složeno (i skupo) za implementaciju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000" b="1" u="sng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Cache coherent NUMA: v</a:t>
            </a:r>
            <a:r>
              <a:rPr lang="hr-HR" sz="2000" b="1" u="sng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ećina modernih procesora zasniva se na </a:t>
            </a:r>
            <a:r>
              <a:rPr lang="hr-HR" sz="2000" b="1" u="sng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cc</a:t>
            </a:r>
            <a:r>
              <a:rPr lang="hr-HR" sz="2000" b="1" u="sng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NUMA arhitekturi</a:t>
            </a:r>
            <a:br>
              <a:rPr lang="hr-HR" sz="2000" b="1" u="sng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</a:br>
            <a:br>
              <a:rPr lang="hr-HR" sz="2000" b="1" u="sng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lang="hr-HR" sz="20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Non</a:t>
            </a:r>
            <a:r>
              <a:rPr lang="hr-HR" sz="2000" b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-</a:t>
            </a:r>
            <a:r>
              <a:rPr lang="hr-HR" sz="20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cache-coherentNUMA:</a:t>
            </a:r>
            <a:endParaRPr sz="2000" b="1" strike="noStrike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icksand"/>
              <a:buChar char="●"/>
            </a:pPr>
            <a:r>
              <a:rPr lang="hr-HR" sz="1800" b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Jednostavniji za</a:t>
            </a:r>
            <a:br>
              <a:rPr lang="hr-HR" sz="1800" b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lang="hr-HR" sz="1800" b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projektiranje i izgradnju</a:t>
            </a:r>
            <a:endParaRPr sz="1800"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icksand"/>
              <a:buChar char="●"/>
            </a:pPr>
            <a:r>
              <a:rPr lang="hr-HR" sz="1800" b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složeni za programiranje</a:t>
            </a:r>
            <a:endParaRPr sz="1800"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18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32000" marR="0" lvl="1" indent="-15885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None/>
            </a:pP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5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</a:t>
            </a:r>
            <a:r>
              <a:rPr lang="hr-HR" sz="2400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emorijske</a:t>
            </a:r>
            <a:r>
              <a:rPr lang="hr-HR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arhitekture - izazovi</a:t>
            </a:r>
            <a:endParaRPr sz="24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5"/>
          <p:cNvSpPr/>
          <p:nvPr/>
        </p:nvSpPr>
        <p:spPr>
          <a:xfrm>
            <a:off x="1038600" y="1224000"/>
            <a:ext cx="7745400" cy="3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Dijeljena memorija</a:t>
            </a:r>
            <a:endParaRPr sz="24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Zadaća programera je da sin</a:t>
            </a:r>
            <a:r>
              <a:rPr lang="hr-HR" sz="1800" b="1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k</a:t>
            </a:r>
            <a:r>
              <a:rPr lang="hr-HR" sz="18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ronizira pristup memoriji</a:t>
            </a: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Problem zagušenja: više procesora dijeli istu sabirnicu</a:t>
            </a: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Degradacija vremena pristupa: ukoliko više procesora pokuša istovremeno pristupiti istoj memorijskoj lokaciji (istom bloku – lažno dijeljenje), dolazi do sukoba koji uzrokuje kašnjenje </a:t>
            </a: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4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Cache</a:t>
            </a: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: </a:t>
            </a:r>
            <a:r>
              <a:rPr lang="hr-HR" sz="1400" b="0" strike="noStrike" dirty="0">
                <a:latin typeface="Cambria"/>
                <a:ea typeface="Cambria"/>
                <a:cs typeface="Cambria"/>
                <a:sym typeface="Cambria"/>
              </a:rPr>
              <a:t>	 </a:t>
            </a:r>
            <a:endParaRPr sz="14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Procesori za efikasniji pristup memoriji koriste lokalnu kopiju podataka u brzoj memoriji (</a:t>
            </a:r>
            <a:r>
              <a:rPr lang="hr-HR" sz="1800" b="1" i="0" u="none" strike="noStrike" cap="none" dirty="0" err="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predmemorija</a:t>
            </a:r>
            <a:r>
              <a:rPr lang="hr-HR" sz="18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, </a:t>
            </a:r>
            <a:r>
              <a:rPr lang="hr-HR" sz="1800" b="1" i="0" u="none" strike="noStrike" cap="none" dirty="0" err="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cache</a:t>
            </a:r>
            <a:r>
              <a:rPr lang="hr-HR" sz="18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Problem koherentnosti podataka: svaka promjena podataka u </a:t>
            </a:r>
            <a:r>
              <a:rPr lang="hr-HR" sz="1800" b="1" i="0" u="none" strike="noStrike" cap="none" dirty="0" err="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predmemoriji</a:t>
            </a:r>
            <a:r>
              <a:rPr lang="hr-HR" sz="18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 mora se reflektirati i na sve ostale kopije istog bloka podataka, u suprotnom različiti procesori počinju raditi s nekoherentnim podacima </a:t>
            </a: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18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164565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None/>
            </a:pP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18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18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1800" b="0" strike="noStrike"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6"/>
          <p:cNvSpPr txBox="1"/>
          <p:nvPr/>
        </p:nvSpPr>
        <p:spPr>
          <a:xfrm>
            <a:off x="1165320" y="704520"/>
            <a:ext cx="6857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Symmetric Multiprocessing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56"/>
          <p:cNvSpPr/>
          <p:nvPr/>
        </p:nvSpPr>
        <p:spPr>
          <a:xfrm>
            <a:off x="1038600" y="1224000"/>
            <a:ext cx="7745400" cy="3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Shared Memory Multiprocessing</a:t>
            </a:r>
            <a:endParaRPr sz="1800" b="1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Char char="●"/>
            </a:pPr>
            <a:r>
              <a:rPr lang="hr-HR" sz="1800" b="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Vi</a:t>
            </a:r>
            <a:r>
              <a:rPr lang="hr-HR" sz="1800" b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šeprocesorska računalna hardverska i softverska arhitektura gdje su dva ili više identičnih procesora spojena na zajedničku glavnu memoriju</a:t>
            </a:r>
            <a:endParaRPr sz="1800"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icksand"/>
              <a:buChar char="●"/>
            </a:pPr>
            <a:r>
              <a:rPr lang="hr-HR" sz="1800" b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Bez procesora posebne namjene</a:t>
            </a:r>
            <a:endParaRPr sz="1800"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31999" marR="0" lvl="1" indent="-278864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Char char="●"/>
            </a:pPr>
            <a:r>
              <a:rPr lang="hr-HR" sz="1800" b="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Dijele pristup svim ulazno/izlaznim uređajima</a:t>
            </a:r>
            <a:endParaRPr sz="1800" b="1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31999" marR="0" lvl="1" indent="-278864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Char char="●"/>
            </a:pPr>
            <a:r>
              <a:rPr lang="hr-HR" sz="1800" b="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Zajednički operativni sistem (prilagođen arhitekturi)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000" b="1" u="sng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Većina višeprocesorskih/višejezgrenih računala bazira se na SMP arhitekturi</a:t>
            </a:r>
            <a:endParaRPr sz="2000" b="1" u="sng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●"/>
            </a:pPr>
            <a:r>
              <a:rPr lang="hr-HR" sz="1800" b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Istovremeno izvršavanje više</a:t>
            </a:r>
            <a:br>
              <a:rPr lang="hr-HR" sz="1800" b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lang="hr-HR" sz="1800" b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programa</a:t>
            </a:r>
            <a:endParaRPr sz="1800"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●"/>
            </a:pPr>
            <a:r>
              <a:rPr lang="hr-HR" sz="1800" b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Kod izvršavanja na SMP sustavima</a:t>
            </a:r>
            <a:br>
              <a:rPr lang="hr-HR" sz="1800" b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lang="hr-HR" sz="1800" b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poboljšanje performansi čak i za </a:t>
            </a:r>
            <a:br>
              <a:rPr lang="hr-HR" sz="1800" b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lang="hr-HR" sz="1800" b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programe (algoritme) dizajnirane</a:t>
            </a:r>
            <a:br>
              <a:rPr lang="hr-HR" sz="1800" b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lang="hr-HR" sz="1800" b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za jednoprocesorske sustave</a:t>
            </a:r>
            <a:br>
              <a:rPr lang="hr-HR" sz="2000" b="1" u="sng" strike="noStrike">
                <a:solidFill>
                  <a:srgbClr val="39C0BA"/>
                </a:solidFill>
                <a:highlight>
                  <a:schemeClr val="dk1"/>
                </a:highlight>
                <a:latin typeface="Quicksand"/>
                <a:ea typeface="Quicksand"/>
                <a:cs typeface="Quicksand"/>
                <a:sym typeface="Quicksand"/>
              </a:rPr>
            </a:br>
            <a:br>
              <a:rPr lang="hr-HR" sz="2000" b="1" u="sng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</a:br>
            <a:endParaRPr sz="1800"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31999" marR="0" lvl="1" indent="-15884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None/>
            </a:pP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85" name="Google Shape;28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2200" y="4128650"/>
            <a:ext cx="3321050" cy="21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56"/>
          <p:cNvSpPr txBox="1"/>
          <p:nvPr/>
        </p:nvSpPr>
        <p:spPr>
          <a:xfrm>
            <a:off x="5151200" y="6264000"/>
            <a:ext cx="3992700" cy="4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 i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https://en.wikipedia.org/wiki/Symmetric_multiprocessing</a:t>
            </a:r>
            <a:endParaRPr sz="12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8"/>
          <p:cNvSpPr txBox="1"/>
          <p:nvPr/>
        </p:nvSpPr>
        <p:spPr>
          <a:xfrm>
            <a:off x="1165320" y="704520"/>
            <a:ext cx="6857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PRAM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58"/>
          <p:cNvSpPr/>
          <p:nvPr/>
        </p:nvSpPr>
        <p:spPr>
          <a:xfrm>
            <a:off x="1038600" y="1224000"/>
            <a:ext cx="7745400" cy="3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Parallel Random Access Machine</a:t>
            </a: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Apstrakcija računala sa dijeljenom memorijom, paralelna analogija Random Access Machine (RAM) modela 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PRAM model koristi se za modeliranje paralelnih algoritama i procjenu performansi (vremenska složenost)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4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Read/write model:</a:t>
            </a: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1800" b="1" u="sng" strike="noStrik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Exclusive read, exclusive write:</a:t>
            </a:r>
            <a:r>
              <a:rPr lang="hr-HR" sz="1800" b="1" strike="noStrik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 svakoj jedinici memorije u jednom trenutku može pristupati samo jedan procesor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1800" b="1" u="sng" strike="noStrik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Concurent read, exclusive write:</a:t>
            </a:r>
            <a:r>
              <a:rPr lang="hr-HR" sz="1800" b="1" strike="noStrik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 više procesora može istovremeno čitati s jedne memorijske lokacije, ali samo jedan može pisati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1800" b="1" u="sng" strike="noStrik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Concurent read, concurent write:</a:t>
            </a:r>
            <a:r>
              <a:rPr lang="hr-HR" sz="1800" b="1" strike="noStrik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 više procesora može istovremeno čitati ili mijenjati istu memorijsku lokaciju (Concurent Random Acces Machine)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0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Najbliže PRAM modelu: višenitna arhitektura s dijeljenom memorijom</a:t>
            </a: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31999" marR="0" lvl="1" indent="-15884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None/>
            </a:pP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9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Memorijske arhitekture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59"/>
          <p:cNvSpPr/>
          <p:nvPr/>
        </p:nvSpPr>
        <p:spPr>
          <a:xfrm>
            <a:off x="1038600" y="1368000"/>
            <a:ext cx="730044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Distribuirana memorija</a:t>
            </a: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Svaki procesor (proces) ima vlastiti memorijski prostor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Dijeljenje podataka među procesorima razmjenom poruka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Brz pristup lokalnim podacima (u memorijskom prostoru promatranog procesa)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0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Složenija arhitektura</a:t>
            </a: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Podatke i podatkovne strukture potrebno je prilagoditi modelu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Zahtjevniji razvoj algoritma (i programiranje)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2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Spor pristup podacima koji nisu u lokalnoj memoriji</a:t>
            </a: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Procesi koji razmjenjuju poruke (oba) zaustavljaju računanje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sng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Zahtjevno za programiranje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164565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None/>
            </a:pP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139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1902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None/>
            </a:pP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0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Distribuirana memorija – mrežne arhitekture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60"/>
          <p:cNvSpPr/>
          <p:nvPr/>
        </p:nvSpPr>
        <p:spPr>
          <a:xfrm>
            <a:off x="1038600" y="1368000"/>
            <a:ext cx="730044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000" b="1" u="sng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Completely connected networks</a:t>
            </a: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Svaki čvor povezan je sa svim ostalim čvorovima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Složena (i skupa) arhitektura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broj veza </a:t>
            </a:r>
            <a:r>
              <a:rPr lang="hr-HR" sz="1800" b="1" i="1" u="none" strike="noStrike" cap="non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N*(N-1)/2</a:t>
            </a: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, složenost mreže </a:t>
            </a:r>
            <a:r>
              <a:rPr lang="hr-HR" sz="1800" b="1" i="1" u="none" strike="noStrike" cap="non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O(N</a:t>
            </a:r>
            <a:r>
              <a:rPr lang="hr-HR" sz="1800" b="1" i="1" u="none" strike="noStrike" cap="none" baseline="30000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2</a:t>
            </a:r>
            <a:r>
              <a:rPr lang="hr-HR" sz="1800" b="1" i="1" u="none" strike="noStrike" cap="non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Vremenska složenost komunikacije: </a:t>
            </a:r>
            <a:r>
              <a:rPr lang="hr-HR" sz="1800" b="1" i="1" u="none" strike="noStrike" cap="non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O(1)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000" b="1" u="sng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Limited connection networks</a:t>
            </a: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Ne postoji direktna veza od svakog čvora do bilo kojeg drugog čvora u mreži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Komunikacija između čvorova koji nisu direktno povezani preusmjerava se kroz druge čvorove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i="0" u="none" strike="noStrike" cap="non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Linearni niz (linear array):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648000" marR="0" lvl="2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Složenost mreže: </a:t>
            </a:r>
            <a:r>
              <a:rPr lang="hr-HR" sz="1800" b="1" i="1" u="none" strike="noStrike" cap="non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O(N)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648000" marR="0" lvl="2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Vremenska složenost komunikacije:</a:t>
            </a:r>
            <a:r>
              <a:rPr lang="hr-HR" sz="1800" b="1" i="1" u="none" strike="noStrike" cap="non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 O(N)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164565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None/>
            </a:pP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139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1902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None/>
            </a:pP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1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Mrežne arhitekture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61"/>
          <p:cNvSpPr/>
          <p:nvPr/>
        </p:nvSpPr>
        <p:spPr>
          <a:xfrm>
            <a:off x="1038600" y="1224000"/>
            <a:ext cx="7300440" cy="3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Hypercube:</a:t>
            </a:r>
            <a:r>
              <a:rPr lang="hr-HR" sz="22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hr-HR" sz="2200" b="1" i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</a:t>
            </a:r>
            <a:r>
              <a:rPr lang="hr-HR" sz="22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dimenzionalna analogija kvadrata</a:t>
            </a: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000" b="1" u="sng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Procesori se nalaze u vrhovima hiperkocke:</a:t>
            </a: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4 procesora (2-cube): u 4 vrha kvadrata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8 procesora (3-cube): u 8 vrhova kocke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0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U sustavu s 2</a:t>
            </a:r>
            <a:r>
              <a:rPr lang="hr-HR" sz="2000" b="1" strike="noStrike" baseline="300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</a:t>
            </a:r>
            <a:r>
              <a:rPr lang="hr-HR" sz="20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procesora, svaki procesor je povezan s N susjeda</a:t>
            </a: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0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Promjer mreže:</a:t>
            </a:r>
            <a:r>
              <a:rPr lang="hr-HR" sz="20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0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Minimalni broj koraka potreban da procesor pošalje poruku najudaljenijem procesoru</a:t>
            </a: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4 procesora: promjer 2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8 procesora: promjer 3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N-cube: promjer N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2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Broj procesora u Hypercube arhitekturi uvijek je potencija broja 2</a:t>
            </a: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2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Mrežne arhitekture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62"/>
          <p:cNvSpPr/>
          <p:nvPr/>
        </p:nvSpPr>
        <p:spPr>
          <a:xfrm>
            <a:off x="1038600" y="1224000"/>
            <a:ext cx="3137400" cy="3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4- cube:</a:t>
            </a: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16 procesora (2</a:t>
            </a:r>
            <a:r>
              <a:rPr lang="hr-HR" sz="1800" b="1" i="0" u="none" strike="noStrike" cap="none" baseline="300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4</a:t>
            </a: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Svaki procesor povezan je sa 4 svoja susjeda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Promjer mreže: 4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63"/>
          <p:cNvSpPr txBox="1"/>
          <p:nvPr/>
        </p:nvSpPr>
        <p:spPr>
          <a:xfrm>
            <a:off x="1165320" y="704520"/>
            <a:ext cx="6857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Mrežne arhitekture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63"/>
          <p:cNvSpPr/>
          <p:nvPr/>
        </p:nvSpPr>
        <p:spPr>
          <a:xfrm>
            <a:off x="1038600" y="1224000"/>
            <a:ext cx="3137400" cy="3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4- cube:</a:t>
            </a: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16 procesora (2</a:t>
            </a:r>
            <a:r>
              <a:rPr lang="hr-HR" sz="1800" b="1" i="0" u="none" strike="noStrike" cap="none" baseline="300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4</a:t>
            </a: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Svaki procesor povezan je sa 4 svoja susjeda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Promjer mreže: 4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29" name="Google Shape;329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0000" y="1224000"/>
            <a:ext cx="5112001" cy="5553001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63"/>
          <p:cNvSpPr txBox="1"/>
          <p:nvPr/>
        </p:nvSpPr>
        <p:spPr>
          <a:xfrm>
            <a:off x="1584000" y="6264000"/>
            <a:ext cx="4104000" cy="4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400" b="0" i="1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https://en.wikipedia.org/wiki/Hypercube</a:t>
            </a:r>
            <a:endParaRPr sz="1400" b="0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4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Mrežne arhitekture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64"/>
          <p:cNvSpPr/>
          <p:nvPr/>
        </p:nvSpPr>
        <p:spPr>
          <a:xfrm>
            <a:off x="1038600" y="1224000"/>
            <a:ext cx="7300440" cy="3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Mesh Interconnection Network</a:t>
            </a: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000" b="1" u="sng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Procesori složeni u 2-dimenzionalnu mrežu:</a:t>
            </a: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Svaki procesor povezan je sa 4 neposredna susjeda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Mreža može biti spojena preko rubova (torus)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Broj procesora ne mora biti potencija broja 2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200" b="1" u="sng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Promjer mreže veći nego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2200" b="1" u="sng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kod hypercube 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2200" b="1" u="sng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arhitekture</a:t>
            </a: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0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N- dimenzionalne Mesh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20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Interconnection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20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arhitekture</a:t>
            </a: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37" name="Google Shape;337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8520" y="3168000"/>
            <a:ext cx="3759480" cy="3282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79120" y="720000"/>
            <a:ext cx="1604880" cy="139932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64"/>
          <p:cNvSpPr txBox="1"/>
          <p:nvPr/>
        </p:nvSpPr>
        <p:spPr>
          <a:xfrm>
            <a:off x="1758200" y="6415200"/>
            <a:ext cx="78177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400" b="0" i="1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https://er.yuvayana.org/mesh-interconnection-network-definition-advantages-disadvantages/</a:t>
            </a:r>
            <a:endParaRPr sz="1400" b="0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5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Mrežne arhitekture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65"/>
          <p:cNvSpPr/>
          <p:nvPr/>
        </p:nvSpPr>
        <p:spPr>
          <a:xfrm>
            <a:off x="1038600" y="1224000"/>
            <a:ext cx="7300440" cy="3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Torus</a:t>
            </a: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000" b="1" u="sng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Torus nastaje okretanjem kruga oko osi koplanarne kružnici</a:t>
            </a: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1D torus (krug): n procesora povezano je u zatvorenu petlju, svaki čvor direktno je povezan sa svoja 2 susjeda (</a:t>
            </a:r>
            <a:r>
              <a:rPr lang="hr-HR" sz="1800" b="1" i="0" u="sng" strike="noStrike" cap="non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ring</a:t>
            </a:r>
            <a:r>
              <a:rPr lang="hr-HR" sz="1800" b="1" u="sng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hr-HR" sz="1800" b="1" i="0" u="sng" strike="noStrike" cap="non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topology</a:t>
            </a:r>
            <a:r>
              <a:rPr lang="hr-HR" sz="1800" b="1" i="0" u="none" strike="noStrike" cap="non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  <a:endParaRPr sz="18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2D torus: procesori su organizirani u n</a:t>
            </a:r>
            <a:r>
              <a:rPr lang="hr-HR" sz="12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x</a:t>
            </a: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n pravokutnu rešetku</a:t>
            </a:r>
            <a:br>
              <a:rPr lang="hr-HR" sz="1800" b="0" i="0" u="none" strike="noStrike" cap="none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	svaki čvor povezan sa svoja 4 najbliža susjeda</a:t>
            </a:r>
            <a:br>
              <a:rPr lang="hr-HR" sz="1800" b="0" i="0" u="none" strike="noStrike" cap="none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	mreža spojena preko rubova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3D torus: čvorovi u 3D rešetki, svaki povezan sa 6 susjeda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2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N-D torus: čvorovi u N dimenzionalnoj rešetki, svaki čvor povezan sa 2N susjeda</a:t>
            </a: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46" name="Google Shape;346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33360" y="0"/>
            <a:ext cx="243864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66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Mrežne arhitekture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66"/>
          <p:cNvSpPr/>
          <p:nvPr/>
        </p:nvSpPr>
        <p:spPr>
          <a:xfrm>
            <a:off x="1038600" y="1224000"/>
            <a:ext cx="7300440" cy="3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1D torus (ring)</a:t>
            </a: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4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2D torus                             3D torus</a:t>
            </a: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14742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Noto Sans Symbols"/>
              <a:buNone/>
            </a:pPr>
            <a:endParaRPr sz="24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53" name="Google Shape;353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24000" y="0"/>
            <a:ext cx="243864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1152000" y="1728000"/>
            <a:ext cx="3960000" cy="89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6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5440" y="3081960"/>
            <a:ext cx="3400560" cy="3397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6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88280" y="3087000"/>
            <a:ext cx="3375720" cy="3397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67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Mrežne arhitekture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67"/>
          <p:cNvSpPr/>
          <p:nvPr/>
        </p:nvSpPr>
        <p:spPr>
          <a:xfrm>
            <a:off x="1038600" y="1224000"/>
            <a:ext cx="7300440" cy="3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Torus</a:t>
            </a: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000" b="1" u="sng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Prednosti</a:t>
            </a: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lt1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Veća brzina, manja latencija</a:t>
            </a:r>
            <a:endParaRPr sz="18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lt1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Bolja balansiranost</a:t>
            </a:r>
            <a:endParaRPr sz="18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Manja potrošnja energije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000" b="1" u="sng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Nedostatci</a:t>
            </a: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lt1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Složenost</a:t>
            </a:r>
            <a:endParaRPr sz="18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lt1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Neujednačena dužina mrežnih linkova</a:t>
            </a:r>
            <a:endParaRPr sz="18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Cijena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200" b="1" u="sng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Fujitsu: 6D torus</a:t>
            </a:r>
            <a:r>
              <a:rPr lang="hr-HR" sz="1400" b="0" strike="noStrike">
                <a:latin typeface="Cambria"/>
                <a:ea typeface="Cambria"/>
                <a:cs typeface="Cambria"/>
                <a:sym typeface="Cambria"/>
              </a:rPr>
              <a:t>	</a:t>
            </a:r>
            <a:endParaRPr sz="1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32000" marR="0" lvl="1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lang="hr-HR" sz="20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12 puta veća skalabilnost od 3D torusa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600" b="1" u="sng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FUGAKU supercomputer: 2 exaFLOPS</a:t>
            </a:r>
            <a:endParaRPr sz="26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6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6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6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63" name="Google Shape;363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33360" y="0"/>
            <a:ext cx="243864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68"/>
          <p:cNvSpPr txBox="1"/>
          <p:nvPr/>
        </p:nvSpPr>
        <p:spPr>
          <a:xfrm>
            <a:off x="1530000" y="3076920"/>
            <a:ext cx="6766800" cy="7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0" i="0" u="none" strike="noStrike" cap="non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Paraleln</a:t>
            </a:r>
            <a:r>
              <a:rPr lang="hr-HR" sz="30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 algoritmi</a:t>
            </a:r>
            <a:endParaRPr sz="3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68"/>
          <p:cNvSpPr txBox="1"/>
          <p:nvPr/>
        </p:nvSpPr>
        <p:spPr>
          <a:xfrm>
            <a:off x="1530000" y="3710520"/>
            <a:ext cx="69276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rPr>
              <a:t>Paralelne paradigme, modeli paralelnih programa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70" name="Google Shape;370;p68"/>
          <p:cNvSpPr/>
          <p:nvPr/>
        </p:nvSpPr>
        <p:spPr>
          <a:xfrm>
            <a:off x="502560" y="3039840"/>
            <a:ext cx="802200" cy="7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0" i="0" u="none" strike="noStrike" cap="none" dirty="0">
                <a:solidFill>
                  <a:srgbClr val="2E3037"/>
                </a:solidFill>
                <a:latin typeface="Quicksand"/>
                <a:ea typeface="Cambria"/>
                <a:cs typeface="Cambria"/>
                <a:sym typeface="Quicksand"/>
              </a:rPr>
              <a:t>6</a:t>
            </a:r>
            <a:endParaRPr sz="30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9"/>
          <p:cNvSpPr txBox="1"/>
          <p:nvPr/>
        </p:nvSpPr>
        <p:spPr>
          <a:xfrm>
            <a:off x="1165320" y="704520"/>
            <a:ext cx="6857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MIMD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69"/>
          <p:cNvSpPr/>
          <p:nvPr/>
        </p:nvSpPr>
        <p:spPr>
          <a:xfrm>
            <a:off x="1038600" y="1224000"/>
            <a:ext cx="7300500" cy="3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Najčešća paradigma paralelnog programiranja</a:t>
            </a: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000" b="1" u="sng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Razmjena poruka (Message passing)</a:t>
            </a: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lt1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Veća brzina, manja latencija</a:t>
            </a:r>
            <a:endParaRPr sz="18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lt1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Bolja balansiranost</a:t>
            </a:r>
            <a:endParaRPr sz="18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Manja potrošnja energije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000" b="1" u="sng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Podatkovni paralelizam (Data parallelism</a:t>
            </a: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lt1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Složenost</a:t>
            </a:r>
            <a:endParaRPr sz="18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lt1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Neujednačena dužina mrežnih linkova</a:t>
            </a:r>
            <a:endParaRPr sz="18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31999" marR="0" lvl="1" indent="-21599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Cijena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200" b="1" u="sng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Dijeljena memorija (Shared memory)</a:t>
            </a:r>
            <a:endParaRPr sz="2200" b="1" u="sng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200" b="1" u="sng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Sustav zadataka i kanala (task &amp; channels)</a:t>
            </a:r>
            <a:endParaRPr sz="2200" b="1" u="sng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1400" b="0" strike="noStrike">
                <a:latin typeface="Cambria"/>
                <a:ea typeface="Cambria"/>
                <a:cs typeface="Cambria"/>
                <a:sym typeface="Cambria"/>
              </a:rPr>
              <a:t>	</a:t>
            </a:r>
            <a:endParaRPr sz="26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6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6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6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2831</Words>
  <Application>Microsoft Office PowerPoint</Application>
  <PresentationFormat>Prikaz na zaslonu (4:3)</PresentationFormat>
  <Paragraphs>448</Paragraphs>
  <Slides>47</Slides>
  <Notes>47</Notes>
  <HiddenSlides>0</HiddenSlides>
  <MMClips>0</MMClips>
  <ScaleCrop>false</ScaleCrop>
  <HeadingPairs>
    <vt:vector size="6" baseType="variant">
      <vt:variant>
        <vt:lpstr>Korišteni fontovi</vt:lpstr>
      </vt:variant>
      <vt:variant>
        <vt:i4>7</vt:i4>
      </vt:variant>
      <vt:variant>
        <vt:lpstr>Tema</vt:lpstr>
      </vt:variant>
      <vt:variant>
        <vt:i4>6</vt:i4>
      </vt:variant>
      <vt:variant>
        <vt:lpstr>Naslovi slajdova</vt:lpstr>
      </vt:variant>
      <vt:variant>
        <vt:i4>47</vt:i4>
      </vt:variant>
    </vt:vector>
  </HeadingPairs>
  <TitlesOfParts>
    <vt:vector size="60" baseType="lpstr">
      <vt:lpstr>Noto Sans Symbols</vt:lpstr>
      <vt:lpstr>Cambria</vt:lpstr>
      <vt:lpstr>Consolas</vt:lpstr>
      <vt:lpstr>Quicksand</vt:lpstr>
      <vt:lpstr>Wingdings</vt:lpstr>
      <vt:lpstr>Arial</vt:lpstr>
      <vt:lpstr>Segoe UI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1</cp:revision>
  <dcterms:modified xsi:type="dcterms:W3CDTF">2025-10-08T11:01:59Z</dcterms:modified>
</cp:coreProperties>
</file>