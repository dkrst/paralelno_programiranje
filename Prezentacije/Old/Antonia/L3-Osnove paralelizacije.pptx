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embedTrueTypeFonts="1" saveSubsetFonts="1" autoCompressPictures="0">
  <p:sldMasterIdLst>
    <p:sldMasterId id="2147483684" r:id="rId1"/>
    <p:sldMasterId id="2147483685" r:id="rId2"/>
    <p:sldMasterId id="2147483686" r:id="rId3"/>
  </p:sldMasterIdLst>
  <p:notesMasterIdLst>
    <p:notesMasterId r:id="rId52"/>
  </p:notesMasterIdLst>
  <p:sldIdLst>
    <p:sldId id="256" r:id="rId4"/>
    <p:sldId id="257" r:id="rId5"/>
    <p:sldId id="258" r:id="rId6"/>
    <p:sldId id="259" r:id="rId7"/>
    <p:sldId id="334" r:id="rId8"/>
    <p:sldId id="260" r:id="rId9"/>
    <p:sldId id="307" r:id="rId10"/>
    <p:sldId id="308" r:id="rId11"/>
    <p:sldId id="309" r:id="rId12"/>
    <p:sldId id="310" r:id="rId13"/>
    <p:sldId id="311" r:id="rId14"/>
    <p:sldId id="262" r:id="rId15"/>
    <p:sldId id="263" r:id="rId16"/>
    <p:sldId id="312" r:id="rId17"/>
    <p:sldId id="313" r:id="rId18"/>
    <p:sldId id="315" r:id="rId19"/>
    <p:sldId id="314" r:id="rId20"/>
    <p:sldId id="316" r:id="rId21"/>
    <p:sldId id="317" r:id="rId22"/>
    <p:sldId id="318" r:id="rId23"/>
    <p:sldId id="319" r:id="rId24"/>
    <p:sldId id="320" r:id="rId25"/>
    <p:sldId id="321" r:id="rId26"/>
    <p:sldId id="322" r:id="rId27"/>
    <p:sldId id="323" r:id="rId28"/>
    <p:sldId id="324" r:id="rId29"/>
    <p:sldId id="325" r:id="rId30"/>
    <p:sldId id="326" r:id="rId31"/>
    <p:sldId id="327" r:id="rId32"/>
    <p:sldId id="330" r:id="rId33"/>
    <p:sldId id="329" r:id="rId34"/>
    <p:sldId id="331" r:id="rId35"/>
    <p:sldId id="332" r:id="rId36"/>
    <p:sldId id="328" r:id="rId37"/>
    <p:sldId id="333" r:id="rId38"/>
    <p:sldId id="291" r:id="rId39"/>
    <p:sldId id="335" r:id="rId40"/>
    <p:sldId id="336" r:id="rId41"/>
    <p:sldId id="337" r:id="rId42"/>
    <p:sldId id="338" r:id="rId43"/>
    <p:sldId id="339" r:id="rId44"/>
    <p:sldId id="340" r:id="rId45"/>
    <p:sldId id="342" r:id="rId46"/>
    <p:sldId id="343" r:id="rId47"/>
    <p:sldId id="344" r:id="rId48"/>
    <p:sldId id="345" r:id="rId49"/>
    <p:sldId id="346" r:id="rId50"/>
    <p:sldId id="347" r:id="rId51"/>
  </p:sldIdLst>
  <p:sldSz cx="9144000" cy="6858000" type="screen4x3"/>
  <p:notesSz cx="6858000" cy="9144000"/>
  <p:embeddedFontLst>
    <p:embeddedFont>
      <p:font typeface="Cambria" panose="02040503050406030204" pitchFamily="18" charset="0"/>
      <p:regular r:id="rId53"/>
      <p:bold r:id="rId54"/>
      <p:italic r:id="rId55"/>
      <p:boldItalic r:id="rId56"/>
    </p:embeddedFont>
    <p:embeddedFont>
      <p:font typeface="Cambria Math" panose="02040503050406030204" pitchFamily="18" charset="0"/>
      <p:regular r:id="rId57"/>
    </p:embeddedFont>
    <p:embeddedFont>
      <p:font typeface="Consolas" panose="020B0609020204030204" pitchFamily="49" charset="0"/>
      <p:regular r:id="rId58"/>
      <p:bold r:id="rId59"/>
      <p:italic r:id="rId60"/>
      <p:boldItalic r:id="rId61"/>
    </p:embeddedFont>
    <p:embeddedFont>
      <p:font typeface="Quicksand" panose="020B0604020202020204" charset="0"/>
      <p:regular r:id="rId62"/>
      <p:bold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C0BA"/>
    <a:srgbClr val="569A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rednji stil 2 - Isticanj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85866" autoAdjust="0"/>
  </p:normalViewPr>
  <p:slideViewPr>
    <p:cSldViewPr snapToGrid="0">
      <p:cViewPr varScale="1">
        <p:scale>
          <a:sx n="106" d="100"/>
          <a:sy n="106" d="100"/>
        </p:scale>
        <p:origin x="13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font" Target="fonts/font3.fntdata"/><Relationship Id="rId63" Type="http://schemas.openxmlformats.org/officeDocument/2006/relationships/font" Target="fonts/font11.fntdata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66" Type="http://schemas.openxmlformats.org/officeDocument/2006/relationships/theme" Target="theme/theme1.xml"/><Relationship Id="rId5" Type="http://schemas.openxmlformats.org/officeDocument/2006/relationships/slide" Target="slides/slide2.xml"/><Relationship Id="rId61" Type="http://schemas.openxmlformats.org/officeDocument/2006/relationships/font" Target="fonts/font9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font" Target="fonts/font4.fntdata"/><Relationship Id="rId64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font" Target="fonts/font7.fntdata"/><Relationship Id="rId67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font" Target="fonts/font2.fntdata"/><Relationship Id="rId62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font" Target="fonts/font5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notesMaster" Target="notesMasters/notesMaster1.xml"/><Relationship Id="rId60" Type="http://schemas.openxmlformats.org/officeDocument/2006/relationships/font" Target="fonts/font8.fntdata"/><Relationship Id="rId65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8" name="Google Shape;16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80" name="Google Shape;1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6" name="Google Shape;1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64CC64BB-AB3F-7DE9-91D6-10B03F026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>
            <a:extLst>
              <a:ext uri="{FF2B5EF4-FFF2-40B4-BE49-F238E27FC236}">
                <a16:creationId xmlns:a16="http://schemas.microsoft.com/office/drawing/2014/main" id="{1BCDDEF2-0BC6-9FF8-703B-5957101129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>
            <a:extLst>
              <a:ext uri="{FF2B5EF4-FFF2-40B4-BE49-F238E27FC236}">
                <a16:creationId xmlns:a16="http://schemas.microsoft.com/office/drawing/2014/main" id="{F9C6E9AC-8E0D-2150-8543-F4E4DD120E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99170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193" name="Google Shape;1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4E1BCED1-867E-20D2-4E7B-CF0BD83E4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5D91BE21-A833-EEEF-8435-324BD29608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5F623531-0ED9-DF45-8C16-5CEC0CE5EE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66737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ACE8CD43-B6C9-C909-8FD6-959ABD67B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F687D70A-3F1E-EC6F-D630-6E172D9E56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4122737B-F080-B83E-B707-681A472E87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66111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332A3138-CE18-94D9-8BEE-65F77C1F3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ADB757D7-5805-BEF2-1A00-7196F8A23F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26E813D2-BDA6-D28B-531C-0DB04B148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94185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EC4F421D-3878-E9CD-1FEE-7355ED2C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9436C07C-BF52-DD21-7BF4-556ECE7B84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193" name="Google Shape;193;p5:notes">
            <a:extLst>
              <a:ext uri="{FF2B5EF4-FFF2-40B4-BE49-F238E27FC236}">
                <a16:creationId xmlns:a16="http://schemas.microsoft.com/office/drawing/2014/main" id="{08787E31-3D8E-BE0F-6076-655B25EF7D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21359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DA524ABF-A23B-1061-7C56-A643A9B6F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>
            <a:extLst>
              <a:ext uri="{FF2B5EF4-FFF2-40B4-BE49-F238E27FC236}">
                <a16:creationId xmlns:a16="http://schemas.microsoft.com/office/drawing/2014/main" id="{4459B806-08C9-E45D-E681-953E9921F4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>
            <a:extLst>
              <a:ext uri="{FF2B5EF4-FFF2-40B4-BE49-F238E27FC236}">
                <a16:creationId xmlns:a16="http://schemas.microsoft.com/office/drawing/2014/main" id="{EC33D751-4AF7-33A7-8076-8B7CDA0E37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37046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211" name="Google Shape;21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0b8181b91e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9" name="Google Shape;219;g30b8181b91e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692DC5D9-6445-6787-3BCF-7A9F8023A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0b8181b91e_1_6:notes">
            <a:extLst>
              <a:ext uri="{FF2B5EF4-FFF2-40B4-BE49-F238E27FC236}">
                <a16:creationId xmlns:a16="http://schemas.microsoft.com/office/drawing/2014/main" id="{6F3911B9-BC76-6289-BA70-377DEB9F9B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219" name="Google Shape;219;g30b8181b91e_1_6:notes">
            <a:extLst>
              <a:ext uri="{FF2B5EF4-FFF2-40B4-BE49-F238E27FC236}">
                <a16:creationId xmlns:a16="http://schemas.microsoft.com/office/drawing/2014/main" id="{12F47763-D6A1-44F3-CB1A-C676F6CDA7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62750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FDBAAFAF-F3DA-C88D-338A-3920629A0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0b8181b91e_1_6:notes">
            <a:extLst>
              <a:ext uri="{FF2B5EF4-FFF2-40B4-BE49-F238E27FC236}">
                <a16:creationId xmlns:a16="http://schemas.microsoft.com/office/drawing/2014/main" id="{A832C5C0-9D32-CC60-E496-6BC512205A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9" name="Google Shape;219;g30b8181b91e_1_6:notes">
            <a:extLst>
              <a:ext uri="{FF2B5EF4-FFF2-40B4-BE49-F238E27FC236}">
                <a16:creationId xmlns:a16="http://schemas.microsoft.com/office/drawing/2014/main" id="{AC39FD21-166A-F23B-87A8-EC496DB252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26307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D3886996-F0E2-6A6D-3820-52A893B2B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0b8181b91e_1_6:notes">
            <a:extLst>
              <a:ext uri="{FF2B5EF4-FFF2-40B4-BE49-F238E27FC236}">
                <a16:creationId xmlns:a16="http://schemas.microsoft.com/office/drawing/2014/main" id="{1CF48F2F-3283-8301-B22E-B535C84AEB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9" name="Google Shape;219;g30b8181b91e_1_6:notes">
            <a:extLst>
              <a:ext uri="{FF2B5EF4-FFF2-40B4-BE49-F238E27FC236}">
                <a16:creationId xmlns:a16="http://schemas.microsoft.com/office/drawing/2014/main" id="{271F7C51-BC7C-B701-1ECE-69BA697A77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02109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EA2F61F4-567A-6F07-FCDB-7C17C8A4D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0b8181b91e_1_6:notes">
            <a:extLst>
              <a:ext uri="{FF2B5EF4-FFF2-40B4-BE49-F238E27FC236}">
                <a16:creationId xmlns:a16="http://schemas.microsoft.com/office/drawing/2014/main" id="{80BF7F4A-F0E1-8AB6-AFBF-CFD027ABD7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9" name="Google Shape;219;g30b8181b91e_1_6:notes">
            <a:extLst>
              <a:ext uri="{FF2B5EF4-FFF2-40B4-BE49-F238E27FC236}">
                <a16:creationId xmlns:a16="http://schemas.microsoft.com/office/drawing/2014/main" id="{A84030CE-A19B-3722-72AE-5107570D04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15180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1BA84DCF-20BB-5406-401E-F21AC6C6D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0b8181b91e_1_6:notes">
            <a:extLst>
              <a:ext uri="{FF2B5EF4-FFF2-40B4-BE49-F238E27FC236}">
                <a16:creationId xmlns:a16="http://schemas.microsoft.com/office/drawing/2014/main" id="{DF69B614-8D56-3885-9242-CA307492DD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9" name="Google Shape;219;g30b8181b91e_1_6:notes">
            <a:extLst>
              <a:ext uri="{FF2B5EF4-FFF2-40B4-BE49-F238E27FC236}">
                <a16:creationId xmlns:a16="http://schemas.microsoft.com/office/drawing/2014/main" id="{FAB7A00D-FBE8-0493-8FBF-EAD18071EF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83277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E9C7113E-F5DC-440C-AAA4-7634EC6D4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0b8181b91e_1_6:notes">
            <a:extLst>
              <a:ext uri="{FF2B5EF4-FFF2-40B4-BE49-F238E27FC236}">
                <a16:creationId xmlns:a16="http://schemas.microsoft.com/office/drawing/2014/main" id="{B64C32FD-2E23-3787-7BDF-D81333E564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</p:txBody>
      </p:sp>
      <p:sp>
        <p:nvSpPr>
          <p:cNvPr id="219" name="Google Shape;219;g30b8181b91e_1_6:notes">
            <a:extLst>
              <a:ext uri="{FF2B5EF4-FFF2-40B4-BE49-F238E27FC236}">
                <a16:creationId xmlns:a16="http://schemas.microsoft.com/office/drawing/2014/main" id="{79D7811B-99E1-9516-A0E2-7ADD04B07B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46880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3D11F5B2-1A64-75A0-8F78-74F81A725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0b8181b91e_1_6:notes">
            <a:extLst>
              <a:ext uri="{FF2B5EF4-FFF2-40B4-BE49-F238E27FC236}">
                <a16:creationId xmlns:a16="http://schemas.microsoft.com/office/drawing/2014/main" id="{6AEAB9FC-5E97-52C4-FAB5-5F0F72DF0D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9" name="Google Shape;219;g30b8181b91e_1_6:notes">
            <a:extLst>
              <a:ext uri="{FF2B5EF4-FFF2-40B4-BE49-F238E27FC236}">
                <a16:creationId xmlns:a16="http://schemas.microsoft.com/office/drawing/2014/main" id="{6123E840-819D-7D0B-1357-95D3D6C464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34285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3E92B97E-D700-DED6-6F3C-F96A71BD5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0b8181b91e_1_6:notes">
            <a:extLst>
              <a:ext uri="{FF2B5EF4-FFF2-40B4-BE49-F238E27FC236}">
                <a16:creationId xmlns:a16="http://schemas.microsoft.com/office/drawing/2014/main" id="{CDCC6249-8952-8369-FA0B-0E2E67138E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9" name="Google Shape;219;g30b8181b91e_1_6:notes">
            <a:extLst>
              <a:ext uri="{FF2B5EF4-FFF2-40B4-BE49-F238E27FC236}">
                <a16:creationId xmlns:a16="http://schemas.microsoft.com/office/drawing/2014/main" id="{41AB9B53-F5D7-6AB1-0B91-EC1A36F239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17773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0536778E-24F2-4C9D-CDA0-71C7BC227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0b8181b91e_1_6:notes">
            <a:extLst>
              <a:ext uri="{FF2B5EF4-FFF2-40B4-BE49-F238E27FC236}">
                <a16:creationId xmlns:a16="http://schemas.microsoft.com/office/drawing/2014/main" id="{0DE0E3CD-5DE5-358C-00A5-61F453358B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9" name="Google Shape;219;g30b8181b91e_1_6:notes">
            <a:extLst>
              <a:ext uri="{FF2B5EF4-FFF2-40B4-BE49-F238E27FC236}">
                <a16:creationId xmlns:a16="http://schemas.microsoft.com/office/drawing/2014/main" id="{DB734C03-2767-C6DB-B3B3-7989BA64F1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79967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9361BCCB-0935-9608-5ED8-AED1BD82B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0b8181b91e_1_6:notes">
            <a:extLst>
              <a:ext uri="{FF2B5EF4-FFF2-40B4-BE49-F238E27FC236}">
                <a16:creationId xmlns:a16="http://schemas.microsoft.com/office/drawing/2014/main" id="{F9AFB399-5685-A315-4E43-D04F443625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endParaRPr dirty="0"/>
          </a:p>
        </p:txBody>
      </p:sp>
      <p:sp>
        <p:nvSpPr>
          <p:cNvPr id="219" name="Google Shape;219;g30b8181b91e_1_6:notes">
            <a:extLst>
              <a:ext uri="{FF2B5EF4-FFF2-40B4-BE49-F238E27FC236}">
                <a16:creationId xmlns:a16="http://schemas.microsoft.com/office/drawing/2014/main" id="{446A70CD-6DE7-0DFC-C7BA-395A270CA3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30289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1D9FA5B3-BEFE-07E6-E5E0-996F49265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0b8181b91e_1_6:notes">
            <a:extLst>
              <a:ext uri="{FF2B5EF4-FFF2-40B4-BE49-F238E27FC236}">
                <a16:creationId xmlns:a16="http://schemas.microsoft.com/office/drawing/2014/main" id="{163C949C-17D0-EE42-1F5E-15A6742FD0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9" name="Google Shape;219;g30b8181b91e_1_6:notes">
            <a:extLst>
              <a:ext uri="{FF2B5EF4-FFF2-40B4-BE49-F238E27FC236}">
                <a16:creationId xmlns:a16="http://schemas.microsoft.com/office/drawing/2014/main" id="{1EC8850B-7432-F639-CAFF-53096A8B66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39872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3D62A4FC-7B41-C708-4F3D-1BA4A154C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0b8181b91e_1_6:notes">
            <a:extLst>
              <a:ext uri="{FF2B5EF4-FFF2-40B4-BE49-F238E27FC236}">
                <a16:creationId xmlns:a16="http://schemas.microsoft.com/office/drawing/2014/main" id="{5A0C31AB-E3EA-CF37-8949-B0C0C3BA5E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219" name="Google Shape;219;g30b8181b91e_1_6:notes">
            <a:extLst>
              <a:ext uri="{FF2B5EF4-FFF2-40B4-BE49-F238E27FC236}">
                <a16:creationId xmlns:a16="http://schemas.microsoft.com/office/drawing/2014/main" id="{11EA565B-18D8-9B6B-3063-ECFB3E4C81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64183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58822936-EBC0-D9BF-930E-76F772E6E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>
            <a:extLst>
              <a:ext uri="{FF2B5EF4-FFF2-40B4-BE49-F238E27FC236}">
                <a16:creationId xmlns:a16="http://schemas.microsoft.com/office/drawing/2014/main" id="{F5236B0B-64AF-6DDE-4A79-86199B1C74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>
            <a:extLst>
              <a:ext uri="{FF2B5EF4-FFF2-40B4-BE49-F238E27FC236}">
                <a16:creationId xmlns:a16="http://schemas.microsoft.com/office/drawing/2014/main" id="{D6F407FB-32D6-2026-C1FB-22AE9633F0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26017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EF24D134-3F05-24D2-F1D1-D7BFA1304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0b8181b91e_1_6:notes">
            <a:extLst>
              <a:ext uri="{FF2B5EF4-FFF2-40B4-BE49-F238E27FC236}">
                <a16:creationId xmlns:a16="http://schemas.microsoft.com/office/drawing/2014/main" id="{7B3AF9AE-377F-5104-D6E4-B0743957BD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219" name="Google Shape;219;g30b8181b91e_1_6:notes">
            <a:extLst>
              <a:ext uri="{FF2B5EF4-FFF2-40B4-BE49-F238E27FC236}">
                <a16:creationId xmlns:a16="http://schemas.microsoft.com/office/drawing/2014/main" id="{71098A01-D2D4-3D29-8880-0359D2E819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46390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C3C62410-F2F3-28EF-0974-6CC972C92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0b8181b91e_1_6:notes">
            <a:extLst>
              <a:ext uri="{FF2B5EF4-FFF2-40B4-BE49-F238E27FC236}">
                <a16:creationId xmlns:a16="http://schemas.microsoft.com/office/drawing/2014/main" id="{95026EDC-44AD-7BDF-5E1F-C213D25D3C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219" name="Google Shape;219;g30b8181b91e_1_6:notes">
            <a:extLst>
              <a:ext uri="{FF2B5EF4-FFF2-40B4-BE49-F238E27FC236}">
                <a16:creationId xmlns:a16="http://schemas.microsoft.com/office/drawing/2014/main" id="{A3464C59-E802-DBE3-1F97-A441ECD432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20172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E3B551AE-7778-D07C-A342-892CD88E0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0b8181b91e_1_6:notes">
            <a:extLst>
              <a:ext uri="{FF2B5EF4-FFF2-40B4-BE49-F238E27FC236}">
                <a16:creationId xmlns:a16="http://schemas.microsoft.com/office/drawing/2014/main" id="{DB31C782-5908-5241-9419-BDAD96A36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219" name="Google Shape;219;g30b8181b91e_1_6:notes">
            <a:extLst>
              <a:ext uri="{FF2B5EF4-FFF2-40B4-BE49-F238E27FC236}">
                <a16:creationId xmlns:a16="http://schemas.microsoft.com/office/drawing/2014/main" id="{0C16DB88-4DA4-198B-FD6A-2921F9B218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00496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E7EB6516-1509-3465-C98D-4AA9C3BD7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0b8181b91e_1_6:notes">
            <a:extLst>
              <a:ext uri="{FF2B5EF4-FFF2-40B4-BE49-F238E27FC236}">
                <a16:creationId xmlns:a16="http://schemas.microsoft.com/office/drawing/2014/main" id="{334D4731-18C3-C75D-7E29-581D30371B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219" name="Google Shape;219;g30b8181b91e_1_6:notes">
            <a:extLst>
              <a:ext uri="{FF2B5EF4-FFF2-40B4-BE49-F238E27FC236}">
                <a16:creationId xmlns:a16="http://schemas.microsoft.com/office/drawing/2014/main" id="{FE953948-439D-37C4-6098-22631353E6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07930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2314D289-172C-ABBE-6AD8-1C050FC89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0b8181b91e_1_6:notes">
            <a:extLst>
              <a:ext uri="{FF2B5EF4-FFF2-40B4-BE49-F238E27FC236}">
                <a16:creationId xmlns:a16="http://schemas.microsoft.com/office/drawing/2014/main" id="{0FD66B49-70A4-14FC-A6FE-501CE1684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219" name="Google Shape;219;g30b8181b91e_1_6:notes">
            <a:extLst>
              <a:ext uri="{FF2B5EF4-FFF2-40B4-BE49-F238E27FC236}">
                <a16:creationId xmlns:a16="http://schemas.microsoft.com/office/drawing/2014/main" id="{DF960C99-116A-4870-31D0-5603A4D2F1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1163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9060BD7E-EFF4-4705-228E-9A9113E18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0b8181b91e_1_6:notes">
            <a:extLst>
              <a:ext uri="{FF2B5EF4-FFF2-40B4-BE49-F238E27FC236}">
                <a16:creationId xmlns:a16="http://schemas.microsoft.com/office/drawing/2014/main" id="{BCA26A6C-E870-90DE-487D-C27E2815AE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219" name="Google Shape;219;g30b8181b91e_1_6:notes">
            <a:extLst>
              <a:ext uri="{FF2B5EF4-FFF2-40B4-BE49-F238E27FC236}">
                <a16:creationId xmlns:a16="http://schemas.microsoft.com/office/drawing/2014/main" id="{45C224AB-B87D-CA2B-C95B-13C0E40054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13232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5BED7418-540E-4AD6-BA8C-0FA5C6D11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>
            <a:extLst>
              <a:ext uri="{FF2B5EF4-FFF2-40B4-BE49-F238E27FC236}">
                <a16:creationId xmlns:a16="http://schemas.microsoft.com/office/drawing/2014/main" id="{9A5855AB-AA08-584F-C41A-59F7504A1D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2:notes">
            <a:extLst>
              <a:ext uri="{FF2B5EF4-FFF2-40B4-BE49-F238E27FC236}">
                <a16:creationId xmlns:a16="http://schemas.microsoft.com/office/drawing/2014/main" id="{64B77EBC-9CF9-800A-1F34-66D692599B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042034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ECF82FAD-91C4-FDCF-307B-0539CA77B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0b8181b91e_1_6:notes">
            <a:extLst>
              <a:ext uri="{FF2B5EF4-FFF2-40B4-BE49-F238E27FC236}">
                <a16:creationId xmlns:a16="http://schemas.microsoft.com/office/drawing/2014/main" id="{ABCDDA60-7661-6D26-53BC-0F95F2B26F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219" name="Google Shape;219;g30b8181b91e_1_6:notes">
            <a:extLst>
              <a:ext uri="{FF2B5EF4-FFF2-40B4-BE49-F238E27FC236}">
                <a16:creationId xmlns:a16="http://schemas.microsoft.com/office/drawing/2014/main" id="{E5DA5395-0E32-DF2C-46FE-097D9222BE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33738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2092E7B2-FD6A-D796-31D5-C25DD92E3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0b8181b91e_1_6:notes">
            <a:extLst>
              <a:ext uri="{FF2B5EF4-FFF2-40B4-BE49-F238E27FC236}">
                <a16:creationId xmlns:a16="http://schemas.microsoft.com/office/drawing/2014/main" id="{38C6580D-E062-FBC9-0234-6D731F1D43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219" name="Google Shape;219;g30b8181b91e_1_6:notes">
            <a:extLst>
              <a:ext uri="{FF2B5EF4-FFF2-40B4-BE49-F238E27FC236}">
                <a16:creationId xmlns:a16="http://schemas.microsoft.com/office/drawing/2014/main" id="{D6A38B1D-1512-AB82-3296-1B606D3607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45837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1B64B1AD-B771-4013-2FA9-E03378FB4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0b8181b91e_1_6:notes">
            <a:extLst>
              <a:ext uri="{FF2B5EF4-FFF2-40B4-BE49-F238E27FC236}">
                <a16:creationId xmlns:a16="http://schemas.microsoft.com/office/drawing/2014/main" id="{20099846-B360-0BC2-1F01-454EC64355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219" name="Google Shape;219;g30b8181b91e_1_6:notes">
            <a:extLst>
              <a:ext uri="{FF2B5EF4-FFF2-40B4-BE49-F238E27FC236}">
                <a16:creationId xmlns:a16="http://schemas.microsoft.com/office/drawing/2014/main" id="{BE7F7543-4161-1C35-CC01-1446799987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271938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042A210D-CE46-C74D-69D3-5E5EF2E0E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0b8181b91e_1_6:notes">
            <a:extLst>
              <a:ext uri="{FF2B5EF4-FFF2-40B4-BE49-F238E27FC236}">
                <a16:creationId xmlns:a16="http://schemas.microsoft.com/office/drawing/2014/main" id="{435826C8-8214-28CB-0620-1A1CA46304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219" name="Google Shape;219;g30b8181b91e_1_6:notes">
            <a:extLst>
              <a:ext uri="{FF2B5EF4-FFF2-40B4-BE49-F238E27FC236}">
                <a16:creationId xmlns:a16="http://schemas.microsoft.com/office/drawing/2014/main" id="{2E7FA04B-DF03-071D-9E99-850990C6BB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63526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044404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B2F9AA9F-1C12-FEDB-A3D0-21A8655E1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>
            <a:extLst>
              <a:ext uri="{FF2B5EF4-FFF2-40B4-BE49-F238E27FC236}">
                <a16:creationId xmlns:a16="http://schemas.microsoft.com/office/drawing/2014/main" id="{5CF73500-A05B-B268-2DE1-7A787560D5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2:notes">
            <a:extLst>
              <a:ext uri="{FF2B5EF4-FFF2-40B4-BE49-F238E27FC236}">
                <a16:creationId xmlns:a16="http://schemas.microsoft.com/office/drawing/2014/main" id="{2D9C2E15-36DB-CCA8-CE17-42FBF66EEE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230878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8786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subTitle" idx="1"/>
          </p:nvPr>
        </p:nvSpPr>
        <p:spPr>
          <a:xfrm>
            <a:off x="1165320" y="666000"/>
            <a:ext cx="6857640" cy="213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body" idx="3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2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4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2"/>
          </p:nvPr>
        </p:nvSpPr>
        <p:spPr>
          <a:xfrm>
            <a:off x="228348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3"/>
          </p:nvPr>
        </p:nvSpPr>
        <p:spPr>
          <a:xfrm>
            <a:off x="340164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4"/>
          </p:nvPr>
        </p:nvSpPr>
        <p:spPr>
          <a:xfrm>
            <a:off x="116532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5"/>
          </p:nvPr>
        </p:nvSpPr>
        <p:spPr>
          <a:xfrm>
            <a:off x="228348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6"/>
          </p:nvPr>
        </p:nvSpPr>
        <p:spPr>
          <a:xfrm>
            <a:off x="340164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ubTitle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>
            <a:spLocks noGrp="1"/>
          </p:cNvSpPr>
          <p:nvPr>
            <p:ph type="subTitle" idx="1"/>
          </p:nvPr>
        </p:nvSpPr>
        <p:spPr>
          <a:xfrm>
            <a:off x="1165320" y="666000"/>
            <a:ext cx="6857640" cy="213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2"/>
          <p:cNvSpPr txBox="1">
            <a:spLocks noGrp="1"/>
          </p:cNvSpPr>
          <p:nvPr>
            <p:ph type="body" idx="3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4"/>
          <p:cNvSpPr txBox="1">
            <a:spLocks noGrp="1"/>
          </p:cNvSpPr>
          <p:nvPr>
            <p:ph type="body" idx="2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5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5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5"/>
          <p:cNvSpPr txBox="1">
            <a:spLocks noGrp="1"/>
          </p:cNvSpPr>
          <p:nvPr>
            <p:ph type="body" idx="4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6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body" idx="2"/>
          </p:nvPr>
        </p:nvSpPr>
        <p:spPr>
          <a:xfrm>
            <a:off x="228348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6"/>
          <p:cNvSpPr txBox="1">
            <a:spLocks noGrp="1"/>
          </p:cNvSpPr>
          <p:nvPr>
            <p:ph type="body" idx="3"/>
          </p:nvPr>
        </p:nvSpPr>
        <p:spPr>
          <a:xfrm>
            <a:off x="340164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6"/>
          <p:cNvSpPr txBox="1">
            <a:spLocks noGrp="1"/>
          </p:cNvSpPr>
          <p:nvPr>
            <p:ph type="body" idx="4"/>
          </p:nvPr>
        </p:nvSpPr>
        <p:spPr>
          <a:xfrm>
            <a:off x="116532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6"/>
          <p:cNvSpPr txBox="1">
            <a:spLocks noGrp="1"/>
          </p:cNvSpPr>
          <p:nvPr>
            <p:ph type="body" idx="5"/>
          </p:nvPr>
        </p:nvSpPr>
        <p:spPr>
          <a:xfrm>
            <a:off x="228348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 txBox="1">
            <a:spLocks noGrp="1"/>
          </p:cNvSpPr>
          <p:nvPr>
            <p:ph type="body" idx="6"/>
          </p:nvPr>
        </p:nvSpPr>
        <p:spPr>
          <a:xfrm>
            <a:off x="340164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8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8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8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30"/>
          <p:cNvSpPr txBox="1">
            <a:spLocks noGrp="1"/>
          </p:cNvSpPr>
          <p:nvPr>
            <p:ph type="subTitle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1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1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2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3"/>
          <p:cNvSpPr txBox="1">
            <a:spLocks noGrp="1"/>
          </p:cNvSpPr>
          <p:nvPr>
            <p:ph type="subTitle" idx="1"/>
          </p:nvPr>
        </p:nvSpPr>
        <p:spPr>
          <a:xfrm>
            <a:off x="1165320" y="666000"/>
            <a:ext cx="6857640" cy="213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4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4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34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34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5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5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35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5"/>
          <p:cNvSpPr txBox="1">
            <a:spLocks noGrp="1"/>
          </p:cNvSpPr>
          <p:nvPr>
            <p:ph type="body" idx="3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6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6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7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37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7"/>
          <p:cNvSpPr txBox="1">
            <a:spLocks noGrp="1"/>
          </p:cNvSpPr>
          <p:nvPr>
            <p:ph type="body" idx="2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8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8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8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8"/>
          <p:cNvSpPr txBox="1">
            <a:spLocks noGrp="1"/>
          </p:cNvSpPr>
          <p:nvPr>
            <p:ph type="body" idx="4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9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39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39"/>
          <p:cNvSpPr txBox="1">
            <a:spLocks noGrp="1"/>
          </p:cNvSpPr>
          <p:nvPr>
            <p:ph type="body" idx="2"/>
          </p:nvPr>
        </p:nvSpPr>
        <p:spPr>
          <a:xfrm>
            <a:off x="228348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39"/>
          <p:cNvSpPr txBox="1">
            <a:spLocks noGrp="1"/>
          </p:cNvSpPr>
          <p:nvPr>
            <p:ph type="body" idx="3"/>
          </p:nvPr>
        </p:nvSpPr>
        <p:spPr>
          <a:xfrm>
            <a:off x="340164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9"/>
          <p:cNvSpPr txBox="1">
            <a:spLocks noGrp="1"/>
          </p:cNvSpPr>
          <p:nvPr>
            <p:ph type="body" idx="4"/>
          </p:nvPr>
        </p:nvSpPr>
        <p:spPr>
          <a:xfrm>
            <a:off x="116532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39"/>
          <p:cNvSpPr txBox="1">
            <a:spLocks noGrp="1"/>
          </p:cNvSpPr>
          <p:nvPr>
            <p:ph type="body" idx="5"/>
          </p:nvPr>
        </p:nvSpPr>
        <p:spPr>
          <a:xfrm>
            <a:off x="228348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39"/>
          <p:cNvSpPr txBox="1">
            <a:spLocks noGrp="1"/>
          </p:cNvSpPr>
          <p:nvPr>
            <p:ph type="body" idx="6"/>
          </p:nvPr>
        </p:nvSpPr>
        <p:spPr>
          <a:xfrm>
            <a:off x="340164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037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319040" y="2876400"/>
            <a:ext cx="6680160" cy="15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903600" y="3563640"/>
            <a:ext cx="360" cy="32940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999FA9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r-HR"/>
          </a:p>
        </p:txBody>
      </p:sp>
      <p:sp>
        <p:nvSpPr>
          <p:cNvPr id="8" name="Google Shape;8;p1"/>
          <p:cNvSpPr/>
          <p:nvPr/>
        </p:nvSpPr>
        <p:spPr>
          <a:xfrm>
            <a:off x="768960" y="3294360"/>
            <a:ext cx="268920" cy="268920"/>
          </a:xfrm>
          <a:prstGeom prst="ellipse">
            <a:avLst/>
          </a:prstGeom>
          <a:solidFill>
            <a:srgbClr val="39C0BA"/>
          </a:solidFill>
          <a:ln w="28425" cap="flat" cmpd="sng">
            <a:solidFill>
              <a:srgbClr val="2E30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037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1530000" y="3076920"/>
            <a:ext cx="6766920" cy="70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903960" y="-7920"/>
            <a:ext cx="360" cy="6865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999FA9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r-HR"/>
          </a:p>
        </p:txBody>
      </p:sp>
      <p:sp>
        <p:nvSpPr>
          <p:cNvPr id="61" name="Google Shape;61;p14"/>
          <p:cNvSpPr/>
          <p:nvPr/>
        </p:nvSpPr>
        <p:spPr>
          <a:xfrm>
            <a:off x="493560" y="3018960"/>
            <a:ext cx="819720" cy="819720"/>
          </a:xfrm>
          <a:prstGeom prst="ellipse">
            <a:avLst/>
          </a:prstGeom>
          <a:solidFill>
            <a:srgbClr val="39C0BA"/>
          </a:solidFill>
          <a:ln w="28425" cap="flat" cmpd="sng">
            <a:solidFill>
              <a:srgbClr val="2E30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037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3" name="Google Shape;113;p27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body" idx="2"/>
          </p:nvPr>
        </p:nvSpPr>
        <p:spPr>
          <a:xfrm>
            <a:off x="46717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5" name="Google Shape;115;p27"/>
          <p:cNvSpPr/>
          <p:nvPr/>
        </p:nvSpPr>
        <p:spPr>
          <a:xfrm>
            <a:off x="903960" y="-7920"/>
            <a:ext cx="360" cy="6865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999FA9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r-HR"/>
          </a:p>
        </p:txBody>
      </p:sp>
      <p:sp>
        <p:nvSpPr>
          <p:cNvPr id="116" name="Google Shape;116;p27"/>
          <p:cNvSpPr/>
          <p:nvPr/>
        </p:nvSpPr>
        <p:spPr>
          <a:xfrm>
            <a:off x="808560" y="800640"/>
            <a:ext cx="189720" cy="189720"/>
          </a:xfrm>
          <a:prstGeom prst="ellipse">
            <a:avLst/>
          </a:prstGeom>
          <a:solidFill>
            <a:srgbClr val="39C0BA"/>
          </a:solidFill>
          <a:ln w="28425" cap="flat" cmpd="sng">
            <a:solidFill>
              <a:srgbClr val="2E30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7"/>
          <p:cNvSpPr/>
          <p:nvPr/>
        </p:nvSpPr>
        <p:spPr>
          <a:xfrm>
            <a:off x="768960" y="1861920"/>
            <a:ext cx="268920" cy="268920"/>
          </a:xfrm>
          <a:prstGeom prst="ellipse">
            <a:avLst/>
          </a:prstGeom>
          <a:solidFill>
            <a:srgbClr val="2E3037"/>
          </a:solidFill>
          <a:ln w="9525" cap="flat" cmpd="sng">
            <a:solidFill>
              <a:srgbClr val="999FA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0"/>
          <p:cNvSpPr txBox="1"/>
          <p:nvPr/>
        </p:nvSpPr>
        <p:spPr>
          <a:xfrm>
            <a:off x="1319040" y="2876400"/>
            <a:ext cx="6680160" cy="15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6000" b="0" i="0" u="none" strike="noStrike" cap="non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Paralelno programiranje</a:t>
            </a:r>
            <a:endParaRPr sz="6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1"/>
          <p:cNvSpPr txBox="1"/>
          <p:nvPr/>
        </p:nvSpPr>
        <p:spPr>
          <a:xfrm>
            <a:off x="1530000" y="3076920"/>
            <a:ext cx="6766920" cy="70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0" i="0" u="none" strike="noStrike" cap="non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Osnove </a:t>
            </a:r>
            <a:r>
              <a:rPr lang="hr-HR" sz="3000" b="0" i="0" u="none" strike="noStrike" cap="non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paralelizacije</a:t>
            </a:r>
            <a:endParaRPr lang="hr-HR" sz="3000" b="0" i="0" u="none" strike="noStrike" cap="none" dirty="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000" b="0" i="0" u="none" strike="noStrike" cap="non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Uvod i Framework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1"/>
          <p:cNvSpPr txBox="1"/>
          <p:nvPr/>
        </p:nvSpPr>
        <p:spPr>
          <a:xfrm>
            <a:off x="1530000" y="3710520"/>
            <a:ext cx="6927480" cy="47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7" name="Google Shape;177;p41"/>
          <p:cNvSpPr/>
          <p:nvPr/>
        </p:nvSpPr>
        <p:spPr>
          <a:xfrm>
            <a:off x="502560" y="3039840"/>
            <a:ext cx="802080" cy="78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0" i="0" u="none" strike="noStrike" cap="none">
                <a:solidFill>
                  <a:srgbClr val="2E3037"/>
                </a:solidFill>
                <a:latin typeface="Quicksand"/>
                <a:ea typeface="Quicksand"/>
                <a:cs typeface="Quicksand"/>
                <a:sym typeface="Quicksand"/>
              </a:rPr>
              <a:t>1</a:t>
            </a:r>
            <a:endParaRPr sz="3000" b="0" i="0" u="none" strike="noStrike" cap="non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Zašto više nema bržih procesora?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2"/>
          <p:cNvSpPr/>
          <p:nvPr/>
        </p:nvSpPr>
        <p:spPr>
          <a:xfrm>
            <a:off x="322162" y="1245452"/>
            <a:ext cx="730044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05140" marR="0" lvl="1" indent="-3429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hr-HR" sz="2400" b="1" i="0" u="none" strike="noStrike" cap="none" dirty="0">
                <a:solidFill>
                  <a:schemeClr val="bg1"/>
                </a:solidFill>
                <a:latin typeface="Cambria"/>
                <a:ea typeface="Cambria"/>
                <a:cs typeface="Cambria"/>
                <a:sym typeface="Cambria"/>
              </a:rPr>
              <a:t>Što vidimo na grafu?</a:t>
            </a:r>
            <a:endParaRPr sz="2400" b="1" i="0" u="none" strike="noStrike" cap="none" dirty="0">
              <a:solidFill>
                <a:schemeClr val="bg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026" name="Picture 2" descr="42 Years of Microprocessor Trend Data | Karl Rupp">
            <a:extLst>
              <a:ext uri="{FF2B5EF4-FFF2-40B4-BE49-F238E27FC236}">
                <a16:creationId xmlns:a16="http://schemas.microsoft.com/office/drawing/2014/main" id="{21DA5BE9-D721-5785-C250-B0CE503EA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77592"/>
            <a:ext cx="6274278" cy="3975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niOkvir 1">
            <a:extLst>
              <a:ext uri="{FF2B5EF4-FFF2-40B4-BE49-F238E27FC236}">
                <a16:creationId xmlns:a16="http://schemas.microsoft.com/office/drawing/2014/main" id="{5E0230F5-398C-7A9F-8F1F-DEB9398B2C4B}"/>
              </a:ext>
            </a:extLst>
          </p:cNvPr>
          <p:cNvSpPr txBox="1"/>
          <p:nvPr/>
        </p:nvSpPr>
        <p:spPr>
          <a:xfrm>
            <a:off x="6274278" y="2351088"/>
            <a:ext cx="2869722" cy="8309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hr-HR" sz="1600" b="1" dirty="0"/>
              <a:t>Tranzistori:</a:t>
            </a:r>
            <a:r>
              <a:rPr lang="hr-HR" sz="1600" dirty="0"/>
              <a:t> i dalje rastu eksponencijalno → </a:t>
            </a:r>
            <a:r>
              <a:rPr lang="hr-HR" sz="1600" dirty="0" err="1"/>
              <a:t>Mooreov</a:t>
            </a:r>
            <a:r>
              <a:rPr lang="hr-HR" sz="1600" dirty="0"/>
              <a:t> zakon VRIJEDI!</a:t>
            </a: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E3BB53BC-2162-EFC8-BFD9-A972C8198DA0}"/>
              </a:ext>
            </a:extLst>
          </p:cNvPr>
          <p:cNvSpPr txBox="1"/>
          <p:nvPr/>
        </p:nvSpPr>
        <p:spPr>
          <a:xfrm>
            <a:off x="6274278" y="3162477"/>
            <a:ext cx="2869722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600" b="1" dirty="0"/>
              <a:t>Single-</a:t>
            </a:r>
            <a:r>
              <a:rPr lang="it-IT" sz="1600" b="1" dirty="0" err="1"/>
              <a:t>Thread</a:t>
            </a:r>
            <a:r>
              <a:rPr lang="it-IT" sz="1600" b="1" dirty="0"/>
              <a:t> Performance</a:t>
            </a:r>
            <a:r>
              <a:rPr lang="hr-HR" sz="1600" b="1" dirty="0"/>
              <a:t>: </a:t>
            </a:r>
            <a:r>
              <a:rPr lang="it-IT" sz="1600" dirty="0" err="1"/>
              <a:t>Sporo</a:t>
            </a:r>
            <a:r>
              <a:rPr lang="it-IT" sz="1600" dirty="0"/>
              <a:t> </a:t>
            </a:r>
            <a:r>
              <a:rPr lang="it-IT" sz="1600" dirty="0" err="1"/>
              <a:t>raste</a:t>
            </a:r>
            <a:r>
              <a:rPr lang="it-IT" sz="1600" dirty="0"/>
              <a:t> → </a:t>
            </a:r>
            <a:r>
              <a:rPr lang="it-IT" sz="1600" dirty="0" err="1"/>
              <a:t>Jedva</a:t>
            </a:r>
            <a:r>
              <a:rPr lang="it-IT" sz="1600" dirty="0"/>
              <a:t> se </a:t>
            </a:r>
            <a:r>
              <a:rPr lang="it-IT" sz="1600" dirty="0" err="1"/>
              <a:t>povećava</a:t>
            </a:r>
            <a:endParaRPr lang="hr-HR" sz="1600" dirty="0"/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3A72FAF4-62D5-C695-0CD2-9BB890BB1494}"/>
              </a:ext>
            </a:extLst>
          </p:cNvPr>
          <p:cNvSpPr txBox="1"/>
          <p:nvPr/>
        </p:nvSpPr>
        <p:spPr>
          <a:xfrm>
            <a:off x="6274278" y="4001941"/>
            <a:ext cx="2869722" cy="83099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hr-HR" sz="1600" b="1" dirty="0"/>
              <a:t>Frekvencija</a:t>
            </a:r>
            <a:r>
              <a:rPr lang="hr-HR" sz="1600" dirty="0"/>
              <a:t>: Stagnira od ~2005. → Oko 3-4 GHz maksimum</a:t>
            </a: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C6E13F38-A833-6374-3ED5-DDDED70ACF41}"/>
              </a:ext>
            </a:extLst>
          </p:cNvPr>
          <p:cNvSpPr txBox="1"/>
          <p:nvPr/>
        </p:nvSpPr>
        <p:spPr>
          <a:xfrm>
            <a:off x="6274278" y="4832938"/>
            <a:ext cx="2869722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hr-HR" sz="1600" b="1" dirty="0"/>
              <a:t>Snaga</a:t>
            </a:r>
            <a:r>
              <a:rPr lang="hr-HR" sz="1600" dirty="0"/>
              <a:t>: Dostigla ~100W limit → Ne možemo više!</a:t>
            </a: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9D0C4932-F4DD-580B-9EAC-F71216C5B29C}"/>
              </a:ext>
            </a:extLst>
          </p:cNvPr>
          <p:cNvSpPr txBox="1"/>
          <p:nvPr/>
        </p:nvSpPr>
        <p:spPr>
          <a:xfrm>
            <a:off x="6274278" y="5417652"/>
            <a:ext cx="2869722" cy="5847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hr-HR" sz="1600" b="1" dirty="0"/>
              <a:t>Broj jezgri: </a:t>
            </a:r>
            <a:r>
              <a:rPr lang="hr-HR" sz="1600" dirty="0"/>
              <a:t>Raste! → Ovo je novo rješenje</a:t>
            </a:r>
          </a:p>
        </p:txBody>
      </p:sp>
      <p:sp>
        <p:nvSpPr>
          <p:cNvPr id="7" name="TekstniOkvir 6">
            <a:extLst>
              <a:ext uri="{FF2B5EF4-FFF2-40B4-BE49-F238E27FC236}">
                <a16:creationId xmlns:a16="http://schemas.microsoft.com/office/drawing/2014/main" id="{DCE91999-FDAC-227A-ABFC-A3448170B190}"/>
              </a:ext>
            </a:extLst>
          </p:cNvPr>
          <p:cNvSpPr txBox="1"/>
          <p:nvPr/>
        </p:nvSpPr>
        <p:spPr>
          <a:xfrm>
            <a:off x="322162" y="6307368"/>
            <a:ext cx="8709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800" dirty="0">
                <a:solidFill>
                  <a:schemeClr val="bg1"/>
                </a:solidFill>
              </a:rPr>
              <a:t>Dobivamo više tranzistora, ali ne brže jezgre → moramo koristiti </a:t>
            </a:r>
            <a:r>
              <a:rPr lang="hr-HR" sz="1800" b="1" dirty="0">
                <a:solidFill>
                  <a:schemeClr val="bg1"/>
                </a:solidFill>
              </a:rPr>
              <a:t>PARALELIZAM</a:t>
            </a:r>
            <a:r>
              <a:rPr lang="hr-HR" sz="1800" dirty="0">
                <a:solidFill>
                  <a:schemeClr val="bg1"/>
                </a:solidFill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3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i="0" u="none" strike="noStrike" cap="none" dirty="0">
                <a:solidFill>
                  <a:srgbClr val="39C0BA"/>
                </a:solidFill>
                <a:latin typeface="Quicksand" panose="020B0604020202020204" charset="0"/>
                <a:sym typeface="Arial"/>
              </a:rPr>
              <a:t>Proces izrade paralelnog programa</a:t>
            </a:r>
            <a:endParaRPr sz="2400" b="0" i="0" u="none" strike="noStrike" cap="none" dirty="0">
              <a:solidFill>
                <a:srgbClr val="39C0BA"/>
              </a:solidFill>
              <a:latin typeface="Quicksand" panose="020B0604020202020204" charset="0"/>
              <a:sym typeface="Arial"/>
            </a:endParaRPr>
          </a:p>
        </p:txBody>
      </p:sp>
      <p:sp>
        <p:nvSpPr>
          <p:cNvPr id="2" name="Pravokutnik 1">
            <a:extLst>
              <a:ext uri="{FF2B5EF4-FFF2-40B4-BE49-F238E27FC236}">
                <a16:creationId xmlns:a16="http://schemas.microsoft.com/office/drawing/2014/main" id="{A76184A7-9877-BF66-1A41-F8BDBD7259C8}"/>
              </a:ext>
            </a:extLst>
          </p:cNvPr>
          <p:cNvSpPr/>
          <p:nvPr/>
        </p:nvSpPr>
        <p:spPr>
          <a:xfrm>
            <a:off x="1847651" y="1294901"/>
            <a:ext cx="1743961" cy="6127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Problem koji trebamo riješiti</a:t>
            </a:r>
          </a:p>
        </p:txBody>
      </p:sp>
      <p:sp>
        <p:nvSpPr>
          <p:cNvPr id="3" name="Pravokutnik 2">
            <a:extLst>
              <a:ext uri="{FF2B5EF4-FFF2-40B4-BE49-F238E27FC236}">
                <a16:creationId xmlns:a16="http://schemas.microsoft.com/office/drawing/2014/main" id="{011A0672-6F88-C925-10E0-59660C95110B}"/>
              </a:ext>
            </a:extLst>
          </p:cNvPr>
          <p:cNvSpPr/>
          <p:nvPr/>
        </p:nvSpPr>
        <p:spPr>
          <a:xfrm>
            <a:off x="1847651" y="2208765"/>
            <a:ext cx="1743961" cy="6127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DECOMPOSITION (dekompozicija)</a:t>
            </a:r>
          </a:p>
        </p:txBody>
      </p:sp>
      <p:sp>
        <p:nvSpPr>
          <p:cNvPr id="4" name="Pravokutnik 3">
            <a:extLst>
              <a:ext uri="{FF2B5EF4-FFF2-40B4-BE49-F238E27FC236}">
                <a16:creationId xmlns:a16="http://schemas.microsoft.com/office/drawing/2014/main" id="{A896ABEA-B181-A70C-DCEC-4600500FD272}"/>
              </a:ext>
            </a:extLst>
          </p:cNvPr>
          <p:cNvSpPr/>
          <p:nvPr/>
        </p:nvSpPr>
        <p:spPr>
          <a:xfrm>
            <a:off x="1847651" y="3122629"/>
            <a:ext cx="1743961" cy="6127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ASSIGNMENT</a:t>
            </a:r>
          </a:p>
          <a:p>
            <a:pPr algn="ctr"/>
            <a:r>
              <a:rPr lang="hr-HR" dirty="0"/>
              <a:t>(Dodjela)</a:t>
            </a:r>
          </a:p>
        </p:txBody>
      </p:sp>
      <p:sp>
        <p:nvSpPr>
          <p:cNvPr id="5" name="Pravokutnik 4">
            <a:extLst>
              <a:ext uri="{FF2B5EF4-FFF2-40B4-BE49-F238E27FC236}">
                <a16:creationId xmlns:a16="http://schemas.microsoft.com/office/drawing/2014/main" id="{A7C218C4-9D65-3033-3375-15D88F4019B1}"/>
              </a:ext>
            </a:extLst>
          </p:cNvPr>
          <p:cNvSpPr/>
          <p:nvPr/>
        </p:nvSpPr>
        <p:spPr>
          <a:xfrm>
            <a:off x="1847651" y="4036493"/>
            <a:ext cx="1743961" cy="6127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ORCHESTRATION(Orkestracija)</a:t>
            </a:r>
          </a:p>
        </p:txBody>
      </p:sp>
      <p:sp>
        <p:nvSpPr>
          <p:cNvPr id="8" name="Pravokutnik 7">
            <a:extLst>
              <a:ext uri="{FF2B5EF4-FFF2-40B4-BE49-F238E27FC236}">
                <a16:creationId xmlns:a16="http://schemas.microsoft.com/office/drawing/2014/main" id="{5202275E-289B-8FA0-A5B8-E04E5A1CAF9A}"/>
              </a:ext>
            </a:extLst>
          </p:cNvPr>
          <p:cNvSpPr/>
          <p:nvPr/>
        </p:nvSpPr>
        <p:spPr>
          <a:xfrm>
            <a:off x="1847651" y="4950357"/>
            <a:ext cx="1743961" cy="6127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MAPPING</a:t>
            </a:r>
          </a:p>
          <a:p>
            <a:pPr algn="ctr"/>
            <a:r>
              <a:rPr lang="hr-HR" dirty="0"/>
              <a:t>(Preslikavanje)</a:t>
            </a:r>
          </a:p>
        </p:txBody>
      </p:sp>
      <p:sp>
        <p:nvSpPr>
          <p:cNvPr id="9" name="Pravokutnik 8">
            <a:extLst>
              <a:ext uri="{FF2B5EF4-FFF2-40B4-BE49-F238E27FC236}">
                <a16:creationId xmlns:a16="http://schemas.microsoft.com/office/drawing/2014/main" id="{19697BB2-BBE7-BF59-109D-FDBDC356EEF2}"/>
              </a:ext>
            </a:extLst>
          </p:cNvPr>
          <p:cNvSpPr/>
          <p:nvPr/>
        </p:nvSpPr>
        <p:spPr>
          <a:xfrm>
            <a:off x="1847651" y="5864221"/>
            <a:ext cx="1743961" cy="6127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Izvođenje na paralelnoj mašini</a:t>
            </a:r>
          </a:p>
        </p:txBody>
      </p:sp>
      <p:cxnSp>
        <p:nvCxnSpPr>
          <p:cNvPr id="11" name="Ravni poveznik sa strelicom 10">
            <a:extLst>
              <a:ext uri="{FF2B5EF4-FFF2-40B4-BE49-F238E27FC236}">
                <a16:creationId xmlns:a16="http://schemas.microsoft.com/office/drawing/2014/main" id="{859495D6-1B17-25B7-AAE3-0A72B13F4D1C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>
            <a:off x="2719632" y="1907643"/>
            <a:ext cx="0" cy="30112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avni poveznik sa strelicom 12">
            <a:extLst>
              <a:ext uri="{FF2B5EF4-FFF2-40B4-BE49-F238E27FC236}">
                <a16:creationId xmlns:a16="http://schemas.microsoft.com/office/drawing/2014/main" id="{1098FE4E-0B71-58CC-8BF8-85A57768F6AD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2719632" y="2821507"/>
            <a:ext cx="0" cy="30112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avni poveznik sa strelicom 15">
            <a:extLst>
              <a:ext uri="{FF2B5EF4-FFF2-40B4-BE49-F238E27FC236}">
                <a16:creationId xmlns:a16="http://schemas.microsoft.com/office/drawing/2014/main" id="{93FB9418-5C13-DADD-FAF2-C6080E9C1F7B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2719632" y="3735371"/>
            <a:ext cx="0" cy="30112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Ravni poveznik sa strelicom 18">
            <a:extLst>
              <a:ext uri="{FF2B5EF4-FFF2-40B4-BE49-F238E27FC236}">
                <a16:creationId xmlns:a16="http://schemas.microsoft.com/office/drawing/2014/main" id="{607E1550-6C60-3096-D3EC-C514E0B486E6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2719632" y="4649235"/>
            <a:ext cx="0" cy="30112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Ravni poveznik sa strelicom 21">
            <a:extLst>
              <a:ext uri="{FF2B5EF4-FFF2-40B4-BE49-F238E27FC236}">
                <a16:creationId xmlns:a16="http://schemas.microsoft.com/office/drawing/2014/main" id="{ADD29651-88B9-C0C4-7B86-272404D5601E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2719632" y="5563099"/>
            <a:ext cx="0" cy="30112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kstniOkvir 24">
            <a:extLst>
              <a:ext uri="{FF2B5EF4-FFF2-40B4-BE49-F238E27FC236}">
                <a16:creationId xmlns:a16="http://schemas.microsoft.com/office/drawing/2014/main" id="{AB661ABC-F175-E135-972D-0666536FCDAB}"/>
              </a:ext>
            </a:extLst>
          </p:cNvPr>
          <p:cNvSpPr txBox="1"/>
          <p:nvPr/>
        </p:nvSpPr>
        <p:spPr>
          <a:xfrm>
            <a:off x="3902044" y="2361247"/>
            <a:ext cx="22942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Razbij problem na </a:t>
            </a:r>
            <a:r>
              <a:rPr lang="hr-HR" dirty="0" err="1">
                <a:solidFill>
                  <a:schemeClr val="bg1"/>
                </a:solidFill>
              </a:rPr>
              <a:t>taskove</a:t>
            </a:r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26" name="TekstniOkvir 25">
            <a:extLst>
              <a:ext uri="{FF2B5EF4-FFF2-40B4-BE49-F238E27FC236}">
                <a16:creationId xmlns:a16="http://schemas.microsoft.com/office/drawing/2014/main" id="{FCD99E1D-238D-359D-4AE9-35A27D5AC2FE}"/>
              </a:ext>
            </a:extLst>
          </p:cNvPr>
          <p:cNvSpPr txBox="1"/>
          <p:nvPr/>
        </p:nvSpPr>
        <p:spPr>
          <a:xfrm>
            <a:off x="2761424" y="2845630"/>
            <a:ext cx="11496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200" dirty="0">
                <a:solidFill>
                  <a:schemeClr val="bg1"/>
                </a:solidFill>
              </a:rPr>
              <a:t>Zadaci (</a:t>
            </a:r>
            <a:r>
              <a:rPr lang="hr-HR" sz="1200" dirty="0" err="1">
                <a:solidFill>
                  <a:schemeClr val="bg1"/>
                </a:solidFill>
              </a:rPr>
              <a:t>tasks</a:t>
            </a:r>
            <a:r>
              <a:rPr lang="hr-HR" sz="1200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28" name="Ravni poveznik sa strelicom 27">
            <a:extLst>
              <a:ext uri="{FF2B5EF4-FFF2-40B4-BE49-F238E27FC236}">
                <a16:creationId xmlns:a16="http://schemas.microsoft.com/office/drawing/2014/main" id="{4C49C5D5-B344-C20A-E054-4DE241982E23}"/>
              </a:ext>
            </a:extLst>
          </p:cNvPr>
          <p:cNvCxnSpPr>
            <a:stCxn id="25" idx="1"/>
            <a:endCxn id="3" idx="3"/>
          </p:cNvCxnSpPr>
          <p:nvPr/>
        </p:nvCxnSpPr>
        <p:spPr>
          <a:xfrm flipH="1">
            <a:off x="3591612" y="2515136"/>
            <a:ext cx="31043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kstniOkvir 28">
            <a:extLst>
              <a:ext uri="{FF2B5EF4-FFF2-40B4-BE49-F238E27FC236}">
                <a16:creationId xmlns:a16="http://schemas.microsoft.com/office/drawing/2014/main" id="{36702130-6057-4141-EFFF-62AC8EBF107A}"/>
              </a:ext>
            </a:extLst>
          </p:cNvPr>
          <p:cNvSpPr txBox="1"/>
          <p:nvPr/>
        </p:nvSpPr>
        <p:spPr>
          <a:xfrm>
            <a:off x="3911098" y="3275111"/>
            <a:ext cx="22942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Dodijeli </a:t>
            </a:r>
            <a:r>
              <a:rPr lang="hr-HR" dirty="0" err="1">
                <a:solidFill>
                  <a:schemeClr val="bg1"/>
                </a:solidFill>
              </a:rPr>
              <a:t>taskove</a:t>
            </a:r>
            <a:r>
              <a:rPr lang="hr-HR" dirty="0">
                <a:solidFill>
                  <a:schemeClr val="bg1"/>
                </a:solidFill>
              </a:rPr>
              <a:t> radnicima</a:t>
            </a:r>
          </a:p>
        </p:txBody>
      </p:sp>
      <p:cxnSp>
        <p:nvCxnSpPr>
          <p:cNvPr id="30" name="Ravni poveznik sa strelicom 29">
            <a:extLst>
              <a:ext uri="{FF2B5EF4-FFF2-40B4-BE49-F238E27FC236}">
                <a16:creationId xmlns:a16="http://schemas.microsoft.com/office/drawing/2014/main" id="{F886A7E8-6BDC-4297-E222-6C163825E9A9}"/>
              </a:ext>
            </a:extLst>
          </p:cNvPr>
          <p:cNvCxnSpPr>
            <a:cxnSpLocks/>
            <a:stCxn id="29" idx="1"/>
            <a:endCxn id="4" idx="3"/>
          </p:cNvCxnSpPr>
          <p:nvPr/>
        </p:nvCxnSpPr>
        <p:spPr>
          <a:xfrm flipH="1">
            <a:off x="3591612" y="3429000"/>
            <a:ext cx="31948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kstniOkvir 32">
            <a:extLst>
              <a:ext uri="{FF2B5EF4-FFF2-40B4-BE49-F238E27FC236}">
                <a16:creationId xmlns:a16="http://schemas.microsoft.com/office/drawing/2014/main" id="{31597530-ADE4-EB62-17C5-58B9F5B7211D}"/>
              </a:ext>
            </a:extLst>
          </p:cNvPr>
          <p:cNvSpPr txBox="1"/>
          <p:nvPr/>
        </p:nvSpPr>
        <p:spPr>
          <a:xfrm>
            <a:off x="2761424" y="3774180"/>
            <a:ext cx="17267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200" dirty="0">
                <a:solidFill>
                  <a:schemeClr val="bg1"/>
                </a:solidFill>
              </a:rPr>
              <a:t>Paralelne niti (</a:t>
            </a:r>
            <a:r>
              <a:rPr lang="hr-HR" sz="1200" dirty="0" err="1">
                <a:solidFill>
                  <a:schemeClr val="bg1"/>
                </a:solidFill>
              </a:rPr>
              <a:t>threads</a:t>
            </a:r>
            <a:r>
              <a:rPr lang="hr-HR" sz="12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34" name="TekstniOkvir 33">
            <a:extLst>
              <a:ext uri="{FF2B5EF4-FFF2-40B4-BE49-F238E27FC236}">
                <a16:creationId xmlns:a16="http://schemas.microsoft.com/office/drawing/2014/main" id="{22234502-AE71-2F26-8706-0CF522756B69}"/>
              </a:ext>
            </a:extLst>
          </p:cNvPr>
          <p:cNvSpPr txBox="1"/>
          <p:nvPr/>
        </p:nvSpPr>
        <p:spPr>
          <a:xfrm>
            <a:off x="3911098" y="4188975"/>
            <a:ext cx="18469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Koordiniraj izvođenje</a:t>
            </a:r>
          </a:p>
        </p:txBody>
      </p:sp>
      <p:cxnSp>
        <p:nvCxnSpPr>
          <p:cNvPr id="35" name="Ravni poveznik sa strelicom 34">
            <a:extLst>
              <a:ext uri="{FF2B5EF4-FFF2-40B4-BE49-F238E27FC236}">
                <a16:creationId xmlns:a16="http://schemas.microsoft.com/office/drawing/2014/main" id="{3B698FC2-53DF-6FD7-5973-CE7BA1876F4A}"/>
              </a:ext>
            </a:extLst>
          </p:cNvPr>
          <p:cNvCxnSpPr>
            <a:cxnSpLocks/>
            <a:stCxn id="34" idx="1"/>
            <a:endCxn id="5" idx="3"/>
          </p:cNvCxnSpPr>
          <p:nvPr/>
        </p:nvCxnSpPr>
        <p:spPr>
          <a:xfrm flipH="1">
            <a:off x="3591612" y="4342864"/>
            <a:ext cx="31948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kstniOkvir 38">
            <a:extLst>
              <a:ext uri="{FF2B5EF4-FFF2-40B4-BE49-F238E27FC236}">
                <a16:creationId xmlns:a16="http://schemas.microsoft.com/office/drawing/2014/main" id="{80987AA8-1094-C119-D7E0-9BBD16172D33}"/>
              </a:ext>
            </a:extLst>
          </p:cNvPr>
          <p:cNvSpPr txBox="1"/>
          <p:nvPr/>
        </p:nvSpPr>
        <p:spPr>
          <a:xfrm>
            <a:off x="2761424" y="4688044"/>
            <a:ext cx="13933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200" dirty="0">
                <a:solidFill>
                  <a:schemeClr val="bg1"/>
                </a:solidFill>
              </a:rPr>
              <a:t>Paralelni program</a:t>
            </a:r>
          </a:p>
        </p:txBody>
      </p:sp>
      <p:sp>
        <p:nvSpPr>
          <p:cNvPr id="40" name="TekstniOkvir 39">
            <a:extLst>
              <a:ext uri="{FF2B5EF4-FFF2-40B4-BE49-F238E27FC236}">
                <a16:creationId xmlns:a16="http://schemas.microsoft.com/office/drawing/2014/main" id="{9140DD9F-ECCF-669C-26D2-3959365DB37E}"/>
              </a:ext>
            </a:extLst>
          </p:cNvPr>
          <p:cNvSpPr txBox="1"/>
          <p:nvPr/>
        </p:nvSpPr>
        <p:spPr>
          <a:xfrm>
            <a:off x="3902044" y="5102839"/>
            <a:ext cx="17668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Preslikaj na hardver</a:t>
            </a:r>
          </a:p>
        </p:txBody>
      </p:sp>
      <p:cxnSp>
        <p:nvCxnSpPr>
          <p:cNvPr id="41" name="Ravni poveznik sa strelicom 40">
            <a:extLst>
              <a:ext uri="{FF2B5EF4-FFF2-40B4-BE49-F238E27FC236}">
                <a16:creationId xmlns:a16="http://schemas.microsoft.com/office/drawing/2014/main" id="{770D8774-8946-70BC-3529-ED9706A10EFA}"/>
              </a:ext>
            </a:extLst>
          </p:cNvPr>
          <p:cNvCxnSpPr>
            <a:cxnSpLocks/>
            <a:stCxn id="40" idx="1"/>
            <a:endCxn id="8" idx="3"/>
          </p:cNvCxnSpPr>
          <p:nvPr/>
        </p:nvCxnSpPr>
        <p:spPr>
          <a:xfrm flipH="1">
            <a:off x="3591612" y="5256728"/>
            <a:ext cx="31043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kstniOkvir 44">
            <a:extLst>
              <a:ext uri="{FF2B5EF4-FFF2-40B4-BE49-F238E27FC236}">
                <a16:creationId xmlns:a16="http://schemas.microsoft.com/office/drawing/2014/main" id="{D6584DEE-B2DE-B9BF-5BDE-380CC557C4E1}"/>
              </a:ext>
            </a:extLst>
          </p:cNvPr>
          <p:cNvSpPr txBox="1"/>
          <p:nvPr/>
        </p:nvSpPr>
        <p:spPr>
          <a:xfrm>
            <a:off x="4834588" y="6153480"/>
            <a:ext cx="31999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b="1" dirty="0">
                <a:solidFill>
                  <a:schemeClr val="bg1"/>
                </a:solidFill>
              </a:rPr>
              <a:t>Cilj:</a:t>
            </a:r>
            <a:r>
              <a:rPr lang="hr-HR" dirty="0">
                <a:solidFill>
                  <a:schemeClr val="bg1"/>
                </a:solidFill>
              </a:rPr>
              <a:t> Maksimizirati ubrzanje izvođenja!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6C56323F-69A5-B858-DC4E-F90E0F29E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1">
            <a:extLst>
              <a:ext uri="{FF2B5EF4-FFF2-40B4-BE49-F238E27FC236}">
                <a16:creationId xmlns:a16="http://schemas.microsoft.com/office/drawing/2014/main" id="{E74EB87C-747B-DB30-EE05-6988A8594083}"/>
              </a:ext>
            </a:extLst>
          </p:cNvPr>
          <p:cNvSpPr txBox="1"/>
          <p:nvPr/>
        </p:nvSpPr>
        <p:spPr>
          <a:xfrm>
            <a:off x="1530000" y="3076920"/>
            <a:ext cx="6766920" cy="70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0" i="0" u="none" strike="noStrike" cap="non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Decomposition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1">
            <a:extLst>
              <a:ext uri="{FF2B5EF4-FFF2-40B4-BE49-F238E27FC236}">
                <a16:creationId xmlns:a16="http://schemas.microsoft.com/office/drawing/2014/main" id="{E48412ED-4648-217F-0E04-E4E382371164}"/>
              </a:ext>
            </a:extLst>
          </p:cNvPr>
          <p:cNvSpPr txBox="1"/>
          <p:nvPr/>
        </p:nvSpPr>
        <p:spPr>
          <a:xfrm>
            <a:off x="1530000" y="3710520"/>
            <a:ext cx="6927480" cy="47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7" name="Google Shape;177;p41">
            <a:extLst>
              <a:ext uri="{FF2B5EF4-FFF2-40B4-BE49-F238E27FC236}">
                <a16:creationId xmlns:a16="http://schemas.microsoft.com/office/drawing/2014/main" id="{1454D0EE-A83C-EDDF-122E-23D679CC4336}"/>
              </a:ext>
            </a:extLst>
          </p:cNvPr>
          <p:cNvSpPr/>
          <p:nvPr/>
        </p:nvSpPr>
        <p:spPr>
          <a:xfrm>
            <a:off x="502560" y="3039840"/>
            <a:ext cx="802080" cy="78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dirty="0">
                <a:solidFill>
                  <a:srgbClr val="2E3037"/>
                </a:solidFill>
                <a:latin typeface="Quicksand"/>
                <a:ea typeface="Cambria"/>
                <a:cs typeface="Cambria"/>
                <a:sym typeface="Quicksand"/>
              </a:rPr>
              <a:t>2</a:t>
            </a:r>
            <a:endParaRPr sz="30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07413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Decomposition</a:t>
            </a:r>
            <a:r>
              <a:rPr lang="hr-HR" sz="2400" b="0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- Identifikacija paralelnog posla</a:t>
            </a:r>
            <a:endParaRPr sz="24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4"/>
          <p:cNvSpPr/>
          <p:nvPr/>
        </p:nvSpPr>
        <p:spPr>
          <a:xfrm>
            <a:off x="1038600" y="1368000"/>
            <a:ext cx="7300440" cy="478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Što je dekompozicija?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i="0" u="none" strike="noStrike" cap="none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Razbijanje problema na manje jedinice posla (</a:t>
            </a:r>
            <a:r>
              <a:rPr lang="hr-HR" sz="1800" b="1" i="0" u="none" strike="noStrike" cap="none" dirty="0" err="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taskove</a:t>
            </a:r>
            <a:r>
              <a:rPr lang="hr-HR" sz="1800" b="1" i="0" u="none" strike="noStrike" cap="none" dirty="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) koje se mogu izvršavati neovisno ili s minimalnim zavisnostima.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hr-HR" sz="1800" b="1" dirty="0">
              <a:solidFill>
                <a:srgbClr val="FFFFFF"/>
              </a:solidFill>
              <a:latin typeface="Quicksand"/>
              <a:ea typeface="Cambria"/>
              <a:cs typeface="Cambria"/>
              <a:sym typeface="Quicksand"/>
            </a:endParaRPr>
          </a:p>
          <a:p>
            <a:pPr lvl="0"/>
            <a:r>
              <a:rPr lang="hr-HR" sz="1800" b="1" dirty="0">
                <a:solidFill>
                  <a:srgbClr val="39C0BA"/>
                </a:solidFill>
                <a:latin typeface="Quicksand" panose="020B0604020202020204" charset="0"/>
              </a:rPr>
              <a:t>Ciljevi dekompozicije:</a:t>
            </a:r>
          </a:p>
          <a:p>
            <a:pPr marL="285750" lvl="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strike="noStrike" dirty="0">
                <a:solidFill>
                  <a:schemeClr val="bg1"/>
                </a:solidFill>
                <a:latin typeface="+mj-lt"/>
                <a:ea typeface="Cambria"/>
                <a:cs typeface="Cambria"/>
                <a:sym typeface="Cambria"/>
              </a:rPr>
              <a:t>Stvoriti dovoljno </a:t>
            </a:r>
            <a:r>
              <a:rPr lang="hr-HR" sz="1800" strike="noStrike" dirty="0" err="1">
                <a:solidFill>
                  <a:schemeClr val="bg1"/>
                </a:solidFill>
                <a:latin typeface="+mj-lt"/>
                <a:ea typeface="Cambria"/>
                <a:cs typeface="Cambria"/>
                <a:sym typeface="Cambria"/>
              </a:rPr>
              <a:t>taskova</a:t>
            </a:r>
            <a:r>
              <a:rPr lang="hr-HR" sz="1800" strike="noStrike" dirty="0">
                <a:solidFill>
                  <a:schemeClr val="bg1"/>
                </a:solidFill>
                <a:latin typeface="+mj-lt"/>
                <a:ea typeface="Cambria"/>
                <a:cs typeface="Cambria"/>
                <a:sym typeface="Cambria"/>
              </a:rPr>
              <a:t> da sve jezgre budu zauzete</a:t>
            </a:r>
          </a:p>
          <a:p>
            <a:pPr marL="285750" lvl="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dirty="0">
                <a:solidFill>
                  <a:schemeClr val="bg1"/>
                </a:solidFill>
              </a:rPr>
              <a:t>Balansirati količinu posla po </a:t>
            </a:r>
            <a:r>
              <a:rPr lang="hr-HR" sz="1800" dirty="0" err="1">
                <a:solidFill>
                  <a:schemeClr val="bg1"/>
                </a:solidFill>
              </a:rPr>
              <a:t>tasku</a:t>
            </a:r>
            <a:endParaRPr lang="hr-HR" sz="1800" dirty="0">
              <a:solidFill>
                <a:schemeClr val="bg1"/>
              </a:solidFill>
            </a:endParaRPr>
          </a:p>
          <a:p>
            <a:pPr marL="285750" lvl="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dirty="0">
                <a:solidFill>
                  <a:schemeClr val="bg1"/>
                </a:solidFill>
              </a:rPr>
              <a:t>Minimizirati zavisnosti (</a:t>
            </a:r>
            <a:r>
              <a:rPr lang="hr-HR" sz="1800" dirty="0" err="1">
                <a:solidFill>
                  <a:schemeClr val="bg1"/>
                </a:solidFill>
              </a:rPr>
              <a:t>dependencies</a:t>
            </a:r>
            <a:r>
              <a:rPr lang="hr-HR" sz="1800" dirty="0">
                <a:solidFill>
                  <a:schemeClr val="bg1"/>
                </a:solidFill>
              </a:rPr>
              <a:t>) između </a:t>
            </a:r>
            <a:r>
              <a:rPr lang="hr-HR" sz="1800" dirty="0" err="1">
                <a:solidFill>
                  <a:schemeClr val="bg1"/>
                </a:solidFill>
              </a:rPr>
              <a:t>taskova</a:t>
            </a:r>
            <a:endParaRPr sz="1800" strike="noStrike" dirty="0">
              <a:solidFill>
                <a:schemeClr val="bg1"/>
              </a:solidFill>
              <a:latin typeface="Quicksand" panose="020B0604020202020204" charset="0"/>
              <a:ea typeface="Cambria"/>
              <a:cs typeface="Cambria"/>
              <a:sym typeface="Cambria"/>
            </a:endParaRPr>
          </a:p>
          <a:p>
            <a:pPr marL="457200" marR="0" lvl="0" indent="-10123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2000"/>
              <a:buFont typeface="Quicksand"/>
              <a:buNone/>
            </a:pPr>
            <a:endParaRPr sz="20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177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icksand"/>
              <a:buNone/>
            </a:pPr>
            <a:endParaRPr sz="20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A0363747-778E-E66B-1AD9-668A287AE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DD6B325C-F852-F77E-9AB6-4562AB2D943D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Decomposition</a:t>
            </a:r>
            <a:r>
              <a:rPr lang="hr-HR" sz="2400" b="0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- Identifikacija paralelnog posla</a:t>
            </a:r>
            <a:endParaRPr sz="24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4">
            <a:extLst>
              <a:ext uri="{FF2B5EF4-FFF2-40B4-BE49-F238E27FC236}">
                <a16:creationId xmlns:a16="http://schemas.microsoft.com/office/drawing/2014/main" id="{3DEF05DE-0FEF-D859-CDB0-CC184594AC71}"/>
              </a:ext>
            </a:extLst>
          </p:cNvPr>
          <p:cNvSpPr/>
          <p:nvPr/>
        </p:nvSpPr>
        <p:spPr>
          <a:xfrm>
            <a:off x="1038600" y="1368000"/>
            <a:ext cx="7300440" cy="1438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Tri osnovna pristupa: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hr-HR" sz="1800" b="1" dirty="0">
              <a:solidFill>
                <a:srgbClr val="39C0BA"/>
              </a:solidFill>
              <a:latin typeface="Quicksand"/>
              <a:ea typeface="Cambria"/>
              <a:cs typeface="Cambria"/>
              <a:sym typeface="Quicksa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dirty="0">
                <a:solidFill>
                  <a:srgbClr val="39C0BA"/>
                </a:solidFill>
                <a:latin typeface="Quicksand"/>
                <a:ea typeface="Cambria"/>
                <a:cs typeface="Cambria"/>
                <a:sym typeface="Quicksand"/>
              </a:rPr>
              <a:t>1. TASK PARALLELISM (Funkcionalna dekompozicija)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dirty="0">
                <a:solidFill>
                  <a:srgbClr val="FFFFFF"/>
                </a:solidFill>
                <a:latin typeface="Quicksand"/>
                <a:ea typeface="Cambria"/>
                <a:cs typeface="Cambria"/>
                <a:sym typeface="Quicksand"/>
              </a:rPr>
              <a:t>- Različite funkcije izvršavaju se paralelno</a:t>
            </a:r>
          </a:p>
        </p:txBody>
      </p:sp>
      <p:sp>
        <p:nvSpPr>
          <p:cNvPr id="2" name="Pravokutnik 1">
            <a:extLst>
              <a:ext uri="{FF2B5EF4-FFF2-40B4-BE49-F238E27FC236}">
                <a16:creationId xmlns:a16="http://schemas.microsoft.com/office/drawing/2014/main" id="{6C0CEC7D-8B9E-B63F-2193-0E1E7BEF63EC}"/>
              </a:ext>
            </a:extLst>
          </p:cNvPr>
          <p:cNvSpPr/>
          <p:nvPr/>
        </p:nvSpPr>
        <p:spPr>
          <a:xfrm>
            <a:off x="1557196" y="3202664"/>
            <a:ext cx="1828800" cy="1049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000" b="1" dirty="0"/>
              <a:t>Read Input</a:t>
            </a:r>
          </a:p>
        </p:txBody>
      </p:sp>
      <p:sp>
        <p:nvSpPr>
          <p:cNvPr id="3" name="Pravokutnik 2">
            <a:extLst>
              <a:ext uri="{FF2B5EF4-FFF2-40B4-BE49-F238E27FC236}">
                <a16:creationId xmlns:a16="http://schemas.microsoft.com/office/drawing/2014/main" id="{64E5F600-34C5-C1BE-CC87-C76E5B2732CC}"/>
              </a:ext>
            </a:extLst>
          </p:cNvPr>
          <p:cNvSpPr/>
          <p:nvPr/>
        </p:nvSpPr>
        <p:spPr>
          <a:xfrm>
            <a:off x="3719465" y="3202663"/>
            <a:ext cx="1828800" cy="1049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000" b="1" dirty="0" err="1"/>
              <a:t>Encode</a:t>
            </a:r>
            <a:r>
              <a:rPr lang="hr-HR" sz="2000" b="1" dirty="0"/>
              <a:t> </a:t>
            </a:r>
            <a:r>
              <a:rPr lang="hr-HR" sz="2000" b="1" dirty="0" err="1"/>
              <a:t>Frame</a:t>
            </a:r>
            <a:endParaRPr lang="hr-HR" sz="2000" b="1" dirty="0"/>
          </a:p>
        </p:txBody>
      </p:sp>
      <p:sp>
        <p:nvSpPr>
          <p:cNvPr id="4" name="Pravokutnik 3">
            <a:extLst>
              <a:ext uri="{FF2B5EF4-FFF2-40B4-BE49-F238E27FC236}">
                <a16:creationId xmlns:a16="http://schemas.microsoft.com/office/drawing/2014/main" id="{992BBE48-1A6F-8711-DF4F-73781C4ACB83}"/>
              </a:ext>
            </a:extLst>
          </p:cNvPr>
          <p:cNvSpPr/>
          <p:nvPr/>
        </p:nvSpPr>
        <p:spPr>
          <a:xfrm>
            <a:off x="5881734" y="3202663"/>
            <a:ext cx="1828800" cy="1049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2000" b="1" dirty="0" err="1"/>
              <a:t>Write</a:t>
            </a:r>
            <a:r>
              <a:rPr lang="hr-HR" sz="2000" b="1" dirty="0"/>
              <a:t> Output</a:t>
            </a:r>
          </a:p>
        </p:txBody>
      </p:sp>
      <p:cxnSp>
        <p:nvCxnSpPr>
          <p:cNvPr id="6" name="Ravni poveznik sa strelicom 5">
            <a:extLst>
              <a:ext uri="{FF2B5EF4-FFF2-40B4-BE49-F238E27FC236}">
                <a16:creationId xmlns:a16="http://schemas.microsoft.com/office/drawing/2014/main" id="{EE08726A-D46A-97A6-3485-755B089A8727}"/>
              </a:ext>
            </a:extLst>
          </p:cNvPr>
          <p:cNvCxnSpPr>
            <a:stCxn id="2" idx="3"/>
            <a:endCxn id="3" idx="1"/>
          </p:cNvCxnSpPr>
          <p:nvPr/>
        </p:nvCxnSpPr>
        <p:spPr>
          <a:xfrm flipV="1">
            <a:off x="3385996" y="3727301"/>
            <a:ext cx="333469" cy="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avni poveznik sa strelicom 7">
            <a:extLst>
              <a:ext uri="{FF2B5EF4-FFF2-40B4-BE49-F238E27FC236}">
                <a16:creationId xmlns:a16="http://schemas.microsoft.com/office/drawing/2014/main" id="{F7B02C6A-DC1B-50E7-465E-602E53E6382C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5548265" y="3727301"/>
            <a:ext cx="33346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kstniOkvir 9">
            <a:extLst>
              <a:ext uri="{FF2B5EF4-FFF2-40B4-BE49-F238E27FC236}">
                <a16:creationId xmlns:a16="http://schemas.microsoft.com/office/drawing/2014/main" id="{06AE98BF-61D0-3294-DEDF-3F5421C611E4}"/>
              </a:ext>
            </a:extLst>
          </p:cNvPr>
          <p:cNvSpPr txBox="1"/>
          <p:nvPr/>
        </p:nvSpPr>
        <p:spPr>
          <a:xfrm>
            <a:off x="2110760" y="4499592"/>
            <a:ext cx="7409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b="1" dirty="0" err="1">
                <a:solidFill>
                  <a:schemeClr val="bg1"/>
                </a:solidFill>
              </a:rPr>
              <a:t>Task</a:t>
            </a:r>
            <a:r>
              <a:rPr lang="hr-HR" b="1" dirty="0">
                <a:solidFill>
                  <a:schemeClr val="bg1"/>
                </a:solidFill>
              </a:rPr>
              <a:t> 1</a:t>
            </a:r>
          </a:p>
        </p:txBody>
      </p:sp>
      <p:sp>
        <p:nvSpPr>
          <p:cNvPr id="11" name="TekstniOkvir 10">
            <a:extLst>
              <a:ext uri="{FF2B5EF4-FFF2-40B4-BE49-F238E27FC236}">
                <a16:creationId xmlns:a16="http://schemas.microsoft.com/office/drawing/2014/main" id="{AE3C0B63-9B07-4B3B-91FC-FCC8D7832B9E}"/>
              </a:ext>
            </a:extLst>
          </p:cNvPr>
          <p:cNvSpPr txBox="1"/>
          <p:nvPr/>
        </p:nvSpPr>
        <p:spPr>
          <a:xfrm>
            <a:off x="4327984" y="4499593"/>
            <a:ext cx="7409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b="1" dirty="0" err="1">
                <a:solidFill>
                  <a:schemeClr val="bg1"/>
                </a:solidFill>
              </a:rPr>
              <a:t>Task</a:t>
            </a:r>
            <a:r>
              <a:rPr lang="hr-HR" b="1" dirty="0">
                <a:solidFill>
                  <a:schemeClr val="bg1"/>
                </a:solidFill>
              </a:rPr>
              <a:t> 2</a:t>
            </a:r>
          </a:p>
        </p:txBody>
      </p:sp>
      <p:sp>
        <p:nvSpPr>
          <p:cNvPr id="12" name="TekstniOkvir 11">
            <a:extLst>
              <a:ext uri="{FF2B5EF4-FFF2-40B4-BE49-F238E27FC236}">
                <a16:creationId xmlns:a16="http://schemas.microsoft.com/office/drawing/2014/main" id="{2FA81026-7AEB-363F-56EE-DC76E4B517C6}"/>
              </a:ext>
            </a:extLst>
          </p:cNvPr>
          <p:cNvSpPr txBox="1"/>
          <p:nvPr/>
        </p:nvSpPr>
        <p:spPr>
          <a:xfrm>
            <a:off x="6435298" y="4508667"/>
            <a:ext cx="7409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b="1" dirty="0" err="1">
                <a:solidFill>
                  <a:schemeClr val="bg1"/>
                </a:solidFill>
              </a:rPr>
              <a:t>Task</a:t>
            </a:r>
            <a:r>
              <a:rPr lang="hr-HR" b="1" dirty="0">
                <a:solidFill>
                  <a:schemeClr val="bg1"/>
                </a:solidFill>
              </a:rPr>
              <a:t> 3</a:t>
            </a: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1D7BC449-685E-A348-2089-D4D0070AEE41}"/>
              </a:ext>
            </a:extLst>
          </p:cNvPr>
          <p:cNvSpPr txBox="1"/>
          <p:nvPr/>
        </p:nvSpPr>
        <p:spPr>
          <a:xfrm>
            <a:off x="1165320" y="2709505"/>
            <a:ext cx="2840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  <a:ea typeface="Cambria"/>
                <a:cs typeface="Cambria"/>
                <a:sym typeface="Cambria"/>
              </a:rPr>
              <a:t>Primjer: Video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  <a:ea typeface="Cambria"/>
                <a:cs typeface="Cambria"/>
                <a:sym typeface="Cambria"/>
              </a:rPr>
              <a:t>encoding</a:t>
            </a:r>
            <a:endParaRPr lang="hr-HR" sz="1800" b="1" dirty="0">
              <a:solidFill>
                <a:schemeClr val="bg1"/>
              </a:solidFill>
              <a:latin typeface="Quicksand" panose="020B0604020202020204" charset="0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997153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5C5B6DCB-949F-9188-1C18-C3F56F7DF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15673B97-7A1F-D5BA-BA7D-E57C8794AEF5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Decomposition</a:t>
            </a:r>
            <a:r>
              <a:rPr lang="hr-HR" sz="2400" b="0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- Identifikacija paralelnog posla</a:t>
            </a:r>
            <a:endParaRPr sz="24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4">
            <a:extLst>
              <a:ext uri="{FF2B5EF4-FFF2-40B4-BE49-F238E27FC236}">
                <a16:creationId xmlns:a16="http://schemas.microsoft.com/office/drawing/2014/main" id="{57651959-443F-3783-8022-D8C4BF0071C1}"/>
              </a:ext>
            </a:extLst>
          </p:cNvPr>
          <p:cNvSpPr/>
          <p:nvPr/>
        </p:nvSpPr>
        <p:spPr>
          <a:xfrm>
            <a:off x="1038600" y="1368000"/>
            <a:ext cx="7300440" cy="1438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hr-HR" sz="1800" b="1" dirty="0">
              <a:solidFill>
                <a:srgbClr val="39C0BA"/>
              </a:solidFill>
              <a:latin typeface="Quicksand"/>
              <a:ea typeface="Cambria"/>
              <a:cs typeface="Cambria"/>
              <a:sym typeface="Quicksa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dirty="0">
                <a:solidFill>
                  <a:srgbClr val="39C0BA"/>
                </a:solidFill>
                <a:latin typeface="Quicksand"/>
                <a:ea typeface="Cambria"/>
                <a:cs typeface="Cambria"/>
                <a:sym typeface="Quicksand"/>
              </a:rPr>
              <a:t>2. DATA PARALLELISM (Data dekompozicija)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1800" b="1" dirty="0">
                <a:solidFill>
                  <a:srgbClr val="FFFFFF"/>
                </a:solidFill>
                <a:latin typeface="Quicksand"/>
                <a:ea typeface="Cambria"/>
                <a:cs typeface="Cambria"/>
                <a:sym typeface="Quicksand"/>
              </a:rPr>
              <a:t>Ista operacija na različitim podacima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800" b="1" strike="noStrike" dirty="0">
                <a:solidFill>
                  <a:schemeClr val="bg1"/>
                </a:solidFill>
                <a:latin typeface="Quicksand" panose="020B0604020202020204" charset="0"/>
                <a:ea typeface="Cambria"/>
                <a:cs typeface="Cambria"/>
                <a:sym typeface="Cambria"/>
              </a:rPr>
              <a:t>Primjer: Procesiranje N×N slike</a:t>
            </a:r>
            <a:r>
              <a:rPr lang="hr-HR" sz="1800" b="1" strike="noStrike" dirty="0">
                <a:solidFill>
                  <a:schemeClr val="bg1"/>
                </a:solidFill>
                <a:latin typeface="Quicksand" panose="020B0604020202020204" charset="0"/>
                <a:ea typeface="Cambria"/>
                <a:cs typeface="Cambria"/>
                <a:sym typeface="Cambria"/>
              </a:rPr>
              <a:t>, svi </a:t>
            </a:r>
            <a:r>
              <a:rPr lang="hr-HR" sz="1800" b="1" strike="noStrike" dirty="0" err="1">
                <a:solidFill>
                  <a:schemeClr val="bg1"/>
                </a:solidFill>
                <a:latin typeface="Quicksand" panose="020B0604020202020204" charset="0"/>
                <a:ea typeface="Cambria"/>
                <a:cs typeface="Cambria"/>
                <a:sym typeface="Cambria"/>
              </a:rPr>
              <a:t>threadovi</a:t>
            </a:r>
            <a:r>
              <a:rPr lang="hr-HR" sz="1800" b="1" strike="noStrike" dirty="0">
                <a:solidFill>
                  <a:schemeClr val="bg1"/>
                </a:solidFill>
                <a:latin typeface="Quicksand" panose="020B0604020202020204" charset="0"/>
                <a:ea typeface="Cambria"/>
                <a:cs typeface="Cambria"/>
                <a:sym typeface="Cambria"/>
              </a:rPr>
              <a:t> rade pretvorbu u crno-bijelu sliku</a:t>
            </a:r>
            <a:endParaRPr sz="1800" b="1" strike="noStrike" dirty="0">
              <a:solidFill>
                <a:schemeClr val="bg1"/>
              </a:solidFill>
              <a:latin typeface="Quicksand" panose="020B0604020202020204" charset="0"/>
              <a:ea typeface="Cambria"/>
              <a:cs typeface="Cambria"/>
              <a:sym typeface="Cambria"/>
            </a:endParaRPr>
          </a:p>
          <a:p>
            <a:pPr marL="914400" marR="0" lvl="1" indent="-177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icksand"/>
              <a:buNone/>
            </a:pPr>
            <a:endParaRPr sz="20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5" name="Tablica 4">
            <a:extLst>
              <a:ext uri="{FF2B5EF4-FFF2-40B4-BE49-F238E27FC236}">
                <a16:creationId xmlns:a16="http://schemas.microsoft.com/office/drawing/2014/main" id="{160CADB7-2DF3-A65D-915A-EEED24AE8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895889"/>
              </p:ext>
            </p:extLst>
          </p:nvPr>
        </p:nvGraphicFramePr>
        <p:xfrm>
          <a:off x="2335990" y="3429000"/>
          <a:ext cx="4705660" cy="1536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2830">
                  <a:extLst>
                    <a:ext uri="{9D8B030D-6E8A-4147-A177-3AD203B41FA5}">
                      <a16:colId xmlns:a16="http://schemas.microsoft.com/office/drawing/2014/main" val="3649020591"/>
                    </a:ext>
                  </a:extLst>
                </a:gridCol>
                <a:gridCol w="2352830">
                  <a:extLst>
                    <a:ext uri="{9D8B030D-6E8A-4147-A177-3AD203B41FA5}">
                      <a16:colId xmlns:a16="http://schemas.microsoft.com/office/drawing/2014/main" val="2719042338"/>
                    </a:ext>
                  </a:extLst>
                </a:gridCol>
              </a:tblGrid>
              <a:tr h="768162">
                <a:tc>
                  <a:txBody>
                    <a:bodyPr/>
                    <a:lstStyle/>
                    <a:p>
                      <a:pPr algn="ctr"/>
                      <a:r>
                        <a:rPr lang="hr-HR" sz="2000" b="1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Quicksand" panose="020B0604020202020204" charset="0"/>
                        </a:rPr>
                        <a:t>Task</a:t>
                      </a:r>
                      <a:r>
                        <a:rPr lang="hr-HR" sz="2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Quicksand" panose="020B0604020202020204" charset="0"/>
                        </a:rPr>
                        <a:t> 1</a:t>
                      </a:r>
                    </a:p>
                    <a:p>
                      <a:pPr algn="ctr"/>
                      <a:r>
                        <a:rPr lang="hr-HR" sz="2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Quicksand" panose="020B0604020202020204" charset="0"/>
                        </a:rPr>
                        <a:t>(0...N/2)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000" b="1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Quicksand" panose="020B0604020202020204" charset="0"/>
                        </a:rPr>
                        <a:t>Task</a:t>
                      </a:r>
                      <a:r>
                        <a:rPr lang="hr-HR" sz="2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Quicksand" panose="020B0604020202020204" charset="0"/>
                        </a:rPr>
                        <a:t> 2</a:t>
                      </a:r>
                    </a:p>
                    <a:p>
                      <a:pPr algn="ctr"/>
                      <a:r>
                        <a:rPr lang="hr-HR" sz="2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Quicksand" panose="020B0604020202020204" charset="0"/>
                        </a:rPr>
                        <a:t>(N/2…N)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355590"/>
                  </a:ext>
                </a:extLst>
              </a:tr>
              <a:tr h="768162">
                <a:tc>
                  <a:txBody>
                    <a:bodyPr/>
                    <a:lstStyle/>
                    <a:p>
                      <a:pPr algn="ctr"/>
                      <a:r>
                        <a:rPr lang="hr-HR" sz="2000" b="1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Quicksand" panose="020B0604020202020204" charset="0"/>
                        </a:rPr>
                        <a:t>Task</a:t>
                      </a:r>
                      <a:r>
                        <a:rPr lang="hr-HR" sz="2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Quicksand" panose="020B0604020202020204" charset="0"/>
                        </a:rPr>
                        <a:t> 3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000" b="1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Quicksand" panose="020B0604020202020204" charset="0"/>
                        </a:rPr>
                        <a:t>Task</a:t>
                      </a:r>
                      <a:r>
                        <a:rPr lang="hr-HR" sz="2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Quicksand" panose="020B0604020202020204" charset="0"/>
                        </a:rPr>
                        <a:t> 4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673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3590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29155A4A-8262-2476-1AD3-760F7E19C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9FE27F9B-D274-31AB-1DF0-B47FDEA1DA25}"/>
              </a:ext>
            </a:extLst>
          </p:cNvPr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Decomposition</a:t>
            </a:r>
            <a:r>
              <a:rPr lang="hr-HR" sz="2400" b="0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- Identifikacija paralelnog posla</a:t>
            </a:r>
            <a:endParaRPr sz="24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4">
            <a:extLst>
              <a:ext uri="{FF2B5EF4-FFF2-40B4-BE49-F238E27FC236}">
                <a16:creationId xmlns:a16="http://schemas.microsoft.com/office/drawing/2014/main" id="{38417A0C-100D-CFFC-E08F-F5233382A344}"/>
              </a:ext>
            </a:extLst>
          </p:cNvPr>
          <p:cNvSpPr/>
          <p:nvPr/>
        </p:nvSpPr>
        <p:spPr>
          <a:xfrm>
            <a:off x="1038600" y="1368000"/>
            <a:ext cx="7300440" cy="1438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hr-HR" sz="1800" b="1" dirty="0">
              <a:solidFill>
                <a:srgbClr val="39C0BA"/>
              </a:solidFill>
              <a:latin typeface="Quicksand"/>
              <a:ea typeface="Cambria"/>
              <a:cs typeface="Cambria"/>
              <a:sym typeface="Quicksa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dirty="0">
                <a:solidFill>
                  <a:srgbClr val="39C0BA"/>
                </a:solidFill>
                <a:latin typeface="Quicksand"/>
                <a:ea typeface="Cambria"/>
                <a:cs typeface="Cambria"/>
                <a:sym typeface="Quicksand"/>
              </a:rPr>
              <a:t>3. PIPELINE PARALLELISM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1800" b="1" dirty="0">
                <a:solidFill>
                  <a:srgbClr val="FFFFFF"/>
                </a:solidFill>
                <a:latin typeface="Quicksand"/>
                <a:ea typeface="Cambria"/>
                <a:cs typeface="Cambria"/>
                <a:sym typeface="Quicksand"/>
              </a:rPr>
              <a:t>Faze obrade različitih podataka istovremeno</a:t>
            </a:r>
            <a:endParaRPr sz="20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Pravokutnik 1">
            <a:extLst>
              <a:ext uri="{FF2B5EF4-FFF2-40B4-BE49-F238E27FC236}">
                <a16:creationId xmlns:a16="http://schemas.microsoft.com/office/drawing/2014/main" id="{E2BA6611-8DF5-28D9-776C-B32A24BCC053}"/>
              </a:ext>
            </a:extLst>
          </p:cNvPr>
          <p:cNvSpPr/>
          <p:nvPr/>
        </p:nvSpPr>
        <p:spPr>
          <a:xfrm>
            <a:off x="1747319" y="3250193"/>
            <a:ext cx="720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D1</a:t>
            </a:r>
          </a:p>
        </p:txBody>
      </p:sp>
      <p:sp>
        <p:nvSpPr>
          <p:cNvPr id="3" name="Pravokutnik 2">
            <a:extLst>
              <a:ext uri="{FF2B5EF4-FFF2-40B4-BE49-F238E27FC236}">
                <a16:creationId xmlns:a16="http://schemas.microsoft.com/office/drawing/2014/main" id="{655A4D04-480E-1851-AB39-E652A7E38989}"/>
              </a:ext>
            </a:extLst>
          </p:cNvPr>
          <p:cNvSpPr/>
          <p:nvPr/>
        </p:nvSpPr>
        <p:spPr>
          <a:xfrm>
            <a:off x="3188016" y="3248053"/>
            <a:ext cx="720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/>
              <a:t>D1</a:t>
            </a:r>
            <a:endParaRPr lang="hr-HR" dirty="0"/>
          </a:p>
        </p:txBody>
      </p:sp>
      <p:sp>
        <p:nvSpPr>
          <p:cNvPr id="4" name="Pravokutnik 3">
            <a:extLst>
              <a:ext uri="{FF2B5EF4-FFF2-40B4-BE49-F238E27FC236}">
                <a16:creationId xmlns:a16="http://schemas.microsoft.com/office/drawing/2014/main" id="{A79931B4-9B10-11DF-2474-42E23738AF1F}"/>
              </a:ext>
            </a:extLst>
          </p:cNvPr>
          <p:cNvSpPr/>
          <p:nvPr/>
        </p:nvSpPr>
        <p:spPr>
          <a:xfrm>
            <a:off x="4628713" y="3250193"/>
            <a:ext cx="720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/>
              <a:t>D1</a:t>
            </a:r>
            <a:endParaRPr lang="hr-HR" dirty="0"/>
          </a:p>
        </p:txBody>
      </p:sp>
      <p:sp>
        <p:nvSpPr>
          <p:cNvPr id="6" name="Pravokutnik 5">
            <a:extLst>
              <a:ext uri="{FF2B5EF4-FFF2-40B4-BE49-F238E27FC236}">
                <a16:creationId xmlns:a16="http://schemas.microsoft.com/office/drawing/2014/main" id="{16F3ED13-5B45-6375-4554-636FD6DFF976}"/>
              </a:ext>
            </a:extLst>
          </p:cNvPr>
          <p:cNvSpPr/>
          <p:nvPr/>
        </p:nvSpPr>
        <p:spPr>
          <a:xfrm>
            <a:off x="1747319" y="4413812"/>
            <a:ext cx="720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D2</a:t>
            </a:r>
          </a:p>
        </p:txBody>
      </p:sp>
      <p:sp>
        <p:nvSpPr>
          <p:cNvPr id="7" name="Pravokutnik 6">
            <a:extLst>
              <a:ext uri="{FF2B5EF4-FFF2-40B4-BE49-F238E27FC236}">
                <a16:creationId xmlns:a16="http://schemas.microsoft.com/office/drawing/2014/main" id="{C42E98CF-54AC-81CF-A73E-59294ACF6109}"/>
              </a:ext>
            </a:extLst>
          </p:cNvPr>
          <p:cNvSpPr/>
          <p:nvPr/>
        </p:nvSpPr>
        <p:spPr>
          <a:xfrm>
            <a:off x="1747319" y="5577431"/>
            <a:ext cx="720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D3</a:t>
            </a:r>
          </a:p>
        </p:txBody>
      </p:sp>
      <p:sp>
        <p:nvSpPr>
          <p:cNvPr id="8" name="Pravokutnik 7">
            <a:extLst>
              <a:ext uri="{FF2B5EF4-FFF2-40B4-BE49-F238E27FC236}">
                <a16:creationId xmlns:a16="http://schemas.microsoft.com/office/drawing/2014/main" id="{FEE5D8C6-A23F-653A-5B39-365ADCD0661E}"/>
              </a:ext>
            </a:extLst>
          </p:cNvPr>
          <p:cNvSpPr/>
          <p:nvPr/>
        </p:nvSpPr>
        <p:spPr>
          <a:xfrm>
            <a:off x="3188016" y="4409532"/>
            <a:ext cx="720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D2</a:t>
            </a:r>
          </a:p>
        </p:txBody>
      </p:sp>
      <p:cxnSp>
        <p:nvCxnSpPr>
          <p:cNvPr id="10" name="Ravni poveznik sa strelicom 9">
            <a:extLst>
              <a:ext uri="{FF2B5EF4-FFF2-40B4-BE49-F238E27FC236}">
                <a16:creationId xmlns:a16="http://schemas.microsoft.com/office/drawing/2014/main" id="{A9D46166-1387-85DB-5547-8A92EB3D7DF4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2467319" y="3608053"/>
            <a:ext cx="720697" cy="21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avni poveznik sa strelicom 13">
            <a:extLst>
              <a:ext uri="{FF2B5EF4-FFF2-40B4-BE49-F238E27FC236}">
                <a16:creationId xmlns:a16="http://schemas.microsoft.com/office/drawing/2014/main" id="{F3581B74-E4B0-938E-8E59-9018B0586E43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3908016" y="3608053"/>
            <a:ext cx="720697" cy="21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Ravni poveznik sa strelicom 16">
            <a:extLst>
              <a:ext uri="{FF2B5EF4-FFF2-40B4-BE49-F238E27FC236}">
                <a16:creationId xmlns:a16="http://schemas.microsoft.com/office/drawing/2014/main" id="{6E252927-10EC-7C14-A357-B4B67E7D04E8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2467319" y="4769532"/>
            <a:ext cx="720697" cy="428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kstniOkvir 19">
            <a:extLst>
              <a:ext uri="{FF2B5EF4-FFF2-40B4-BE49-F238E27FC236}">
                <a16:creationId xmlns:a16="http://schemas.microsoft.com/office/drawing/2014/main" id="{72EFEE83-AE0C-A89D-2D27-48D9FA05D198}"/>
              </a:ext>
            </a:extLst>
          </p:cNvPr>
          <p:cNvSpPr txBox="1"/>
          <p:nvPr/>
        </p:nvSpPr>
        <p:spPr>
          <a:xfrm>
            <a:off x="1747319" y="2756779"/>
            <a:ext cx="801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 err="1">
                <a:solidFill>
                  <a:schemeClr val="bg1"/>
                </a:solidFill>
              </a:rPr>
              <a:t>Stage</a:t>
            </a:r>
            <a:r>
              <a:rPr lang="hr-HR" dirty="0">
                <a:solidFill>
                  <a:schemeClr val="bg1"/>
                </a:solidFill>
              </a:rPr>
              <a:t> 1</a:t>
            </a:r>
          </a:p>
        </p:txBody>
      </p:sp>
      <p:sp>
        <p:nvSpPr>
          <p:cNvPr id="21" name="TekstniOkvir 20">
            <a:extLst>
              <a:ext uri="{FF2B5EF4-FFF2-40B4-BE49-F238E27FC236}">
                <a16:creationId xmlns:a16="http://schemas.microsoft.com/office/drawing/2014/main" id="{0402EE28-227D-9565-D81D-89BFBD016184}"/>
              </a:ext>
            </a:extLst>
          </p:cNvPr>
          <p:cNvSpPr txBox="1"/>
          <p:nvPr/>
        </p:nvSpPr>
        <p:spPr>
          <a:xfrm>
            <a:off x="3188016" y="2756780"/>
            <a:ext cx="801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 err="1">
                <a:solidFill>
                  <a:schemeClr val="bg1"/>
                </a:solidFill>
              </a:rPr>
              <a:t>Stage</a:t>
            </a:r>
            <a:r>
              <a:rPr lang="hr-HR" dirty="0">
                <a:solidFill>
                  <a:schemeClr val="bg1"/>
                </a:solidFill>
              </a:rPr>
              <a:t> 2</a:t>
            </a:r>
          </a:p>
        </p:txBody>
      </p:sp>
      <p:sp>
        <p:nvSpPr>
          <p:cNvPr id="22" name="TekstniOkvir 21">
            <a:extLst>
              <a:ext uri="{FF2B5EF4-FFF2-40B4-BE49-F238E27FC236}">
                <a16:creationId xmlns:a16="http://schemas.microsoft.com/office/drawing/2014/main" id="{E5B61C44-D6C1-E283-F5AA-9CE69E60040E}"/>
              </a:ext>
            </a:extLst>
          </p:cNvPr>
          <p:cNvSpPr txBox="1"/>
          <p:nvPr/>
        </p:nvSpPr>
        <p:spPr>
          <a:xfrm>
            <a:off x="4587801" y="2756780"/>
            <a:ext cx="801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 err="1">
                <a:solidFill>
                  <a:schemeClr val="bg1"/>
                </a:solidFill>
              </a:rPr>
              <a:t>Stage</a:t>
            </a:r>
            <a:r>
              <a:rPr lang="hr-HR" dirty="0">
                <a:solidFill>
                  <a:schemeClr val="bg1"/>
                </a:solidFill>
              </a:rPr>
              <a:t> 3</a:t>
            </a:r>
          </a:p>
        </p:txBody>
      </p:sp>
    </p:spTree>
    <p:extLst>
      <p:ext uri="{BB962C8B-B14F-4D97-AF65-F5344CB8AC3E}">
        <p14:creationId xmlns:p14="http://schemas.microsoft.com/office/powerpoint/2010/main" val="524434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40483CF4-C914-15FD-D86F-889A81ADA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>
            <a:extLst>
              <a:ext uri="{FF2B5EF4-FFF2-40B4-BE49-F238E27FC236}">
                <a16:creationId xmlns:a16="http://schemas.microsoft.com/office/drawing/2014/main" id="{4417465D-EAAC-52C6-5D6B-A2C00AC272E2}"/>
              </a:ext>
            </a:extLst>
          </p:cNvPr>
          <p:cNvSpPr txBox="1"/>
          <p:nvPr/>
        </p:nvSpPr>
        <p:spPr>
          <a:xfrm>
            <a:off x="1165319" y="704520"/>
            <a:ext cx="7516953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Decomposition</a:t>
            </a: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- Identifikacija paralelnog posla</a:t>
            </a:r>
            <a:endParaRPr sz="2400" b="1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4">
            <a:extLst>
              <a:ext uri="{FF2B5EF4-FFF2-40B4-BE49-F238E27FC236}">
                <a16:creationId xmlns:a16="http://schemas.microsoft.com/office/drawing/2014/main" id="{01EC8515-5896-1903-6A07-8476D3C0EC32}"/>
              </a:ext>
            </a:extLst>
          </p:cNvPr>
          <p:cNvSpPr/>
          <p:nvPr/>
        </p:nvSpPr>
        <p:spPr>
          <a:xfrm>
            <a:off x="1038600" y="1368000"/>
            <a:ext cx="7300440" cy="1438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hr-HR" sz="1800" b="1" dirty="0">
              <a:solidFill>
                <a:srgbClr val="39C0BA"/>
              </a:solidFill>
              <a:latin typeface="Quicksand"/>
              <a:ea typeface="Cambria"/>
              <a:cs typeface="Cambria"/>
              <a:sym typeface="Quicksa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dirty="0">
                <a:solidFill>
                  <a:srgbClr val="39C0BA"/>
                </a:solidFill>
                <a:latin typeface="Quicksand"/>
                <a:ea typeface="Cambria"/>
                <a:cs typeface="Cambria"/>
                <a:sym typeface="Quicksand"/>
              </a:rPr>
              <a:t>KLJUČNI IZAZOV: Identifikacija zavisnosti (</a:t>
            </a:r>
            <a:r>
              <a:rPr lang="hr-HR" sz="1800" b="1" dirty="0" err="1">
                <a:solidFill>
                  <a:srgbClr val="39C0BA"/>
                </a:solidFill>
                <a:latin typeface="Quicksand"/>
                <a:ea typeface="Cambria"/>
                <a:cs typeface="Cambria"/>
                <a:sym typeface="Quicksand"/>
              </a:rPr>
              <a:t>dependencies</a:t>
            </a:r>
            <a:r>
              <a:rPr lang="hr-HR" sz="1800" b="1" dirty="0">
                <a:solidFill>
                  <a:srgbClr val="39C0BA"/>
                </a:solidFill>
                <a:latin typeface="Quicksand"/>
                <a:ea typeface="Cambria"/>
                <a:cs typeface="Cambria"/>
                <a:sym typeface="Quicksand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hr-HR" sz="1800" b="1" dirty="0">
              <a:solidFill>
                <a:srgbClr val="39C0BA"/>
              </a:solidFill>
              <a:latin typeface="Quicksand"/>
              <a:ea typeface="Cambria"/>
              <a:cs typeface="Cambria"/>
              <a:sym typeface="Quicksa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dirty="0">
                <a:solidFill>
                  <a:schemeClr val="bg1"/>
                </a:solidFill>
                <a:latin typeface="Quicksand"/>
                <a:ea typeface="Cambria"/>
                <a:cs typeface="Cambria"/>
                <a:sym typeface="Quicksand"/>
              </a:rPr>
              <a:t>Pitanja koja moramo odgovoriti: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Tx/>
              <a:buChar char="-"/>
            </a:pPr>
            <a:r>
              <a:rPr lang="hr-HR" sz="1800" b="1" dirty="0">
                <a:solidFill>
                  <a:schemeClr val="bg1"/>
                </a:solidFill>
                <a:latin typeface="Quicksand"/>
                <a:ea typeface="Cambria"/>
                <a:cs typeface="Cambria"/>
                <a:sym typeface="Quicksand"/>
              </a:rPr>
              <a:t>Može li </a:t>
            </a:r>
            <a:r>
              <a:rPr lang="hr-HR" sz="1800" b="1" dirty="0" err="1">
                <a:solidFill>
                  <a:schemeClr val="bg1"/>
                </a:solidFill>
                <a:latin typeface="Quicksand"/>
                <a:ea typeface="Cambria"/>
                <a:cs typeface="Cambria"/>
                <a:sym typeface="Quicksand"/>
              </a:rPr>
              <a:t>Task</a:t>
            </a:r>
            <a:r>
              <a:rPr lang="hr-HR" sz="1800" b="1" dirty="0">
                <a:solidFill>
                  <a:schemeClr val="bg1"/>
                </a:solidFill>
                <a:latin typeface="Quicksand"/>
                <a:ea typeface="Cambria"/>
                <a:cs typeface="Cambria"/>
                <a:sym typeface="Quicksand"/>
              </a:rPr>
              <a:t> B početi prije nego </a:t>
            </a:r>
            <a:r>
              <a:rPr lang="hr-HR" sz="1800" b="1" dirty="0" err="1">
                <a:solidFill>
                  <a:schemeClr val="bg1"/>
                </a:solidFill>
                <a:latin typeface="Quicksand"/>
                <a:ea typeface="Cambria"/>
                <a:cs typeface="Cambria"/>
                <a:sym typeface="Quicksand"/>
              </a:rPr>
              <a:t>Task</a:t>
            </a:r>
            <a:r>
              <a:rPr lang="hr-HR" sz="1800" b="1" dirty="0">
                <a:solidFill>
                  <a:schemeClr val="bg1"/>
                </a:solidFill>
                <a:latin typeface="Quicksand"/>
                <a:ea typeface="Cambria"/>
                <a:cs typeface="Cambria"/>
                <a:sym typeface="Quicksand"/>
              </a:rPr>
              <a:t> A završi?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Tx/>
              <a:buChar char="-"/>
            </a:pPr>
            <a:r>
              <a:rPr lang="hr-HR" sz="1800" b="1" dirty="0">
                <a:solidFill>
                  <a:schemeClr val="bg1"/>
                </a:solidFill>
                <a:latin typeface="Quicksand"/>
                <a:ea typeface="Cambria"/>
                <a:cs typeface="Cambria"/>
                <a:sym typeface="Quicksand"/>
              </a:rPr>
              <a:t>Dijele li </a:t>
            </a:r>
            <a:r>
              <a:rPr lang="hr-HR" sz="1800" b="1" dirty="0" err="1">
                <a:solidFill>
                  <a:schemeClr val="bg1"/>
                </a:solidFill>
                <a:latin typeface="Quicksand"/>
                <a:ea typeface="Cambria"/>
                <a:cs typeface="Cambria"/>
                <a:sym typeface="Quicksand"/>
              </a:rPr>
              <a:t>Task</a:t>
            </a:r>
            <a:r>
              <a:rPr lang="hr-HR" sz="1800" b="1" dirty="0">
                <a:solidFill>
                  <a:schemeClr val="bg1"/>
                </a:solidFill>
                <a:latin typeface="Quicksand"/>
                <a:ea typeface="Cambria"/>
                <a:cs typeface="Cambria"/>
                <a:sym typeface="Quicksand"/>
              </a:rPr>
              <a:t> A i </a:t>
            </a:r>
            <a:r>
              <a:rPr lang="hr-HR" sz="1800" b="1" dirty="0" err="1">
                <a:solidFill>
                  <a:schemeClr val="bg1"/>
                </a:solidFill>
                <a:latin typeface="Quicksand"/>
                <a:ea typeface="Cambria"/>
                <a:cs typeface="Cambria"/>
                <a:sym typeface="Quicksand"/>
              </a:rPr>
              <a:t>Task</a:t>
            </a:r>
            <a:r>
              <a:rPr lang="hr-HR" sz="1800" b="1" dirty="0">
                <a:solidFill>
                  <a:schemeClr val="bg1"/>
                </a:solidFill>
                <a:latin typeface="Quicksand"/>
                <a:ea typeface="Cambria"/>
                <a:cs typeface="Cambria"/>
                <a:sym typeface="Quicksand"/>
              </a:rPr>
              <a:t> B podatke?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Tx/>
              <a:buChar char="-"/>
            </a:pPr>
            <a:r>
              <a:rPr lang="hr-HR" sz="1800" b="1" dirty="0">
                <a:solidFill>
                  <a:schemeClr val="bg1"/>
                </a:solidFill>
                <a:latin typeface="Quicksand"/>
                <a:ea typeface="Cambria"/>
                <a:cs typeface="Cambria"/>
                <a:sym typeface="Quicksand"/>
              </a:rPr>
              <a:t>U kojem redoslijedu moraju pristupati podacima?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Tx/>
              <a:buChar char="-"/>
            </a:pPr>
            <a:endParaRPr lang="hr-HR" sz="1800" b="1" dirty="0">
              <a:solidFill>
                <a:schemeClr val="bg1"/>
              </a:solidFill>
              <a:latin typeface="Quicksand"/>
              <a:ea typeface="Cambria"/>
              <a:cs typeface="Cambria"/>
              <a:sym typeface="Quicksan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Tx/>
              <a:buChar char="-"/>
            </a:pPr>
            <a:endParaRPr lang="hr-HR" sz="1800" b="1" dirty="0">
              <a:solidFill>
                <a:schemeClr val="bg1"/>
              </a:solidFill>
              <a:latin typeface="Quicksand"/>
              <a:ea typeface="Cambria"/>
              <a:cs typeface="Cambria"/>
              <a:sym typeface="Quicksand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hr-HR" sz="1800" b="1" dirty="0">
                <a:solidFill>
                  <a:schemeClr val="bg1"/>
                </a:solidFill>
                <a:latin typeface="Quicksand"/>
                <a:ea typeface="Cambria"/>
                <a:cs typeface="Cambria"/>
                <a:sym typeface="Quicksand"/>
              </a:rPr>
              <a:t>Primjer zavisnosti:</a:t>
            </a:r>
          </a:p>
          <a:p>
            <a:pPr lvl="0">
              <a:buClr>
                <a:schemeClr val="bg1"/>
              </a:buClr>
            </a:pPr>
            <a:r>
              <a:rPr lang="hr-HR" sz="1800" b="1" dirty="0">
                <a:solidFill>
                  <a:schemeClr val="bg1"/>
                </a:solidFill>
                <a:latin typeface="Quicksand"/>
                <a:ea typeface="Cambria"/>
                <a:cs typeface="Cambria"/>
                <a:sym typeface="Quicksand"/>
              </a:rPr>
              <a:t>NEOVISNI TASKOVI (mogu paralelno):</a:t>
            </a:r>
          </a:p>
          <a:p>
            <a:pPr lvl="0">
              <a:buClr>
                <a:schemeClr val="bg1"/>
              </a:buClr>
            </a:pPr>
            <a:r>
              <a:rPr lang="hr-HR" sz="1800" b="1" dirty="0">
                <a:solidFill>
                  <a:schemeClr val="bg1"/>
                </a:solidFill>
                <a:latin typeface="Quicksand"/>
                <a:ea typeface="Cambria"/>
                <a:cs typeface="Cambria"/>
                <a:sym typeface="Quicksand"/>
              </a:rPr>
              <a:t>  </a:t>
            </a:r>
            <a:r>
              <a:rPr lang="hr-HR" sz="1800" b="1" dirty="0" err="1">
                <a:solidFill>
                  <a:schemeClr val="bg1"/>
                </a:solidFill>
                <a:latin typeface="Quicksand"/>
                <a:ea typeface="Cambria"/>
                <a:cs typeface="Cambria"/>
                <a:sym typeface="Quicksand"/>
              </a:rPr>
              <a:t>Task</a:t>
            </a:r>
            <a:r>
              <a:rPr lang="hr-HR" sz="1800" b="1" dirty="0">
                <a:solidFill>
                  <a:schemeClr val="bg1"/>
                </a:solidFill>
                <a:latin typeface="Quicksand"/>
                <a:ea typeface="Cambria"/>
                <a:cs typeface="Cambria"/>
                <a:sym typeface="Quicksand"/>
              </a:rPr>
              <a:t> A: sum1 = array1[0..N/2]</a:t>
            </a:r>
          </a:p>
          <a:p>
            <a:pPr lvl="0">
              <a:buClr>
                <a:schemeClr val="bg1"/>
              </a:buClr>
            </a:pPr>
            <a:r>
              <a:rPr lang="hr-HR" sz="1800" b="1" dirty="0">
                <a:solidFill>
                  <a:schemeClr val="bg1"/>
                </a:solidFill>
                <a:latin typeface="Quicksand"/>
                <a:ea typeface="Cambria"/>
                <a:cs typeface="Cambria"/>
                <a:sym typeface="Quicksand"/>
              </a:rPr>
              <a:t>  </a:t>
            </a:r>
            <a:r>
              <a:rPr lang="hr-HR" sz="1800" b="1" dirty="0" err="1">
                <a:solidFill>
                  <a:schemeClr val="bg1"/>
                </a:solidFill>
                <a:latin typeface="Quicksand"/>
                <a:ea typeface="Cambria"/>
                <a:cs typeface="Cambria"/>
                <a:sym typeface="Quicksand"/>
              </a:rPr>
              <a:t>Task</a:t>
            </a:r>
            <a:r>
              <a:rPr lang="hr-HR" sz="1800" b="1" dirty="0">
                <a:solidFill>
                  <a:schemeClr val="bg1"/>
                </a:solidFill>
                <a:latin typeface="Quicksand"/>
                <a:ea typeface="Cambria"/>
                <a:cs typeface="Cambria"/>
                <a:sym typeface="Quicksand"/>
              </a:rPr>
              <a:t> B: sum2 = array1[N/2..N]</a:t>
            </a:r>
          </a:p>
          <a:p>
            <a:pPr lvl="0">
              <a:buClr>
                <a:schemeClr val="bg1"/>
              </a:buClr>
            </a:pPr>
            <a:r>
              <a:rPr lang="hr-HR" sz="1800" b="1" dirty="0">
                <a:solidFill>
                  <a:schemeClr val="bg1"/>
                </a:solidFill>
                <a:latin typeface="Quicksand"/>
                <a:ea typeface="Cambria"/>
                <a:cs typeface="Cambria"/>
                <a:sym typeface="Quicksand"/>
              </a:rPr>
              <a:t>  </a:t>
            </a:r>
          </a:p>
          <a:p>
            <a:pPr lvl="0">
              <a:buClr>
                <a:schemeClr val="bg1"/>
              </a:buClr>
            </a:pPr>
            <a:r>
              <a:rPr lang="hr-HR" sz="1800" b="1" dirty="0">
                <a:solidFill>
                  <a:schemeClr val="bg1"/>
                </a:solidFill>
                <a:latin typeface="Quicksand"/>
                <a:ea typeface="Cambria"/>
                <a:cs typeface="Cambria"/>
                <a:sym typeface="Quicksand"/>
              </a:rPr>
              <a:t>ZAVISNI TASKOVI (moraju sekvencijalno):</a:t>
            </a:r>
          </a:p>
          <a:p>
            <a:pPr lvl="0">
              <a:buClr>
                <a:schemeClr val="bg1"/>
              </a:buClr>
            </a:pPr>
            <a:r>
              <a:rPr lang="hr-HR" sz="1800" b="1" dirty="0">
                <a:solidFill>
                  <a:schemeClr val="bg1"/>
                </a:solidFill>
                <a:latin typeface="Quicksand"/>
                <a:ea typeface="Cambria"/>
                <a:cs typeface="Cambria"/>
                <a:sym typeface="Quicksand"/>
              </a:rPr>
              <a:t>  </a:t>
            </a:r>
            <a:r>
              <a:rPr lang="hr-HR" sz="1800" b="1" dirty="0" err="1">
                <a:solidFill>
                  <a:schemeClr val="bg1"/>
                </a:solidFill>
                <a:latin typeface="Quicksand"/>
                <a:ea typeface="Cambria"/>
                <a:cs typeface="Cambria"/>
                <a:sym typeface="Quicksand"/>
              </a:rPr>
              <a:t>Task</a:t>
            </a:r>
            <a:r>
              <a:rPr lang="hr-HR" sz="1800" b="1" dirty="0">
                <a:solidFill>
                  <a:schemeClr val="bg1"/>
                </a:solidFill>
                <a:latin typeface="Quicksand"/>
                <a:ea typeface="Cambria"/>
                <a:cs typeface="Cambria"/>
                <a:sym typeface="Quicksand"/>
              </a:rPr>
              <a:t> A: x = </a:t>
            </a:r>
            <a:r>
              <a:rPr lang="hr-HR" sz="1800" b="1" dirty="0" err="1">
                <a:solidFill>
                  <a:schemeClr val="bg1"/>
                </a:solidFill>
                <a:latin typeface="Quicksand"/>
                <a:ea typeface="Cambria"/>
                <a:cs typeface="Cambria"/>
                <a:sym typeface="Quicksand"/>
              </a:rPr>
              <a:t>compute</a:t>
            </a:r>
            <a:r>
              <a:rPr lang="hr-HR" sz="1800" b="1" dirty="0">
                <a:solidFill>
                  <a:schemeClr val="bg1"/>
                </a:solidFill>
                <a:latin typeface="Quicksand"/>
                <a:ea typeface="Cambria"/>
                <a:cs typeface="Cambria"/>
                <a:sym typeface="Quicksand"/>
              </a:rPr>
              <a:t>()</a:t>
            </a:r>
          </a:p>
          <a:p>
            <a:pPr lvl="0">
              <a:buClr>
                <a:schemeClr val="bg1"/>
              </a:buClr>
            </a:pPr>
            <a:r>
              <a:rPr lang="hr-HR" sz="1800" b="1" dirty="0">
                <a:solidFill>
                  <a:schemeClr val="bg1"/>
                </a:solidFill>
                <a:latin typeface="Quicksand"/>
                <a:ea typeface="Cambria"/>
                <a:cs typeface="Cambria"/>
                <a:sym typeface="Quicksand"/>
              </a:rPr>
              <a:t>  </a:t>
            </a:r>
            <a:r>
              <a:rPr lang="hr-HR" sz="1800" b="1" dirty="0" err="1">
                <a:solidFill>
                  <a:schemeClr val="bg1"/>
                </a:solidFill>
                <a:latin typeface="Quicksand"/>
                <a:ea typeface="Cambria"/>
                <a:cs typeface="Cambria"/>
                <a:sym typeface="Quicksand"/>
              </a:rPr>
              <a:t>Task</a:t>
            </a:r>
            <a:r>
              <a:rPr lang="hr-HR" sz="1800" b="1" dirty="0">
                <a:solidFill>
                  <a:schemeClr val="bg1"/>
                </a:solidFill>
                <a:latin typeface="Quicksand"/>
                <a:ea typeface="Cambria"/>
                <a:cs typeface="Cambria"/>
                <a:sym typeface="Quicksand"/>
              </a:rPr>
              <a:t> B: y = x + 10        ← čeka na x!</a:t>
            </a:r>
          </a:p>
        </p:txBody>
      </p:sp>
      <p:sp>
        <p:nvSpPr>
          <p:cNvPr id="5" name="Pravokutnik 4">
            <a:extLst>
              <a:ext uri="{FF2B5EF4-FFF2-40B4-BE49-F238E27FC236}">
                <a16:creationId xmlns:a16="http://schemas.microsoft.com/office/drawing/2014/main" id="{83C507B9-72FE-7AE0-AE3C-CE22CEAA7B77}"/>
              </a:ext>
            </a:extLst>
          </p:cNvPr>
          <p:cNvSpPr/>
          <p:nvPr/>
        </p:nvSpPr>
        <p:spPr>
          <a:xfrm>
            <a:off x="6355533" y="3829423"/>
            <a:ext cx="720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 err="1"/>
              <a:t>Task</a:t>
            </a:r>
            <a:r>
              <a:rPr lang="hr-HR" dirty="0"/>
              <a:t> A</a:t>
            </a:r>
          </a:p>
        </p:txBody>
      </p:sp>
      <p:sp>
        <p:nvSpPr>
          <p:cNvPr id="9" name="Pravokutnik 8">
            <a:extLst>
              <a:ext uri="{FF2B5EF4-FFF2-40B4-BE49-F238E27FC236}">
                <a16:creationId xmlns:a16="http://schemas.microsoft.com/office/drawing/2014/main" id="{820B25AB-D4BB-ABED-7BB3-F8A6A6B57D08}"/>
              </a:ext>
            </a:extLst>
          </p:cNvPr>
          <p:cNvSpPr/>
          <p:nvPr/>
        </p:nvSpPr>
        <p:spPr>
          <a:xfrm>
            <a:off x="7796230" y="3827283"/>
            <a:ext cx="720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 err="1"/>
              <a:t>Task</a:t>
            </a:r>
            <a:r>
              <a:rPr lang="hr-HR" dirty="0"/>
              <a:t> B</a:t>
            </a:r>
          </a:p>
        </p:txBody>
      </p:sp>
      <p:cxnSp>
        <p:nvCxnSpPr>
          <p:cNvPr id="11" name="Ravni poveznik sa strelicom 10">
            <a:extLst>
              <a:ext uri="{FF2B5EF4-FFF2-40B4-BE49-F238E27FC236}">
                <a16:creationId xmlns:a16="http://schemas.microsoft.com/office/drawing/2014/main" id="{AE0EF6A5-60E7-ED93-1FAB-2817BBD361A4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 flipV="1">
            <a:off x="7075533" y="4187283"/>
            <a:ext cx="720697" cy="21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kstniOkvir 11">
            <a:extLst>
              <a:ext uri="{FF2B5EF4-FFF2-40B4-BE49-F238E27FC236}">
                <a16:creationId xmlns:a16="http://schemas.microsoft.com/office/drawing/2014/main" id="{F0923942-4302-5BB4-892B-4BED3168014F}"/>
              </a:ext>
            </a:extLst>
          </p:cNvPr>
          <p:cNvSpPr txBox="1"/>
          <p:nvPr/>
        </p:nvSpPr>
        <p:spPr>
          <a:xfrm>
            <a:off x="7293855" y="3853395"/>
            <a:ext cx="284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42157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35DB89E4-D925-3DA8-4EBF-D6F247149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1">
            <a:extLst>
              <a:ext uri="{FF2B5EF4-FFF2-40B4-BE49-F238E27FC236}">
                <a16:creationId xmlns:a16="http://schemas.microsoft.com/office/drawing/2014/main" id="{19C7D1A3-09AA-057D-6ABD-BF4AD4442137}"/>
              </a:ext>
            </a:extLst>
          </p:cNvPr>
          <p:cNvSpPr txBox="1"/>
          <p:nvPr/>
        </p:nvSpPr>
        <p:spPr>
          <a:xfrm>
            <a:off x="1530000" y="3076920"/>
            <a:ext cx="6766920" cy="70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0" i="0" u="none" strike="noStrike" cap="non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Dependencies</a:t>
            </a:r>
            <a:endParaRPr sz="3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1">
            <a:extLst>
              <a:ext uri="{FF2B5EF4-FFF2-40B4-BE49-F238E27FC236}">
                <a16:creationId xmlns:a16="http://schemas.microsoft.com/office/drawing/2014/main" id="{049550CA-D047-FB83-49D2-FF3CB04A7EB3}"/>
              </a:ext>
            </a:extLst>
          </p:cNvPr>
          <p:cNvSpPr txBox="1"/>
          <p:nvPr/>
        </p:nvSpPr>
        <p:spPr>
          <a:xfrm>
            <a:off x="1530000" y="3710520"/>
            <a:ext cx="6927480" cy="47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7" name="Google Shape;177;p41">
            <a:extLst>
              <a:ext uri="{FF2B5EF4-FFF2-40B4-BE49-F238E27FC236}">
                <a16:creationId xmlns:a16="http://schemas.microsoft.com/office/drawing/2014/main" id="{1001AE0B-13DE-323A-8F2E-F45AB4D52C4A}"/>
              </a:ext>
            </a:extLst>
          </p:cNvPr>
          <p:cNvSpPr/>
          <p:nvPr/>
        </p:nvSpPr>
        <p:spPr>
          <a:xfrm>
            <a:off x="502560" y="3039840"/>
            <a:ext cx="802080" cy="78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dirty="0">
                <a:solidFill>
                  <a:srgbClr val="2E3037"/>
                </a:solidFill>
                <a:latin typeface="Quicksand"/>
                <a:ea typeface="Cambria"/>
                <a:cs typeface="Cambria"/>
                <a:sym typeface="Quicksand"/>
              </a:rPr>
              <a:t>2.1.</a:t>
            </a:r>
            <a:endParaRPr sz="30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899726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6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Što su data </a:t>
            </a:r>
            <a:r>
              <a:rPr lang="hr-HR" sz="2400" b="1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dependencies</a:t>
            </a: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?</a:t>
            </a:r>
            <a:endParaRPr sz="2400" b="1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6"/>
          <p:cNvSpPr/>
          <p:nvPr/>
        </p:nvSpPr>
        <p:spPr>
          <a:xfrm>
            <a:off x="1038600" y="1367999"/>
            <a:ext cx="7300500" cy="4335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Data </a:t>
            </a:r>
            <a:r>
              <a:rPr lang="hr-HR" sz="1800" b="1" dirty="0" err="1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dependency</a:t>
            </a:r>
            <a:r>
              <a:rPr lang="hr-HR" sz="1800" b="1" dirty="0">
                <a:solidFill>
                  <a:schemeClr val="bg1"/>
                </a:solidFill>
                <a:latin typeface="Quicksand"/>
                <a:ea typeface="Quicksand"/>
                <a:cs typeface="Quicksand"/>
                <a:sym typeface="Quicksand"/>
              </a:rPr>
              <a:t> postoji kada redoslijed pristupa podacima utječe na ispravnost ili rezultat programa.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hr-HR" sz="1800" b="1" dirty="0">
              <a:solidFill>
                <a:schemeClr val="bg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1"/>
              </a:buClr>
            </a:pPr>
            <a:r>
              <a:rPr lang="hr-HR" sz="1800" b="1" i="0" u="none" strike="noStrike" cap="none" dirty="0">
                <a:solidFill>
                  <a:schemeClr val="bg1"/>
                </a:solidFill>
                <a:latin typeface="Quicksand" panose="020B0604020202020204" charset="0"/>
                <a:ea typeface="Cambria"/>
                <a:cs typeface="Cambria"/>
                <a:sym typeface="Cambria"/>
              </a:rPr>
              <a:t>Četiri tipa </a:t>
            </a:r>
            <a:r>
              <a:rPr lang="hr-HR" sz="1800" b="1" i="0" u="none" strike="noStrike" cap="none" dirty="0" err="1">
                <a:solidFill>
                  <a:schemeClr val="bg1"/>
                </a:solidFill>
                <a:latin typeface="Quicksand" panose="020B0604020202020204" charset="0"/>
                <a:ea typeface="Cambria"/>
                <a:cs typeface="Cambria"/>
                <a:sym typeface="Cambria"/>
              </a:rPr>
              <a:t>dependencies</a:t>
            </a:r>
            <a:r>
              <a:rPr lang="hr-HR" sz="1800" b="1" i="0" u="none" strike="noStrike" cap="none" dirty="0">
                <a:solidFill>
                  <a:schemeClr val="bg1"/>
                </a:solidFill>
                <a:latin typeface="Quicksand" panose="020B0604020202020204" charset="0"/>
                <a:ea typeface="Cambria"/>
                <a:cs typeface="Cambria"/>
                <a:sym typeface="Cambria"/>
              </a:rPr>
              <a:t>: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1"/>
              </a:buClr>
              <a:buAutoNum type="arabicPeriod"/>
            </a:pP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  <a:ea typeface="Cambria"/>
                <a:cs typeface="Cambria"/>
                <a:sym typeface="Cambria"/>
              </a:rPr>
              <a:t>READ AFTER WRITE (RAW) – „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  <a:ea typeface="Cambria"/>
                <a:cs typeface="Cambria"/>
                <a:sym typeface="Cambria"/>
              </a:rPr>
              <a:t>Flow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  <a:ea typeface="Cambria"/>
                <a:cs typeface="Cambria"/>
                <a:sym typeface="Cambria"/>
              </a:rPr>
              <a:t>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  <a:ea typeface="Cambria"/>
                <a:cs typeface="Cambria"/>
                <a:sym typeface="Cambria"/>
              </a:rPr>
              <a:t>dependency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  <a:ea typeface="Cambria"/>
                <a:cs typeface="Cambria"/>
                <a:sym typeface="Cambria"/>
              </a:rPr>
              <a:t>”→ „pravi”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  <a:ea typeface="Cambria"/>
                <a:cs typeface="Cambria"/>
                <a:sym typeface="Cambria"/>
              </a:rPr>
              <a:t>dependency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  <a:ea typeface="Cambria"/>
                <a:cs typeface="Cambria"/>
                <a:sym typeface="Cambria"/>
              </a:rPr>
              <a:t> - NE MOŽE se </a:t>
            </a:r>
            <a:r>
              <a:rPr lang="hr-HR" sz="1800" b="1" dirty="0" err="1">
                <a:solidFill>
                  <a:schemeClr val="bg1"/>
                </a:solidFill>
                <a:latin typeface="Quicksand" panose="020B0604020202020204" charset="0"/>
                <a:ea typeface="Cambria"/>
                <a:cs typeface="Cambria"/>
                <a:sym typeface="Cambria"/>
              </a:rPr>
              <a:t>paralelizirati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  <a:ea typeface="Cambria"/>
                <a:cs typeface="Cambria"/>
                <a:sym typeface="Cambria"/>
              </a:rPr>
              <a:t> 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1"/>
              </a:buClr>
              <a:buAutoNum type="arabicPeriod"/>
            </a:pPr>
            <a:r>
              <a:rPr lang="en-GB" sz="1800" b="1" i="0" u="none" strike="noStrike" cap="none" dirty="0">
                <a:solidFill>
                  <a:schemeClr val="bg1"/>
                </a:solidFill>
                <a:latin typeface="Quicksand" panose="020B0604020202020204" charset="0"/>
                <a:ea typeface="Cambria"/>
                <a:cs typeface="Cambria"/>
                <a:sym typeface="Cambria"/>
              </a:rPr>
              <a:t>WRITE AFTER READ (WAR) – </a:t>
            </a:r>
            <a:r>
              <a:rPr lang="hr-HR" sz="1800" b="1" i="0" u="none" strike="noStrike" cap="none" dirty="0">
                <a:solidFill>
                  <a:schemeClr val="bg1"/>
                </a:solidFill>
                <a:latin typeface="Quicksand" panose="020B0604020202020204" charset="0"/>
                <a:ea typeface="Cambria"/>
                <a:cs typeface="Cambria"/>
                <a:sym typeface="Cambria"/>
              </a:rPr>
              <a:t>„</a:t>
            </a:r>
            <a:r>
              <a:rPr lang="en-GB" sz="1800" b="1" i="0" u="none" strike="noStrike" cap="none" dirty="0">
                <a:solidFill>
                  <a:schemeClr val="bg1"/>
                </a:solidFill>
                <a:latin typeface="Quicksand" panose="020B0604020202020204" charset="0"/>
                <a:ea typeface="Cambria"/>
                <a:cs typeface="Cambria"/>
                <a:sym typeface="Cambria"/>
              </a:rPr>
              <a:t>Anti dependency</a:t>
            </a:r>
            <a:r>
              <a:rPr lang="hr-HR" sz="1800" b="1" i="0" u="none" strike="noStrike" cap="none" dirty="0">
                <a:solidFill>
                  <a:schemeClr val="bg1"/>
                </a:solidFill>
                <a:latin typeface="Quicksand" panose="020B0604020202020204" charset="0"/>
                <a:ea typeface="Cambria"/>
                <a:cs typeface="Cambria"/>
                <a:sym typeface="Cambria"/>
              </a:rPr>
              <a:t>” → Može se riješiti - često MOŽE paralelno</a:t>
            </a:r>
          </a:p>
          <a:p>
            <a:pPr marL="342900" lvl="0" indent="-342900">
              <a:spcAft>
                <a:spcPts val="1200"/>
              </a:spcAft>
              <a:buClr>
                <a:schemeClr val="bg1"/>
              </a:buClr>
              <a:buAutoNum type="arabicPeriod"/>
            </a:pP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WRITE AFTER WRITE (WAW) </a:t>
            </a:r>
            <a:r>
              <a:rPr lang="en-GB" sz="1800" dirty="0">
                <a:solidFill>
                  <a:schemeClr val="bg1"/>
                </a:solidFill>
                <a:latin typeface="Quicksand" panose="020B0604020202020204" charset="0"/>
              </a:rPr>
              <a:t>– 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„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Output dependency</a:t>
            </a:r>
            <a:r>
              <a:rPr lang="hr-HR" sz="1800" b="1" dirty="0">
                <a:solidFill>
                  <a:schemeClr val="bg1"/>
                </a:solidFill>
                <a:latin typeface="Quicksand" panose="020B0604020202020204" charset="0"/>
              </a:rPr>
              <a:t>”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→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Ovisi</a:t>
            </a:r>
            <a:r>
              <a:rPr lang="en-GB" sz="1800" b="1" dirty="0">
                <a:solidFill>
                  <a:schemeClr val="bg1"/>
                </a:solidFill>
                <a:latin typeface="Quicksand" panose="020B0604020202020204" charset="0"/>
              </a:rPr>
              <a:t> o </a:t>
            </a:r>
            <a:r>
              <a:rPr lang="en-GB" sz="1800" b="1" dirty="0" err="1">
                <a:solidFill>
                  <a:schemeClr val="bg1"/>
                </a:solidFill>
                <a:latin typeface="Quicksand" panose="020B0604020202020204" charset="0"/>
              </a:rPr>
              <a:t>situaciji</a:t>
            </a:r>
            <a:endParaRPr lang="hr-HR" sz="1800" b="1" dirty="0">
              <a:solidFill>
                <a:schemeClr val="bg1"/>
              </a:solidFill>
              <a:latin typeface="Quicksand" panose="020B0604020202020204" charset="0"/>
            </a:endParaRPr>
          </a:p>
          <a:p>
            <a:pPr marL="342900" lvl="0" indent="-342900">
              <a:spcAft>
                <a:spcPts val="1200"/>
              </a:spcAft>
              <a:buClr>
                <a:schemeClr val="bg1"/>
              </a:buClr>
              <a:buAutoNum type="arabicPeriod"/>
            </a:pPr>
            <a:r>
              <a:rPr lang="hr-HR" sz="1800" b="1" i="0" u="none" strike="noStrike" cap="none" dirty="0">
                <a:solidFill>
                  <a:schemeClr val="bg1"/>
                </a:solidFill>
                <a:latin typeface="Quicksand" panose="020B0604020202020204" charset="0"/>
                <a:ea typeface="Cambria"/>
                <a:cs typeface="Cambria"/>
                <a:sym typeface="Cambria"/>
              </a:rPr>
              <a:t>READ AFTER READ (RAR) </a:t>
            </a:r>
            <a:r>
              <a:rPr lang="pl-PL" sz="1800" b="1" i="0" u="none" strike="noStrike" cap="none" dirty="0">
                <a:solidFill>
                  <a:schemeClr val="bg1"/>
                </a:solidFill>
                <a:latin typeface="Quicksand" panose="020B0604020202020204" charset="0"/>
                <a:ea typeface="Cambria"/>
                <a:cs typeface="Cambria"/>
                <a:sym typeface="Cambria"/>
              </a:rPr>
              <a:t>→ nije dependency - uvijek MOŽE paralelno</a:t>
            </a:r>
            <a:endParaRPr sz="1800" b="1" i="0" u="none" strike="noStrike" cap="none" dirty="0">
              <a:solidFill>
                <a:schemeClr val="bg1"/>
              </a:solidFill>
              <a:latin typeface="Quicksand" panose="020B0604020202020204" charset="0"/>
              <a:ea typeface="Cambria"/>
              <a:cs typeface="Cambria"/>
              <a:sym typeface="Cambria"/>
            </a:endParaRPr>
          </a:p>
          <a:p>
            <a:pPr marL="457200" marR="0" lvl="0" indent="-11393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</a:pPr>
            <a:endParaRPr sz="18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19026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None/>
            </a:pPr>
            <a:endParaRPr sz="18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7"/>
          <p:cNvSpPr txBox="1"/>
          <p:nvPr/>
        </p:nvSpPr>
        <p:spPr>
          <a:xfrm>
            <a:off x="1165320" y="704520"/>
            <a:ext cx="68577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READ AFTER WRITE (RAW) </a:t>
            </a:r>
            <a:endParaRPr sz="2400" b="1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5AF357D2-C6F4-2796-961C-71A1ADDEA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320" y="1802801"/>
            <a:ext cx="6691442" cy="1150480"/>
          </a:xfrm>
          <a:prstGeom prst="rect">
            <a:avLst/>
          </a:prstGeom>
        </p:spPr>
      </p:pic>
      <p:pic>
        <p:nvPicPr>
          <p:cNvPr id="5" name="Slika 4">
            <a:extLst>
              <a:ext uri="{FF2B5EF4-FFF2-40B4-BE49-F238E27FC236}">
                <a16:creationId xmlns:a16="http://schemas.microsoft.com/office/drawing/2014/main" id="{5BC7155F-33FC-2BC3-2BCB-24A36D8248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320" y="3679304"/>
            <a:ext cx="6691442" cy="2908742"/>
          </a:xfrm>
          <a:prstGeom prst="rect">
            <a:avLst/>
          </a:prstGeom>
        </p:spPr>
      </p:pic>
      <p:sp>
        <p:nvSpPr>
          <p:cNvPr id="6" name="TekstniOkvir 5">
            <a:extLst>
              <a:ext uri="{FF2B5EF4-FFF2-40B4-BE49-F238E27FC236}">
                <a16:creationId xmlns:a16="http://schemas.microsoft.com/office/drawing/2014/main" id="{1AEC370F-1899-08C5-C47D-B3D6CBB0945E}"/>
              </a:ext>
            </a:extLst>
          </p:cNvPr>
          <p:cNvSpPr txBox="1"/>
          <p:nvPr/>
        </p:nvSpPr>
        <p:spPr>
          <a:xfrm>
            <a:off x="1165320" y="1329572"/>
            <a:ext cx="4775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800" b="1" dirty="0">
                <a:solidFill>
                  <a:schemeClr val="bg1"/>
                </a:solidFill>
              </a:rPr>
              <a:t>Primjer 1:</a:t>
            </a:r>
            <a:r>
              <a:rPr lang="hr-HR" sz="1800" dirty="0">
                <a:solidFill>
                  <a:schemeClr val="bg1"/>
                </a:solidFill>
              </a:rPr>
              <a:t> U petlji (</a:t>
            </a:r>
            <a:r>
              <a:rPr lang="hr-HR" sz="1800" dirty="0" err="1">
                <a:solidFill>
                  <a:schemeClr val="bg1"/>
                </a:solidFill>
              </a:rPr>
              <a:t>loop-carried</a:t>
            </a:r>
            <a:r>
              <a:rPr lang="hr-HR" sz="1800" dirty="0">
                <a:solidFill>
                  <a:schemeClr val="bg1"/>
                </a:solidFill>
              </a:rPr>
              <a:t> </a:t>
            </a:r>
            <a:r>
              <a:rPr lang="hr-HR" sz="1800" dirty="0" err="1">
                <a:solidFill>
                  <a:schemeClr val="bg1"/>
                </a:solidFill>
              </a:rPr>
              <a:t>dependency</a:t>
            </a:r>
            <a:r>
              <a:rPr lang="hr-HR" sz="18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9" name="TekstniOkvir 8">
            <a:extLst>
              <a:ext uri="{FF2B5EF4-FFF2-40B4-BE49-F238E27FC236}">
                <a16:creationId xmlns:a16="http://schemas.microsoft.com/office/drawing/2014/main" id="{FA2E7F65-65D8-151B-7EFB-15EAE4F52337}"/>
              </a:ext>
            </a:extLst>
          </p:cNvPr>
          <p:cNvSpPr txBox="1"/>
          <p:nvPr/>
        </p:nvSpPr>
        <p:spPr>
          <a:xfrm>
            <a:off x="2387619" y="5845703"/>
            <a:ext cx="4368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b="1" dirty="0"/>
              <a:t>Lanac zavisnosti! → NE MOŽE se </a:t>
            </a:r>
            <a:r>
              <a:rPr lang="hr-HR" b="1" dirty="0" err="1"/>
              <a:t>vektorizirati</a:t>
            </a:r>
            <a:r>
              <a:rPr lang="hr-HR" b="1" dirty="0"/>
              <a:t>!</a:t>
            </a:r>
          </a:p>
        </p:txBody>
      </p:sp>
      <p:sp>
        <p:nvSpPr>
          <p:cNvPr id="10" name="TekstniOkvir 9">
            <a:extLst>
              <a:ext uri="{FF2B5EF4-FFF2-40B4-BE49-F238E27FC236}">
                <a16:creationId xmlns:a16="http://schemas.microsoft.com/office/drawing/2014/main" id="{3A3F6AF2-2DD0-3FDC-71E1-E6A94C68678F}"/>
              </a:ext>
            </a:extLst>
          </p:cNvPr>
          <p:cNvSpPr txBox="1"/>
          <p:nvPr/>
        </p:nvSpPr>
        <p:spPr>
          <a:xfrm>
            <a:off x="1165320" y="3178696"/>
            <a:ext cx="5096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800" b="1" dirty="0">
                <a:solidFill>
                  <a:schemeClr val="bg1"/>
                </a:solidFill>
              </a:rPr>
              <a:t>Dodavanje pojedine operacije sekvencijalno: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D89BBA05-042B-3EFC-7928-F976531C3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7">
            <a:extLst>
              <a:ext uri="{FF2B5EF4-FFF2-40B4-BE49-F238E27FC236}">
                <a16:creationId xmlns:a16="http://schemas.microsoft.com/office/drawing/2014/main" id="{529B2542-99A8-6B5F-87B0-116899C18D5B}"/>
              </a:ext>
            </a:extLst>
          </p:cNvPr>
          <p:cNvSpPr txBox="1"/>
          <p:nvPr/>
        </p:nvSpPr>
        <p:spPr>
          <a:xfrm>
            <a:off x="1165320" y="704520"/>
            <a:ext cx="68577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READ AFTER WRITE (RAW) </a:t>
            </a:r>
            <a:endParaRPr sz="24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DA58A146-8E53-66AB-90F2-3F234CAA4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320" y="1802801"/>
            <a:ext cx="6691442" cy="1150480"/>
          </a:xfrm>
          <a:prstGeom prst="rect">
            <a:avLst/>
          </a:prstGeom>
        </p:spPr>
      </p:pic>
      <p:sp>
        <p:nvSpPr>
          <p:cNvPr id="6" name="TekstniOkvir 5">
            <a:extLst>
              <a:ext uri="{FF2B5EF4-FFF2-40B4-BE49-F238E27FC236}">
                <a16:creationId xmlns:a16="http://schemas.microsoft.com/office/drawing/2014/main" id="{453F66FB-0A9B-540B-22AE-4DAE3E297EDD}"/>
              </a:ext>
            </a:extLst>
          </p:cNvPr>
          <p:cNvSpPr txBox="1"/>
          <p:nvPr/>
        </p:nvSpPr>
        <p:spPr>
          <a:xfrm>
            <a:off x="1164362" y="1298794"/>
            <a:ext cx="4775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800" b="1" dirty="0">
                <a:solidFill>
                  <a:schemeClr val="bg1"/>
                </a:solidFill>
              </a:rPr>
              <a:t>Primjer 1:</a:t>
            </a:r>
            <a:r>
              <a:rPr lang="hr-HR" sz="1800" dirty="0">
                <a:solidFill>
                  <a:schemeClr val="bg1"/>
                </a:solidFill>
              </a:rPr>
              <a:t> U petlji (</a:t>
            </a:r>
            <a:r>
              <a:rPr lang="hr-HR" sz="1800" dirty="0" err="1">
                <a:solidFill>
                  <a:schemeClr val="bg1"/>
                </a:solidFill>
              </a:rPr>
              <a:t>loop-carried</a:t>
            </a:r>
            <a:r>
              <a:rPr lang="hr-HR" sz="1800" dirty="0">
                <a:solidFill>
                  <a:schemeClr val="bg1"/>
                </a:solidFill>
              </a:rPr>
              <a:t> </a:t>
            </a:r>
            <a:r>
              <a:rPr lang="hr-HR" sz="1800" dirty="0" err="1">
                <a:solidFill>
                  <a:schemeClr val="bg1"/>
                </a:solidFill>
              </a:rPr>
              <a:t>dependency</a:t>
            </a:r>
            <a:r>
              <a:rPr lang="hr-HR" sz="18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0" name="TekstniOkvir 9">
            <a:extLst>
              <a:ext uri="{FF2B5EF4-FFF2-40B4-BE49-F238E27FC236}">
                <a16:creationId xmlns:a16="http://schemas.microsoft.com/office/drawing/2014/main" id="{1826FB50-5F1A-3757-922D-7789E001517F}"/>
              </a:ext>
            </a:extLst>
          </p:cNvPr>
          <p:cNvSpPr txBox="1"/>
          <p:nvPr/>
        </p:nvSpPr>
        <p:spPr>
          <a:xfrm>
            <a:off x="1164362" y="3222630"/>
            <a:ext cx="5083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800" b="1" dirty="0">
                <a:solidFill>
                  <a:schemeClr val="bg1"/>
                </a:solidFill>
              </a:rPr>
              <a:t>Vektorsko izvođenje (pokušaj </a:t>
            </a:r>
            <a:r>
              <a:rPr lang="hr-HR" sz="1800" b="1" dirty="0" err="1">
                <a:solidFill>
                  <a:schemeClr val="bg1"/>
                </a:solidFill>
              </a:rPr>
              <a:t>paralelizacije</a:t>
            </a:r>
            <a:r>
              <a:rPr lang="hr-HR" sz="1800" b="1" dirty="0">
                <a:solidFill>
                  <a:schemeClr val="bg1"/>
                </a:solidFill>
              </a:rPr>
              <a:t>):</a:t>
            </a:r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id="{D2BA8484-E235-D991-FF19-126D499154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4362" y="3770776"/>
            <a:ext cx="6692400" cy="236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887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A172C97F-601F-EB34-6BEA-8097CC2F1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7">
            <a:extLst>
              <a:ext uri="{FF2B5EF4-FFF2-40B4-BE49-F238E27FC236}">
                <a16:creationId xmlns:a16="http://schemas.microsoft.com/office/drawing/2014/main" id="{7E5E9F10-3575-7681-4E4A-0CCE03B42410}"/>
              </a:ext>
            </a:extLst>
          </p:cNvPr>
          <p:cNvSpPr txBox="1"/>
          <p:nvPr/>
        </p:nvSpPr>
        <p:spPr>
          <a:xfrm>
            <a:off x="1165320" y="704520"/>
            <a:ext cx="68577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READ AFTER WRITE (RAW) </a:t>
            </a:r>
            <a:endParaRPr sz="24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A0DDF60E-C3F4-778B-0536-BFC24EEB2E48}"/>
              </a:ext>
            </a:extLst>
          </p:cNvPr>
          <p:cNvSpPr txBox="1"/>
          <p:nvPr/>
        </p:nvSpPr>
        <p:spPr>
          <a:xfrm>
            <a:off x="1165320" y="1261637"/>
            <a:ext cx="2929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800" b="1" dirty="0">
                <a:solidFill>
                  <a:schemeClr val="bg1"/>
                </a:solidFill>
              </a:rPr>
              <a:t>Primjer 2:</a:t>
            </a:r>
            <a:r>
              <a:rPr lang="hr-HR" sz="1800" dirty="0">
                <a:solidFill>
                  <a:schemeClr val="bg1"/>
                </a:solidFill>
              </a:rPr>
              <a:t> Između </a:t>
            </a:r>
            <a:r>
              <a:rPr lang="hr-HR" sz="1800" dirty="0" err="1">
                <a:solidFill>
                  <a:schemeClr val="bg1"/>
                </a:solidFill>
              </a:rPr>
              <a:t>taskova</a:t>
            </a:r>
            <a:endParaRPr lang="hr-HR" sz="1800" dirty="0">
              <a:solidFill>
                <a:schemeClr val="bg1"/>
              </a:solidFill>
            </a:endParaRP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6158A418-76B6-D2EB-EDFD-A905D01AEBCF}"/>
              </a:ext>
            </a:extLst>
          </p:cNvPr>
          <p:cNvSpPr txBox="1"/>
          <p:nvPr/>
        </p:nvSpPr>
        <p:spPr>
          <a:xfrm>
            <a:off x="1169488" y="1688698"/>
            <a:ext cx="449033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// Task A</a:t>
            </a:r>
          </a:p>
          <a:p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x = </a:t>
            </a:r>
            <a:r>
              <a:rPr lang="en-GB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compute_something</a:t>
            </a:r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endParaRPr lang="en-GB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// Task B</a:t>
            </a:r>
          </a:p>
          <a:p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y = x + 10;  //RAW dependency </a:t>
            </a:r>
            <a:r>
              <a:rPr lang="en-GB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na</a:t>
            </a:r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 x</a:t>
            </a: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09752006-82F1-2F5E-D099-AFD5F9D51301}"/>
              </a:ext>
            </a:extLst>
          </p:cNvPr>
          <p:cNvSpPr txBox="1"/>
          <p:nvPr/>
        </p:nvSpPr>
        <p:spPr>
          <a:xfrm>
            <a:off x="1165320" y="3306547"/>
            <a:ext cx="79786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800" b="1" dirty="0">
                <a:solidFill>
                  <a:schemeClr val="bg1"/>
                </a:solidFill>
              </a:rPr>
              <a:t>Kako </a:t>
            </a:r>
            <a:r>
              <a:rPr lang="hr-HR" sz="1800" b="1" dirty="0" err="1">
                <a:solidFill>
                  <a:schemeClr val="bg1"/>
                </a:solidFill>
              </a:rPr>
              <a:t>compiler</a:t>
            </a:r>
            <a:r>
              <a:rPr lang="hr-HR" sz="1800" b="1" dirty="0">
                <a:solidFill>
                  <a:schemeClr val="bg1"/>
                </a:solidFill>
              </a:rPr>
              <a:t> detektira RAW?</a:t>
            </a:r>
          </a:p>
          <a:p>
            <a:endParaRPr lang="hr-HR" sz="1800" dirty="0">
              <a:solidFill>
                <a:schemeClr val="bg1"/>
              </a:solidFill>
            </a:endParaRPr>
          </a:p>
          <a:p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gcc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-O3 -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fopt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-info-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vec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-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missed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dep.c</a:t>
            </a: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# Output: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dep.c:20:5: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missed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: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couldn't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vectorize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loop</a:t>
            </a: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dep.c:20:5: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missed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: data reference a[i]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followed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by</a:t>
            </a: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    data reference a[i-1]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indicates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a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possible</a:t>
            </a: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dependence</a:t>
            </a: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kstniOkvir 6">
            <a:extLst>
              <a:ext uri="{FF2B5EF4-FFF2-40B4-BE49-F238E27FC236}">
                <a16:creationId xmlns:a16="http://schemas.microsoft.com/office/drawing/2014/main" id="{BF80B84F-570B-22E5-9FF1-F6219A556129}"/>
              </a:ext>
            </a:extLst>
          </p:cNvPr>
          <p:cNvSpPr txBox="1"/>
          <p:nvPr/>
        </p:nvSpPr>
        <p:spPr>
          <a:xfrm>
            <a:off x="1165320" y="5755392"/>
            <a:ext cx="551659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1600" dirty="0">
                <a:solidFill>
                  <a:schemeClr val="bg1"/>
                </a:solidFill>
              </a:rPr>
              <a:t>RAW = Pravi </a:t>
            </a:r>
            <a:r>
              <a:rPr lang="hr-HR" sz="1600" dirty="0" err="1">
                <a:solidFill>
                  <a:schemeClr val="bg1"/>
                </a:solidFill>
              </a:rPr>
              <a:t>dependency</a:t>
            </a:r>
            <a:r>
              <a:rPr lang="hr-HR" sz="1600" dirty="0">
                <a:solidFill>
                  <a:schemeClr val="bg1"/>
                </a:solidFill>
              </a:rPr>
              <a:t> </a:t>
            </a:r>
          </a:p>
          <a:p>
            <a:r>
              <a:rPr lang="hr-HR" sz="1600" dirty="0">
                <a:solidFill>
                  <a:schemeClr val="bg1"/>
                </a:solidFill>
              </a:rPr>
              <a:t>- ne može se ignorirati</a:t>
            </a:r>
          </a:p>
          <a:p>
            <a:r>
              <a:rPr lang="hr-HR" sz="1600" dirty="0">
                <a:solidFill>
                  <a:schemeClr val="bg1"/>
                </a:solidFill>
              </a:rPr>
              <a:t>- ne može se </a:t>
            </a:r>
            <a:r>
              <a:rPr lang="hr-HR" sz="1600" dirty="0" err="1">
                <a:solidFill>
                  <a:schemeClr val="bg1"/>
                </a:solidFill>
              </a:rPr>
              <a:t>paralelizirati</a:t>
            </a:r>
            <a:r>
              <a:rPr lang="hr-HR" sz="1600" dirty="0">
                <a:solidFill>
                  <a:schemeClr val="bg1"/>
                </a:solidFill>
              </a:rPr>
              <a:t> (bez algoritamske promjene)</a:t>
            </a:r>
          </a:p>
          <a:p>
            <a:r>
              <a:rPr lang="hr-HR" sz="1600" dirty="0" err="1">
                <a:solidFill>
                  <a:schemeClr val="bg1"/>
                </a:solidFill>
              </a:rPr>
              <a:t>Compiler</a:t>
            </a:r>
            <a:r>
              <a:rPr lang="hr-HR" sz="1600" dirty="0">
                <a:solidFill>
                  <a:schemeClr val="bg1"/>
                </a:solidFill>
              </a:rPr>
              <a:t> će odbiti </a:t>
            </a:r>
            <a:r>
              <a:rPr lang="hr-HR" sz="1600" dirty="0" err="1">
                <a:solidFill>
                  <a:schemeClr val="bg1"/>
                </a:solidFill>
              </a:rPr>
              <a:t>vektorizaciju</a:t>
            </a:r>
            <a:r>
              <a:rPr lang="hr-HR" sz="1600" dirty="0">
                <a:solidFill>
                  <a:schemeClr val="bg1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247674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645DADE2-BBAA-D473-CE3C-752AB20D6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7">
            <a:extLst>
              <a:ext uri="{FF2B5EF4-FFF2-40B4-BE49-F238E27FC236}">
                <a16:creationId xmlns:a16="http://schemas.microsoft.com/office/drawing/2014/main" id="{5D215777-C0FE-AD6C-3F23-672C1FD36116}"/>
              </a:ext>
            </a:extLst>
          </p:cNvPr>
          <p:cNvSpPr txBox="1"/>
          <p:nvPr/>
        </p:nvSpPr>
        <p:spPr>
          <a:xfrm>
            <a:off x="1165320" y="704520"/>
            <a:ext cx="68577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WRITE AFTER READ (WAR)</a:t>
            </a:r>
            <a:endParaRPr sz="24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39F309DC-B746-F24F-150B-B4FF5F1E7724}"/>
              </a:ext>
            </a:extLst>
          </p:cNvPr>
          <p:cNvSpPr txBox="1"/>
          <p:nvPr/>
        </p:nvSpPr>
        <p:spPr>
          <a:xfrm>
            <a:off x="1165320" y="1321806"/>
            <a:ext cx="70326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 err="1">
                <a:solidFill>
                  <a:schemeClr val="bg1"/>
                </a:solidFill>
              </a:rPr>
              <a:t>Task</a:t>
            </a:r>
            <a:r>
              <a:rPr lang="hr-HR" dirty="0">
                <a:solidFill>
                  <a:schemeClr val="bg1"/>
                </a:solidFill>
              </a:rPr>
              <a:t> B piše u podatak koji </a:t>
            </a:r>
            <a:r>
              <a:rPr lang="hr-HR" dirty="0" err="1">
                <a:solidFill>
                  <a:schemeClr val="bg1"/>
                </a:solidFill>
              </a:rPr>
              <a:t>Task</a:t>
            </a:r>
            <a:r>
              <a:rPr lang="hr-HR" dirty="0">
                <a:solidFill>
                  <a:schemeClr val="bg1"/>
                </a:solidFill>
              </a:rPr>
              <a:t> A čita→ </a:t>
            </a:r>
            <a:r>
              <a:rPr lang="hr-HR" dirty="0" err="1">
                <a:solidFill>
                  <a:schemeClr val="bg1"/>
                </a:solidFill>
              </a:rPr>
              <a:t>Task</a:t>
            </a:r>
            <a:r>
              <a:rPr lang="hr-HR" dirty="0">
                <a:solidFill>
                  <a:schemeClr val="bg1"/>
                </a:solidFill>
              </a:rPr>
              <a:t> B ne smije prepisati prije nego A pročita</a:t>
            </a: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C8F0B9F4-D315-AFC1-9242-A01BF06B5673}"/>
              </a:ext>
            </a:extLst>
          </p:cNvPr>
          <p:cNvSpPr txBox="1"/>
          <p:nvPr/>
        </p:nvSpPr>
        <p:spPr>
          <a:xfrm>
            <a:off x="1165320" y="1787269"/>
            <a:ext cx="6136616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800" b="1" dirty="0">
                <a:solidFill>
                  <a:schemeClr val="bg1"/>
                </a:solidFill>
              </a:rPr>
              <a:t>Primjer 1: U petlji</a:t>
            </a:r>
          </a:p>
          <a:p>
            <a:endParaRPr lang="hr-HR" sz="1800" dirty="0">
              <a:solidFill>
                <a:schemeClr val="bg1"/>
              </a:solidFill>
            </a:endParaRP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for (i = 0; i &lt; N-1; i++) {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a[i] = a[i+1] + b[i];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Iteracija 0: a[0] = a[1] + b[0]   ← Čita a[1]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Iteracija 1: a[1] = a[2] + b[1]   ← Piše a[1]  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     ↑      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     Piše na lokaciju koju je 0 čitala</a:t>
            </a: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Ali: i=1 ne prepisuje dok i=0 čita!</a:t>
            </a:r>
          </a:p>
          <a:p>
            <a:r>
              <a:rPr lang="it-IT" sz="1800" dirty="0">
                <a:solidFill>
                  <a:schemeClr val="bg1"/>
                </a:solidFill>
                <a:latin typeface="Consolas" panose="020B0609020204030204" pitchFamily="49" charset="0"/>
              </a:rPr>
              <a:t>→ Ne </a:t>
            </a:r>
            <a:r>
              <a:rPr lang="it-IT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postoji</a:t>
            </a:r>
            <a:r>
              <a:rPr lang="it-IT" sz="1800" dirty="0">
                <a:solidFill>
                  <a:schemeClr val="bg1"/>
                </a:solidFill>
                <a:latin typeface="Consolas" panose="020B0609020204030204" pitchFamily="49" charset="0"/>
              </a:rPr>
              <a:t> PRAVI </a:t>
            </a:r>
            <a:r>
              <a:rPr lang="it-IT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lanac</a:t>
            </a:r>
            <a:r>
              <a:rPr lang="it-IT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it-IT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zavisnosti</a:t>
            </a:r>
            <a:r>
              <a:rPr lang="it-IT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it-IT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unatrag</a:t>
            </a: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889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FE9ADA44-6433-9A55-9D98-27A1244C2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7">
            <a:extLst>
              <a:ext uri="{FF2B5EF4-FFF2-40B4-BE49-F238E27FC236}">
                <a16:creationId xmlns:a16="http://schemas.microsoft.com/office/drawing/2014/main" id="{D82D5F50-CB6E-5573-5297-2058FA049CC1}"/>
              </a:ext>
            </a:extLst>
          </p:cNvPr>
          <p:cNvSpPr txBox="1"/>
          <p:nvPr/>
        </p:nvSpPr>
        <p:spPr>
          <a:xfrm>
            <a:off x="1165320" y="704520"/>
            <a:ext cx="68577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WRITE AFTER READ (WAR)</a:t>
            </a:r>
            <a:endParaRPr sz="24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3B1D42FC-5132-D17A-EB31-39ABF93B29B5}"/>
              </a:ext>
            </a:extLst>
          </p:cNvPr>
          <p:cNvSpPr txBox="1"/>
          <p:nvPr/>
        </p:nvSpPr>
        <p:spPr>
          <a:xfrm>
            <a:off x="1165320" y="1452290"/>
            <a:ext cx="7023076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800" b="1" dirty="0">
                <a:solidFill>
                  <a:schemeClr val="bg1"/>
                </a:solidFill>
              </a:rPr>
              <a:t>Primjer 2: Vektorska izvedba - ispravno</a:t>
            </a:r>
          </a:p>
          <a:p>
            <a:endParaRPr lang="hr-HR" sz="1800" dirty="0">
              <a:solidFill>
                <a:schemeClr val="bg1"/>
              </a:solidFill>
            </a:endParaRP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Početno: a = {0, 1, 2, 3, 4}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 b = {5, 6, 7, 8, 9}</a:t>
            </a: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Vektorski (i = 0..3 odjednom):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Učitaj: a[1..4] = {1, 2, 3, 4}   ← Prvo čitaj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Učitaj: b[0..3] = {5, 6, 7, 8}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Zbroji i spremi u a[0..3]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Rezultat: a = {6, 8, 10, 12, 4}</a:t>
            </a: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RAW: Čitamo ono što smo upravo pisali → lanac naprijed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WAR: Pišemo ono što smo već pročitali → nema lanca</a:t>
            </a: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B513B438-A30D-74AC-B996-EF94B114D856}"/>
              </a:ext>
            </a:extLst>
          </p:cNvPr>
          <p:cNvSpPr txBox="1"/>
          <p:nvPr/>
        </p:nvSpPr>
        <p:spPr>
          <a:xfrm>
            <a:off x="5956717" y="1984569"/>
            <a:ext cx="223167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1500" dirty="0">
                <a:solidFill>
                  <a:schemeClr val="bg1"/>
                </a:solidFill>
              </a:rPr>
              <a:t>for (i = 0; i &lt; N-1; i++) {</a:t>
            </a:r>
          </a:p>
          <a:p>
            <a:r>
              <a:rPr lang="hr-HR" sz="1500" dirty="0">
                <a:solidFill>
                  <a:schemeClr val="bg1"/>
                </a:solidFill>
              </a:rPr>
              <a:t>    a[i] = a[i+1] + b[i];</a:t>
            </a:r>
          </a:p>
          <a:p>
            <a:r>
              <a:rPr lang="hr-HR" sz="1500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0131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7B4FAE51-BCD4-3367-7130-54B9E52AA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7">
            <a:extLst>
              <a:ext uri="{FF2B5EF4-FFF2-40B4-BE49-F238E27FC236}">
                <a16:creationId xmlns:a16="http://schemas.microsoft.com/office/drawing/2014/main" id="{16A61558-1F4F-F05E-BEAA-4E242F7841FD}"/>
              </a:ext>
            </a:extLst>
          </p:cNvPr>
          <p:cNvSpPr txBox="1"/>
          <p:nvPr/>
        </p:nvSpPr>
        <p:spPr>
          <a:xfrm>
            <a:off x="1165320" y="704520"/>
            <a:ext cx="68577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WRITE AFTER READ (WAR)</a:t>
            </a:r>
            <a:endParaRPr sz="24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99A0541A-1955-191E-809A-112164209399}"/>
              </a:ext>
            </a:extLst>
          </p:cNvPr>
          <p:cNvSpPr txBox="1"/>
          <p:nvPr/>
        </p:nvSpPr>
        <p:spPr>
          <a:xfrm>
            <a:off x="1165320" y="1452291"/>
            <a:ext cx="5123518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800" b="1" dirty="0">
                <a:solidFill>
                  <a:schemeClr val="bg1"/>
                </a:solidFill>
              </a:rPr>
              <a:t>Primjer 3: Između </a:t>
            </a:r>
            <a:r>
              <a:rPr lang="hr-HR" sz="1800" b="1" dirty="0" err="1">
                <a:solidFill>
                  <a:schemeClr val="bg1"/>
                </a:solidFill>
              </a:rPr>
              <a:t>taskova</a:t>
            </a:r>
            <a:endParaRPr lang="hr-HR" sz="1800" b="1" dirty="0">
              <a:solidFill>
                <a:schemeClr val="bg1"/>
              </a:solidFill>
            </a:endParaRPr>
          </a:p>
          <a:p>
            <a:endParaRPr lang="hr-HR" sz="1800" dirty="0">
              <a:solidFill>
                <a:schemeClr val="bg1"/>
              </a:solidFill>
            </a:endParaRPr>
          </a:p>
          <a:p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// Task A</a:t>
            </a:r>
          </a:p>
          <a:p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y = x + 10;      // ← </a:t>
            </a:r>
            <a:r>
              <a:rPr lang="en-GB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Čita</a:t>
            </a:r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 x</a:t>
            </a:r>
          </a:p>
          <a:p>
            <a:endParaRPr lang="en-GB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// Task B</a:t>
            </a:r>
          </a:p>
          <a:p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x = </a:t>
            </a:r>
            <a:r>
              <a:rPr lang="en-GB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new_value</a:t>
            </a:r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;   // ← Piše x (WAR </a:t>
            </a:r>
            <a:r>
              <a:rPr lang="en-GB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na</a:t>
            </a:r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 x)</a:t>
            </a: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Rješenje: Privremena varijabla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//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Task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A</a:t>
            </a:r>
          </a:p>
          <a:p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temp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= x;        // Kopiraj prije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y =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temp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+ 10;</a:t>
            </a: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//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Task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B - sada može paralelno!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x =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new_value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264780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78A31E75-4B3D-F0DA-F46D-A1A9DA16E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7">
            <a:extLst>
              <a:ext uri="{FF2B5EF4-FFF2-40B4-BE49-F238E27FC236}">
                <a16:creationId xmlns:a16="http://schemas.microsoft.com/office/drawing/2014/main" id="{8A9D9074-A3E9-A7A7-29F3-40E0A68C2385}"/>
              </a:ext>
            </a:extLst>
          </p:cNvPr>
          <p:cNvSpPr txBox="1"/>
          <p:nvPr/>
        </p:nvSpPr>
        <p:spPr>
          <a:xfrm>
            <a:off x="1165320" y="704520"/>
            <a:ext cx="7734236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0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WRITE AFTER WRITE (WAW) - Output Dependency</a:t>
            </a:r>
            <a:endParaRPr sz="24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B4084E6B-B03C-0495-4958-CFE5ED9BB83D}"/>
              </a:ext>
            </a:extLst>
          </p:cNvPr>
          <p:cNvSpPr txBox="1"/>
          <p:nvPr/>
        </p:nvSpPr>
        <p:spPr>
          <a:xfrm>
            <a:off x="1165320" y="1787269"/>
            <a:ext cx="766180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800" dirty="0" err="1">
                <a:solidFill>
                  <a:schemeClr val="bg1"/>
                </a:solidFill>
              </a:rPr>
              <a:t>Task</a:t>
            </a:r>
            <a:r>
              <a:rPr lang="hr-HR" sz="1800" dirty="0">
                <a:solidFill>
                  <a:schemeClr val="bg1"/>
                </a:solidFill>
              </a:rPr>
              <a:t> A i </a:t>
            </a:r>
            <a:r>
              <a:rPr lang="hr-HR" sz="1800" dirty="0" err="1">
                <a:solidFill>
                  <a:schemeClr val="bg1"/>
                </a:solidFill>
              </a:rPr>
              <a:t>Task</a:t>
            </a:r>
            <a:r>
              <a:rPr lang="hr-HR" sz="1800" dirty="0">
                <a:solidFill>
                  <a:schemeClr val="bg1"/>
                </a:solidFill>
              </a:rPr>
              <a:t> B pišu u istu memorijsku lokaciju → Redoslijed određuje konačnu vrijednost</a:t>
            </a:r>
          </a:p>
          <a:p>
            <a:endParaRPr lang="hr-HR" sz="1800" dirty="0">
              <a:solidFill>
                <a:schemeClr val="bg1"/>
              </a:solidFill>
            </a:endParaRPr>
          </a:p>
          <a:p>
            <a:r>
              <a:rPr lang="hr-HR" sz="1800" b="1" dirty="0">
                <a:solidFill>
                  <a:schemeClr val="bg1"/>
                </a:solidFill>
              </a:rPr>
              <a:t>Primjer 1: </a:t>
            </a:r>
            <a:r>
              <a:rPr lang="hr-HR" sz="1800" b="1" dirty="0" err="1">
                <a:solidFill>
                  <a:schemeClr val="bg1"/>
                </a:solidFill>
              </a:rPr>
              <a:t>Overwriting</a:t>
            </a:r>
            <a:r>
              <a:rPr lang="hr-HR" sz="1800" b="1" dirty="0">
                <a:solidFill>
                  <a:schemeClr val="bg1"/>
                </a:solidFill>
              </a:rPr>
              <a:t> u petlji</a:t>
            </a:r>
          </a:p>
          <a:p>
            <a:endParaRPr lang="hr-HR" sz="1800" dirty="0">
              <a:solidFill>
                <a:schemeClr val="bg1"/>
              </a:solidFill>
            </a:endParaRPr>
          </a:p>
          <a:p>
            <a:r>
              <a:rPr lang="nn-NO" sz="1800" dirty="0">
                <a:solidFill>
                  <a:schemeClr val="bg1"/>
                </a:solidFill>
                <a:latin typeface="Consolas" panose="020B0609020204030204" pitchFamily="49" charset="0"/>
              </a:rPr>
              <a:t>for (i = 0; i &lt; N; i++) {</a:t>
            </a:r>
          </a:p>
          <a:p>
            <a:r>
              <a:rPr lang="nn-NO" sz="1800" dirty="0">
                <a:solidFill>
                  <a:schemeClr val="bg1"/>
                </a:solidFill>
                <a:latin typeface="Consolas" panose="020B0609020204030204" pitchFamily="49" charset="0"/>
              </a:rPr>
              <a:t>    a[i % 2] = b[i] + c[i];</a:t>
            </a:r>
          </a:p>
          <a:p>
            <a:r>
              <a:rPr lang="nn-NO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i=0: a[0] = b[0] + c[0]  ← Piše a[0]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i=2: a[0] = b[2] + c[2]  ← Piše a[0] ponovno!</a:t>
            </a: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Koja vrijednost ostaje u a[0]?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→ Ovisi o redoslijedu izvršavanja! (sekvencijalno)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→ NE MOŽE se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vektorizirati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357735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005EE8C4-E08F-E9B2-BF56-16B185564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7">
            <a:extLst>
              <a:ext uri="{FF2B5EF4-FFF2-40B4-BE49-F238E27FC236}">
                <a16:creationId xmlns:a16="http://schemas.microsoft.com/office/drawing/2014/main" id="{307E53E2-651F-D2B1-456D-BAA115E6845D}"/>
              </a:ext>
            </a:extLst>
          </p:cNvPr>
          <p:cNvSpPr txBox="1"/>
          <p:nvPr/>
        </p:nvSpPr>
        <p:spPr>
          <a:xfrm>
            <a:off x="1165320" y="704520"/>
            <a:ext cx="7734236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0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WRITE AFTER WRITE (WAW) - Output Dependency</a:t>
            </a:r>
            <a:endParaRPr sz="24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8B8FB1A4-D42B-4FFC-D5BB-A1AE91BA186A}"/>
              </a:ext>
            </a:extLst>
          </p:cNvPr>
          <p:cNvSpPr txBox="1"/>
          <p:nvPr/>
        </p:nvSpPr>
        <p:spPr>
          <a:xfrm>
            <a:off x="1165319" y="1102578"/>
            <a:ext cx="734493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800" b="1" dirty="0">
                <a:solidFill>
                  <a:schemeClr val="bg1"/>
                </a:solidFill>
              </a:rPr>
              <a:t>Primjer 2: </a:t>
            </a:r>
            <a:r>
              <a:rPr lang="hr-HR" sz="1800" b="1" dirty="0" err="1">
                <a:solidFill>
                  <a:schemeClr val="bg1"/>
                </a:solidFill>
              </a:rPr>
              <a:t>Reduction</a:t>
            </a:r>
            <a:r>
              <a:rPr lang="hr-HR" sz="1800" b="1" dirty="0">
                <a:solidFill>
                  <a:schemeClr val="bg1"/>
                </a:solidFill>
              </a:rPr>
              <a:t> - </a:t>
            </a:r>
            <a:r>
              <a:rPr lang="hr-HR" sz="1800" dirty="0">
                <a:solidFill>
                  <a:schemeClr val="bg1"/>
                </a:solidFill>
              </a:rPr>
              <a:t>operacija gdje kombiniramo sve elemente niza u jednu vrijednost.</a:t>
            </a:r>
            <a:endParaRPr lang="hr-HR" sz="1800" b="1" dirty="0">
              <a:solidFill>
                <a:schemeClr val="bg1"/>
              </a:solidFill>
            </a:endParaRPr>
          </a:p>
          <a:p>
            <a:endParaRPr lang="hr-HR" sz="1800" dirty="0">
              <a:solidFill>
                <a:schemeClr val="bg1"/>
              </a:solidFill>
            </a:endParaRPr>
          </a:p>
          <a:p>
            <a:r>
              <a:rPr lang="nn-NO" sz="1800" dirty="0">
                <a:solidFill>
                  <a:schemeClr val="bg1"/>
                </a:solidFill>
                <a:latin typeface="Consolas" panose="020B0609020204030204" pitchFamily="49" charset="0"/>
              </a:rPr>
              <a:t>sum = 0;</a:t>
            </a:r>
          </a:p>
          <a:p>
            <a:r>
              <a:rPr lang="nn-NO" sz="1800" dirty="0">
                <a:solidFill>
                  <a:schemeClr val="bg1"/>
                </a:solidFill>
                <a:latin typeface="Consolas" panose="020B0609020204030204" pitchFamily="49" charset="0"/>
              </a:rPr>
              <a:t>for (i = 0; i &lt; N; i++) {</a:t>
            </a:r>
          </a:p>
          <a:p>
            <a:r>
              <a:rPr lang="nn-NO" sz="1800" dirty="0">
                <a:solidFill>
                  <a:schemeClr val="bg1"/>
                </a:solidFill>
                <a:latin typeface="Consolas" panose="020B0609020204030204" pitchFamily="49" charset="0"/>
              </a:rPr>
              <a:t>    sum += a[i];  // ← Svi pišu u sum</a:t>
            </a:r>
          </a:p>
          <a:p>
            <a:r>
              <a:rPr lang="nn-NO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//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Compiler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pretvori u:</a:t>
            </a:r>
          </a:p>
          <a:p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float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partial_sums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[NUM_THREADS];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#pragma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omp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parallel</a:t>
            </a: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omp_get_thread_num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for (i =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; i &lt; N; i += NUM_THREADS) 	{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partial_sums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[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tid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] += a[i];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	}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sum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for (t = 0; t &lt; NUM_THREADS; t++)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sum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+=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partial_sums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[t];</a:t>
            </a: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4351364F-C653-0C69-BAFB-9D0B1A17C676}"/>
              </a:ext>
            </a:extLst>
          </p:cNvPr>
          <p:cNvSpPr txBox="1"/>
          <p:nvPr/>
        </p:nvSpPr>
        <p:spPr>
          <a:xfrm>
            <a:off x="6790099" y="2305615"/>
            <a:ext cx="210945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Ovo MOŽE biti paralelno jer je: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Asocijativna operacija (+)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Komutativna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operacija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Compiler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ima posebne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reduction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primitive</a:t>
            </a: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hr-HR" sz="1800" dirty="0"/>
          </a:p>
        </p:txBody>
      </p:sp>
    </p:spTree>
    <p:extLst>
      <p:ext uri="{BB962C8B-B14F-4D97-AF65-F5344CB8AC3E}">
        <p14:creationId xmlns:p14="http://schemas.microsoft.com/office/powerpoint/2010/main" val="1483668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C4951984-003F-252E-458C-728843946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7">
            <a:extLst>
              <a:ext uri="{FF2B5EF4-FFF2-40B4-BE49-F238E27FC236}">
                <a16:creationId xmlns:a16="http://schemas.microsoft.com/office/drawing/2014/main" id="{668B4CC7-138E-EE14-117B-61E8B210BE9A}"/>
              </a:ext>
            </a:extLst>
          </p:cNvPr>
          <p:cNvSpPr txBox="1"/>
          <p:nvPr/>
        </p:nvSpPr>
        <p:spPr>
          <a:xfrm>
            <a:off x="1165320" y="704520"/>
            <a:ext cx="7734236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0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READ AFTER READ (RAR)</a:t>
            </a:r>
            <a:endParaRPr sz="24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968B7E8A-0187-1448-4288-BD28F5E8C463}"/>
              </a:ext>
            </a:extLst>
          </p:cNvPr>
          <p:cNvSpPr txBox="1"/>
          <p:nvPr/>
        </p:nvSpPr>
        <p:spPr>
          <a:xfrm>
            <a:off x="1165320" y="1347021"/>
            <a:ext cx="763464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800" dirty="0" err="1">
                <a:solidFill>
                  <a:schemeClr val="bg1"/>
                </a:solidFill>
              </a:rPr>
              <a:t>Task</a:t>
            </a:r>
            <a:r>
              <a:rPr lang="hr-HR" sz="1800" dirty="0">
                <a:solidFill>
                  <a:schemeClr val="bg1"/>
                </a:solidFill>
              </a:rPr>
              <a:t> A i </a:t>
            </a:r>
            <a:r>
              <a:rPr lang="hr-HR" sz="1800" dirty="0" err="1">
                <a:solidFill>
                  <a:schemeClr val="bg1"/>
                </a:solidFill>
              </a:rPr>
              <a:t>Task</a:t>
            </a:r>
            <a:r>
              <a:rPr lang="hr-HR" sz="1800" dirty="0">
                <a:solidFill>
                  <a:schemeClr val="bg1"/>
                </a:solidFill>
              </a:rPr>
              <a:t> B čitaju istu memorijsku lokaciju → Nema problema - oba mogu čitati istovremeno</a:t>
            </a: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Primjer1: </a:t>
            </a:r>
          </a:p>
          <a:p>
            <a:r>
              <a:rPr lang="nn-NO" sz="1800" dirty="0">
                <a:solidFill>
                  <a:schemeClr val="bg1"/>
                </a:solidFill>
                <a:latin typeface="Consolas" panose="020B0609020204030204" pitchFamily="49" charset="0"/>
              </a:rPr>
              <a:t>for (i = 0; i &lt; N; i++) {</a:t>
            </a:r>
          </a:p>
          <a:p>
            <a:r>
              <a:rPr lang="nn-NO" sz="1800" dirty="0">
                <a:solidFill>
                  <a:schemeClr val="bg1"/>
                </a:solidFill>
                <a:latin typeface="Consolas" panose="020B0609020204030204" pitchFamily="49" charset="0"/>
              </a:rPr>
              <a:t>    a[i] = b[i % 2] + c[i];</a:t>
            </a:r>
          </a:p>
          <a:p>
            <a:r>
              <a:rPr lang="nn-NO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i=0: a[0] = b[0] + c[0]  ← Čita b[0]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i=2: a[2] = b[0] + c[2]  ← Čita b[0]</a:t>
            </a: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Oba mogu čitati b[0] istovremeno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→ MOŽE se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vektorizirati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2234626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00159A34-2B78-24F9-A054-4449622AC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7">
            <a:extLst>
              <a:ext uri="{FF2B5EF4-FFF2-40B4-BE49-F238E27FC236}">
                <a16:creationId xmlns:a16="http://schemas.microsoft.com/office/drawing/2014/main" id="{87C4D9A2-2FC9-CD02-28CF-B7A29817D0A0}"/>
              </a:ext>
            </a:extLst>
          </p:cNvPr>
          <p:cNvSpPr txBox="1"/>
          <p:nvPr/>
        </p:nvSpPr>
        <p:spPr>
          <a:xfrm>
            <a:off x="1165320" y="704520"/>
            <a:ext cx="7734236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0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Aliasing </a:t>
            </a:r>
            <a:endParaRPr sz="24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C97EFCBA-2556-56C6-4B13-AC25D6F6836A}"/>
              </a:ext>
            </a:extLst>
          </p:cNvPr>
          <p:cNvSpPr txBox="1"/>
          <p:nvPr/>
        </p:nvSpPr>
        <p:spPr>
          <a:xfrm>
            <a:off x="1165320" y="1164120"/>
            <a:ext cx="763464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800" dirty="0">
                <a:solidFill>
                  <a:schemeClr val="bg1"/>
                </a:solidFill>
              </a:rPr>
              <a:t>Problem: U C-u, pointeri mogu pokazivati na iste memorijske lokacije!</a:t>
            </a:r>
          </a:p>
          <a:p>
            <a:endParaRPr lang="pl-PL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pl-PL" sz="1800" dirty="0">
                <a:solidFill>
                  <a:schemeClr val="bg1"/>
                </a:solidFill>
                <a:latin typeface="Consolas" panose="020B0609020204030204" pitchFamily="49" charset="0"/>
              </a:rPr>
              <a:t>Primjer: </a:t>
            </a:r>
          </a:p>
          <a:p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void compute(double *a, double *b, double *c) {</a:t>
            </a:r>
          </a:p>
          <a:p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    for (</a:t>
            </a:r>
            <a:r>
              <a:rPr lang="en-GB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 = 1; </a:t>
            </a:r>
            <a:r>
              <a:rPr lang="en-GB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 &lt; N; </a:t>
            </a:r>
            <a:r>
              <a:rPr lang="en-GB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a[</a:t>
            </a:r>
            <a:r>
              <a:rPr lang="en-GB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] = b[</a:t>
            </a:r>
            <a:r>
              <a:rPr lang="en-GB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] + c[</a:t>
            </a:r>
            <a:r>
              <a:rPr lang="en-GB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double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A[100], B[100], C[100];</a:t>
            </a:r>
          </a:p>
          <a:p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compute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(A, B, C);  // Sve odvojeno - može se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vektorizirati</a:t>
            </a: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double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A[100], B[100], C[100];</a:t>
            </a:r>
          </a:p>
          <a:p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compute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(A, A+1, C);  // </a:t>
            </a:r>
            <a:r>
              <a:rPr lang="hr-HR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Aliasing</a:t>
            </a:r>
            <a:r>
              <a:rPr lang="hr-HR" sz="1800" dirty="0">
                <a:solidFill>
                  <a:srgbClr val="FF0000"/>
                </a:solidFill>
                <a:latin typeface="Consolas" panose="020B0609020204030204" pitchFamily="49" charset="0"/>
              </a:rPr>
              <a:t>!</a:t>
            </a: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// Sada je: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// a[i] = b[i] + c[i]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// zapravo: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// A[i] = A[i+1] + C[i]  → WAR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dependency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2682674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1020C17F-C260-C9C5-26A1-BDC1DBC46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7">
            <a:extLst>
              <a:ext uri="{FF2B5EF4-FFF2-40B4-BE49-F238E27FC236}">
                <a16:creationId xmlns:a16="http://schemas.microsoft.com/office/drawing/2014/main" id="{77E0C674-9F58-0CCE-BF7C-6AB8115C11C2}"/>
              </a:ext>
            </a:extLst>
          </p:cNvPr>
          <p:cNvSpPr txBox="1"/>
          <p:nvPr/>
        </p:nvSpPr>
        <p:spPr>
          <a:xfrm>
            <a:off x="1165320" y="704520"/>
            <a:ext cx="7734236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0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Aliasing </a:t>
            </a:r>
            <a:endParaRPr sz="24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F944512D-C3BD-9FF2-92B4-63F1827DC8A7}"/>
              </a:ext>
            </a:extLst>
          </p:cNvPr>
          <p:cNvSpPr txBox="1"/>
          <p:nvPr/>
        </p:nvSpPr>
        <p:spPr>
          <a:xfrm>
            <a:off x="1165320" y="1347021"/>
            <a:ext cx="763464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>
                <a:solidFill>
                  <a:schemeClr val="bg1"/>
                </a:solidFill>
              </a:rPr>
              <a:t>Compiler ne zna kako će funkcija biti pozvana!</a:t>
            </a:r>
          </a:p>
          <a:p>
            <a:endParaRPr lang="pl-PL" sz="1600" dirty="0">
              <a:solidFill>
                <a:schemeClr val="bg1"/>
              </a:solidFill>
            </a:endParaRPr>
          </a:p>
          <a:p>
            <a:r>
              <a:rPr lang="pl-PL" sz="1600" dirty="0">
                <a:solidFill>
                  <a:schemeClr val="bg1"/>
                </a:solidFill>
              </a:rPr>
              <a:t>→ Pretpostavlja najgori slučaj (aliasing postoji)</a:t>
            </a:r>
          </a:p>
          <a:p>
            <a:r>
              <a:rPr lang="pl-PL" sz="1600" dirty="0">
                <a:solidFill>
                  <a:schemeClr val="bg1"/>
                </a:solidFill>
              </a:rPr>
              <a:t>→ Neće vektorizirati "za svaki slučaj"</a:t>
            </a:r>
          </a:p>
          <a:p>
            <a:r>
              <a:rPr lang="pl-PL" sz="1600" dirty="0">
                <a:solidFill>
                  <a:schemeClr val="bg1"/>
                </a:solidFill>
              </a:rPr>
              <a:t>→ Gubitak performansi!</a:t>
            </a:r>
          </a:p>
          <a:p>
            <a:endParaRPr lang="pl-PL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pl-PL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gcc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-O3 -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fopt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-info-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vec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-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missed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compute.c</a:t>
            </a:r>
            <a:endParaRPr lang="hr-HR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hr-HR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# Output:</a:t>
            </a:r>
          </a:p>
          <a:p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compute.c:15:5: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missed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: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couldn't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vectorize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loop</a:t>
            </a:r>
            <a:endParaRPr lang="hr-HR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compute.c:15:5: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missed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: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possible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aliasing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between</a:t>
            </a:r>
            <a:endParaRPr lang="hr-HR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pointers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a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b</a:t>
            </a:r>
          </a:p>
          <a:p>
            <a:endParaRPr lang="hr-HR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hr-HR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hr-HR" sz="1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5186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BCF41388-B95E-6168-A882-3E74900FC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7">
            <a:extLst>
              <a:ext uri="{FF2B5EF4-FFF2-40B4-BE49-F238E27FC236}">
                <a16:creationId xmlns:a16="http://schemas.microsoft.com/office/drawing/2014/main" id="{7EA47D9D-22EA-2D23-066B-CAADE3F043B2}"/>
              </a:ext>
            </a:extLst>
          </p:cNvPr>
          <p:cNvSpPr txBox="1"/>
          <p:nvPr/>
        </p:nvSpPr>
        <p:spPr>
          <a:xfrm>
            <a:off x="1165320" y="704520"/>
            <a:ext cx="7734236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0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Aliasing </a:t>
            </a:r>
            <a:endParaRPr sz="24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BE6A2B26-7D4F-8A2E-17A2-5F4E14C5E021}"/>
              </a:ext>
            </a:extLst>
          </p:cNvPr>
          <p:cNvSpPr txBox="1"/>
          <p:nvPr/>
        </p:nvSpPr>
        <p:spPr>
          <a:xfrm>
            <a:off x="1165320" y="1347021"/>
            <a:ext cx="763464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Rješenje: </a:t>
            </a:r>
            <a:r>
              <a:rPr lang="hr-HR" sz="1800" u="sng" dirty="0" err="1">
                <a:solidFill>
                  <a:schemeClr val="bg1"/>
                </a:solidFill>
                <a:latin typeface="Consolas" panose="020B0609020204030204" pitchFamily="49" charset="0"/>
              </a:rPr>
              <a:t>restrict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keyword</a:t>
            </a: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void compute(double * restrict a, </a:t>
            </a:r>
          </a:p>
          <a:p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     double * restrict b, </a:t>
            </a:r>
          </a:p>
          <a:p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     double * restrict c) {</a:t>
            </a:r>
          </a:p>
          <a:p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    for (</a:t>
            </a:r>
            <a:r>
              <a:rPr lang="en-GB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 = 1; </a:t>
            </a:r>
            <a:r>
              <a:rPr lang="en-GB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 &lt; N; </a:t>
            </a:r>
            <a:r>
              <a:rPr lang="en-GB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        a[</a:t>
            </a:r>
            <a:r>
              <a:rPr lang="en-GB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] = b[</a:t>
            </a:r>
            <a:r>
              <a:rPr lang="en-GB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] + c[</a:t>
            </a:r>
            <a:r>
              <a:rPr lang="en-GB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GB" sz="18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→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Compiler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može sigurno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vektorizirati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!</a:t>
            </a: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gcc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-O3 -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std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=c99 -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fopt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-info-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vec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compute.c</a:t>
            </a: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# Output:</a:t>
            </a:r>
          </a:p>
          <a:p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compute.c:15:5: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optimized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: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loop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vectorized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using</a:t>
            </a:r>
            <a:r>
              <a:rPr lang="hr-HR" sz="1800" dirty="0">
                <a:solidFill>
                  <a:schemeClr val="bg1"/>
                </a:solidFill>
                <a:latin typeface="Consolas" panose="020B0609020204030204" pitchFamily="49" charset="0"/>
              </a:rPr>
              <a:t> 256 bit </a:t>
            </a:r>
            <a:r>
              <a:rPr lang="hr-HR" sz="1800" dirty="0" err="1">
                <a:solidFill>
                  <a:schemeClr val="bg1"/>
                </a:solidFill>
                <a:latin typeface="Consolas" panose="020B0609020204030204" pitchFamily="49" charset="0"/>
              </a:rPr>
              <a:t>vectors</a:t>
            </a:r>
            <a:endParaRPr lang="hr-HR" sz="18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5135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EE654913-0EF5-A58B-2B0E-C5FC2057E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7">
            <a:extLst>
              <a:ext uri="{FF2B5EF4-FFF2-40B4-BE49-F238E27FC236}">
                <a16:creationId xmlns:a16="http://schemas.microsoft.com/office/drawing/2014/main" id="{5A5521D6-6072-DDFD-47EC-B6DEC54F0915}"/>
              </a:ext>
            </a:extLst>
          </p:cNvPr>
          <p:cNvSpPr txBox="1"/>
          <p:nvPr/>
        </p:nvSpPr>
        <p:spPr>
          <a:xfrm>
            <a:off x="1165320" y="704520"/>
            <a:ext cx="7734236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0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Compiler Reports</a:t>
            </a:r>
            <a:endParaRPr sz="24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669354F2-9BAE-2C53-9284-4B0680E2FF7A}"/>
              </a:ext>
            </a:extLst>
          </p:cNvPr>
          <p:cNvSpPr txBox="1"/>
          <p:nvPr/>
        </p:nvSpPr>
        <p:spPr>
          <a:xfrm>
            <a:off x="1165320" y="1164120"/>
            <a:ext cx="7634648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Compiler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optimization</a:t>
            </a: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 izvještaji pomažu: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Vidjeti koje petlje su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vektorizirane</a:t>
            </a:r>
            <a:endParaRPr lang="hr-HR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Razumjeti zašto neke nisu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Identificirati </a:t>
            </a:r>
            <a:r>
              <a:rPr lang="hr-HR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dependencies</a:t>
            </a:r>
            <a:endParaRPr lang="hr-HR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hr-HR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buClr>
                <a:schemeClr val="bg1"/>
              </a:buClr>
            </a:pPr>
            <a:r>
              <a:rPr lang="hr-HR" sz="1600" dirty="0">
                <a:solidFill>
                  <a:schemeClr val="bg1"/>
                </a:solidFill>
                <a:latin typeface="Consolas" panose="020B0609020204030204" pitchFamily="49" charset="0"/>
              </a:rPr>
              <a:t>Primjer:</a:t>
            </a:r>
          </a:p>
          <a:p>
            <a:pPr>
              <a:buClr>
                <a:schemeClr val="bg1"/>
              </a:buClr>
            </a:pP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// </a:t>
            </a:r>
            <a:r>
              <a:rPr lang="en-GB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dep.c</a:t>
            </a:r>
            <a:endParaRPr lang="en-GB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buClr>
                <a:schemeClr val="bg1"/>
              </a:buClr>
            </a:pP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void test(double *a, double *b, int N) {</a:t>
            </a:r>
          </a:p>
          <a:p>
            <a:pPr>
              <a:buClr>
                <a:schemeClr val="bg1"/>
              </a:buClr>
            </a:pP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    for (int </a:t>
            </a:r>
            <a:r>
              <a:rPr lang="en-GB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 = 1; </a:t>
            </a:r>
            <a:r>
              <a:rPr lang="en-GB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 &lt; N; </a:t>
            </a:r>
            <a:r>
              <a:rPr lang="en-GB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++) {</a:t>
            </a:r>
          </a:p>
          <a:p>
            <a:pPr>
              <a:buClr>
                <a:schemeClr val="bg1"/>
              </a:buClr>
            </a:pP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a[</a:t>
            </a:r>
            <a:r>
              <a:rPr lang="en-GB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] = a[i-1] + b[</a:t>
            </a:r>
            <a:r>
              <a:rPr lang="en-GB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];  // RAW dependency</a:t>
            </a:r>
          </a:p>
          <a:p>
            <a:pPr>
              <a:buClr>
                <a:schemeClr val="bg1"/>
              </a:buClr>
            </a:pP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pPr>
              <a:buClr>
                <a:schemeClr val="bg1"/>
              </a:buClr>
            </a:pP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hr-HR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buClr>
                <a:schemeClr val="bg1"/>
              </a:buClr>
            </a:pPr>
            <a:endParaRPr lang="hr-HR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buClr>
                <a:schemeClr val="bg1"/>
              </a:buClr>
            </a:pPr>
            <a:r>
              <a:rPr lang="en-GB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gcc</a:t>
            </a: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 -O3 -</a:t>
            </a:r>
            <a:r>
              <a:rPr lang="en-GB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fopt</a:t>
            </a: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-info-</a:t>
            </a:r>
            <a:r>
              <a:rPr lang="en-GB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vec</a:t>
            </a: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-missed </a:t>
            </a:r>
            <a:r>
              <a:rPr lang="en-GB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dep.c</a:t>
            </a:r>
            <a:endParaRPr lang="hr-HR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buClr>
                <a:schemeClr val="bg1"/>
              </a:buClr>
            </a:pPr>
            <a:endParaRPr lang="hr-HR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buClr>
                <a:schemeClr val="bg1"/>
              </a:buClr>
            </a:pP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dep.c:3:5: missed: couldn't vectorize loop</a:t>
            </a:r>
          </a:p>
          <a:p>
            <a:pPr>
              <a:buClr>
                <a:schemeClr val="bg1"/>
              </a:buClr>
            </a:pP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dep.c:3:5: missed: data reference a[</a:t>
            </a:r>
            <a:r>
              <a:rPr lang="en-GB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] followed by </a:t>
            </a:r>
          </a:p>
          <a:p>
            <a:pPr>
              <a:buClr>
                <a:schemeClr val="bg1"/>
              </a:buClr>
            </a:pP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   data reference a[i-1] indicates a possible </a:t>
            </a:r>
          </a:p>
          <a:p>
            <a:pPr>
              <a:buClr>
                <a:schemeClr val="bg1"/>
              </a:buClr>
            </a:pP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   loop-carried dependence</a:t>
            </a:r>
          </a:p>
          <a:p>
            <a:pPr>
              <a:buClr>
                <a:schemeClr val="bg1"/>
              </a:buClr>
            </a:pPr>
            <a:endParaRPr lang="en-GB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buClr>
                <a:schemeClr val="bg1"/>
              </a:buClr>
            </a:pP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dep.c:3:5: note: vector version of the loop was not </a:t>
            </a:r>
          </a:p>
          <a:p>
            <a:pPr>
              <a:buClr>
                <a:schemeClr val="bg1"/>
              </a:buClr>
            </a:pP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   generated due to probable aliasing</a:t>
            </a:r>
            <a:endParaRPr lang="hr-HR" sz="1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03631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0B4B9D69-A465-B5D0-AA4F-60472401C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1">
            <a:extLst>
              <a:ext uri="{FF2B5EF4-FFF2-40B4-BE49-F238E27FC236}">
                <a16:creationId xmlns:a16="http://schemas.microsoft.com/office/drawing/2014/main" id="{90832655-E2BB-2B13-09D0-BD116ABCE1AF}"/>
              </a:ext>
            </a:extLst>
          </p:cNvPr>
          <p:cNvSpPr txBox="1"/>
          <p:nvPr/>
        </p:nvSpPr>
        <p:spPr>
          <a:xfrm>
            <a:off x="1530000" y="3076920"/>
            <a:ext cx="6766920" cy="70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0" i="0" u="none" strike="noStrike" cap="non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Amdahlov</a:t>
            </a:r>
            <a:r>
              <a:rPr lang="hr-HR" sz="3000" b="0" i="0" u="none" strike="noStrike" cap="non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zakon</a:t>
            </a:r>
            <a:endParaRPr sz="3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1">
            <a:extLst>
              <a:ext uri="{FF2B5EF4-FFF2-40B4-BE49-F238E27FC236}">
                <a16:creationId xmlns:a16="http://schemas.microsoft.com/office/drawing/2014/main" id="{D8BD2252-805D-097E-21C1-1E958C7A065F}"/>
              </a:ext>
            </a:extLst>
          </p:cNvPr>
          <p:cNvSpPr txBox="1"/>
          <p:nvPr/>
        </p:nvSpPr>
        <p:spPr>
          <a:xfrm>
            <a:off x="1530000" y="3710520"/>
            <a:ext cx="6927480" cy="47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7" name="Google Shape;177;p41">
            <a:extLst>
              <a:ext uri="{FF2B5EF4-FFF2-40B4-BE49-F238E27FC236}">
                <a16:creationId xmlns:a16="http://schemas.microsoft.com/office/drawing/2014/main" id="{B388EE92-9DDB-2610-F08E-F4AB13ADFFBE}"/>
              </a:ext>
            </a:extLst>
          </p:cNvPr>
          <p:cNvSpPr/>
          <p:nvPr/>
        </p:nvSpPr>
        <p:spPr>
          <a:xfrm>
            <a:off x="502560" y="3039840"/>
            <a:ext cx="802080" cy="78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dirty="0">
                <a:solidFill>
                  <a:srgbClr val="2E3037"/>
                </a:solidFill>
                <a:latin typeface="Quicksand"/>
                <a:ea typeface="Cambria"/>
                <a:cs typeface="Cambria"/>
                <a:sym typeface="Quicksand"/>
              </a:rPr>
              <a:t>2.2.</a:t>
            </a:r>
            <a:endParaRPr sz="30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8917893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D57CA9C6-997C-3CBF-0A81-312328554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7">
            <a:extLst>
              <a:ext uri="{FF2B5EF4-FFF2-40B4-BE49-F238E27FC236}">
                <a16:creationId xmlns:a16="http://schemas.microsoft.com/office/drawing/2014/main" id="{D188A17A-6238-85E1-79BE-B07C6933B799}"/>
              </a:ext>
            </a:extLst>
          </p:cNvPr>
          <p:cNvSpPr txBox="1"/>
          <p:nvPr/>
        </p:nvSpPr>
        <p:spPr>
          <a:xfrm>
            <a:off x="1165320" y="704520"/>
            <a:ext cx="7734236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0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Uvod</a:t>
            </a:r>
            <a:r>
              <a:rPr lang="en-GB" sz="2400" b="0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u </a:t>
            </a:r>
            <a:r>
              <a:rPr lang="en-GB" sz="2400" b="0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Amdahlov</a:t>
            </a:r>
            <a:r>
              <a:rPr lang="en-GB" sz="2400" b="0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GB" sz="2400" b="0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zakon</a:t>
            </a:r>
            <a:endParaRPr sz="24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0F7B602B-4D55-5EF9-816B-8A93B5E1A63A}"/>
              </a:ext>
            </a:extLst>
          </p:cNvPr>
          <p:cNvSpPr txBox="1"/>
          <p:nvPr/>
        </p:nvSpPr>
        <p:spPr>
          <a:xfrm>
            <a:off x="1165320" y="1315430"/>
            <a:ext cx="76346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Dependencies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ograničavaju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speedup</a:t>
            </a: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bg1"/>
              </a:buClr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Ako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imate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16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jezgri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može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 se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dobiti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16x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ubrzanje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2" name="TekstniOkvir 4">
            <a:extLst>
              <a:ext uri="{FF2B5EF4-FFF2-40B4-BE49-F238E27FC236}">
                <a16:creationId xmlns:a16="http://schemas.microsoft.com/office/drawing/2014/main" id="{E9E2EBA0-DA6D-65FC-CC9D-D91B5665B88F}"/>
              </a:ext>
            </a:extLst>
          </p:cNvPr>
          <p:cNvSpPr txBox="1"/>
          <p:nvPr/>
        </p:nvSpPr>
        <p:spPr>
          <a:xfrm>
            <a:off x="1264908" y="2390070"/>
            <a:ext cx="76346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Ovisi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 tome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koliko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koda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može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paralelno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bg1"/>
              </a:buClr>
            </a:pP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Svaki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program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dijelove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koji: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Mogu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paralelni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(independent work)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Moraju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sekvencijalni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(dependencies) –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ograničavaju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ukupno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ubrzanje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880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393CBFF8-95EA-3601-1EE1-8F5068AA6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7">
            <a:extLst>
              <a:ext uri="{FF2B5EF4-FFF2-40B4-BE49-F238E27FC236}">
                <a16:creationId xmlns:a16="http://schemas.microsoft.com/office/drawing/2014/main" id="{4F1F2E99-ADB2-0B7E-9032-998DFE33605B}"/>
              </a:ext>
            </a:extLst>
          </p:cNvPr>
          <p:cNvSpPr txBox="1"/>
          <p:nvPr/>
        </p:nvSpPr>
        <p:spPr>
          <a:xfrm>
            <a:off x="1165320" y="704520"/>
            <a:ext cx="7734236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0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Uvod</a:t>
            </a:r>
            <a:r>
              <a:rPr lang="en-GB" sz="2400" b="0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u </a:t>
            </a:r>
            <a:r>
              <a:rPr lang="en-GB" sz="2400" b="0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Amdahlov</a:t>
            </a:r>
            <a:r>
              <a:rPr lang="en-GB" sz="2400" b="0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GB" sz="2400" b="0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zakon</a:t>
            </a:r>
            <a:endParaRPr sz="24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59092C26-008B-F58D-D0CB-B6AB1237DF9F}"/>
              </a:ext>
            </a:extLst>
          </p:cNvPr>
          <p:cNvSpPr txBox="1"/>
          <p:nvPr/>
        </p:nvSpPr>
        <p:spPr>
          <a:xfrm>
            <a:off x="1165320" y="1315430"/>
            <a:ext cx="7634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PROGRAM (</a:t>
            </a:r>
            <a:r>
              <a:rPr lang="en-US" sz="1800" dirty="0" err="1">
                <a:solidFill>
                  <a:schemeClr val="bg1"/>
                </a:solidFill>
              </a:rPr>
              <a:t>ukupno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vrijeme</a:t>
            </a:r>
            <a:r>
              <a:rPr lang="en-US" sz="1800" dirty="0">
                <a:solidFill>
                  <a:schemeClr val="bg1"/>
                </a:solidFill>
              </a:rPr>
              <a:t> T), S+P = 1 (100 % </a:t>
            </a:r>
            <a:r>
              <a:rPr lang="en-US" sz="1800" dirty="0" err="1">
                <a:solidFill>
                  <a:schemeClr val="bg1"/>
                </a:solidFill>
              </a:rPr>
              <a:t>programa</a:t>
            </a:r>
            <a:r>
              <a:rPr lang="en-US" sz="1800" dirty="0">
                <a:solidFill>
                  <a:schemeClr val="bg1"/>
                </a:solidFill>
              </a:rPr>
              <a:t>) 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AE3D2E-5785-49B5-95AA-8BB1BDCF5594}"/>
              </a:ext>
            </a:extLst>
          </p:cNvPr>
          <p:cNvSpPr/>
          <p:nvPr/>
        </p:nvSpPr>
        <p:spPr>
          <a:xfrm>
            <a:off x="1292352" y="1938528"/>
            <a:ext cx="5400000" cy="39600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95 % Paralelno (P)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8D96CF-E9F1-C273-4A78-02474246C6AF}"/>
              </a:ext>
            </a:extLst>
          </p:cNvPr>
          <p:cNvSpPr/>
          <p:nvPr/>
        </p:nvSpPr>
        <p:spPr>
          <a:xfrm>
            <a:off x="1292352" y="2558236"/>
            <a:ext cx="360000" cy="396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6735A1-692A-E841-F748-449D6592CFAC}"/>
              </a:ext>
            </a:extLst>
          </p:cNvPr>
          <p:cNvSpPr txBox="1"/>
          <p:nvPr/>
        </p:nvSpPr>
        <p:spPr>
          <a:xfrm>
            <a:off x="3038404" y="2646459"/>
            <a:ext cx="1907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5 % sekvencijalno (S)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2C617C-5834-2007-15E8-D94A8D5306C3}"/>
              </a:ext>
            </a:extLst>
          </p:cNvPr>
          <p:cNvSpPr txBox="1"/>
          <p:nvPr/>
        </p:nvSpPr>
        <p:spPr>
          <a:xfrm>
            <a:off x="914400" y="3948651"/>
            <a:ext cx="35356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hr-HR" sz="1800" dirty="0">
                <a:solidFill>
                  <a:schemeClr val="accent6">
                    <a:lumMod val="75000"/>
                  </a:schemeClr>
                </a:solidFill>
              </a:rPr>
              <a:t>Sekvencijalno (S):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dirty="0">
                <a:solidFill>
                  <a:schemeClr val="bg1"/>
                </a:solidFill>
              </a:rPr>
              <a:t>Inicijalizacija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I/O </a:t>
            </a:r>
            <a:r>
              <a:rPr lang="en-US" sz="1800" dirty="0" err="1">
                <a:solidFill>
                  <a:schemeClr val="bg1"/>
                </a:solidFill>
              </a:rPr>
              <a:t>operacije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Dependencies </a:t>
            </a:r>
            <a:r>
              <a:rPr lang="en-US" sz="1800" dirty="0" err="1">
                <a:solidFill>
                  <a:schemeClr val="bg1"/>
                </a:solidFill>
              </a:rPr>
              <a:t>koje</a:t>
            </a:r>
            <a:r>
              <a:rPr lang="en-US" sz="1800" dirty="0">
                <a:solidFill>
                  <a:schemeClr val="bg1"/>
                </a:solidFill>
              </a:rPr>
              <a:t> ne </a:t>
            </a:r>
            <a:r>
              <a:rPr lang="en-US" sz="1800" dirty="0" err="1">
                <a:solidFill>
                  <a:schemeClr val="bg1"/>
                </a:solidFill>
              </a:rPr>
              <a:t>možemo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eliminirati</a:t>
            </a:r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bg1"/>
                </a:solidFill>
              </a:rPr>
              <a:t>Sinkronizacija</a:t>
            </a:r>
            <a:endParaRPr lang="hr-HR" sz="18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0FE890-CBE2-AD30-C1EF-6D8C12A9B309}"/>
              </a:ext>
            </a:extLst>
          </p:cNvPr>
          <p:cNvSpPr txBox="1"/>
          <p:nvPr/>
        </p:nvSpPr>
        <p:spPr>
          <a:xfrm>
            <a:off x="4320549" y="3983004"/>
            <a:ext cx="25378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hr-HR" sz="1800" dirty="0">
                <a:solidFill>
                  <a:schemeClr val="accent3">
                    <a:lumMod val="75000"/>
                  </a:schemeClr>
                </a:solidFill>
              </a:rPr>
              <a:t>Paralelno (P):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bg1"/>
                </a:solidFill>
              </a:rPr>
              <a:t>Nezavisni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izračuni</a:t>
            </a:r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Data-parallel </a:t>
            </a:r>
            <a:r>
              <a:rPr lang="en-US" sz="1800" dirty="0" err="1">
                <a:solidFill>
                  <a:schemeClr val="bg1"/>
                </a:solidFill>
              </a:rPr>
              <a:t>petlje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Independent </a:t>
            </a:r>
            <a:r>
              <a:rPr lang="en-US" sz="1800" dirty="0" err="1">
                <a:solidFill>
                  <a:schemeClr val="bg1"/>
                </a:solidFill>
              </a:rPr>
              <a:t>taskovi</a:t>
            </a:r>
            <a:endParaRPr lang="hr-HR" sz="1800" dirty="0">
              <a:solidFill>
                <a:schemeClr val="bg1"/>
              </a:solidFill>
            </a:endParaRP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F77ED0AF-04F7-E6C1-E15C-5859A233F2AB}"/>
              </a:ext>
            </a:extLst>
          </p:cNvPr>
          <p:cNvSpPr txBox="1"/>
          <p:nvPr/>
        </p:nvSpPr>
        <p:spPr>
          <a:xfrm>
            <a:off x="582041" y="5984203"/>
            <a:ext cx="85619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600" dirty="0">
                <a:solidFill>
                  <a:schemeClr val="bg1"/>
                </a:solidFill>
              </a:rPr>
              <a:t>Koliko ubrzanje možemo dobiti za gore navedeni problem? – više na sljedećim slajdovima </a:t>
            </a:r>
            <a:r>
              <a:rPr lang="hr-HR" sz="1600" dirty="0">
                <a:solidFill>
                  <a:schemeClr val="bg1"/>
                </a:solidFill>
                <a:sym typeface="Wingdings" panose="05000000000000000000" pitchFamily="2" charset="2"/>
              </a:rPr>
              <a:t></a:t>
            </a:r>
            <a:endParaRPr lang="hr-HR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428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904966D4-215F-2571-CE36-A3FBC293A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7">
            <a:extLst>
              <a:ext uri="{FF2B5EF4-FFF2-40B4-BE49-F238E27FC236}">
                <a16:creationId xmlns:a16="http://schemas.microsoft.com/office/drawing/2014/main" id="{FC8FEDFC-B20B-D1EA-FA7A-51E23BDF6B62}"/>
              </a:ext>
            </a:extLst>
          </p:cNvPr>
          <p:cNvSpPr txBox="1"/>
          <p:nvPr/>
        </p:nvSpPr>
        <p:spPr>
          <a:xfrm>
            <a:off x="1165320" y="704520"/>
            <a:ext cx="7734236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0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Gene Amdahl (1967)</a:t>
            </a:r>
            <a:endParaRPr sz="24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 descr="Gene Amdahl">
            <a:extLst>
              <a:ext uri="{FF2B5EF4-FFF2-40B4-BE49-F238E27FC236}">
                <a16:creationId xmlns:a16="http://schemas.microsoft.com/office/drawing/2014/main" id="{3181877F-7CD8-3BA4-8BBC-68AFDB84D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970" y="1125321"/>
            <a:ext cx="3923030" cy="2353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76C1E9-A91C-7953-EFC8-41E38058251A}"/>
              </a:ext>
            </a:extLst>
          </p:cNvPr>
          <p:cNvSpPr txBox="1"/>
          <p:nvPr/>
        </p:nvSpPr>
        <p:spPr>
          <a:xfrm>
            <a:off x="1165320" y="1397711"/>
            <a:ext cx="39230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hr-HR" sz="1800" dirty="0">
                <a:solidFill>
                  <a:schemeClr val="bg1"/>
                </a:solidFill>
              </a:rPr>
              <a:t>Amdahlov zakon objašnjava: </a:t>
            </a:r>
          </a:p>
          <a:p>
            <a:pPr>
              <a:buClr>
                <a:schemeClr val="bg1"/>
              </a:buClr>
            </a:pPr>
            <a:r>
              <a:rPr lang="en-US" sz="1800" dirty="0" err="1">
                <a:solidFill>
                  <a:schemeClr val="bg1"/>
                </a:solidFill>
              </a:rPr>
              <a:t>teorijsko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maksimalno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ubrzanje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programa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kao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posljedica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paralelizacije</a:t>
            </a:r>
            <a:r>
              <a:rPr lang="en-US" sz="1800" dirty="0">
                <a:solidFill>
                  <a:schemeClr val="bg1"/>
                </a:solidFill>
              </a:rPr>
              <a:t> ne </a:t>
            </a:r>
            <a:r>
              <a:rPr lang="en-US" sz="1800" dirty="0" err="1">
                <a:solidFill>
                  <a:schemeClr val="bg1"/>
                </a:solidFill>
              </a:rPr>
              <a:t>može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biti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veće</a:t>
            </a:r>
            <a:r>
              <a:rPr lang="en-US" sz="1800" dirty="0">
                <a:solidFill>
                  <a:schemeClr val="bg1"/>
                </a:solidFill>
              </a:rPr>
              <a:t> od </a:t>
            </a:r>
            <a:r>
              <a:rPr lang="en-US" sz="1800" dirty="0" err="1">
                <a:solidFill>
                  <a:schemeClr val="bg1"/>
                </a:solidFill>
              </a:rPr>
              <a:t>inverzog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vremena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izvršavanja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dijela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programa</a:t>
            </a:r>
            <a:r>
              <a:rPr lang="en-US" sz="1800" dirty="0">
                <a:solidFill>
                  <a:schemeClr val="bg1"/>
                </a:solidFill>
              </a:rPr>
              <a:t> koji je </a:t>
            </a:r>
            <a:r>
              <a:rPr lang="en-US" sz="1800" dirty="0" err="1">
                <a:solidFill>
                  <a:schemeClr val="bg1"/>
                </a:solidFill>
              </a:rPr>
              <a:t>nepromjenjivo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sekvencijalan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  <a:endParaRPr lang="hr-HR" sz="1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66432B0-8E14-E872-3CD7-D3B1242A52FB}"/>
                  </a:ext>
                </a:extLst>
              </p:cNvPr>
              <p:cNvSpPr txBox="1"/>
              <p:nvPr/>
            </p:nvSpPr>
            <p:spPr>
              <a:xfrm>
                <a:off x="1165320" y="3529241"/>
                <a:ext cx="6088920" cy="26291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>
                    <a:schemeClr val="bg1"/>
                  </a:buClr>
                </a:pPr>
                <a:r>
                  <a:rPr lang="hr-HR" sz="1800" dirty="0" err="1">
                    <a:solidFill>
                      <a:schemeClr val="bg1"/>
                    </a:solidFill>
                  </a:rPr>
                  <a:t>Amdahlova</a:t>
                </a:r>
                <a:r>
                  <a:rPr lang="hr-HR" sz="1800" dirty="0">
                    <a:solidFill>
                      <a:schemeClr val="bg1"/>
                    </a:solidFill>
                  </a:rPr>
                  <a:t> formula:</a:t>
                </a:r>
              </a:p>
              <a:p>
                <a:pPr>
                  <a:buClr>
                    <a:schemeClr val="bg1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r-HR" sz="1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𝑺𝒑𝒆𝒆𝒅𝒖𝒑</m:t>
                      </m:r>
                      <m:r>
                        <a:rPr lang="hr-HR" sz="1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hr-HR" sz="1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r-HR" sz="1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d>
                            <m:dPr>
                              <m:ctrlPr>
                                <a:rPr lang="hr-HR" sz="18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r-HR" sz="18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hr-HR" sz="18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hr-HR" sz="18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</m:d>
                          <m:r>
                            <a:rPr lang="hr-HR" sz="1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hr-HR" sz="1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hr-HR" sz="1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hr-HR" sz="1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den>
                      </m:f>
                    </m:oMath>
                  </m:oMathPara>
                </a14:m>
                <a:endParaRPr lang="hr-HR" sz="1800" b="1" dirty="0">
                  <a:solidFill>
                    <a:schemeClr val="bg1"/>
                  </a:solidFill>
                </a:endParaRPr>
              </a:p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endParaRPr lang="hr-HR" sz="1800" dirty="0">
                  <a:solidFill>
                    <a:schemeClr val="bg1"/>
                  </a:solidFill>
                </a:endParaRPr>
              </a:p>
              <a:p>
                <a:pPr>
                  <a:buClr>
                    <a:schemeClr val="bg1"/>
                  </a:buClr>
                </a:pPr>
                <a:r>
                  <a:rPr lang="hr-HR" sz="1800" dirty="0">
                    <a:solidFill>
                      <a:schemeClr val="bg1"/>
                    </a:solidFill>
                  </a:rPr>
                  <a:t>gdje je:</a:t>
                </a:r>
              </a:p>
              <a:p>
                <a:pPr>
                  <a:buClr>
                    <a:schemeClr val="bg1"/>
                  </a:buClr>
                </a:pPr>
                <a:r>
                  <a:rPr lang="hr-HR" sz="1800" dirty="0">
                    <a:solidFill>
                      <a:schemeClr val="bg1"/>
                    </a:solidFill>
                  </a:rPr>
                  <a:t>-   </a:t>
                </a:r>
                <a:r>
                  <a:rPr lang="hr-HR" sz="1800" dirty="0" err="1">
                    <a:solidFill>
                      <a:schemeClr val="bg1"/>
                    </a:solidFill>
                  </a:rPr>
                  <a:t>Speedup</a:t>
                </a:r>
                <a:r>
                  <a:rPr lang="hr-HR" sz="1800" dirty="0">
                    <a:solidFill>
                      <a:schemeClr val="bg1"/>
                    </a:solidFill>
                  </a:rPr>
                  <a:t> -  teoretsko ubrzanje cijelog programa</a:t>
                </a:r>
              </a:p>
              <a:p>
                <a:pPr marL="285750" indent="-285750">
                  <a:buClr>
                    <a:schemeClr val="bg1"/>
                  </a:buClr>
                  <a:buFontTx/>
                  <a:buChar char="-"/>
                </a:pPr>
                <a:r>
                  <a:rPr lang="en-US" sz="1800" dirty="0">
                    <a:solidFill>
                      <a:schemeClr val="bg1"/>
                    </a:solidFill>
                  </a:rPr>
                  <a:t>P = </a:t>
                </a:r>
                <a:r>
                  <a:rPr lang="en-US" sz="1800" dirty="0" err="1">
                    <a:solidFill>
                      <a:schemeClr val="bg1"/>
                    </a:solidFill>
                  </a:rPr>
                  <a:t>udio</a:t>
                </a:r>
                <a:r>
                  <a:rPr lang="en-US" sz="1800" dirty="0">
                    <a:solidFill>
                      <a:schemeClr val="bg1"/>
                    </a:solidFill>
                  </a:rPr>
                  <a:t> koji </a:t>
                </a:r>
                <a:r>
                  <a:rPr lang="en-US" sz="1800" dirty="0" err="1">
                    <a:solidFill>
                      <a:schemeClr val="bg1"/>
                    </a:solidFill>
                  </a:rPr>
                  <a:t>može</a:t>
                </a:r>
                <a:r>
                  <a:rPr lang="en-US" sz="1800" dirty="0">
                    <a:solidFill>
                      <a:schemeClr val="bg1"/>
                    </a:solidFill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</a:rPr>
                  <a:t>biti</a:t>
                </a:r>
                <a:r>
                  <a:rPr lang="en-US" sz="1800" dirty="0">
                    <a:solidFill>
                      <a:schemeClr val="bg1"/>
                    </a:solidFill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</a:rPr>
                  <a:t>paralelan</a:t>
                </a:r>
                <a:r>
                  <a:rPr lang="en-US" sz="1800" dirty="0">
                    <a:solidFill>
                      <a:schemeClr val="bg1"/>
                    </a:solidFill>
                  </a:rPr>
                  <a:t> (0&lt;P&lt;1)</a:t>
                </a:r>
              </a:p>
              <a:p>
                <a:pPr marL="285750" indent="-285750">
                  <a:buClr>
                    <a:schemeClr val="bg1"/>
                  </a:buClr>
                  <a:buFontTx/>
                  <a:buChar char="-"/>
                </a:pPr>
                <a:r>
                  <a:rPr lang="en-US" sz="1800" dirty="0">
                    <a:solidFill>
                      <a:schemeClr val="bg1"/>
                    </a:solidFill>
                  </a:rPr>
                  <a:t>(1-P) = </a:t>
                </a:r>
                <a:r>
                  <a:rPr lang="en-US" sz="1800" dirty="0" err="1">
                    <a:solidFill>
                      <a:schemeClr val="bg1"/>
                    </a:solidFill>
                  </a:rPr>
                  <a:t>sekvencijalni</a:t>
                </a:r>
                <a:r>
                  <a:rPr lang="en-US" sz="1800" dirty="0">
                    <a:solidFill>
                      <a:schemeClr val="bg1"/>
                    </a:solidFill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</a:rPr>
                  <a:t>dio</a:t>
                </a:r>
                <a:r>
                  <a:rPr lang="en-US" sz="1800" dirty="0">
                    <a:solidFill>
                      <a:schemeClr val="bg1"/>
                    </a:solidFill>
                  </a:rPr>
                  <a:t> (ne </a:t>
                </a:r>
                <a:r>
                  <a:rPr lang="en-US" sz="1800" dirty="0" err="1">
                    <a:solidFill>
                      <a:schemeClr val="bg1"/>
                    </a:solidFill>
                  </a:rPr>
                  <a:t>može</a:t>
                </a:r>
                <a:r>
                  <a:rPr lang="en-US" sz="1800" dirty="0">
                    <a:solidFill>
                      <a:schemeClr val="bg1"/>
                    </a:solidFill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</a:rPr>
                  <a:t>biti</a:t>
                </a:r>
                <a:r>
                  <a:rPr lang="en-US" sz="1800" dirty="0">
                    <a:solidFill>
                      <a:schemeClr val="bg1"/>
                    </a:solidFill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</a:rPr>
                  <a:t>paralelan</a:t>
                </a:r>
                <a:r>
                  <a:rPr lang="en-US" sz="1800" dirty="0">
                    <a:solidFill>
                      <a:schemeClr val="bg1"/>
                    </a:solidFill>
                  </a:rPr>
                  <a:t>)</a:t>
                </a:r>
              </a:p>
              <a:p>
                <a:pPr marL="285750" indent="-285750">
                  <a:buClr>
                    <a:schemeClr val="bg1"/>
                  </a:buClr>
                  <a:buFontTx/>
                  <a:buChar char="-"/>
                </a:pPr>
                <a:r>
                  <a:rPr lang="en-US" sz="1800" dirty="0">
                    <a:solidFill>
                      <a:schemeClr val="bg1"/>
                    </a:solidFill>
                  </a:rPr>
                  <a:t>N = </a:t>
                </a:r>
                <a:r>
                  <a:rPr lang="en-US" sz="1800" dirty="0" err="1">
                    <a:solidFill>
                      <a:schemeClr val="bg1"/>
                    </a:solidFill>
                  </a:rPr>
                  <a:t>broj</a:t>
                </a:r>
                <a:r>
                  <a:rPr lang="en-US" sz="1800" dirty="0">
                    <a:solidFill>
                      <a:schemeClr val="bg1"/>
                    </a:solidFill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</a:rPr>
                  <a:t>procesora</a:t>
                </a:r>
                <a:endParaRPr lang="hr-HR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66432B0-8E14-E872-3CD7-D3B1242A5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320" y="3529241"/>
                <a:ext cx="6088920" cy="2629181"/>
              </a:xfrm>
              <a:prstGeom prst="rect">
                <a:avLst/>
              </a:prstGeom>
              <a:blipFill>
                <a:blip r:embed="rId4"/>
                <a:stretch>
                  <a:fillRect l="-832" t="-962" b="-1442"/>
                </a:stretch>
              </a:blipFill>
            </p:spPr>
            <p:txBody>
              <a:bodyPr/>
              <a:lstStyle/>
              <a:p>
                <a:r>
                  <a:rPr lang="hr-H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65054C2-686B-C18E-B5FD-57BE03F75B91}"/>
              </a:ext>
            </a:extLst>
          </p:cNvPr>
          <p:cNvSpPr txBox="1"/>
          <p:nvPr/>
        </p:nvSpPr>
        <p:spPr>
          <a:xfrm>
            <a:off x="5612606" y="3497084"/>
            <a:ext cx="36343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900" dirty="0" err="1">
                <a:solidFill>
                  <a:schemeClr val="bg1"/>
                </a:solidFill>
              </a:rPr>
              <a:t>https</a:t>
            </a:r>
            <a:r>
              <a:rPr lang="hr-HR" sz="900" dirty="0">
                <a:solidFill>
                  <a:schemeClr val="bg1"/>
                </a:solidFill>
              </a:rPr>
              <a:t>://</a:t>
            </a:r>
            <a:r>
              <a:rPr lang="hr-HR" sz="900" dirty="0" err="1">
                <a:solidFill>
                  <a:schemeClr val="bg1"/>
                </a:solidFill>
              </a:rPr>
              <a:t>www.theguardian.com</a:t>
            </a:r>
            <a:r>
              <a:rPr lang="hr-HR" sz="900" dirty="0">
                <a:solidFill>
                  <a:schemeClr val="bg1"/>
                </a:solidFill>
              </a:rPr>
              <a:t>/</a:t>
            </a:r>
            <a:r>
              <a:rPr lang="hr-HR" sz="900" dirty="0" err="1">
                <a:solidFill>
                  <a:schemeClr val="bg1"/>
                </a:solidFill>
              </a:rPr>
              <a:t>technology</a:t>
            </a:r>
            <a:r>
              <a:rPr lang="hr-HR" sz="900" dirty="0">
                <a:solidFill>
                  <a:schemeClr val="bg1"/>
                </a:solidFill>
              </a:rPr>
              <a:t>/2015/nov/13/gene-</a:t>
            </a:r>
            <a:r>
              <a:rPr lang="hr-HR" sz="900" dirty="0" err="1">
                <a:solidFill>
                  <a:schemeClr val="bg1"/>
                </a:solidFill>
              </a:rPr>
              <a:t>amdahl</a:t>
            </a:r>
            <a:endParaRPr lang="hr-HR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63594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86A22-A254-9834-E486-5714BFD73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Amdahlov</a:t>
            </a:r>
            <a:r>
              <a:rPr lang="en-GB" sz="2400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GB" sz="2400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zakon</a:t>
            </a:r>
            <a:endParaRPr lang="hr-HR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574EC-98F5-B21E-91B7-86B26BF60E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5320" y="1600200"/>
            <a:ext cx="7405656" cy="2654808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</a:pPr>
            <a:r>
              <a:rPr lang="en-US" sz="2000" dirty="0" err="1">
                <a:solidFill>
                  <a:schemeClr val="bg1"/>
                </a:solidFill>
              </a:rPr>
              <a:t>Teorijsko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ubrzanje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izvršavanja</a:t>
            </a:r>
            <a:r>
              <a:rPr lang="en-US" sz="2000" dirty="0">
                <a:solidFill>
                  <a:schemeClr val="bg1"/>
                </a:solidFill>
              </a:rPr>
              <a:t> u </a:t>
            </a:r>
            <a:r>
              <a:rPr lang="en-US" sz="2000" dirty="0" err="1">
                <a:solidFill>
                  <a:schemeClr val="bg1"/>
                </a:solidFill>
              </a:rPr>
              <a:t>ovisnosti</a:t>
            </a:r>
            <a:r>
              <a:rPr lang="en-US" sz="2000" dirty="0">
                <a:solidFill>
                  <a:schemeClr val="bg1"/>
                </a:solidFill>
              </a:rPr>
              <a:t> o </a:t>
            </a:r>
            <a:r>
              <a:rPr lang="en-US" sz="2000" dirty="0" err="1">
                <a:solidFill>
                  <a:schemeClr val="bg1"/>
                </a:solidFill>
              </a:rPr>
              <a:t>broju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procesora</a:t>
            </a:r>
            <a:r>
              <a:rPr lang="en-US" sz="2000" dirty="0">
                <a:solidFill>
                  <a:schemeClr val="bg1"/>
                </a:solidFill>
              </a:rPr>
              <a:t>:</a:t>
            </a:r>
          </a:p>
          <a:p>
            <a:pPr marL="514350" indent="-285750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Ako </a:t>
            </a:r>
            <a:r>
              <a:rPr lang="en-US" sz="2000" dirty="0" err="1">
                <a:solidFill>
                  <a:schemeClr val="bg1"/>
                </a:solidFill>
              </a:rPr>
              <a:t>npr</a:t>
            </a:r>
            <a:r>
              <a:rPr lang="en-US" sz="2000" dirty="0">
                <a:solidFill>
                  <a:schemeClr val="bg1"/>
                </a:solidFill>
              </a:rPr>
              <a:t>. </a:t>
            </a:r>
            <a:r>
              <a:rPr lang="en-US" sz="2000" dirty="0" err="1">
                <a:solidFill>
                  <a:schemeClr val="bg1"/>
                </a:solidFill>
              </a:rPr>
              <a:t>samo</a:t>
            </a:r>
            <a:r>
              <a:rPr lang="en-US" sz="2000" dirty="0">
                <a:solidFill>
                  <a:schemeClr val="bg1"/>
                </a:solidFill>
              </a:rPr>
              <a:t> 5% </a:t>
            </a:r>
            <a:r>
              <a:rPr lang="en-US" sz="2000" dirty="0" err="1">
                <a:solidFill>
                  <a:schemeClr val="bg1"/>
                </a:solidFill>
              </a:rPr>
              <a:t>vremena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algoritam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provede</a:t>
            </a:r>
            <a:r>
              <a:rPr lang="en-US" sz="2000" dirty="0">
                <a:solidFill>
                  <a:schemeClr val="bg1"/>
                </a:solidFill>
              </a:rPr>
              <a:t> u </a:t>
            </a:r>
            <a:r>
              <a:rPr lang="en-US" sz="2000" dirty="0" err="1">
                <a:solidFill>
                  <a:schemeClr val="bg1"/>
                </a:solidFill>
              </a:rPr>
              <a:t>dijelu</a:t>
            </a:r>
            <a:r>
              <a:rPr lang="en-US" sz="2000" dirty="0">
                <a:solidFill>
                  <a:schemeClr val="bg1"/>
                </a:solidFill>
              </a:rPr>
              <a:t> koji </a:t>
            </a:r>
            <a:r>
              <a:rPr lang="en-US" sz="2000" dirty="0" err="1">
                <a:solidFill>
                  <a:schemeClr val="bg1"/>
                </a:solidFill>
              </a:rPr>
              <a:t>nije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moguće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paralelizirati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postoji</a:t>
            </a:r>
            <a:r>
              <a:rPr lang="en-US" sz="2000" dirty="0">
                <a:solidFill>
                  <a:schemeClr val="bg1"/>
                </a:solidFill>
              </a:rPr>
              <a:t> li limit </a:t>
            </a:r>
            <a:r>
              <a:rPr lang="en-US" sz="2000" dirty="0" err="1">
                <a:solidFill>
                  <a:schemeClr val="bg1"/>
                </a:solidFill>
              </a:rPr>
              <a:t>teorijskog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povećanja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efikasnosti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izvršavanja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programa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dodavanjem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novih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procesora</a:t>
            </a:r>
            <a:r>
              <a:rPr lang="en-US" sz="2000" dirty="0">
                <a:solidFill>
                  <a:schemeClr val="bg1"/>
                </a:solidFill>
              </a:rPr>
              <a:t>?</a:t>
            </a:r>
          </a:p>
          <a:p>
            <a:pPr marL="514350" indent="-285750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Možemo</a:t>
            </a:r>
            <a:r>
              <a:rPr lang="en-US" sz="2000" dirty="0">
                <a:solidFill>
                  <a:schemeClr val="bg1"/>
                </a:solidFill>
              </a:rPr>
              <a:t> li </a:t>
            </a:r>
            <a:r>
              <a:rPr lang="en-US" sz="2000" dirty="0" err="1">
                <a:solidFill>
                  <a:schemeClr val="bg1"/>
                </a:solidFill>
              </a:rPr>
              <a:t>dodavanjem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novih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procesora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kontinuirano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ubrzavati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izvršavanje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programa</a:t>
            </a:r>
            <a:r>
              <a:rPr lang="en-US" sz="2000" dirty="0">
                <a:solidFill>
                  <a:schemeClr val="bg1"/>
                </a:solidFill>
              </a:rPr>
              <a:t>?</a:t>
            </a:r>
          </a:p>
          <a:p>
            <a:endParaRPr lang="hr-HR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02749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1C559ADC-7853-AEB6-CE8C-C39B66BB8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7">
            <a:extLst>
              <a:ext uri="{FF2B5EF4-FFF2-40B4-BE49-F238E27FC236}">
                <a16:creationId xmlns:a16="http://schemas.microsoft.com/office/drawing/2014/main" id="{6BE135A5-51F8-3A49-58B6-D9DCF6972B57}"/>
              </a:ext>
            </a:extLst>
          </p:cNvPr>
          <p:cNvSpPr txBox="1"/>
          <p:nvPr/>
        </p:nvSpPr>
        <p:spPr>
          <a:xfrm>
            <a:off x="1165320" y="704520"/>
            <a:ext cx="7734236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2400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Amdahlov</a:t>
            </a:r>
            <a:r>
              <a:rPr lang="en-GB" sz="2400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GB" sz="2400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zakon</a:t>
            </a:r>
            <a:endParaRPr sz="24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A530EFB-6877-2B7B-D52F-CA440F46FE64}"/>
                  </a:ext>
                </a:extLst>
              </p:cNvPr>
              <p:cNvSpPr txBox="1"/>
              <p:nvPr/>
            </p:nvSpPr>
            <p:spPr>
              <a:xfrm>
                <a:off x="975361" y="1482304"/>
                <a:ext cx="7924195" cy="50597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hr-HR" sz="1800" dirty="0">
                    <a:solidFill>
                      <a:schemeClr val="bg1"/>
                    </a:solidFill>
                  </a:rPr>
                  <a:t>P = 0.95  (95% paralelno)</a:t>
                </a:r>
              </a:p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hr-HR" sz="1800" dirty="0">
                    <a:solidFill>
                      <a:schemeClr val="bg1"/>
                    </a:solidFill>
                  </a:rPr>
                  <a:t>(1-P) = 0.05  (5% sekvencijalno)</a:t>
                </a:r>
              </a:p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hr-HR" sz="1800" dirty="0">
                    <a:solidFill>
                      <a:schemeClr val="bg1"/>
                    </a:solidFill>
                  </a:rPr>
                  <a:t>N = 16  (16 procesora)</a:t>
                </a:r>
              </a:p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endParaRPr lang="hr-HR" sz="1800" dirty="0">
                  <a:solidFill>
                    <a:schemeClr val="bg1"/>
                  </a:solidFill>
                </a:endParaRPr>
              </a:p>
              <a:p>
                <a:pPr>
                  <a:buClr>
                    <a:schemeClr val="bg1"/>
                  </a:buClr>
                </a:pPr>
                <a:r>
                  <a:rPr lang="hr-HR" sz="2000" dirty="0">
                    <a:solidFill>
                      <a:schemeClr val="bg1"/>
                    </a:solidFill>
                  </a:rPr>
                  <a:t>Prema formuli:</a:t>
                </a:r>
              </a:p>
              <a:p>
                <a:pPr>
                  <a:buClr>
                    <a:schemeClr val="bg1"/>
                  </a:buClr>
                </a:pPr>
                <a:r>
                  <a:rPr lang="hr-HR" sz="2000" dirty="0" err="1">
                    <a:solidFill>
                      <a:schemeClr val="bg1"/>
                    </a:solidFill>
                  </a:rPr>
                  <a:t>Speedup</a:t>
                </a:r>
                <a:r>
                  <a:rPr lang="hr-HR" sz="2000" dirty="0">
                    <a:solidFill>
                      <a:schemeClr val="bg1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r-HR" sz="2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hr-H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hr-H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r-H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hr-HR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d>
                        <m:r>
                          <a:rPr lang="hr-H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hr-H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hr-H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hr-H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lang="hr-HR" sz="2000" dirty="0">
                    <a:solidFill>
                      <a:schemeClr val="bg1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r-HR" sz="2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hr-H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hr-H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0.05+0.95/16</m:t>
                        </m:r>
                      </m:den>
                    </m:f>
                  </m:oMath>
                </a14:m>
                <a:r>
                  <a:rPr lang="hr-HR" sz="2000" dirty="0">
                    <a:solidFill>
                      <a:schemeClr val="bg1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r-HR" sz="2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hr-H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hr-HR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0.05+0.059</m:t>
                        </m:r>
                      </m:den>
                    </m:f>
                    <m:r>
                      <a:rPr lang="hr-HR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=9.17</m:t>
                    </m:r>
                  </m:oMath>
                </a14:m>
                <a:r>
                  <a:rPr lang="hr-HR" sz="2000" dirty="0">
                    <a:solidFill>
                      <a:schemeClr val="bg1"/>
                    </a:solidFill>
                  </a:rPr>
                  <a:t>x</a:t>
                </a:r>
              </a:p>
              <a:p>
                <a:pPr>
                  <a:buClr>
                    <a:schemeClr val="bg1"/>
                  </a:buClr>
                </a:pPr>
                <a:endParaRPr lang="hr-HR" sz="2000" dirty="0">
                  <a:solidFill>
                    <a:schemeClr val="bg1"/>
                  </a:solidFill>
                </a:endParaRPr>
              </a:p>
              <a:p>
                <a:pPr>
                  <a:buClr>
                    <a:schemeClr val="bg1"/>
                  </a:buClr>
                </a:pPr>
                <a:r>
                  <a:rPr lang="hr-HR" sz="1800" dirty="0">
                    <a:solidFill>
                      <a:schemeClr val="bg1"/>
                    </a:solidFill>
                  </a:rPr>
                  <a:t>Stvarno ubrzanje: 9.17x</a:t>
                </a:r>
              </a:p>
              <a:p>
                <a:pPr>
                  <a:buClr>
                    <a:schemeClr val="bg1"/>
                  </a:buClr>
                </a:pPr>
                <a:endParaRPr lang="hr-HR" sz="1800" dirty="0">
                  <a:solidFill>
                    <a:schemeClr val="bg1"/>
                  </a:solidFill>
                </a:endParaRPr>
              </a:p>
              <a:p>
                <a:pPr>
                  <a:buClr>
                    <a:schemeClr val="bg1"/>
                  </a:buClr>
                </a:pPr>
                <a:r>
                  <a:rPr lang="hr-HR" sz="1800" dirty="0">
                    <a:solidFill>
                      <a:schemeClr val="bg1"/>
                    </a:solidFill>
                  </a:rPr>
                  <a:t>Primjer: </a:t>
                </a:r>
              </a:p>
              <a:p>
                <a:pPr>
                  <a:buClr>
                    <a:schemeClr val="bg1"/>
                  </a:buClr>
                </a:pPr>
                <a:r>
                  <a:rPr lang="hr-HR" sz="1800" dirty="0">
                    <a:solidFill>
                      <a:schemeClr val="bg1"/>
                    </a:solidFill>
                  </a:rPr>
                  <a:t>Sekvencijalno traje 100s </a:t>
                </a:r>
              </a:p>
              <a:p>
                <a:pPr>
                  <a:buClr>
                    <a:schemeClr val="bg1"/>
                  </a:buClr>
                </a:pPr>
                <a:r>
                  <a:rPr lang="hr-HR" sz="1800" dirty="0">
                    <a:solidFill>
                      <a:schemeClr val="bg1"/>
                    </a:solidFill>
                  </a:rPr>
                  <a:t>Paralelno (16 procesora) </a:t>
                </a:r>
              </a:p>
              <a:p>
                <a:pPr>
                  <a:buClr>
                    <a:schemeClr val="bg1"/>
                  </a:buClr>
                </a:pPr>
                <a:r>
                  <a:rPr lang="hr-HR" sz="1800" dirty="0">
                    <a:solidFill>
                      <a:schemeClr val="bg1"/>
                    </a:solidFill>
                  </a:rPr>
                  <a:t>Vrijeme = 5 s + 6 s = 11 s</a:t>
                </a:r>
              </a:p>
              <a:p>
                <a:pPr>
                  <a:buClr>
                    <a:schemeClr val="bg1"/>
                  </a:buClr>
                </a:pPr>
                <a:endParaRPr lang="hr-HR" sz="1800" dirty="0">
                  <a:solidFill>
                    <a:schemeClr val="bg1"/>
                  </a:solidFill>
                </a:endParaRPr>
              </a:p>
              <a:p>
                <a:pPr>
                  <a:buClr>
                    <a:schemeClr val="bg1"/>
                  </a:buClr>
                </a:pPr>
                <a:r>
                  <a:rPr lang="hr-HR" sz="1800" dirty="0" err="1">
                    <a:solidFill>
                      <a:schemeClr val="bg1"/>
                    </a:solidFill>
                  </a:rPr>
                  <a:t>Speedup</a:t>
                </a:r>
                <a:r>
                  <a:rPr lang="hr-HR" sz="1800" dirty="0">
                    <a:solidFill>
                      <a:schemeClr val="bg1"/>
                    </a:solidFill>
                  </a:rPr>
                  <a:t> = 100s/11s ≈ 9×</a:t>
                </a:r>
              </a:p>
              <a:p>
                <a:pPr>
                  <a:buClr>
                    <a:schemeClr val="bg1"/>
                  </a:buClr>
                </a:pPr>
                <a:r>
                  <a:rPr lang="hr-HR" sz="1800" dirty="0">
                    <a:solidFill>
                      <a:schemeClr val="bg1"/>
                    </a:solidFill>
                  </a:rPr>
                  <a:t>Sekvencijalni dio se ne ubrzava -&gt; svih 16 procesora mora čekati 5 sekundi (5% koda) – što je ukupno 45% ukupnog vremena izvođenja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A530EFB-6877-2B7B-D52F-CA440F46F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61" y="1482304"/>
                <a:ext cx="7924195" cy="5059783"/>
              </a:xfrm>
              <a:prstGeom prst="rect">
                <a:avLst/>
              </a:prstGeom>
              <a:blipFill>
                <a:blip r:embed="rId3"/>
                <a:stretch>
                  <a:fillRect l="-640" t="-500" b="-750"/>
                </a:stretch>
              </a:blipFill>
            </p:spPr>
            <p:txBody>
              <a:bodyPr/>
              <a:lstStyle/>
              <a:p>
                <a:r>
                  <a:rPr lang="hr-H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18993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CA776-FBFC-BFDA-BBCF-77C53E9A6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55113-8A3F-BF80-0C2E-6D87ED9F6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Amdahlov</a:t>
            </a:r>
            <a:r>
              <a:rPr lang="en-GB" sz="2400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GB" sz="2400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zakon</a:t>
            </a:r>
            <a:endParaRPr lang="hr-HR" sz="2400" dirty="0"/>
          </a:p>
        </p:txBody>
      </p:sp>
      <p:pic>
        <p:nvPicPr>
          <p:cNvPr id="4098" name="Picture 2" descr="undefined">
            <a:extLst>
              <a:ext uri="{FF2B5EF4-FFF2-40B4-BE49-F238E27FC236}">
                <a16:creationId xmlns:a16="http://schemas.microsoft.com/office/drawing/2014/main" id="{64CF2FB2-EBD1-4779-D27D-EF983B7FA2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320" y="1125720"/>
            <a:ext cx="7030618" cy="5492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284120-473E-606C-9E54-C6DAD4F3E4B7}"/>
              </a:ext>
            </a:extLst>
          </p:cNvPr>
          <p:cNvSpPr txBox="1"/>
          <p:nvPr/>
        </p:nvSpPr>
        <p:spPr>
          <a:xfrm>
            <a:off x="1165320" y="6617993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400" b="0" i="1" u="none" strike="noStrike" dirty="0">
                <a:solidFill>
                  <a:srgbClr val="FFFFFF"/>
                </a:solidFill>
                <a:effectLst/>
                <a:latin typeface="Cambria" panose="02040503050406030204" pitchFamily="18" charset="0"/>
              </a:rPr>
              <a:t>https://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latin typeface="Cambria" panose="02040503050406030204" pitchFamily="18" charset="0"/>
              </a:rPr>
              <a:t>en.wikipedia.org</a:t>
            </a:r>
            <a:r>
              <a:rPr lang="en-US" sz="1400" b="0" i="1" u="none" strike="noStrike" dirty="0">
                <a:solidFill>
                  <a:srgbClr val="FFFFFF"/>
                </a:solidFill>
                <a:effectLst/>
                <a:latin typeface="Cambria" panose="02040503050406030204" pitchFamily="18" charset="0"/>
              </a:rPr>
              <a:t>/wiki/</a:t>
            </a:r>
            <a:r>
              <a:rPr lang="en-US" sz="1400" b="0" i="1" u="none" strike="noStrike" dirty="0" err="1">
                <a:solidFill>
                  <a:srgbClr val="FFFFFF"/>
                </a:solidFill>
                <a:effectLst/>
                <a:latin typeface="Cambria" panose="02040503050406030204" pitchFamily="18" charset="0"/>
              </a:rPr>
              <a:t>Amdahl’s_law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924690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D65D4-549E-43D8-ACEF-15CA2DD45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sz="2400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Summit supercomputer</a:t>
            </a:r>
            <a:endParaRPr lang="en-GB" sz="2400" dirty="0"/>
          </a:p>
        </p:txBody>
      </p:sp>
      <p:pic>
        <p:nvPicPr>
          <p:cNvPr id="5122" name="Picture 2" descr="ORNL Launches Summit Supercomputer">
            <a:extLst>
              <a:ext uri="{FF2B5EF4-FFF2-40B4-BE49-F238E27FC236}">
                <a16:creationId xmlns:a16="http://schemas.microsoft.com/office/drawing/2014/main" id="{8E4FA55C-F734-10B7-2B9F-A2B0F77B8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4043" y="1255776"/>
            <a:ext cx="4399957" cy="2474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AB7F97-5809-B9AF-98AD-E944A7838069}"/>
              </a:ext>
            </a:extLst>
          </p:cNvPr>
          <p:cNvSpPr txBox="1"/>
          <p:nvPr/>
        </p:nvSpPr>
        <p:spPr>
          <a:xfrm>
            <a:off x="5230368" y="3730752"/>
            <a:ext cx="38202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000" dirty="0" err="1">
                <a:solidFill>
                  <a:schemeClr val="bg1"/>
                </a:solidFill>
              </a:rPr>
              <a:t>https</a:t>
            </a:r>
            <a:r>
              <a:rPr lang="hr-HR" sz="1000" dirty="0">
                <a:solidFill>
                  <a:schemeClr val="bg1"/>
                </a:solidFill>
              </a:rPr>
              <a:t>://</a:t>
            </a:r>
            <a:r>
              <a:rPr lang="hr-HR" sz="1000" dirty="0" err="1">
                <a:solidFill>
                  <a:schemeClr val="bg1"/>
                </a:solidFill>
              </a:rPr>
              <a:t>www.ornl.gov</a:t>
            </a:r>
            <a:r>
              <a:rPr lang="hr-HR" sz="1000" dirty="0">
                <a:solidFill>
                  <a:schemeClr val="bg1"/>
                </a:solidFill>
              </a:rPr>
              <a:t>/</a:t>
            </a:r>
            <a:r>
              <a:rPr lang="hr-HR" sz="1000" dirty="0" err="1">
                <a:solidFill>
                  <a:schemeClr val="bg1"/>
                </a:solidFill>
              </a:rPr>
              <a:t>news</a:t>
            </a:r>
            <a:r>
              <a:rPr lang="hr-HR" sz="1000" dirty="0">
                <a:solidFill>
                  <a:schemeClr val="bg1"/>
                </a:solidFill>
              </a:rPr>
              <a:t>/</a:t>
            </a:r>
            <a:r>
              <a:rPr lang="hr-HR" sz="1000" dirty="0" err="1">
                <a:solidFill>
                  <a:schemeClr val="bg1"/>
                </a:solidFill>
              </a:rPr>
              <a:t>ornl</a:t>
            </a:r>
            <a:r>
              <a:rPr lang="hr-HR" sz="1000" dirty="0">
                <a:solidFill>
                  <a:schemeClr val="bg1"/>
                </a:solidFill>
              </a:rPr>
              <a:t>-</a:t>
            </a:r>
            <a:r>
              <a:rPr lang="hr-HR" sz="1000" dirty="0" err="1">
                <a:solidFill>
                  <a:schemeClr val="bg1"/>
                </a:solidFill>
              </a:rPr>
              <a:t>launches</a:t>
            </a:r>
            <a:r>
              <a:rPr lang="hr-HR" sz="1000" dirty="0">
                <a:solidFill>
                  <a:schemeClr val="bg1"/>
                </a:solidFill>
              </a:rPr>
              <a:t>-summit-</a:t>
            </a:r>
            <a:r>
              <a:rPr lang="hr-HR" sz="1000" dirty="0" err="1">
                <a:solidFill>
                  <a:schemeClr val="bg1"/>
                </a:solidFill>
              </a:rPr>
              <a:t>supercomputer</a:t>
            </a:r>
            <a:endParaRPr lang="hr-HR" sz="10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7F8389-E2B7-5422-3143-1DD3883FFEF0}"/>
              </a:ext>
            </a:extLst>
          </p:cNvPr>
          <p:cNvSpPr txBox="1"/>
          <p:nvPr/>
        </p:nvSpPr>
        <p:spPr>
          <a:xfrm>
            <a:off x="882436" y="1441037"/>
            <a:ext cx="36895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bg1"/>
                </a:solidFill>
              </a:rPr>
              <a:t>Ukupno</a:t>
            </a:r>
            <a:r>
              <a:rPr lang="en-US" sz="1800" dirty="0">
                <a:solidFill>
                  <a:schemeClr val="bg1"/>
                </a:solidFill>
              </a:rPr>
              <a:t>: ~148 </a:t>
            </a:r>
            <a:r>
              <a:rPr lang="en-US" sz="1800" dirty="0" err="1">
                <a:solidFill>
                  <a:schemeClr val="bg1"/>
                </a:solidFill>
              </a:rPr>
              <a:t>milijuna</a:t>
            </a:r>
            <a:r>
              <a:rPr lang="en-US" sz="1800" dirty="0">
                <a:solidFill>
                  <a:schemeClr val="bg1"/>
                </a:solidFill>
              </a:rPr>
              <a:t> ALU </a:t>
            </a:r>
            <a:r>
              <a:rPr lang="en-US" sz="1800" dirty="0" err="1">
                <a:solidFill>
                  <a:schemeClr val="bg1"/>
                </a:solidFill>
              </a:rPr>
              <a:t>jedinica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bg1"/>
                </a:solidFill>
              </a:rPr>
              <a:t>Mogu</a:t>
            </a:r>
            <a:r>
              <a:rPr lang="en-US" sz="1800" dirty="0">
                <a:solidFill>
                  <a:schemeClr val="bg1"/>
                </a:solidFill>
              </a:rPr>
              <a:t> li se </a:t>
            </a:r>
            <a:r>
              <a:rPr lang="en-US" sz="1800" dirty="0" err="1">
                <a:solidFill>
                  <a:schemeClr val="bg1"/>
                </a:solidFill>
              </a:rPr>
              <a:t>iskoristiti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sve</a:t>
            </a:r>
            <a:r>
              <a:rPr lang="en-US" sz="1800" dirty="0">
                <a:solidFill>
                  <a:schemeClr val="bg1"/>
                </a:solidFill>
              </a:rPr>
              <a:t> ALU </a:t>
            </a:r>
            <a:r>
              <a:rPr lang="en-US" sz="1800" dirty="0" err="1">
                <a:solidFill>
                  <a:schemeClr val="bg1"/>
                </a:solidFill>
              </a:rPr>
              <a:t>jedinice</a:t>
            </a:r>
            <a:r>
              <a:rPr lang="en-US" sz="1800" dirty="0">
                <a:solidFill>
                  <a:schemeClr val="bg1"/>
                </a:solidFill>
              </a:rPr>
              <a:t>?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n-US" sz="1800" dirty="0">
                <a:solidFill>
                  <a:schemeClr val="bg1"/>
                </a:solidFill>
              </a:rPr>
              <a:t> </a:t>
            </a:r>
          </a:p>
          <a:p>
            <a:pPr>
              <a:buClr>
                <a:schemeClr val="bg1"/>
              </a:buClr>
            </a:pPr>
            <a:r>
              <a:rPr lang="hr-HR" sz="1800" dirty="0">
                <a:solidFill>
                  <a:schemeClr val="bg1"/>
                </a:solidFill>
              </a:rPr>
              <a:t>Program koji ima: 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hr-HR" sz="1800" dirty="0">
                <a:solidFill>
                  <a:schemeClr val="bg1"/>
                </a:solidFill>
              </a:rPr>
              <a:t>S = 0.001 (0.1% sekvencijalno) 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hr-HR" sz="1800" dirty="0">
                <a:solidFill>
                  <a:schemeClr val="bg1"/>
                </a:solidFill>
              </a:rPr>
              <a:t>P = 0.999 (99.9% paralelno)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DF288B-DBFB-5955-FEF8-3B6291DE4BCB}"/>
              </a:ext>
            </a:extLst>
          </p:cNvPr>
          <p:cNvSpPr txBox="1"/>
          <p:nvPr/>
        </p:nvSpPr>
        <p:spPr>
          <a:xfrm>
            <a:off x="882436" y="4432673"/>
            <a:ext cx="80177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Max Speedup = 1/S = 1/0.001 = 1,000× </a:t>
            </a:r>
            <a:endParaRPr lang="en-HR" sz="1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sz="1800" dirty="0">
                <a:solidFill>
                  <a:schemeClr val="bg1"/>
                </a:solidFill>
              </a:rPr>
              <a:t>Ne </a:t>
            </a:r>
            <a:r>
              <a:rPr lang="en-US" sz="1800" dirty="0" err="1">
                <a:solidFill>
                  <a:schemeClr val="bg1"/>
                </a:solidFill>
              </a:rPr>
              <a:t>mogu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iskoristiti</a:t>
            </a:r>
            <a:r>
              <a:rPr lang="en-US" sz="1800" dirty="0">
                <a:solidFill>
                  <a:schemeClr val="bg1"/>
                </a:solidFill>
              </a:rPr>
              <a:t> 148,000,000 ALU </a:t>
            </a:r>
            <a:r>
              <a:rPr lang="en-US" sz="1800" dirty="0" err="1">
                <a:solidFill>
                  <a:schemeClr val="bg1"/>
                </a:solidFill>
              </a:rPr>
              <a:t>jedinica</a:t>
            </a:r>
            <a:r>
              <a:rPr lang="en-US" sz="1800" dirty="0">
                <a:solidFill>
                  <a:schemeClr val="bg1"/>
                </a:solidFill>
              </a:rPr>
              <a:t>!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sz="1800" dirty="0" err="1">
                <a:solidFill>
                  <a:schemeClr val="bg1"/>
                </a:solidFill>
              </a:rPr>
              <a:t>Mogu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iskoristiti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samo</a:t>
            </a:r>
            <a:r>
              <a:rPr lang="en-US" sz="1800" dirty="0">
                <a:solidFill>
                  <a:schemeClr val="bg1"/>
                </a:solidFill>
              </a:rPr>
              <a:t> 1,000! </a:t>
            </a:r>
            <a:endParaRPr lang="en-HR" sz="1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sz="1800" dirty="0" err="1">
                <a:solidFill>
                  <a:schemeClr val="bg1"/>
                </a:solidFill>
              </a:rPr>
              <a:t>Iskorištenost</a:t>
            </a:r>
            <a:r>
              <a:rPr lang="en-US" sz="1800" dirty="0">
                <a:solidFill>
                  <a:schemeClr val="bg1"/>
                </a:solidFill>
              </a:rPr>
              <a:t>: 1,000/148,000,000 = 0.0007% 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sz="1800" dirty="0">
                <a:solidFill>
                  <a:schemeClr val="bg1"/>
                </a:solidFill>
              </a:rPr>
              <a:t>99.999% </a:t>
            </a:r>
            <a:r>
              <a:rPr lang="en-US" sz="1800" dirty="0" err="1">
                <a:solidFill>
                  <a:schemeClr val="bg1"/>
                </a:solidFill>
              </a:rPr>
              <a:t>računalnih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resursa</a:t>
            </a:r>
            <a:r>
              <a:rPr lang="en-US" sz="1800" dirty="0">
                <a:solidFill>
                  <a:schemeClr val="bg1"/>
                </a:solidFill>
              </a:rPr>
              <a:t> ČEKA!</a:t>
            </a:r>
            <a:endParaRPr lang="hr-HR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5746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D97F33DD-A621-F251-7C1F-CC4B9BB5B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7">
            <a:extLst>
              <a:ext uri="{FF2B5EF4-FFF2-40B4-BE49-F238E27FC236}">
                <a16:creationId xmlns:a16="http://schemas.microsoft.com/office/drawing/2014/main" id="{49408B83-A44D-AD30-5BF5-8885F2202A12}"/>
              </a:ext>
            </a:extLst>
          </p:cNvPr>
          <p:cNvSpPr txBox="1"/>
          <p:nvPr/>
        </p:nvSpPr>
        <p:spPr>
          <a:xfrm>
            <a:off x="1165320" y="704520"/>
            <a:ext cx="7734236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0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Amdahlov</a:t>
            </a:r>
            <a:r>
              <a:rPr lang="en-GB" sz="2400" b="0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GB" sz="2400" b="0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zakon</a:t>
            </a:r>
            <a:endParaRPr sz="24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DC3C43-07A7-999E-3D2D-5C8CD0F01674}"/>
              </a:ext>
            </a:extLst>
          </p:cNvPr>
          <p:cNvSpPr txBox="1"/>
          <p:nvPr/>
        </p:nvSpPr>
        <p:spPr>
          <a:xfrm>
            <a:off x="1017873" y="1275040"/>
            <a:ext cx="7881683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hr-HR" sz="2000" b="1" dirty="0">
                <a:solidFill>
                  <a:schemeClr val="bg1"/>
                </a:solidFill>
              </a:rPr>
              <a:t>Prednosti: </a:t>
            </a:r>
            <a:endParaRPr lang="hr-HR" sz="1800" b="1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1800" dirty="0">
                <a:solidFill>
                  <a:schemeClr val="bg1"/>
                </a:solidFill>
              </a:rPr>
              <a:t>Pruža jasan gornji limit performansi → Znamo što je teoretski maksimum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bg1"/>
                </a:solidFill>
              </a:rPr>
              <a:t>Pomaže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identificirati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uska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grla</a:t>
            </a:r>
            <a:r>
              <a:rPr lang="en-US" sz="1800" dirty="0">
                <a:solidFill>
                  <a:schemeClr val="bg1"/>
                </a:solidFill>
              </a:rPr>
              <a:t> u </a:t>
            </a:r>
            <a:r>
              <a:rPr lang="en-US" sz="1800" dirty="0" err="1">
                <a:solidFill>
                  <a:schemeClr val="bg1"/>
                </a:solidFill>
              </a:rPr>
              <a:t>programima</a:t>
            </a:r>
            <a:r>
              <a:rPr lang="en-US" sz="1800" dirty="0">
                <a:solidFill>
                  <a:schemeClr val="bg1"/>
                </a:solidFill>
              </a:rPr>
              <a:t> → </a:t>
            </a:r>
            <a:r>
              <a:rPr lang="en-US" sz="1800" dirty="0" err="1">
                <a:solidFill>
                  <a:schemeClr val="bg1"/>
                </a:solidFill>
              </a:rPr>
              <a:t>Gdje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fokusirati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optimizacijske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napore</a:t>
            </a:r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bg1"/>
                </a:solidFill>
              </a:rPr>
              <a:t>Koristan</a:t>
            </a:r>
            <a:r>
              <a:rPr lang="en-US" sz="1800" dirty="0">
                <a:solidFill>
                  <a:schemeClr val="bg1"/>
                </a:solidFill>
              </a:rPr>
              <a:t> za </a:t>
            </a:r>
            <a:r>
              <a:rPr lang="en-US" sz="1800" dirty="0" err="1">
                <a:solidFill>
                  <a:schemeClr val="bg1"/>
                </a:solidFill>
              </a:rPr>
              <a:t>odluke</a:t>
            </a:r>
            <a:r>
              <a:rPr lang="en-US" sz="1800" dirty="0">
                <a:solidFill>
                  <a:schemeClr val="bg1"/>
                </a:solidFill>
              </a:rPr>
              <a:t> o </a:t>
            </a:r>
            <a:r>
              <a:rPr lang="en-US" sz="1800" dirty="0" err="1">
                <a:solidFill>
                  <a:schemeClr val="bg1"/>
                </a:solidFill>
              </a:rPr>
              <a:t>hardveru</a:t>
            </a:r>
            <a:r>
              <a:rPr lang="en-US" sz="1800" dirty="0">
                <a:solidFill>
                  <a:schemeClr val="bg1"/>
                </a:solidFill>
              </a:rPr>
              <a:t>/</a:t>
            </a:r>
            <a:r>
              <a:rPr lang="en-US" sz="1800" dirty="0" err="1">
                <a:solidFill>
                  <a:schemeClr val="bg1"/>
                </a:solidFill>
              </a:rPr>
              <a:t>softveru</a:t>
            </a:r>
            <a:r>
              <a:rPr lang="en-US" sz="1800" dirty="0">
                <a:solidFill>
                  <a:schemeClr val="bg1"/>
                </a:solidFill>
              </a:rPr>
              <a:t> → </a:t>
            </a:r>
            <a:r>
              <a:rPr lang="en-US" sz="1800" dirty="0" err="1">
                <a:solidFill>
                  <a:schemeClr val="bg1"/>
                </a:solidFill>
              </a:rPr>
              <a:t>Isplati</a:t>
            </a:r>
            <a:r>
              <a:rPr lang="en-US" sz="1800" dirty="0">
                <a:solidFill>
                  <a:schemeClr val="bg1"/>
                </a:solidFill>
              </a:rPr>
              <a:t> li se </a:t>
            </a:r>
            <a:r>
              <a:rPr lang="en-US" sz="1800" dirty="0" err="1">
                <a:solidFill>
                  <a:schemeClr val="bg1"/>
                </a:solidFill>
              </a:rPr>
              <a:t>kupiti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više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procesora</a:t>
            </a:r>
            <a:r>
              <a:rPr lang="en-US" sz="1800" dirty="0">
                <a:solidFill>
                  <a:schemeClr val="bg1"/>
                </a:solidFill>
              </a:rPr>
              <a:t>? → </a:t>
            </a:r>
            <a:r>
              <a:rPr lang="en-US" sz="1800" dirty="0" err="1">
                <a:solidFill>
                  <a:schemeClr val="bg1"/>
                </a:solidFill>
              </a:rPr>
              <a:t>Gdje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investirati</a:t>
            </a:r>
            <a:r>
              <a:rPr lang="en-US" sz="1800" dirty="0">
                <a:solidFill>
                  <a:schemeClr val="bg1"/>
                </a:solidFill>
              </a:rPr>
              <a:t> development </a:t>
            </a:r>
            <a:r>
              <a:rPr lang="en-US" sz="1800" dirty="0" err="1">
                <a:solidFill>
                  <a:schemeClr val="bg1"/>
                </a:solidFill>
              </a:rPr>
              <a:t>vrijeme</a:t>
            </a:r>
            <a:r>
              <a:rPr lang="en-US" sz="1800" dirty="0">
                <a:solidFill>
                  <a:schemeClr val="bg1"/>
                </a:solidFill>
              </a:rPr>
              <a:t>?</a:t>
            </a: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n-US" sz="2000" b="1" dirty="0" err="1">
                <a:solidFill>
                  <a:schemeClr val="bg1"/>
                </a:solidFill>
              </a:rPr>
              <a:t>Nedostaci</a:t>
            </a:r>
            <a:r>
              <a:rPr lang="en-US" sz="2000" b="1" dirty="0">
                <a:solidFill>
                  <a:schemeClr val="bg1"/>
                </a:solidFill>
              </a:rPr>
              <a:t>:</a:t>
            </a:r>
            <a:endParaRPr lang="en-US" sz="1800" b="1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bg1"/>
                </a:solidFill>
              </a:rPr>
              <a:t>Pretpostavlja</a:t>
            </a:r>
            <a:r>
              <a:rPr lang="en-US" sz="1800" dirty="0">
                <a:solidFill>
                  <a:schemeClr val="bg1"/>
                </a:solidFill>
              </a:rPr>
              <a:t> da je </a:t>
            </a:r>
            <a:r>
              <a:rPr lang="en-US" sz="1800" dirty="0" err="1">
                <a:solidFill>
                  <a:schemeClr val="bg1"/>
                </a:solidFill>
              </a:rPr>
              <a:t>sekvencijalni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dio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fiksiran</a:t>
            </a:r>
            <a:r>
              <a:rPr lang="en-US" sz="1800" dirty="0">
                <a:solidFill>
                  <a:schemeClr val="bg1"/>
                </a:solidFill>
              </a:rPr>
              <a:t> → U </a:t>
            </a:r>
            <a:r>
              <a:rPr lang="en-US" sz="1800" dirty="0" err="1">
                <a:solidFill>
                  <a:schemeClr val="bg1"/>
                </a:solidFill>
              </a:rPr>
              <a:t>praksi</a:t>
            </a:r>
            <a:r>
              <a:rPr lang="en-US" sz="1800" dirty="0">
                <a:solidFill>
                  <a:schemeClr val="bg1"/>
                </a:solidFill>
              </a:rPr>
              <a:t> se </a:t>
            </a:r>
            <a:r>
              <a:rPr lang="en-US" sz="1800" dirty="0" err="1">
                <a:solidFill>
                  <a:schemeClr val="bg1"/>
                </a:solidFill>
              </a:rPr>
              <a:t>ponekad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može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optimizirati</a:t>
            </a:r>
            <a:r>
              <a:rPr lang="en-US" sz="1800" dirty="0">
                <a:solidFill>
                  <a:schemeClr val="bg1"/>
                </a:solidFill>
              </a:rPr>
              <a:t> → (1-P) </a:t>
            </a:r>
            <a:r>
              <a:rPr lang="en-US" sz="1800" dirty="0" err="1">
                <a:solidFill>
                  <a:schemeClr val="bg1"/>
                </a:solidFill>
              </a:rPr>
              <a:t>nije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uvijek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konstantan</a:t>
            </a:r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bg1"/>
                </a:solidFill>
              </a:rPr>
              <a:t>Pretpostavlja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identične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procesore</a:t>
            </a:r>
            <a:r>
              <a:rPr lang="en-US" sz="1800" dirty="0">
                <a:solidFill>
                  <a:schemeClr val="bg1"/>
                </a:solidFill>
              </a:rPr>
              <a:t> → Ne </a:t>
            </a:r>
            <a:r>
              <a:rPr lang="en-US" sz="1800" dirty="0" err="1">
                <a:solidFill>
                  <a:schemeClr val="bg1"/>
                </a:solidFill>
              </a:rPr>
              <a:t>vrijedi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uvijek</a:t>
            </a:r>
            <a:r>
              <a:rPr lang="en-US" sz="1800" dirty="0">
                <a:solidFill>
                  <a:schemeClr val="bg1"/>
                </a:solidFill>
              </a:rPr>
              <a:t> u </a:t>
            </a:r>
            <a:r>
              <a:rPr lang="en-US" sz="1800" dirty="0" err="1">
                <a:solidFill>
                  <a:schemeClr val="bg1"/>
                </a:solidFill>
              </a:rPr>
              <a:t>heterogenim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sustavima</a:t>
            </a:r>
            <a:r>
              <a:rPr lang="en-US" sz="1800" dirty="0">
                <a:solidFill>
                  <a:schemeClr val="bg1"/>
                </a:solidFill>
              </a:rPr>
              <a:t> → (GPU + CPU, </a:t>
            </a:r>
            <a:r>
              <a:rPr lang="en-US" sz="1800" dirty="0" err="1">
                <a:solidFill>
                  <a:schemeClr val="bg1"/>
                </a:solidFill>
              </a:rPr>
              <a:t>big.LITTLE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arhitekture</a:t>
            </a:r>
            <a:r>
              <a:rPr lang="en-US" sz="1800" dirty="0">
                <a:solidFill>
                  <a:schemeClr val="bg1"/>
                </a:solidFill>
              </a:rPr>
              <a:t>)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bg1"/>
                </a:solidFill>
              </a:rPr>
              <a:t>Zanemaruje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faktore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stvarnog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svijeta</a:t>
            </a:r>
            <a:r>
              <a:rPr lang="en-US" sz="1800" dirty="0">
                <a:solidFill>
                  <a:schemeClr val="bg1"/>
                </a:solidFill>
              </a:rPr>
              <a:t>: </a:t>
            </a:r>
          </a:p>
          <a:p>
            <a:pPr lvl="6">
              <a:buClr>
                <a:schemeClr val="bg1"/>
              </a:buClr>
            </a:pPr>
            <a:r>
              <a:rPr lang="en-US" sz="1800" dirty="0">
                <a:solidFill>
                  <a:schemeClr val="bg1"/>
                </a:solidFill>
              </a:rPr>
              <a:t>	- </a:t>
            </a:r>
            <a:r>
              <a:rPr lang="en-US" sz="1800" dirty="0" err="1">
                <a:solidFill>
                  <a:schemeClr val="bg1"/>
                </a:solidFill>
              </a:rPr>
              <a:t>Komunikacija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između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procesora</a:t>
            </a:r>
            <a:endParaRPr lang="en-US" sz="1800" dirty="0">
              <a:solidFill>
                <a:schemeClr val="bg1"/>
              </a:solidFill>
            </a:endParaRPr>
          </a:p>
          <a:p>
            <a:pPr lvl="6">
              <a:buClr>
                <a:schemeClr val="bg1"/>
              </a:buClr>
            </a:pPr>
            <a:r>
              <a:rPr lang="en-US" sz="1800" dirty="0">
                <a:solidFill>
                  <a:schemeClr val="bg1"/>
                </a:solidFill>
              </a:rPr>
              <a:t>	- </a:t>
            </a:r>
            <a:r>
              <a:rPr lang="en-US" sz="1800" dirty="0" err="1">
                <a:solidFill>
                  <a:schemeClr val="bg1"/>
                </a:solidFill>
              </a:rPr>
              <a:t>Sinkronizacija</a:t>
            </a:r>
            <a:r>
              <a:rPr lang="en-US" sz="1800" dirty="0">
                <a:solidFill>
                  <a:schemeClr val="bg1"/>
                </a:solidFill>
              </a:rPr>
              <a:t> (locks, barriers) </a:t>
            </a:r>
          </a:p>
          <a:p>
            <a:pPr lvl="6">
              <a:buClr>
                <a:schemeClr val="bg1"/>
              </a:buClr>
            </a:pPr>
            <a:r>
              <a:rPr lang="en-US" sz="1800" dirty="0">
                <a:solidFill>
                  <a:schemeClr val="bg1"/>
                </a:solidFill>
              </a:rPr>
              <a:t>	- Load balancing overhead</a:t>
            </a:r>
          </a:p>
          <a:p>
            <a:pPr lvl="6">
              <a:buClr>
                <a:schemeClr val="bg1"/>
              </a:buClr>
            </a:pPr>
            <a:r>
              <a:rPr lang="en-US" sz="1800" dirty="0">
                <a:solidFill>
                  <a:schemeClr val="bg1"/>
                </a:solidFill>
              </a:rPr>
              <a:t>	- Cache coherency overhead </a:t>
            </a:r>
          </a:p>
          <a:p>
            <a:pPr lvl="6">
              <a:buClr>
                <a:schemeClr val="bg1"/>
              </a:buClr>
            </a:pPr>
            <a:r>
              <a:rPr lang="en-US" sz="1800" dirty="0">
                <a:solidFill>
                  <a:schemeClr val="bg1"/>
                </a:solidFill>
              </a:rPr>
              <a:t>	- Memory bandwidth </a:t>
            </a:r>
            <a:r>
              <a:rPr lang="en-US" sz="1800" dirty="0" err="1">
                <a:solidFill>
                  <a:schemeClr val="bg1"/>
                </a:solidFill>
              </a:rPr>
              <a:t>ograničenja</a:t>
            </a:r>
            <a:endParaRPr lang="hr-HR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01071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BCE2A63C-8810-AADD-56B6-919D4F849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7">
            <a:extLst>
              <a:ext uri="{FF2B5EF4-FFF2-40B4-BE49-F238E27FC236}">
                <a16:creationId xmlns:a16="http://schemas.microsoft.com/office/drawing/2014/main" id="{C02A1AFE-037B-ED4C-274E-24A3FB51F554}"/>
              </a:ext>
            </a:extLst>
          </p:cNvPr>
          <p:cNvSpPr txBox="1"/>
          <p:nvPr/>
        </p:nvSpPr>
        <p:spPr>
          <a:xfrm>
            <a:off x="1165320" y="704520"/>
            <a:ext cx="7734236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0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Gustafson-</a:t>
            </a:r>
            <a:r>
              <a:rPr lang="en-GB" sz="2400" b="0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Barsis</a:t>
            </a:r>
            <a:r>
              <a:rPr lang="en-GB" sz="2400" b="0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GB" sz="2400" b="0" strike="noStrik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zakon</a:t>
            </a:r>
            <a:r>
              <a:rPr lang="en-GB" sz="2400" b="0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(1988)</a:t>
            </a:r>
            <a:endParaRPr sz="24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CC4039-FA09-205F-0F13-7C2C97642E80}"/>
              </a:ext>
            </a:extLst>
          </p:cNvPr>
          <p:cNvSpPr txBox="1"/>
          <p:nvPr/>
        </p:nvSpPr>
        <p:spPr>
          <a:xfrm>
            <a:off x="1165320" y="1475173"/>
            <a:ext cx="6315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bg1"/>
                </a:solidFill>
              </a:rPr>
              <a:t>Što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ako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povećamo</a:t>
            </a:r>
            <a:r>
              <a:rPr lang="en-US" sz="2000" dirty="0">
                <a:solidFill>
                  <a:schemeClr val="bg1"/>
                </a:solidFill>
              </a:rPr>
              <a:t> problem </a:t>
            </a:r>
            <a:r>
              <a:rPr lang="en-US" sz="2000" dirty="0" err="1">
                <a:solidFill>
                  <a:schemeClr val="bg1"/>
                </a:solidFill>
              </a:rPr>
              <a:t>umjesto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procesora</a:t>
            </a:r>
            <a:r>
              <a:rPr lang="en-US" sz="2000" dirty="0">
                <a:solidFill>
                  <a:schemeClr val="bg1"/>
                </a:solidFill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1C07749-A0EB-9005-CE60-37A37E727C36}"/>
                  </a:ext>
                </a:extLst>
              </p:cNvPr>
              <p:cNvSpPr txBox="1"/>
              <p:nvPr/>
            </p:nvSpPr>
            <p:spPr>
              <a:xfrm>
                <a:off x="1165320" y="2151727"/>
                <a:ext cx="7405656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r-H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hr-H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r-H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hr-H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hr-H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hr-H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hr-H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hr-HR" sz="2000" dirty="0">
                  <a:solidFill>
                    <a:schemeClr val="bg1"/>
                  </a:solidFill>
                </a:endParaRPr>
              </a:p>
              <a:p>
                <a:endParaRPr lang="hr-HR" sz="2000" dirty="0">
                  <a:solidFill>
                    <a:schemeClr val="bg1"/>
                  </a:solidFill>
                </a:endParaRPr>
              </a:p>
              <a:p>
                <a:pPr>
                  <a:buClr>
                    <a:schemeClr val="bg1"/>
                  </a:buClr>
                </a:pPr>
                <a:r>
                  <a:rPr lang="hr-HR" sz="2000" dirty="0">
                    <a:solidFill>
                      <a:schemeClr val="bg1"/>
                    </a:solidFill>
                  </a:rPr>
                  <a:t>gdje je:</a:t>
                </a:r>
              </a:p>
              <a:p>
                <a:pPr marL="342900" indent="-342900">
                  <a:buClr>
                    <a:schemeClr val="bg1"/>
                  </a:buClr>
                  <a:buFontTx/>
                  <a:buChar char="-"/>
                </a:pPr>
                <a:r>
                  <a:rPr lang="en-US" sz="2000" dirty="0">
                    <a:solidFill>
                      <a:schemeClr val="bg1"/>
                    </a:solidFill>
                  </a:rPr>
                  <a:t>s =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udio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vremena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provedenog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izvršavajući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sekvencijalne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dijelove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programa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na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paralelnom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sustavu</a:t>
                </a:r>
                <a:endParaRPr lang="en-US" sz="2000" dirty="0">
                  <a:solidFill>
                    <a:schemeClr val="bg1"/>
                  </a:solidFill>
                </a:endParaRPr>
              </a:p>
              <a:p>
                <a:pPr marL="342900" indent="-342900">
                  <a:buClr>
                    <a:schemeClr val="bg1"/>
                  </a:buClr>
                  <a:buFontTx/>
                  <a:buChar char="-"/>
                </a:pPr>
                <a:r>
                  <a:rPr lang="en-US" sz="2000" dirty="0">
                    <a:solidFill>
                      <a:schemeClr val="bg1"/>
                    </a:solidFill>
                  </a:rPr>
                  <a:t>p =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udio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vremena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provedenog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izvršavajući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paralelne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dijelove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programa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na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paralelnom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sustavu</a:t>
                </a:r>
                <a:endParaRPr lang="hr-HR" sz="2000" dirty="0">
                  <a:solidFill>
                    <a:schemeClr val="bg1"/>
                  </a:solidFill>
                </a:endParaRPr>
              </a:p>
              <a:p>
                <a:pPr marL="342900" indent="-342900">
                  <a:buClr>
                    <a:schemeClr val="bg1"/>
                  </a:buClr>
                  <a:buFontTx/>
                  <a:buChar char="-"/>
                </a:pPr>
                <a:r>
                  <a:rPr lang="en-US" sz="2000" dirty="0">
                    <a:solidFill>
                      <a:schemeClr val="bg1"/>
                    </a:solidFill>
                  </a:rPr>
                  <a:t>N =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broj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procesora</a:t>
                </a:r>
                <a:endParaRPr lang="hr-HR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1C07749-A0EB-9005-CE60-37A37E727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320" y="2151727"/>
                <a:ext cx="7405656" cy="2554545"/>
              </a:xfrm>
              <a:prstGeom prst="rect">
                <a:avLst/>
              </a:prstGeom>
              <a:blipFill>
                <a:blip r:embed="rId3"/>
                <a:stretch>
                  <a:fillRect l="-856" b="-3465"/>
                </a:stretch>
              </a:blipFill>
            </p:spPr>
            <p:txBody>
              <a:bodyPr/>
              <a:lstStyle/>
              <a:p>
                <a:r>
                  <a:rPr lang="hr-H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EEF13FE-0E48-7966-0B08-9E086C9BB510}"/>
              </a:ext>
            </a:extLst>
          </p:cNvPr>
          <p:cNvSpPr txBox="1"/>
          <p:nvPr/>
        </p:nvSpPr>
        <p:spPr>
          <a:xfrm>
            <a:off x="1165320" y="4955215"/>
            <a:ext cx="77342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Amdahl:</a:t>
            </a:r>
            <a:r>
              <a:rPr lang="en-US" sz="1800" dirty="0">
                <a:solidFill>
                  <a:schemeClr val="bg1"/>
                </a:solidFill>
              </a:rPr>
              <a:t> "</a:t>
            </a:r>
            <a:r>
              <a:rPr lang="en-US" sz="1800" dirty="0" err="1">
                <a:solidFill>
                  <a:schemeClr val="bg1"/>
                </a:solidFill>
              </a:rPr>
              <a:t>Ubrzanje</a:t>
            </a:r>
            <a:r>
              <a:rPr lang="en-US" sz="1800" dirty="0">
                <a:solidFill>
                  <a:schemeClr val="bg1"/>
                </a:solidFill>
              </a:rPr>
              <a:t> je </a:t>
            </a:r>
            <a:r>
              <a:rPr lang="en-US" sz="1800" dirty="0" err="1">
                <a:solidFill>
                  <a:schemeClr val="bg1"/>
                </a:solidFill>
              </a:rPr>
              <a:t>ograničeno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sekvencijalnim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dijelom</a:t>
            </a:r>
            <a:r>
              <a:rPr lang="en-US" sz="1800" dirty="0">
                <a:solidFill>
                  <a:schemeClr val="bg1"/>
                </a:solidFill>
              </a:rPr>
              <a:t>, bez </a:t>
            </a:r>
            <a:r>
              <a:rPr lang="en-US" sz="1800" dirty="0" err="1">
                <a:solidFill>
                  <a:schemeClr val="bg1"/>
                </a:solidFill>
              </a:rPr>
              <a:t>obzira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na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broj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procesora</a:t>
            </a:r>
            <a:r>
              <a:rPr lang="en-US" sz="1800" dirty="0">
                <a:solidFill>
                  <a:schemeClr val="bg1"/>
                </a:solidFill>
              </a:rPr>
              <a:t>"</a:t>
            </a:r>
          </a:p>
          <a:p>
            <a:r>
              <a:rPr lang="en-US" sz="1800" b="1" dirty="0">
                <a:solidFill>
                  <a:schemeClr val="bg1"/>
                </a:solidFill>
              </a:rPr>
              <a:t>Gustafson:</a:t>
            </a:r>
            <a:r>
              <a:rPr lang="en-US" sz="1800" dirty="0">
                <a:solidFill>
                  <a:schemeClr val="bg1"/>
                </a:solidFill>
              </a:rPr>
              <a:t> "Ako </a:t>
            </a:r>
            <a:r>
              <a:rPr lang="en-US" sz="1800" dirty="0" err="1">
                <a:solidFill>
                  <a:schemeClr val="bg1"/>
                </a:solidFill>
              </a:rPr>
              <a:t>skaliramo</a:t>
            </a:r>
            <a:r>
              <a:rPr lang="en-US" sz="1800" dirty="0">
                <a:solidFill>
                  <a:schemeClr val="bg1"/>
                </a:solidFill>
              </a:rPr>
              <a:t> problem s </a:t>
            </a:r>
            <a:r>
              <a:rPr lang="en-US" sz="1800" dirty="0" err="1">
                <a:solidFill>
                  <a:schemeClr val="bg1"/>
                </a:solidFill>
              </a:rPr>
              <a:t>brojem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procesora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možemo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postići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gotovo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linearno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ubrzanje</a:t>
            </a:r>
            <a:r>
              <a:rPr lang="en-US" sz="1800" dirty="0">
                <a:solidFill>
                  <a:schemeClr val="bg1"/>
                </a:solidFill>
              </a:rPr>
              <a:t>”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pPr algn="ctr"/>
            <a:r>
              <a:rPr lang="en-US" sz="1800" b="1" dirty="0">
                <a:solidFill>
                  <a:schemeClr val="bg1"/>
                </a:solidFill>
              </a:rPr>
              <a:t>Oba </a:t>
            </a:r>
            <a:r>
              <a:rPr lang="en-US" sz="1800" b="1" dirty="0" err="1">
                <a:solidFill>
                  <a:schemeClr val="bg1"/>
                </a:solidFill>
              </a:rPr>
              <a:t>zakona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su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točna</a:t>
            </a:r>
            <a:r>
              <a:rPr lang="en-US" sz="1800" b="1" dirty="0">
                <a:solidFill>
                  <a:schemeClr val="bg1"/>
                </a:solidFill>
              </a:rPr>
              <a:t> - </a:t>
            </a:r>
            <a:r>
              <a:rPr lang="en-US" sz="1800" b="1" dirty="0" err="1">
                <a:solidFill>
                  <a:schemeClr val="bg1"/>
                </a:solidFill>
              </a:rPr>
              <a:t>primjenjuju</a:t>
            </a:r>
            <a:r>
              <a:rPr lang="en-US" sz="1800" b="1" dirty="0">
                <a:solidFill>
                  <a:schemeClr val="bg1"/>
                </a:solidFill>
              </a:rPr>
              <a:t> se </a:t>
            </a:r>
            <a:r>
              <a:rPr lang="en-US" sz="1800" b="1" dirty="0" err="1">
                <a:solidFill>
                  <a:schemeClr val="bg1"/>
                </a:solidFill>
              </a:rPr>
              <a:t>na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različite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scenarije</a:t>
            </a: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05629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FB398749-5AFF-03FE-E9B8-09475FFFF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1">
            <a:extLst>
              <a:ext uri="{FF2B5EF4-FFF2-40B4-BE49-F238E27FC236}">
                <a16:creationId xmlns:a16="http://schemas.microsoft.com/office/drawing/2014/main" id="{EDDEFE45-A9C5-ED6C-E9C3-126F407EB6E1}"/>
              </a:ext>
            </a:extLst>
          </p:cNvPr>
          <p:cNvSpPr txBox="1"/>
          <p:nvPr/>
        </p:nvSpPr>
        <p:spPr>
          <a:xfrm>
            <a:off x="1530000" y="3074220"/>
            <a:ext cx="6766920" cy="70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0" i="0" u="none" strike="noStrike" cap="non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Assignment</a:t>
            </a:r>
            <a:endParaRPr sz="3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1">
            <a:extLst>
              <a:ext uri="{FF2B5EF4-FFF2-40B4-BE49-F238E27FC236}">
                <a16:creationId xmlns:a16="http://schemas.microsoft.com/office/drawing/2014/main" id="{A5E65EE3-17B3-0C53-5FFC-4F33025D245E}"/>
              </a:ext>
            </a:extLst>
          </p:cNvPr>
          <p:cNvSpPr/>
          <p:nvPr/>
        </p:nvSpPr>
        <p:spPr>
          <a:xfrm>
            <a:off x="502560" y="3039840"/>
            <a:ext cx="802080" cy="78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dirty="0">
                <a:latin typeface="Cambria"/>
                <a:ea typeface="Cambria"/>
                <a:cs typeface="Cambria"/>
                <a:sym typeface="Cambria"/>
              </a:rPr>
              <a:t>3</a:t>
            </a:r>
            <a:endParaRPr sz="30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7265430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B1100921-80C3-36D2-03BF-6902F0E5D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7">
            <a:extLst>
              <a:ext uri="{FF2B5EF4-FFF2-40B4-BE49-F238E27FC236}">
                <a16:creationId xmlns:a16="http://schemas.microsoft.com/office/drawing/2014/main" id="{7A7CE23E-7B44-8301-5F35-5BAF117F147F}"/>
              </a:ext>
            </a:extLst>
          </p:cNvPr>
          <p:cNvSpPr txBox="1"/>
          <p:nvPr/>
        </p:nvSpPr>
        <p:spPr>
          <a:xfrm>
            <a:off x="1165320" y="704520"/>
            <a:ext cx="7734236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0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Assignment</a:t>
            </a:r>
            <a:endParaRPr sz="24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6ED65-E19B-987B-A22E-5FCEB89297A9}"/>
              </a:ext>
            </a:extLst>
          </p:cNvPr>
          <p:cNvSpPr txBox="1"/>
          <p:nvPr/>
        </p:nvSpPr>
        <p:spPr>
          <a:xfrm>
            <a:off x="1165320" y="1164120"/>
            <a:ext cx="6870357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US" sz="2000" dirty="0">
                <a:solidFill>
                  <a:schemeClr val="bg1"/>
                </a:solidFill>
              </a:rPr>
              <a:t>Assignment = </a:t>
            </a:r>
            <a:r>
              <a:rPr lang="en-US" sz="2000" dirty="0" err="1">
                <a:solidFill>
                  <a:schemeClr val="bg1"/>
                </a:solidFill>
              </a:rPr>
              <a:t>dodjela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taskova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radnicima</a:t>
            </a:r>
            <a:r>
              <a:rPr lang="en-US" sz="2000" dirty="0">
                <a:solidFill>
                  <a:schemeClr val="bg1"/>
                </a:solidFill>
              </a:rPr>
              <a:t> (workers) Workers </a:t>
            </a:r>
            <a:r>
              <a:rPr lang="en-US" sz="2000" dirty="0" err="1">
                <a:solidFill>
                  <a:schemeClr val="bg1"/>
                </a:solidFill>
              </a:rPr>
              <a:t>mogu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biti</a:t>
            </a:r>
            <a:r>
              <a:rPr lang="en-US" sz="2000" dirty="0">
                <a:solidFill>
                  <a:schemeClr val="bg1"/>
                </a:solidFill>
              </a:rPr>
              <a:t>: </a:t>
            </a:r>
          </a:p>
          <a:p>
            <a:pPr marL="342900" indent="-342900">
              <a:buClr>
                <a:schemeClr val="bg1"/>
              </a:buClr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Threads (</a:t>
            </a:r>
            <a:r>
              <a:rPr lang="en-US" sz="2000" dirty="0" err="1">
                <a:solidFill>
                  <a:schemeClr val="bg1"/>
                </a:solidFill>
              </a:rPr>
              <a:t>niti</a:t>
            </a:r>
            <a:r>
              <a:rPr lang="en-US" sz="2000" dirty="0">
                <a:solidFill>
                  <a:schemeClr val="bg1"/>
                </a:solidFill>
              </a:rPr>
              <a:t>) </a:t>
            </a:r>
          </a:p>
          <a:p>
            <a:pPr marL="342900" indent="-342900">
              <a:buClr>
                <a:schemeClr val="bg1"/>
              </a:buClr>
              <a:buFontTx/>
              <a:buChar char="-"/>
            </a:pPr>
            <a:r>
              <a:rPr lang="en-US" sz="2000" dirty="0" err="1">
                <a:solidFill>
                  <a:schemeClr val="bg1"/>
                </a:solidFill>
              </a:rPr>
              <a:t>Procesori</a:t>
            </a:r>
            <a:r>
              <a:rPr lang="en-US" sz="2000" dirty="0">
                <a:solidFill>
                  <a:schemeClr val="bg1"/>
                </a:solidFill>
              </a:rPr>
              <a:t>/</a:t>
            </a:r>
            <a:r>
              <a:rPr lang="en-US" sz="2000" dirty="0" err="1">
                <a:solidFill>
                  <a:schemeClr val="bg1"/>
                </a:solidFill>
              </a:rPr>
              <a:t>jezgre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buClr>
                <a:schemeClr val="bg1"/>
              </a:buClr>
              <a:buFontTx/>
              <a:buChar char="-"/>
            </a:pPr>
            <a:r>
              <a:rPr lang="en-US" sz="2000" dirty="0" err="1">
                <a:solidFill>
                  <a:schemeClr val="bg1"/>
                </a:solidFill>
              </a:rPr>
              <a:t>Vektorske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trake</a:t>
            </a:r>
            <a:r>
              <a:rPr lang="en-US" sz="2000" dirty="0">
                <a:solidFill>
                  <a:schemeClr val="bg1"/>
                </a:solidFill>
              </a:rPr>
              <a:t> (vector lanes) </a:t>
            </a:r>
          </a:p>
          <a:p>
            <a:pPr marL="342900" indent="-342900">
              <a:buClr>
                <a:schemeClr val="bg1"/>
              </a:buClr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GPU </a:t>
            </a:r>
            <a:r>
              <a:rPr lang="en-US" sz="2000" dirty="0" err="1">
                <a:solidFill>
                  <a:schemeClr val="bg1"/>
                </a:solidFill>
              </a:rPr>
              <a:t>blokovi</a:t>
            </a:r>
            <a:endParaRPr lang="en-US" sz="20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endParaRPr lang="en-US" sz="20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n-US" sz="2000" dirty="0" err="1">
                <a:solidFill>
                  <a:schemeClr val="bg1"/>
                </a:solidFill>
              </a:rPr>
              <a:t>Ciljevi</a:t>
            </a:r>
            <a:r>
              <a:rPr lang="en-US" sz="2000" dirty="0">
                <a:solidFill>
                  <a:schemeClr val="bg1"/>
                </a:solidFill>
              </a:rPr>
              <a:t>:</a:t>
            </a:r>
          </a:p>
          <a:p>
            <a:pPr marL="342900" indent="-342900">
              <a:buClr>
                <a:schemeClr val="bg1"/>
              </a:buClr>
              <a:buFontTx/>
              <a:buChar char="-"/>
            </a:pPr>
            <a:r>
              <a:rPr lang="hr-HR" sz="2000" dirty="0">
                <a:solidFill>
                  <a:schemeClr val="bg1"/>
                </a:solidFill>
              </a:rPr>
              <a:t>Balansirati radno opterećenje - svi </a:t>
            </a:r>
            <a:r>
              <a:rPr lang="hr-HR" sz="2000" dirty="0" err="1">
                <a:solidFill>
                  <a:schemeClr val="bg1"/>
                </a:solidFill>
              </a:rPr>
              <a:t>workers</a:t>
            </a:r>
            <a:r>
              <a:rPr lang="hr-HR" sz="2000" dirty="0">
                <a:solidFill>
                  <a:schemeClr val="bg1"/>
                </a:solidFill>
              </a:rPr>
              <a:t> podjednako zauzeti </a:t>
            </a:r>
          </a:p>
          <a:p>
            <a:pPr marL="342900" indent="-342900">
              <a:buClr>
                <a:schemeClr val="bg1"/>
              </a:buClr>
              <a:buFontTx/>
              <a:buChar char="-"/>
            </a:pPr>
            <a:r>
              <a:rPr lang="hr-HR" sz="2000" dirty="0">
                <a:solidFill>
                  <a:schemeClr val="bg1"/>
                </a:solidFill>
              </a:rPr>
              <a:t>Smanjiti troškove komunikacije - </a:t>
            </a:r>
            <a:r>
              <a:rPr lang="hr-HR" sz="2000" dirty="0" err="1">
                <a:solidFill>
                  <a:schemeClr val="bg1"/>
                </a:solidFill>
              </a:rPr>
              <a:t>taskovi</a:t>
            </a:r>
            <a:r>
              <a:rPr lang="hr-HR" sz="2000" dirty="0">
                <a:solidFill>
                  <a:schemeClr val="bg1"/>
                </a:solidFill>
              </a:rPr>
              <a:t> koji komuniciraju blizu jedan drugom </a:t>
            </a:r>
          </a:p>
          <a:p>
            <a:pPr marL="342900" indent="-342900">
              <a:buClr>
                <a:schemeClr val="bg1"/>
              </a:buClr>
              <a:buFontTx/>
              <a:buChar char="-"/>
            </a:pPr>
            <a:r>
              <a:rPr lang="hr-HR" sz="2000" dirty="0">
                <a:solidFill>
                  <a:schemeClr val="bg1"/>
                </a:solidFill>
              </a:rPr>
              <a:t>Očuvati </a:t>
            </a:r>
            <a:r>
              <a:rPr lang="hr-HR" sz="2000" dirty="0" err="1">
                <a:solidFill>
                  <a:schemeClr val="bg1"/>
                </a:solidFill>
              </a:rPr>
              <a:t>lokalnost</a:t>
            </a:r>
            <a:r>
              <a:rPr lang="hr-HR" sz="2000" dirty="0">
                <a:solidFill>
                  <a:schemeClr val="bg1"/>
                </a:solidFill>
              </a:rPr>
              <a:t> podataka - minimizirati pristup udaljenim podacima </a:t>
            </a:r>
          </a:p>
          <a:p>
            <a:pPr marL="342900" indent="-342900">
              <a:buClr>
                <a:schemeClr val="bg1"/>
              </a:buClr>
              <a:buFontTx/>
              <a:buChar char="-"/>
            </a:pPr>
            <a:r>
              <a:rPr lang="hr-HR" sz="2000" dirty="0">
                <a:solidFill>
                  <a:schemeClr val="bg1"/>
                </a:solidFill>
              </a:rPr>
              <a:t>Dva pristupa: </a:t>
            </a:r>
          </a:p>
          <a:p>
            <a:pPr lvl="1">
              <a:buClr>
                <a:schemeClr val="bg1"/>
              </a:buClr>
            </a:pPr>
            <a:r>
              <a:rPr lang="hr-HR" sz="2000" dirty="0">
                <a:solidFill>
                  <a:schemeClr val="bg1"/>
                </a:solidFill>
              </a:rPr>
              <a:t>	- </a:t>
            </a:r>
            <a:r>
              <a:rPr lang="hr-HR" sz="2000" b="1" dirty="0" err="1">
                <a:solidFill>
                  <a:schemeClr val="bg1"/>
                </a:solidFill>
              </a:rPr>
              <a:t>Static</a:t>
            </a:r>
            <a:r>
              <a:rPr lang="hr-HR" sz="2000" dirty="0">
                <a:solidFill>
                  <a:schemeClr val="bg1"/>
                </a:solidFill>
              </a:rPr>
              <a:t> </a:t>
            </a:r>
            <a:r>
              <a:rPr lang="hr-HR" sz="2000" dirty="0" err="1">
                <a:solidFill>
                  <a:schemeClr val="bg1"/>
                </a:solidFill>
              </a:rPr>
              <a:t>assignment</a:t>
            </a:r>
            <a:r>
              <a:rPr lang="hr-HR" sz="2000" dirty="0">
                <a:solidFill>
                  <a:schemeClr val="bg1"/>
                </a:solidFill>
              </a:rPr>
              <a:t> (prije izvođenja) </a:t>
            </a:r>
          </a:p>
          <a:p>
            <a:pPr lvl="1">
              <a:buClr>
                <a:schemeClr val="bg1"/>
              </a:buClr>
            </a:pPr>
            <a:r>
              <a:rPr lang="hr-HR" sz="2000" dirty="0">
                <a:solidFill>
                  <a:schemeClr val="bg1"/>
                </a:solidFill>
              </a:rPr>
              <a:t>	- </a:t>
            </a:r>
            <a:r>
              <a:rPr lang="hr-HR" sz="2000" b="1" dirty="0" err="1">
                <a:solidFill>
                  <a:schemeClr val="bg1"/>
                </a:solidFill>
              </a:rPr>
              <a:t>Dynamic</a:t>
            </a:r>
            <a:r>
              <a:rPr lang="hr-HR" sz="2000" dirty="0">
                <a:solidFill>
                  <a:schemeClr val="bg1"/>
                </a:solidFill>
              </a:rPr>
              <a:t> </a:t>
            </a:r>
            <a:r>
              <a:rPr lang="hr-HR" sz="2000" dirty="0" err="1">
                <a:solidFill>
                  <a:schemeClr val="bg1"/>
                </a:solidFill>
              </a:rPr>
              <a:t>assignment</a:t>
            </a:r>
            <a:r>
              <a:rPr lang="hr-HR" sz="2000" dirty="0">
                <a:solidFill>
                  <a:schemeClr val="bg1"/>
                </a:solidFill>
              </a:rPr>
              <a:t> (tijekom izvođenja)</a:t>
            </a:r>
          </a:p>
        </p:txBody>
      </p:sp>
    </p:spTree>
    <p:extLst>
      <p:ext uri="{BB962C8B-B14F-4D97-AF65-F5344CB8AC3E}">
        <p14:creationId xmlns:p14="http://schemas.microsoft.com/office/powerpoint/2010/main" val="25170275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9DFD41FE-145D-5C49-4B42-941E4BFFC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7">
            <a:extLst>
              <a:ext uri="{FF2B5EF4-FFF2-40B4-BE49-F238E27FC236}">
                <a16:creationId xmlns:a16="http://schemas.microsoft.com/office/drawing/2014/main" id="{98467E97-F88A-FF5F-1BBF-04998F9A0A70}"/>
              </a:ext>
            </a:extLst>
          </p:cNvPr>
          <p:cNvSpPr txBox="1"/>
          <p:nvPr/>
        </p:nvSpPr>
        <p:spPr>
          <a:xfrm>
            <a:off x="1165320" y="704520"/>
            <a:ext cx="7734236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0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Static Assignment</a:t>
            </a:r>
            <a:endParaRPr sz="24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29ECB6-CFF7-591E-DE72-8B1A0C05D3E2}"/>
              </a:ext>
            </a:extLst>
          </p:cNvPr>
          <p:cNvSpPr txBox="1"/>
          <p:nvPr/>
        </p:nvSpPr>
        <p:spPr>
          <a:xfrm>
            <a:off x="1165320" y="1164120"/>
            <a:ext cx="68703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US" sz="2000" dirty="0" err="1">
                <a:solidFill>
                  <a:schemeClr val="bg1"/>
                </a:solidFill>
              </a:rPr>
              <a:t>Odluke</a:t>
            </a:r>
            <a:r>
              <a:rPr lang="en-US" sz="2000" dirty="0">
                <a:solidFill>
                  <a:schemeClr val="bg1"/>
                </a:solidFill>
              </a:rPr>
              <a:t> o </a:t>
            </a:r>
            <a:r>
              <a:rPr lang="en-US" sz="2000" dirty="0" err="1">
                <a:solidFill>
                  <a:schemeClr val="bg1"/>
                </a:solidFill>
              </a:rPr>
              <a:t>dodjeli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napravljene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prije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izvođenja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programa</a:t>
            </a:r>
            <a:endParaRPr lang="en-US" sz="20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endParaRPr lang="en-US" sz="20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hr-HR" sz="2000" dirty="0">
                <a:solidFill>
                  <a:schemeClr val="bg1"/>
                </a:solidFill>
              </a:rPr>
              <a:t>Primjeri: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2000" dirty="0" err="1">
                <a:solidFill>
                  <a:schemeClr val="bg1"/>
                </a:solidFill>
              </a:rPr>
              <a:t>Blocked</a:t>
            </a:r>
            <a:r>
              <a:rPr lang="hr-HR" sz="2000" dirty="0">
                <a:solidFill>
                  <a:schemeClr val="bg1"/>
                </a:solidFill>
              </a:rPr>
              <a:t>: </a:t>
            </a:r>
            <a:r>
              <a:rPr lang="hr-HR" sz="2000" dirty="0" err="1">
                <a:solidFill>
                  <a:schemeClr val="bg1"/>
                </a:solidFill>
              </a:rPr>
              <a:t>Thread</a:t>
            </a:r>
            <a:r>
              <a:rPr lang="hr-HR" sz="2000" dirty="0">
                <a:solidFill>
                  <a:schemeClr val="bg1"/>
                </a:solidFill>
              </a:rPr>
              <a:t> 1 dobiva prvih N/2 elemenata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2000" dirty="0" err="1">
                <a:solidFill>
                  <a:schemeClr val="bg1"/>
                </a:solidFill>
              </a:rPr>
              <a:t>Interleaved</a:t>
            </a:r>
            <a:r>
              <a:rPr lang="hr-HR" sz="2000" dirty="0">
                <a:solidFill>
                  <a:schemeClr val="bg1"/>
                </a:solidFill>
              </a:rPr>
              <a:t>: </a:t>
            </a:r>
            <a:r>
              <a:rPr lang="hr-HR" sz="2000" dirty="0" err="1">
                <a:solidFill>
                  <a:schemeClr val="bg1"/>
                </a:solidFill>
              </a:rPr>
              <a:t>Thread</a:t>
            </a:r>
            <a:r>
              <a:rPr lang="hr-HR" sz="2000" dirty="0">
                <a:solidFill>
                  <a:schemeClr val="bg1"/>
                </a:solidFill>
              </a:rPr>
              <a:t> 1 dobiva parne, </a:t>
            </a:r>
            <a:r>
              <a:rPr lang="hr-HR" sz="2000" dirty="0" err="1">
                <a:solidFill>
                  <a:schemeClr val="bg1"/>
                </a:solidFill>
              </a:rPr>
              <a:t>Thread</a:t>
            </a:r>
            <a:r>
              <a:rPr lang="hr-HR" sz="2000" dirty="0">
                <a:solidFill>
                  <a:schemeClr val="bg1"/>
                </a:solidFill>
              </a:rPr>
              <a:t> 2 neparne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2000" dirty="0" err="1">
                <a:solidFill>
                  <a:schemeClr val="bg1"/>
                </a:solidFill>
              </a:rPr>
              <a:t>Block-cyclic</a:t>
            </a:r>
            <a:r>
              <a:rPr lang="hr-HR" sz="2000" dirty="0">
                <a:solidFill>
                  <a:schemeClr val="bg1"/>
                </a:solidFill>
              </a:rPr>
              <a:t>: Blokovi od B elemenata, naizmjenično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73ECB9-152E-A666-4B00-05458AA6D3B7}"/>
              </a:ext>
            </a:extLst>
          </p:cNvPr>
          <p:cNvSpPr txBox="1"/>
          <p:nvPr/>
        </p:nvSpPr>
        <p:spPr>
          <a:xfrm>
            <a:off x="1624914" y="3657599"/>
            <a:ext cx="6258698" cy="1938992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sz="2000" b="1" dirty="0" err="1">
                <a:solidFill>
                  <a:schemeClr val="bg1"/>
                </a:solidFill>
              </a:rPr>
              <a:t>Prednosti</a:t>
            </a:r>
            <a:r>
              <a:rPr lang="en-US" sz="2000" dirty="0">
                <a:solidFill>
                  <a:schemeClr val="bg1"/>
                </a:solidFill>
              </a:rPr>
              <a:t>: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Nema runtime overhead-a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Predvidljivo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Jednostavno</a:t>
            </a:r>
            <a:r>
              <a:rPr lang="en-US" sz="2000" dirty="0">
                <a:solidFill>
                  <a:schemeClr val="bg1"/>
                </a:solidFill>
              </a:rPr>
              <a:t> za </a:t>
            </a:r>
            <a:r>
              <a:rPr lang="en-US" sz="2000" dirty="0" err="1">
                <a:solidFill>
                  <a:schemeClr val="bg1"/>
                </a:solidFill>
              </a:rPr>
              <a:t>implementirati</a:t>
            </a:r>
            <a:endParaRPr lang="en-US" sz="20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n-US" sz="2000" b="1" dirty="0" err="1">
                <a:solidFill>
                  <a:schemeClr val="bg1"/>
                </a:solidFill>
              </a:rPr>
              <a:t>Nedostaci</a:t>
            </a:r>
            <a:r>
              <a:rPr lang="en-US" sz="2000" dirty="0">
                <a:solidFill>
                  <a:schemeClr val="bg1"/>
                </a:solidFill>
              </a:rPr>
              <a:t>: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Ne </a:t>
            </a:r>
            <a:r>
              <a:rPr lang="en-US" sz="2000" dirty="0" err="1">
                <a:solidFill>
                  <a:schemeClr val="bg1"/>
                </a:solidFill>
              </a:rPr>
              <a:t>može</a:t>
            </a:r>
            <a:r>
              <a:rPr lang="en-US" sz="2000" dirty="0">
                <a:solidFill>
                  <a:schemeClr val="bg1"/>
                </a:solidFill>
              </a:rPr>
              <a:t> se </a:t>
            </a:r>
            <a:r>
              <a:rPr lang="en-US" sz="2000" dirty="0" err="1">
                <a:solidFill>
                  <a:schemeClr val="bg1"/>
                </a:solidFill>
              </a:rPr>
              <a:t>prilagoditi</a:t>
            </a:r>
            <a:r>
              <a:rPr lang="en-US" sz="2000" dirty="0">
                <a:solidFill>
                  <a:schemeClr val="bg1"/>
                </a:solidFill>
              </a:rPr>
              <a:t> load imbalance-u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Loše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ako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taskovi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različito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dugo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traju</a:t>
            </a:r>
            <a:endParaRPr lang="hr-HR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1469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A80DDA45-7E65-B729-43E7-027EA7FCF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7">
            <a:extLst>
              <a:ext uri="{FF2B5EF4-FFF2-40B4-BE49-F238E27FC236}">
                <a16:creationId xmlns:a16="http://schemas.microsoft.com/office/drawing/2014/main" id="{8DA27D58-E5E8-0E01-669D-4327E97ABF41}"/>
              </a:ext>
            </a:extLst>
          </p:cNvPr>
          <p:cNvSpPr txBox="1"/>
          <p:nvPr/>
        </p:nvSpPr>
        <p:spPr>
          <a:xfrm>
            <a:off x="1165320" y="704520"/>
            <a:ext cx="7734236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0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Dynamic Assignment</a:t>
            </a:r>
            <a:endParaRPr sz="24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6B9A23-A226-C205-86FE-1D1DDFDFA9D5}"/>
              </a:ext>
            </a:extLst>
          </p:cNvPr>
          <p:cNvSpPr txBox="1"/>
          <p:nvPr/>
        </p:nvSpPr>
        <p:spPr>
          <a:xfrm>
            <a:off x="1165320" y="1164120"/>
            <a:ext cx="687035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US" sz="2000" dirty="0" err="1">
                <a:solidFill>
                  <a:schemeClr val="bg1"/>
                </a:solidFill>
              </a:rPr>
              <a:t>Odluke</a:t>
            </a:r>
            <a:r>
              <a:rPr lang="en-US" sz="2000" dirty="0">
                <a:solidFill>
                  <a:schemeClr val="bg1"/>
                </a:solidFill>
              </a:rPr>
              <a:t> o </a:t>
            </a:r>
            <a:r>
              <a:rPr lang="en-US" sz="2000" dirty="0" err="1">
                <a:solidFill>
                  <a:schemeClr val="bg1"/>
                </a:solidFill>
              </a:rPr>
              <a:t>dodjeli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napravljene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tijekom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izvođenja</a:t>
            </a:r>
            <a:endParaRPr lang="en-US" sz="20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endParaRPr lang="en-US" sz="20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hr-HR" sz="2000" dirty="0">
                <a:solidFill>
                  <a:schemeClr val="bg1"/>
                </a:solidFill>
              </a:rPr>
              <a:t>Primjeri: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2000" dirty="0" err="1">
                <a:solidFill>
                  <a:schemeClr val="bg1"/>
                </a:solidFill>
              </a:rPr>
              <a:t>Task</a:t>
            </a:r>
            <a:r>
              <a:rPr lang="hr-HR" sz="2000" dirty="0">
                <a:solidFill>
                  <a:schemeClr val="bg1"/>
                </a:solidFill>
              </a:rPr>
              <a:t> </a:t>
            </a:r>
            <a:r>
              <a:rPr lang="hr-HR" sz="2000" dirty="0" err="1">
                <a:solidFill>
                  <a:schemeClr val="bg1"/>
                </a:solidFill>
              </a:rPr>
              <a:t>queue</a:t>
            </a:r>
            <a:r>
              <a:rPr lang="hr-HR" sz="2000" dirty="0">
                <a:solidFill>
                  <a:schemeClr val="bg1"/>
                </a:solidFill>
              </a:rPr>
              <a:t>: </a:t>
            </a:r>
            <a:r>
              <a:rPr lang="hr-HR" sz="2000" dirty="0" err="1">
                <a:solidFill>
                  <a:schemeClr val="bg1"/>
                </a:solidFill>
              </a:rPr>
              <a:t>Workers</a:t>
            </a:r>
            <a:r>
              <a:rPr lang="hr-HR" sz="2000" dirty="0">
                <a:solidFill>
                  <a:schemeClr val="bg1"/>
                </a:solidFill>
              </a:rPr>
              <a:t> uzimaju </a:t>
            </a:r>
            <a:r>
              <a:rPr lang="hr-HR" sz="2000" dirty="0" err="1">
                <a:solidFill>
                  <a:schemeClr val="bg1"/>
                </a:solidFill>
              </a:rPr>
              <a:t>taskove</a:t>
            </a:r>
            <a:r>
              <a:rPr lang="hr-HR" sz="2000" dirty="0">
                <a:solidFill>
                  <a:schemeClr val="bg1"/>
                </a:solidFill>
              </a:rPr>
              <a:t> iz zajedničkog </a:t>
            </a:r>
            <a:r>
              <a:rPr lang="hr-HR" sz="2000" dirty="0" err="1">
                <a:solidFill>
                  <a:schemeClr val="bg1"/>
                </a:solidFill>
              </a:rPr>
              <a:t>queue</a:t>
            </a:r>
            <a:r>
              <a:rPr lang="hr-HR" sz="2000" dirty="0">
                <a:solidFill>
                  <a:schemeClr val="bg1"/>
                </a:solidFill>
              </a:rPr>
              <a:t>-a 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2000" dirty="0" err="1">
                <a:solidFill>
                  <a:schemeClr val="bg1"/>
                </a:solidFill>
              </a:rPr>
              <a:t>Work</a:t>
            </a:r>
            <a:r>
              <a:rPr lang="hr-HR" sz="2000" dirty="0">
                <a:solidFill>
                  <a:schemeClr val="bg1"/>
                </a:solidFill>
              </a:rPr>
              <a:t> </a:t>
            </a:r>
            <a:r>
              <a:rPr lang="hr-HR" sz="2000" dirty="0" err="1">
                <a:solidFill>
                  <a:schemeClr val="bg1"/>
                </a:solidFill>
              </a:rPr>
              <a:t>stealing</a:t>
            </a:r>
            <a:r>
              <a:rPr lang="hr-HR" sz="2000" dirty="0">
                <a:solidFill>
                  <a:schemeClr val="bg1"/>
                </a:solidFill>
              </a:rPr>
              <a:t>: Neaktivni radnici kradu posao od zauzetih radnika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B662EE-4056-009B-0540-3962E3C714C7}"/>
              </a:ext>
            </a:extLst>
          </p:cNvPr>
          <p:cNvSpPr txBox="1"/>
          <p:nvPr/>
        </p:nvSpPr>
        <p:spPr>
          <a:xfrm>
            <a:off x="1624914" y="3657599"/>
            <a:ext cx="6258698" cy="1938992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sz="2000" b="1" dirty="0" err="1">
                <a:solidFill>
                  <a:schemeClr val="bg1"/>
                </a:solidFill>
              </a:rPr>
              <a:t>Prednosti</a:t>
            </a:r>
            <a:r>
              <a:rPr lang="en-US" sz="2000" dirty="0">
                <a:solidFill>
                  <a:schemeClr val="bg1"/>
                </a:solidFill>
              </a:rPr>
              <a:t>: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Automatski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balansira</a:t>
            </a:r>
            <a:r>
              <a:rPr lang="en-US" sz="2000" dirty="0">
                <a:solidFill>
                  <a:schemeClr val="bg1"/>
                </a:solidFill>
              </a:rPr>
              <a:t> load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Prilagođava</a:t>
            </a:r>
            <a:r>
              <a:rPr lang="en-US" sz="2000" dirty="0">
                <a:solidFill>
                  <a:schemeClr val="bg1"/>
                </a:solidFill>
              </a:rPr>
              <a:t> se </a:t>
            </a:r>
            <a:r>
              <a:rPr lang="en-US" sz="2000" dirty="0" err="1">
                <a:solidFill>
                  <a:schemeClr val="bg1"/>
                </a:solidFill>
              </a:rPr>
              <a:t>razlikama</a:t>
            </a:r>
            <a:r>
              <a:rPr lang="en-US" sz="2000" dirty="0">
                <a:solidFill>
                  <a:schemeClr val="bg1"/>
                </a:solidFill>
              </a:rPr>
              <a:t> u </a:t>
            </a:r>
            <a:r>
              <a:rPr lang="en-US" sz="2000" dirty="0" err="1">
                <a:solidFill>
                  <a:schemeClr val="bg1"/>
                </a:solidFill>
              </a:rPr>
              <a:t>trajanju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taskova</a:t>
            </a:r>
            <a:endParaRPr lang="en-US" sz="20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n-US" sz="2000" b="1" dirty="0" err="1">
                <a:solidFill>
                  <a:schemeClr val="bg1"/>
                </a:solidFill>
              </a:rPr>
              <a:t>Nedostaci</a:t>
            </a:r>
            <a:r>
              <a:rPr lang="en-US" sz="2000" dirty="0">
                <a:solidFill>
                  <a:schemeClr val="bg1"/>
                </a:solidFill>
              </a:rPr>
              <a:t>: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Runtime overhead (synchronization)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2000" dirty="0">
                <a:solidFill>
                  <a:schemeClr val="bg1"/>
                </a:solidFill>
              </a:rPr>
              <a:t>Složenije za implementirati</a:t>
            </a:r>
          </a:p>
        </p:txBody>
      </p:sp>
    </p:spTree>
    <p:extLst>
      <p:ext uri="{BB962C8B-B14F-4D97-AF65-F5344CB8AC3E}">
        <p14:creationId xmlns:p14="http://schemas.microsoft.com/office/powerpoint/2010/main" val="13585028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DBDD2CA3-7D52-50A9-7074-73E55EA10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7">
            <a:extLst>
              <a:ext uri="{FF2B5EF4-FFF2-40B4-BE49-F238E27FC236}">
                <a16:creationId xmlns:a16="http://schemas.microsoft.com/office/drawing/2014/main" id="{E323D252-D12D-824F-B5F1-24CF309FC02E}"/>
              </a:ext>
            </a:extLst>
          </p:cNvPr>
          <p:cNvSpPr txBox="1"/>
          <p:nvPr/>
        </p:nvSpPr>
        <p:spPr>
          <a:xfrm>
            <a:off x="1165320" y="704520"/>
            <a:ext cx="7734236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0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2D Grid Solver</a:t>
            </a:r>
            <a:endParaRPr sz="24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313380-C1B9-3F94-E706-D5FEE735AFA6}"/>
              </a:ext>
            </a:extLst>
          </p:cNvPr>
          <p:cNvSpPr txBox="1"/>
          <p:nvPr/>
        </p:nvSpPr>
        <p:spPr>
          <a:xfrm>
            <a:off x="1165321" y="1164120"/>
            <a:ext cx="291241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US" sz="2000" b="1" dirty="0">
                <a:solidFill>
                  <a:schemeClr val="bg1"/>
                </a:solidFill>
              </a:rPr>
              <a:t>Problem: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Rješavanje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parcijalne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diferencijalne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jednadžbe</a:t>
            </a:r>
            <a:r>
              <a:rPr lang="en-US" sz="2000" dirty="0">
                <a:solidFill>
                  <a:schemeClr val="bg1"/>
                </a:solidFill>
              </a:rPr>
              <a:t> (PDE) </a:t>
            </a:r>
            <a:r>
              <a:rPr lang="en-US" sz="2000" dirty="0" err="1">
                <a:solidFill>
                  <a:schemeClr val="bg1"/>
                </a:solidFill>
              </a:rPr>
              <a:t>na</a:t>
            </a:r>
            <a:r>
              <a:rPr lang="en-US" sz="2000" dirty="0">
                <a:solidFill>
                  <a:schemeClr val="bg1"/>
                </a:solidFill>
              </a:rPr>
              <a:t> (N+2) × (N+2) </a:t>
            </a:r>
            <a:r>
              <a:rPr lang="en-US" sz="2000" dirty="0" err="1">
                <a:solidFill>
                  <a:schemeClr val="bg1"/>
                </a:solidFill>
              </a:rPr>
              <a:t>mreži</a:t>
            </a:r>
            <a:endParaRPr lang="en-US" sz="20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n-US" sz="2000" b="1" dirty="0" err="1">
                <a:solidFill>
                  <a:schemeClr val="bg1"/>
                </a:solidFill>
              </a:rPr>
              <a:t>Rješenje</a:t>
            </a:r>
            <a:r>
              <a:rPr lang="en-US" sz="2000" b="1" dirty="0">
                <a:solidFill>
                  <a:schemeClr val="bg1"/>
                </a:solidFill>
              </a:rPr>
              <a:t>: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Koristi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iterativni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algoritam</a:t>
            </a:r>
            <a:r>
              <a:rPr lang="en-US" sz="2000" dirty="0">
                <a:solidFill>
                  <a:schemeClr val="bg1"/>
                </a:solidFill>
              </a:rPr>
              <a:t>: </a:t>
            </a:r>
            <a:r>
              <a:rPr lang="en-US" sz="2000" dirty="0" err="1">
                <a:solidFill>
                  <a:schemeClr val="bg1"/>
                </a:solidFill>
              </a:rPr>
              <a:t>Izvodi</a:t>
            </a:r>
            <a:r>
              <a:rPr lang="en-US" sz="2000" dirty="0">
                <a:solidFill>
                  <a:schemeClr val="bg1"/>
                </a:solidFill>
              </a:rPr>
              <a:t> Gauss-Seidel </a:t>
            </a:r>
            <a:r>
              <a:rPr lang="en-US" sz="2000" dirty="0" err="1">
                <a:solidFill>
                  <a:schemeClr val="bg1"/>
                </a:solidFill>
              </a:rPr>
              <a:t>prolaze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preko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mreže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dok</a:t>
            </a:r>
            <a:r>
              <a:rPr lang="en-US" sz="2000" dirty="0">
                <a:solidFill>
                  <a:schemeClr val="bg1"/>
                </a:solidFill>
              </a:rPr>
              <a:t> ne </a:t>
            </a:r>
            <a:r>
              <a:rPr lang="en-US" sz="2000" dirty="0" err="1">
                <a:solidFill>
                  <a:schemeClr val="bg1"/>
                </a:solidFill>
              </a:rPr>
              <a:t>konvergira</a:t>
            </a:r>
            <a:endParaRPr lang="en-US" sz="20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n-US" sz="2000" b="1" dirty="0">
                <a:solidFill>
                  <a:schemeClr val="bg1"/>
                </a:solidFill>
              </a:rPr>
              <a:t>Formula:</a:t>
            </a:r>
          </a:p>
          <a:p>
            <a:pPr>
              <a:buClr>
                <a:schemeClr val="bg1"/>
              </a:buClr>
            </a:pPr>
            <a:r>
              <a:rPr lang="en-US" sz="2000" b="1" dirty="0">
                <a:solidFill>
                  <a:schemeClr val="bg1"/>
                </a:solidFill>
              </a:rPr>
              <a:t>A[</a:t>
            </a:r>
            <a:r>
              <a:rPr lang="en-US" sz="2000" b="1" dirty="0" err="1">
                <a:solidFill>
                  <a:schemeClr val="bg1"/>
                </a:solidFill>
              </a:rPr>
              <a:t>i,j</a:t>
            </a:r>
            <a:r>
              <a:rPr lang="en-US" sz="2000" b="1" dirty="0">
                <a:solidFill>
                  <a:schemeClr val="bg1"/>
                </a:solidFill>
              </a:rPr>
              <a:t>] = 0.2 × (A[</a:t>
            </a:r>
            <a:r>
              <a:rPr lang="en-US" sz="2000" b="1" dirty="0" err="1">
                <a:solidFill>
                  <a:schemeClr val="bg1"/>
                </a:solidFill>
              </a:rPr>
              <a:t>i,j</a:t>
            </a:r>
            <a:r>
              <a:rPr lang="en-US" sz="2000" b="1" dirty="0">
                <a:solidFill>
                  <a:schemeClr val="bg1"/>
                </a:solidFill>
              </a:rPr>
              <a:t>] + A[i-1,j] + A[i,j-1] + A[i+1,j] + A[i,j+1])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70C392-DF77-3450-481E-EF6949CAB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7731" y="1164120"/>
            <a:ext cx="4838494" cy="49893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48F468-E208-763D-FDDE-E391FF9B2C36}"/>
              </a:ext>
            </a:extLst>
          </p:cNvPr>
          <p:cNvSpPr txBox="1"/>
          <p:nvPr/>
        </p:nvSpPr>
        <p:spPr>
          <a:xfrm>
            <a:off x="3986664" y="577654"/>
            <a:ext cx="50206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bg1"/>
                </a:solidFill>
              </a:rPr>
              <a:t>Svaka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ćelija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ovisi</a:t>
            </a:r>
            <a:r>
              <a:rPr lang="en-US" sz="2000" dirty="0">
                <a:solidFill>
                  <a:schemeClr val="bg1"/>
                </a:solidFill>
              </a:rPr>
              <a:t> o </a:t>
            </a:r>
            <a:r>
              <a:rPr lang="en-US" sz="2000" dirty="0" err="1">
                <a:solidFill>
                  <a:schemeClr val="bg1"/>
                </a:solidFill>
              </a:rPr>
              <a:t>susjedima</a:t>
            </a:r>
            <a:r>
              <a:rPr lang="en-US" sz="2000" dirty="0">
                <a:solidFill>
                  <a:schemeClr val="bg1"/>
                </a:solidFill>
              </a:rPr>
              <a:t>... </a:t>
            </a:r>
            <a:endParaRPr lang="hr-HR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9519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502AF-F50E-B1BB-3CD8-47B692AE5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2D Grid Solver</a:t>
            </a:r>
            <a:endParaRPr lang="hr-HR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7A925C-C618-C257-F296-58F4FA60A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914" y="1565253"/>
            <a:ext cx="4486845" cy="46267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EE6A2D-71E8-6479-CBCF-D4D07524D10E}"/>
              </a:ext>
            </a:extLst>
          </p:cNvPr>
          <p:cNvSpPr txBox="1"/>
          <p:nvPr/>
        </p:nvSpPr>
        <p:spPr>
          <a:xfrm>
            <a:off x="1103012" y="2293576"/>
            <a:ext cx="311390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Ažurirati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sve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crvene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ćelije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paralelno</a:t>
            </a: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Kada je </a:t>
            </a:r>
            <a:r>
              <a:rPr lang="en-US" sz="2000" dirty="0" err="1">
                <a:solidFill>
                  <a:schemeClr val="bg1"/>
                </a:solidFill>
              </a:rPr>
              <a:t>ažuriranje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crvenih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ćelija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završeno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ažurirati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sve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crne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ćelije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paralelno</a:t>
            </a:r>
            <a:r>
              <a:rPr lang="en-US" sz="2000" dirty="0">
                <a:solidFill>
                  <a:schemeClr val="bg1"/>
                </a:solidFill>
              </a:rPr>
              <a:t> (</a:t>
            </a:r>
            <a:r>
              <a:rPr lang="en-US" sz="2000" dirty="0" err="1">
                <a:solidFill>
                  <a:schemeClr val="bg1"/>
                </a:solidFill>
              </a:rPr>
              <a:t>poštovati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ovisnost</a:t>
            </a:r>
            <a:r>
              <a:rPr lang="en-US" sz="2000" dirty="0">
                <a:solidFill>
                  <a:schemeClr val="bg1"/>
                </a:solidFill>
              </a:rPr>
              <a:t> o </a:t>
            </a:r>
            <a:r>
              <a:rPr lang="en-US" sz="2000" dirty="0" err="1">
                <a:solidFill>
                  <a:schemeClr val="bg1"/>
                </a:solidFill>
              </a:rPr>
              <a:t>crvenim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ćelijama</a:t>
            </a:r>
            <a:r>
              <a:rPr lang="en-US" sz="2000" dirty="0">
                <a:solidFill>
                  <a:schemeClr val="bg1"/>
                </a:solidFill>
              </a:rPr>
              <a:t>)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Ponavljati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dok</a:t>
            </a:r>
            <a:r>
              <a:rPr lang="en-US" sz="2000" dirty="0">
                <a:solidFill>
                  <a:schemeClr val="bg1"/>
                </a:solidFill>
              </a:rPr>
              <a:t> ne </a:t>
            </a:r>
            <a:r>
              <a:rPr lang="en-US" sz="2000" dirty="0" err="1">
                <a:solidFill>
                  <a:schemeClr val="bg1"/>
                </a:solidFill>
              </a:rPr>
              <a:t>dođe</a:t>
            </a:r>
            <a:r>
              <a:rPr lang="en-US" sz="2000" dirty="0">
                <a:solidFill>
                  <a:schemeClr val="bg1"/>
                </a:solidFill>
              </a:rPr>
              <a:t> do </a:t>
            </a:r>
            <a:r>
              <a:rPr lang="en-US" sz="2000" dirty="0" err="1">
                <a:solidFill>
                  <a:schemeClr val="bg1"/>
                </a:solidFill>
              </a:rPr>
              <a:t>konvergencije</a:t>
            </a:r>
            <a:endParaRPr lang="hr-HR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53859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9D18560D-E986-BD12-A1A5-3A969A8A9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1">
            <a:extLst>
              <a:ext uri="{FF2B5EF4-FFF2-40B4-BE49-F238E27FC236}">
                <a16:creationId xmlns:a16="http://schemas.microsoft.com/office/drawing/2014/main" id="{3514AC6A-8A78-151A-6CE3-673D8B4A5572}"/>
              </a:ext>
            </a:extLst>
          </p:cNvPr>
          <p:cNvSpPr txBox="1"/>
          <p:nvPr/>
        </p:nvSpPr>
        <p:spPr>
          <a:xfrm>
            <a:off x="1530000" y="3074220"/>
            <a:ext cx="6766920" cy="70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hr-HR" sz="3000" b="0" i="0" u="none" strike="noStrike" cap="none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Orchestration</a:t>
            </a:r>
            <a:endParaRPr sz="3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1">
            <a:extLst>
              <a:ext uri="{FF2B5EF4-FFF2-40B4-BE49-F238E27FC236}">
                <a16:creationId xmlns:a16="http://schemas.microsoft.com/office/drawing/2014/main" id="{3CE0BDC2-7A52-CD4A-0756-19C7CFF03E80}"/>
              </a:ext>
            </a:extLst>
          </p:cNvPr>
          <p:cNvSpPr/>
          <p:nvPr/>
        </p:nvSpPr>
        <p:spPr>
          <a:xfrm>
            <a:off x="502560" y="3039840"/>
            <a:ext cx="802080" cy="78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0" i="0" u="none" strike="noStrike" cap="none" dirty="0">
                <a:latin typeface="Cambria"/>
                <a:ea typeface="Cambria"/>
                <a:cs typeface="Cambria"/>
                <a:sym typeface="Cambria"/>
              </a:rPr>
              <a:t>4</a:t>
            </a:r>
            <a:endParaRPr sz="30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7224737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619C0-F28B-C7DE-4625-2BB5CC6A1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Orchestration</a:t>
            </a:r>
            <a:endParaRPr lang="hr-HR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AF0B36-571B-6BDF-0AE6-A48CAAD7FA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5320" y="1125720"/>
            <a:ext cx="7459696" cy="5534572"/>
          </a:xfrm>
        </p:spPr>
        <p:txBody>
          <a:bodyPr>
            <a:noAutofit/>
          </a:bodyPr>
          <a:lstStyle/>
          <a:p>
            <a:pPr marL="5715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2000" dirty="0" err="1">
                <a:solidFill>
                  <a:schemeClr val="bg1"/>
                </a:solidFill>
              </a:rPr>
              <a:t>Orchestration</a:t>
            </a:r>
            <a:r>
              <a:rPr lang="hr-HR" sz="2000" dirty="0">
                <a:solidFill>
                  <a:schemeClr val="bg1"/>
                </a:solidFill>
              </a:rPr>
              <a:t> = strukturiranje komunikacije i sinkronizacije između paralelnih </a:t>
            </a:r>
            <a:r>
              <a:rPr lang="hr-HR" sz="2000" dirty="0" err="1">
                <a:solidFill>
                  <a:schemeClr val="bg1"/>
                </a:solidFill>
              </a:rPr>
              <a:t>taskova</a:t>
            </a:r>
            <a:endParaRPr lang="hr-HR" sz="2000" dirty="0">
              <a:solidFill>
                <a:schemeClr val="bg1"/>
              </a:solidFill>
            </a:endParaRPr>
          </a:p>
          <a:p>
            <a:pPr marL="5715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hr-HR" sz="2000" dirty="0">
              <a:solidFill>
                <a:schemeClr val="bg1"/>
              </a:solidFill>
            </a:endParaRPr>
          </a:p>
          <a:p>
            <a:pPr marL="228600" indent="0">
              <a:buClr>
                <a:schemeClr val="bg1"/>
              </a:buClr>
            </a:pPr>
            <a:r>
              <a:rPr lang="hr-HR" sz="2000" b="1" dirty="0">
                <a:solidFill>
                  <a:schemeClr val="bg1"/>
                </a:solidFill>
              </a:rPr>
              <a:t>Uključuje: </a:t>
            </a:r>
          </a:p>
          <a:p>
            <a:pPr marL="571500" indent="-342900">
              <a:buClr>
                <a:schemeClr val="bg1"/>
              </a:buClr>
              <a:buFontTx/>
              <a:buChar char="-"/>
            </a:pPr>
            <a:r>
              <a:rPr lang="hr-HR" sz="2000" dirty="0">
                <a:solidFill>
                  <a:schemeClr val="bg1"/>
                </a:solidFill>
              </a:rPr>
              <a:t>Strukturiranje komunikacije - Kako </a:t>
            </a:r>
            <a:r>
              <a:rPr lang="hr-HR" sz="2000" dirty="0" err="1">
                <a:solidFill>
                  <a:schemeClr val="bg1"/>
                </a:solidFill>
              </a:rPr>
              <a:t>taskovi</a:t>
            </a:r>
            <a:r>
              <a:rPr lang="hr-HR" sz="2000" dirty="0">
                <a:solidFill>
                  <a:schemeClr val="bg1"/>
                </a:solidFill>
              </a:rPr>
              <a:t> razmjenjuju podatke?</a:t>
            </a:r>
          </a:p>
          <a:p>
            <a:pPr marL="571500" indent="-342900">
              <a:buClr>
                <a:schemeClr val="bg1"/>
              </a:buClr>
              <a:buFontTx/>
              <a:buChar char="-"/>
            </a:pPr>
            <a:r>
              <a:rPr lang="hr-HR" sz="2000" dirty="0">
                <a:solidFill>
                  <a:schemeClr val="bg1"/>
                </a:solidFill>
              </a:rPr>
              <a:t>Dodavanje sinkronizacije - Kako osigurati ispravnost? (očuvati </a:t>
            </a:r>
            <a:r>
              <a:rPr lang="hr-HR" sz="2000" dirty="0" err="1">
                <a:solidFill>
                  <a:schemeClr val="bg1"/>
                </a:solidFill>
              </a:rPr>
              <a:t>dependencies</a:t>
            </a:r>
            <a:r>
              <a:rPr lang="hr-HR" sz="2000" dirty="0">
                <a:solidFill>
                  <a:schemeClr val="bg1"/>
                </a:solidFill>
              </a:rPr>
              <a:t>) </a:t>
            </a:r>
          </a:p>
          <a:p>
            <a:pPr marL="571500" indent="-342900">
              <a:buClr>
                <a:schemeClr val="bg1"/>
              </a:buClr>
              <a:buFontTx/>
              <a:buChar char="-"/>
            </a:pPr>
            <a:r>
              <a:rPr lang="hr-HR" sz="2000" dirty="0">
                <a:solidFill>
                  <a:schemeClr val="bg1"/>
                </a:solidFill>
              </a:rPr>
              <a:t>Organiziranje podatkovnih struktura u memoriji - Kako smjestiti podatke za najbolje performanse? </a:t>
            </a:r>
          </a:p>
          <a:p>
            <a:pPr marL="571500" indent="-342900">
              <a:buClr>
                <a:schemeClr val="bg1"/>
              </a:buClr>
              <a:buFontTx/>
              <a:buChar char="-"/>
            </a:pPr>
            <a:r>
              <a:rPr lang="hr-HR" sz="2000" dirty="0">
                <a:solidFill>
                  <a:schemeClr val="bg1"/>
                </a:solidFill>
              </a:rPr>
              <a:t>Raspoređivanje </a:t>
            </a:r>
            <a:r>
              <a:rPr lang="hr-HR" sz="2000" dirty="0" err="1">
                <a:solidFill>
                  <a:schemeClr val="bg1"/>
                </a:solidFill>
              </a:rPr>
              <a:t>taskova</a:t>
            </a:r>
            <a:r>
              <a:rPr lang="hr-HR" sz="2000" dirty="0">
                <a:solidFill>
                  <a:schemeClr val="bg1"/>
                </a:solidFill>
              </a:rPr>
              <a:t> - Kada koji </a:t>
            </a:r>
            <a:r>
              <a:rPr lang="hr-HR" sz="2000" dirty="0" err="1">
                <a:solidFill>
                  <a:schemeClr val="bg1"/>
                </a:solidFill>
              </a:rPr>
              <a:t>task</a:t>
            </a:r>
            <a:r>
              <a:rPr lang="hr-HR" sz="2000" dirty="0">
                <a:solidFill>
                  <a:schemeClr val="bg1"/>
                </a:solidFill>
              </a:rPr>
              <a:t> izvršiti?</a:t>
            </a:r>
          </a:p>
          <a:p>
            <a:pPr marL="571500" indent="-342900">
              <a:buClr>
                <a:schemeClr val="bg1"/>
              </a:buClr>
              <a:buFontTx/>
              <a:buChar char="-"/>
            </a:pPr>
            <a:endParaRPr lang="hr-HR" sz="2000" dirty="0">
              <a:solidFill>
                <a:schemeClr val="bg1"/>
              </a:solidFill>
            </a:endParaRPr>
          </a:p>
          <a:p>
            <a:r>
              <a:rPr lang="en-US" sz="2000" b="1" dirty="0" err="1">
                <a:solidFill>
                  <a:schemeClr val="bg1"/>
                </a:solidFill>
              </a:rPr>
              <a:t>Ciljevi</a:t>
            </a:r>
            <a:r>
              <a:rPr lang="en-US" sz="2000" b="1" dirty="0">
                <a:solidFill>
                  <a:schemeClr val="bg1"/>
                </a:solidFill>
              </a:rPr>
              <a:t>:</a:t>
            </a:r>
          </a:p>
          <a:p>
            <a:r>
              <a:rPr lang="en-US" sz="2000" dirty="0">
                <a:solidFill>
                  <a:schemeClr val="bg1"/>
                </a:solidFill>
              </a:rPr>
              <a:t>- </a:t>
            </a:r>
            <a:r>
              <a:rPr lang="en-US" sz="2000" dirty="0" err="1">
                <a:solidFill>
                  <a:schemeClr val="bg1"/>
                </a:solidFill>
              </a:rPr>
              <a:t>Smanjiti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troškove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komunikacije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sinkronizacije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- </a:t>
            </a:r>
            <a:r>
              <a:rPr lang="en-US" sz="2000" dirty="0" err="1">
                <a:solidFill>
                  <a:schemeClr val="bg1"/>
                </a:solidFill>
              </a:rPr>
              <a:t>Očuvati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lokalnost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podataka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- </a:t>
            </a:r>
            <a:r>
              <a:rPr lang="en-US" sz="2000" dirty="0" err="1">
                <a:solidFill>
                  <a:schemeClr val="bg1"/>
                </a:solidFill>
              </a:rPr>
              <a:t>Smanjiti</a:t>
            </a:r>
            <a:r>
              <a:rPr lang="en-US" sz="2000" dirty="0">
                <a:solidFill>
                  <a:schemeClr val="bg1"/>
                </a:solidFill>
              </a:rPr>
              <a:t> overhead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Detalji</a:t>
            </a:r>
            <a:r>
              <a:rPr lang="en-US" sz="2000" dirty="0">
                <a:solidFill>
                  <a:schemeClr val="bg1"/>
                </a:solidFill>
              </a:rPr>
              <a:t> o </a:t>
            </a:r>
            <a:r>
              <a:rPr lang="en-US" sz="2000" dirty="0" err="1">
                <a:solidFill>
                  <a:schemeClr val="bg1"/>
                </a:solidFill>
              </a:rPr>
              <a:t>hardveru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utječu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odluke</a:t>
            </a:r>
            <a:r>
              <a:rPr lang="en-US" sz="2000" dirty="0">
                <a:solidFill>
                  <a:schemeClr val="bg1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1374557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F37C6-7C22-D8A2-C0DB-0F15A907A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5ABE9-E843-AEB4-06C6-C9B7CF073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5320" y="666000"/>
            <a:ext cx="7620334" cy="459720"/>
          </a:xfrm>
        </p:spPr>
        <p:txBody>
          <a:bodyPr/>
          <a:lstStyle/>
          <a:p>
            <a:r>
              <a:rPr lang="en-GB" sz="2400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MODEL 1: Data-Parallel (</a:t>
            </a:r>
            <a:r>
              <a:rPr lang="en-GB" sz="2400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Implicitna</a:t>
            </a:r>
            <a:r>
              <a:rPr lang="en-GB" sz="2400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GB" sz="2400" dirty="0" err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sinkronizacija</a:t>
            </a:r>
            <a:r>
              <a:rPr lang="en-GB" sz="2400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  <a:endParaRPr lang="hr-HR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61B4C4-78FF-AFEB-AAA4-137F37C05F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5320" y="1125720"/>
            <a:ext cx="7978680" cy="5534572"/>
          </a:xfrm>
        </p:spPr>
        <p:txBody>
          <a:bodyPr>
            <a:noAutofit/>
          </a:bodyPr>
          <a:lstStyle/>
          <a:p>
            <a:pPr marL="228600" indent="0">
              <a:buClr>
                <a:schemeClr val="bg1"/>
              </a:buClr>
            </a:pPr>
            <a:r>
              <a:rPr lang="hr-HR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for_all</a:t>
            </a:r>
            <a:r>
              <a:rPr lang="hr-HR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(i = 0 ... N) {  // ← Paralelna konstrukcija</a:t>
            </a:r>
          </a:p>
          <a:p>
            <a:pPr marL="228600" indent="0">
              <a:buClr>
                <a:schemeClr val="bg1"/>
              </a:buClr>
            </a:pPr>
            <a:r>
              <a:rPr lang="hr-HR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a[i] = b[i] + c[i];</a:t>
            </a:r>
          </a:p>
          <a:p>
            <a:pPr marL="228600" indent="0">
              <a:buClr>
                <a:schemeClr val="bg1"/>
              </a:buClr>
            </a:pPr>
            <a:r>
              <a:rPr lang="hr-HR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 // ← Implicitna barijera (</a:t>
            </a:r>
            <a:r>
              <a:rPr lang="hr-HR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barrier</a:t>
            </a:r>
            <a:r>
              <a:rPr lang="hr-HR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228600" indent="0">
              <a:buClr>
                <a:schemeClr val="bg1"/>
              </a:buClr>
            </a:pPr>
            <a:endParaRPr lang="hr-HR" sz="20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b="1" dirty="0" err="1">
                <a:solidFill>
                  <a:schemeClr val="bg1"/>
                </a:solidFill>
              </a:rPr>
              <a:t>Karakteristike</a:t>
            </a:r>
            <a:r>
              <a:rPr lang="en-US" sz="2000" b="1" dirty="0">
                <a:solidFill>
                  <a:schemeClr val="bg1"/>
                </a:solidFill>
              </a:rPr>
              <a:t>: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- </a:t>
            </a:r>
            <a:r>
              <a:rPr lang="en-US" sz="2000" dirty="0" err="1">
                <a:solidFill>
                  <a:schemeClr val="bg1"/>
                </a:solidFill>
              </a:rPr>
              <a:t>Jedna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logička</a:t>
            </a:r>
            <a:r>
              <a:rPr lang="en-US" sz="2000" dirty="0">
                <a:solidFill>
                  <a:schemeClr val="bg1"/>
                </a:solidFill>
              </a:rPr>
              <a:t> nit </a:t>
            </a:r>
            <a:r>
              <a:rPr lang="en-US" sz="2000" dirty="0" err="1">
                <a:solidFill>
                  <a:schemeClr val="bg1"/>
                </a:solidFill>
              </a:rPr>
              <a:t>kontrole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- </a:t>
            </a:r>
            <a:r>
              <a:rPr lang="en-US" sz="2000" dirty="0" err="1">
                <a:solidFill>
                  <a:schemeClr val="bg1"/>
                </a:solidFill>
              </a:rPr>
              <a:t>Sustav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automatski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dijeli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posao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- </a:t>
            </a:r>
            <a:r>
              <a:rPr lang="en-US" sz="2000" dirty="0" err="1">
                <a:solidFill>
                  <a:schemeClr val="bg1"/>
                </a:solidFill>
              </a:rPr>
              <a:t>Sinkronizacija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skrivena</a:t>
            </a:r>
            <a:r>
              <a:rPr lang="en-US" sz="2000" dirty="0">
                <a:solidFill>
                  <a:schemeClr val="bg1"/>
                </a:solidFill>
              </a:rPr>
              <a:t> (</a:t>
            </a:r>
            <a:r>
              <a:rPr lang="en-US" sz="2000" dirty="0" err="1">
                <a:solidFill>
                  <a:schemeClr val="bg1"/>
                </a:solidFill>
              </a:rPr>
              <a:t>implicitna</a:t>
            </a:r>
            <a:r>
              <a:rPr lang="en-US" sz="2000" dirty="0">
                <a:solidFill>
                  <a:schemeClr val="bg1"/>
                </a:solidFill>
              </a:rPr>
              <a:t>)</a:t>
            </a:r>
          </a:p>
          <a:p>
            <a:r>
              <a:rPr lang="en-US" sz="2000" dirty="0">
                <a:solidFill>
                  <a:schemeClr val="bg1"/>
                </a:solidFill>
              </a:rPr>
              <a:t>- </a:t>
            </a:r>
            <a:r>
              <a:rPr lang="en-US" sz="2000" dirty="0" err="1">
                <a:solidFill>
                  <a:schemeClr val="bg1"/>
                </a:solidFill>
              </a:rPr>
              <a:t>Komunikacija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kroz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učitavanja</a:t>
            </a:r>
            <a:r>
              <a:rPr lang="en-US" sz="2000" dirty="0">
                <a:solidFill>
                  <a:schemeClr val="bg1"/>
                </a:solidFill>
              </a:rPr>
              <a:t>/</a:t>
            </a:r>
            <a:r>
              <a:rPr lang="en-US" sz="2000" dirty="0" err="1">
                <a:solidFill>
                  <a:schemeClr val="bg1"/>
                </a:solidFill>
              </a:rPr>
              <a:t>pohranjivanja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- Built-in </a:t>
            </a:r>
            <a:r>
              <a:rPr lang="en-US" sz="2000" dirty="0" err="1">
                <a:solidFill>
                  <a:schemeClr val="bg1"/>
                </a:solidFill>
              </a:rPr>
              <a:t>primitivi</a:t>
            </a:r>
            <a:r>
              <a:rPr lang="en-US" sz="2000" dirty="0">
                <a:solidFill>
                  <a:schemeClr val="bg1"/>
                </a:solidFill>
              </a:rPr>
              <a:t> (</a:t>
            </a:r>
            <a:r>
              <a:rPr lang="en-US" sz="2000" dirty="0" err="1">
                <a:solidFill>
                  <a:schemeClr val="bg1"/>
                </a:solidFill>
              </a:rPr>
              <a:t>npr</a:t>
            </a:r>
            <a:r>
              <a:rPr lang="en-US" sz="2000" dirty="0">
                <a:solidFill>
                  <a:schemeClr val="bg1"/>
                </a:solidFill>
              </a:rPr>
              <a:t>. reduce)</a:t>
            </a:r>
          </a:p>
          <a:p>
            <a:r>
              <a:rPr lang="en-US" sz="2000" b="1" dirty="0" err="1">
                <a:solidFill>
                  <a:schemeClr val="bg1"/>
                </a:solidFill>
              </a:rPr>
              <a:t>Primjeri</a:t>
            </a:r>
            <a:r>
              <a:rPr lang="en-US" sz="2000" b="1" dirty="0">
                <a:solidFill>
                  <a:schemeClr val="bg1"/>
                </a:solidFill>
              </a:rPr>
              <a:t>:</a:t>
            </a:r>
            <a:r>
              <a:rPr lang="en-US" sz="2000" dirty="0">
                <a:solidFill>
                  <a:schemeClr val="bg1"/>
                </a:solidFill>
              </a:rPr>
              <a:t> OpenMP parallel for, ISPC foreach, CUDA </a:t>
            </a:r>
            <a:r>
              <a:rPr lang="en-US" sz="2000" dirty="0" err="1">
                <a:solidFill>
                  <a:schemeClr val="bg1"/>
                </a:solidFill>
              </a:rPr>
              <a:t>kerneli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1428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F7C85-1DB8-DBF9-AE27-53AA89779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41032-6EF0-2B8A-D7BE-827C4F4AF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5320" y="666000"/>
            <a:ext cx="7620334" cy="459720"/>
          </a:xfrm>
        </p:spPr>
        <p:txBody>
          <a:bodyPr/>
          <a:lstStyle/>
          <a:p>
            <a:r>
              <a:rPr lang="en-US" sz="2400" dirty="0">
                <a:solidFill>
                  <a:srgbClr val="39C0BA"/>
                </a:solidFill>
              </a:rPr>
              <a:t>MODEL 2: Shared Address Space / SPMD</a:t>
            </a:r>
            <a:endParaRPr lang="hr-HR" sz="2400" dirty="0">
              <a:solidFill>
                <a:srgbClr val="39C0BA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48E52B-0828-2EC0-F356-F92E947AEA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5320" y="1125720"/>
            <a:ext cx="7978680" cy="5534572"/>
          </a:xfrm>
        </p:spPr>
        <p:txBody>
          <a:bodyPr>
            <a:noAutofit/>
          </a:bodyPr>
          <a:lstStyle/>
          <a:p>
            <a:pPr marL="228600" indent="0">
              <a:buClr>
                <a:schemeClr val="bg1"/>
              </a:buClr>
            </a:pPr>
            <a:r>
              <a:rPr lang="hr-HR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hr-HR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</a:t>
            </a:r>
            <a:r>
              <a:rPr lang="hr-HR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1              // </a:t>
            </a:r>
            <a:r>
              <a:rPr lang="hr-HR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</a:t>
            </a:r>
            <a:r>
              <a:rPr lang="hr-HR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2</a:t>
            </a:r>
          </a:p>
          <a:p>
            <a:pPr marL="228600" indent="0">
              <a:buClr>
                <a:schemeClr val="bg1"/>
              </a:buClr>
            </a:pPr>
            <a:r>
              <a:rPr lang="hr-HR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(i=0; i&lt;N/2; i++)    for (i=N/2; i&lt;N; i++)</a:t>
            </a:r>
          </a:p>
          <a:p>
            <a:pPr marL="228600" indent="0">
              <a:buClr>
                <a:schemeClr val="bg1"/>
              </a:buClr>
            </a:pPr>
            <a:r>
              <a:rPr lang="hr-HR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a[i] = b[i]+c[i];        a[i] = b[i]+c[i];</a:t>
            </a:r>
          </a:p>
          <a:p>
            <a:pPr marL="228600" indent="0">
              <a:buClr>
                <a:schemeClr val="bg1"/>
              </a:buClr>
            </a:pPr>
            <a:r>
              <a:rPr lang="hr-HR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228600" indent="0">
              <a:buClr>
                <a:schemeClr val="bg1"/>
              </a:buClr>
            </a:pPr>
            <a:r>
              <a:rPr lang="hr-HR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barrier</a:t>
            </a:r>
            <a:r>
              <a:rPr lang="hr-HR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               </a:t>
            </a:r>
            <a:r>
              <a:rPr lang="hr-HR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barrier</a:t>
            </a:r>
            <a:r>
              <a:rPr lang="hr-HR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  // ← Eksplicitno!</a:t>
            </a:r>
          </a:p>
          <a:p>
            <a:pPr marL="228600" indent="0">
              <a:buClr>
                <a:schemeClr val="bg1"/>
              </a:buClr>
            </a:pPr>
            <a:endParaRPr lang="hr-HR" sz="20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28600" indent="0">
              <a:buClr>
                <a:schemeClr val="bg1"/>
              </a:buClr>
            </a:pPr>
            <a:r>
              <a:rPr lang="en-US" sz="2000" b="1" dirty="0" err="1">
                <a:solidFill>
                  <a:schemeClr val="bg1"/>
                </a:solidFill>
              </a:rPr>
              <a:t>Karakteristike</a:t>
            </a:r>
            <a:r>
              <a:rPr lang="en-US" sz="2000" b="1" dirty="0">
                <a:solidFill>
                  <a:schemeClr val="bg1"/>
                </a:solidFill>
              </a:rPr>
              <a:t>:</a:t>
            </a:r>
            <a:endParaRPr lang="en-US" sz="2000" dirty="0">
              <a:solidFill>
                <a:schemeClr val="bg1"/>
              </a:solidFill>
            </a:endParaRPr>
          </a:p>
          <a:p>
            <a:pPr marL="571500" indent="-342900">
              <a:buClr>
                <a:schemeClr val="bg1"/>
              </a:buClr>
              <a:buFontTx/>
              <a:buChar char="-"/>
            </a:pPr>
            <a:r>
              <a:rPr lang="en-US" sz="2000" dirty="0" err="1">
                <a:solidFill>
                  <a:schemeClr val="bg1"/>
                </a:solidFill>
              </a:rPr>
              <a:t>Više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niti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izvršavaju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isti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kod</a:t>
            </a:r>
            <a:r>
              <a:rPr lang="en-US" sz="2000" dirty="0">
                <a:solidFill>
                  <a:schemeClr val="bg1"/>
                </a:solidFill>
              </a:rPr>
              <a:t> (SPMD)</a:t>
            </a:r>
          </a:p>
          <a:p>
            <a:pPr marL="571500" indent="-342900">
              <a:buClr>
                <a:schemeClr val="bg1"/>
              </a:buClr>
              <a:buFontTx/>
              <a:buChar char="-"/>
            </a:pPr>
            <a:r>
              <a:rPr lang="en-US" sz="2000" dirty="0" err="1">
                <a:solidFill>
                  <a:schemeClr val="bg1"/>
                </a:solidFill>
              </a:rPr>
              <a:t>Programer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odgovoran</a:t>
            </a:r>
            <a:r>
              <a:rPr lang="en-US" sz="2000" dirty="0">
                <a:solidFill>
                  <a:schemeClr val="bg1"/>
                </a:solidFill>
              </a:rPr>
              <a:t> za </a:t>
            </a:r>
            <a:r>
              <a:rPr lang="en-US" sz="2000" dirty="0" err="1">
                <a:solidFill>
                  <a:schemeClr val="bg1"/>
                </a:solidFill>
              </a:rPr>
              <a:t>sinkronizaciju</a:t>
            </a:r>
            <a:endParaRPr lang="en-US" sz="2000" dirty="0">
              <a:solidFill>
                <a:schemeClr val="bg1"/>
              </a:solidFill>
            </a:endParaRPr>
          </a:p>
          <a:p>
            <a:pPr marL="5715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Eksplicitni</a:t>
            </a:r>
            <a:r>
              <a:rPr lang="en-US" sz="2000" dirty="0">
                <a:solidFill>
                  <a:schemeClr val="bg1"/>
                </a:solidFill>
              </a:rPr>
              <a:t> lock-</a:t>
            </a:r>
            <a:r>
              <a:rPr lang="en-US" sz="2000" dirty="0" err="1">
                <a:solidFill>
                  <a:schemeClr val="bg1"/>
                </a:solidFill>
              </a:rPr>
              <a:t>ovi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barijere</a:t>
            </a:r>
            <a:endParaRPr lang="en-US" sz="2000" dirty="0">
              <a:solidFill>
                <a:schemeClr val="bg1"/>
              </a:solidFill>
            </a:endParaRPr>
          </a:p>
          <a:p>
            <a:pPr marL="5715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Komunikacija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kroz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dijeljenu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memoriju</a:t>
            </a:r>
            <a:endParaRPr lang="en-US" sz="2000" dirty="0">
              <a:solidFill>
                <a:schemeClr val="bg1"/>
              </a:solidFill>
            </a:endParaRPr>
          </a:p>
          <a:p>
            <a:pPr marL="5715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Fleksibilnije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ali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složenije</a:t>
            </a:r>
            <a:endParaRPr lang="en-US" sz="2000" dirty="0">
              <a:solidFill>
                <a:schemeClr val="bg1"/>
              </a:solidFill>
            </a:endParaRPr>
          </a:p>
          <a:p>
            <a:pPr marL="228600" indent="0">
              <a:buClr>
                <a:schemeClr val="bg1"/>
              </a:buClr>
            </a:pPr>
            <a:r>
              <a:rPr lang="en-US" sz="2000" b="1" dirty="0" err="1">
                <a:solidFill>
                  <a:schemeClr val="bg1"/>
                </a:solidFill>
              </a:rPr>
              <a:t>Primjeri</a:t>
            </a:r>
            <a:r>
              <a:rPr lang="en-US" sz="2000" b="1" dirty="0">
                <a:solidFill>
                  <a:schemeClr val="bg1"/>
                </a:solidFill>
              </a:rPr>
              <a:t>: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pthreads</a:t>
            </a:r>
            <a:r>
              <a:rPr lang="en-US" sz="2000" dirty="0">
                <a:solidFill>
                  <a:schemeClr val="bg1"/>
                </a:solidFill>
              </a:rPr>
              <a:t>, C++ threads, OpenMP tasks</a:t>
            </a:r>
          </a:p>
        </p:txBody>
      </p:sp>
    </p:spTree>
    <p:extLst>
      <p:ext uri="{BB962C8B-B14F-4D97-AF65-F5344CB8AC3E}">
        <p14:creationId xmlns:p14="http://schemas.microsoft.com/office/powerpoint/2010/main" val="20407761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36FC9-4B49-34E5-D482-43FBD3DF4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20B5B-0F69-9318-07DC-9C7FE1C85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5320" y="666000"/>
            <a:ext cx="7620334" cy="459720"/>
          </a:xfrm>
        </p:spPr>
        <p:txBody>
          <a:bodyPr/>
          <a:lstStyle/>
          <a:p>
            <a:r>
              <a:rPr lang="en-US" sz="2400" dirty="0" err="1">
                <a:solidFill>
                  <a:srgbClr val="39C0BA"/>
                </a:solidFill>
              </a:rPr>
              <a:t>Sinkronizacijski</a:t>
            </a:r>
            <a:r>
              <a:rPr lang="en-US" sz="2400" dirty="0">
                <a:solidFill>
                  <a:srgbClr val="39C0BA"/>
                </a:solidFill>
              </a:rPr>
              <a:t> </a:t>
            </a:r>
            <a:r>
              <a:rPr lang="en-US" sz="2400" dirty="0" err="1">
                <a:solidFill>
                  <a:srgbClr val="39C0BA"/>
                </a:solidFill>
              </a:rPr>
              <a:t>primitivi</a:t>
            </a:r>
            <a:endParaRPr lang="hr-HR" sz="2400" dirty="0">
              <a:solidFill>
                <a:srgbClr val="39C0BA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2C9DE8-26DA-DBD6-BBDC-0747E56C57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5320" y="1125720"/>
            <a:ext cx="7978680" cy="5534572"/>
          </a:xfrm>
        </p:spPr>
        <p:txBody>
          <a:bodyPr>
            <a:noAutofit/>
          </a:bodyPr>
          <a:lstStyle/>
          <a:p>
            <a:pPr marL="228600" indent="0">
              <a:buClr>
                <a:srgbClr val="39C0BA"/>
              </a:buClr>
            </a:pPr>
            <a:r>
              <a:rPr lang="en-US" sz="2000" b="1" dirty="0">
                <a:solidFill>
                  <a:srgbClr val="39C0BA"/>
                </a:solidFill>
              </a:rPr>
              <a:t>1. LOCKS (Mutual Exclusion - </a:t>
            </a:r>
            <a:r>
              <a:rPr lang="en-US" sz="2000" b="1" dirty="0" err="1">
                <a:solidFill>
                  <a:srgbClr val="39C0BA"/>
                </a:solidFill>
              </a:rPr>
              <a:t>Međusobno</a:t>
            </a:r>
            <a:r>
              <a:rPr lang="en-US" sz="2000" b="1" dirty="0">
                <a:solidFill>
                  <a:srgbClr val="39C0BA"/>
                </a:solidFill>
              </a:rPr>
              <a:t> </a:t>
            </a:r>
            <a:r>
              <a:rPr lang="en-US" sz="2000" b="1" dirty="0" err="1">
                <a:solidFill>
                  <a:srgbClr val="39C0BA"/>
                </a:solidFill>
              </a:rPr>
              <a:t>isključivanje</a:t>
            </a:r>
            <a:r>
              <a:rPr lang="en-US" sz="2000" b="1" dirty="0">
                <a:solidFill>
                  <a:srgbClr val="39C0BA"/>
                </a:solidFill>
              </a:rPr>
              <a:t>)</a:t>
            </a:r>
          </a:p>
          <a:p>
            <a:pPr marL="685800" indent="-457200">
              <a:buClr>
                <a:schemeClr val="bg1"/>
              </a:buClr>
              <a:buAutoNum type="arabicPeriod"/>
            </a:pPr>
            <a:endParaRPr lang="en-US" sz="2000" b="1" dirty="0">
              <a:solidFill>
                <a:srgbClr val="39C0BA"/>
              </a:solidFill>
            </a:endParaRPr>
          </a:p>
          <a:p>
            <a:pPr marL="685800" indent="-457200">
              <a:buClr>
                <a:schemeClr val="bg1"/>
              </a:buClr>
              <a:buAutoNum type="arabicPeriod"/>
            </a:pPr>
            <a:endParaRPr lang="en-US" sz="2000" b="1" dirty="0">
              <a:solidFill>
                <a:srgbClr val="39C0BA"/>
              </a:solidFill>
            </a:endParaRPr>
          </a:p>
          <a:p>
            <a:pPr marL="228600" indent="0">
              <a:buClr>
                <a:schemeClr val="bg1"/>
              </a:buClr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lock(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my_lock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228600" indent="0">
              <a:buClr>
                <a:schemeClr val="bg1"/>
              </a:buClr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Kritični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odsječak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samo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jedna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nit</a:t>
            </a:r>
          </a:p>
          <a:p>
            <a:pPr marL="228600" indent="0">
              <a:buClr>
                <a:schemeClr val="bg1"/>
              </a:buClr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x + 1;</a:t>
            </a:r>
          </a:p>
          <a:p>
            <a:pPr marL="228600" indent="0">
              <a:buClr>
                <a:schemeClr val="bg1"/>
              </a:buClr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unlock(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my_lock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228600" indent="0">
              <a:buClr>
                <a:schemeClr val="bg1"/>
              </a:buClr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0">
              <a:buClr>
                <a:schemeClr val="bg1"/>
              </a:buClr>
            </a:pP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Svrha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Osigurati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samo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jedna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nit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pristupa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dijeljenom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resursu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0">
              <a:buClr>
                <a:schemeClr val="bg1"/>
              </a:buClr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Kada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koristiti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28600" indent="0">
              <a:buClr>
                <a:schemeClr val="bg1"/>
              </a:buClr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Update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dijeljene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varijable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0">
              <a:buClr>
                <a:schemeClr val="bg1"/>
              </a:buClr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Pristup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dijeljenim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podacima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strukturama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0">
              <a:buClr>
                <a:schemeClr val="bg1"/>
              </a:buClr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Zaštita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kritičnih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odsječaka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0">
              <a:buClr>
                <a:schemeClr val="bg1"/>
              </a:buClr>
            </a:pPr>
            <a:endParaRPr lang="en-US" sz="20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9610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F1880-50C8-1603-B7A0-2EFABA1B1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3F0DD-C28E-83B0-94EF-788242750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5320" y="666000"/>
            <a:ext cx="7620334" cy="459720"/>
          </a:xfrm>
        </p:spPr>
        <p:txBody>
          <a:bodyPr/>
          <a:lstStyle/>
          <a:p>
            <a:r>
              <a:rPr lang="en-US" sz="2400" dirty="0" err="1">
                <a:solidFill>
                  <a:srgbClr val="39C0BA"/>
                </a:solidFill>
              </a:rPr>
              <a:t>Sinkronizacijski</a:t>
            </a:r>
            <a:r>
              <a:rPr lang="en-US" sz="2400" dirty="0">
                <a:solidFill>
                  <a:srgbClr val="39C0BA"/>
                </a:solidFill>
              </a:rPr>
              <a:t> </a:t>
            </a:r>
            <a:r>
              <a:rPr lang="en-US" sz="2400" dirty="0" err="1">
                <a:solidFill>
                  <a:srgbClr val="39C0BA"/>
                </a:solidFill>
              </a:rPr>
              <a:t>primitivi</a:t>
            </a:r>
            <a:endParaRPr lang="hr-HR" sz="2400" dirty="0">
              <a:solidFill>
                <a:srgbClr val="39C0BA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A55848-3690-57DB-0AA2-710403A2FD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5320" y="1125720"/>
            <a:ext cx="7978680" cy="5534572"/>
          </a:xfrm>
        </p:spPr>
        <p:txBody>
          <a:bodyPr>
            <a:noAutofit/>
          </a:bodyPr>
          <a:lstStyle/>
          <a:p>
            <a:pPr marL="228600" indent="0">
              <a:buClr>
                <a:srgbClr val="39C0BA"/>
              </a:buClr>
            </a:pPr>
            <a:r>
              <a:rPr lang="en-US" sz="2000" b="1" dirty="0">
                <a:solidFill>
                  <a:srgbClr val="39C0BA"/>
                </a:solidFill>
              </a:rPr>
              <a:t>2. BARRIERS (</a:t>
            </a:r>
            <a:r>
              <a:rPr lang="en-US" sz="2000" b="1" dirty="0" err="1">
                <a:solidFill>
                  <a:srgbClr val="39C0BA"/>
                </a:solidFill>
              </a:rPr>
              <a:t>Barijere</a:t>
            </a:r>
            <a:r>
              <a:rPr lang="en-US" sz="2000" b="1" dirty="0">
                <a:solidFill>
                  <a:srgbClr val="39C0BA"/>
                </a:solidFill>
              </a:rPr>
              <a:t>)</a:t>
            </a:r>
          </a:p>
          <a:p>
            <a:pPr marL="685800" indent="-457200">
              <a:buClr>
                <a:schemeClr val="bg1"/>
              </a:buClr>
              <a:buAutoNum type="arabicPeriod"/>
            </a:pPr>
            <a:endParaRPr lang="en-US" sz="2000" b="1" dirty="0">
              <a:solidFill>
                <a:srgbClr val="39C0BA"/>
              </a:solidFill>
            </a:endParaRPr>
          </a:p>
          <a:p>
            <a:pPr marL="228600" indent="0">
              <a:buClr>
                <a:schemeClr val="bg1"/>
              </a:buClr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Faza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1: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svi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računaju</a:t>
            </a:r>
            <a:endParaRPr lang="en-US" sz="20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28600" indent="0">
              <a:buClr>
                <a:schemeClr val="bg1"/>
              </a:buClr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compute_phase1();</a:t>
            </a:r>
          </a:p>
          <a:p>
            <a:pPr marL="228600" indent="0">
              <a:buClr>
                <a:schemeClr val="bg1"/>
              </a:buClr>
            </a:pPr>
            <a:endParaRPr lang="en-US" sz="20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28600" indent="0">
              <a:buClr>
                <a:schemeClr val="bg1"/>
              </a:buClr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barrier();  // ←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Čekaj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da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svi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završe</a:t>
            </a:r>
            <a:endParaRPr lang="en-US" sz="20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28600" indent="0">
              <a:buClr>
                <a:schemeClr val="bg1"/>
              </a:buClr>
            </a:pPr>
            <a:endParaRPr lang="en-US" sz="20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28600" indent="0">
              <a:buClr>
                <a:schemeClr val="bg1"/>
              </a:buClr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Faza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2: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svi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računaju</a:t>
            </a:r>
            <a:endParaRPr lang="en-US" sz="20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28600" indent="0">
              <a:buClr>
                <a:schemeClr val="bg1"/>
              </a:buClr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compute_phase2();</a:t>
            </a:r>
          </a:p>
          <a:p>
            <a:pPr marL="228600" indent="0">
              <a:buClr>
                <a:schemeClr val="bg1"/>
              </a:buClr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 err="1">
                <a:solidFill>
                  <a:schemeClr val="bg1"/>
                </a:solidFill>
              </a:rPr>
              <a:t>Svrha</a:t>
            </a:r>
            <a:r>
              <a:rPr lang="en-US" sz="2000" b="1" dirty="0">
                <a:solidFill>
                  <a:schemeClr val="bg1"/>
                </a:solidFill>
              </a:rPr>
              <a:t>: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Sinkronizirati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sve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niti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određenoj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točki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Kada </a:t>
            </a:r>
            <a:r>
              <a:rPr lang="en-US" sz="2000" b="1" dirty="0" err="1">
                <a:solidFill>
                  <a:schemeClr val="bg1"/>
                </a:solidFill>
              </a:rPr>
              <a:t>koristiti</a:t>
            </a:r>
            <a:r>
              <a:rPr lang="en-US" sz="2000" b="1" dirty="0">
                <a:solidFill>
                  <a:schemeClr val="bg1"/>
                </a:solidFill>
              </a:rPr>
              <a:t>: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- </a:t>
            </a:r>
            <a:r>
              <a:rPr lang="en-US" sz="2000" dirty="0" err="1">
                <a:solidFill>
                  <a:schemeClr val="bg1"/>
                </a:solidFill>
              </a:rPr>
              <a:t>Razdvajanje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faza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računanja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- </a:t>
            </a:r>
            <a:r>
              <a:rPr lang="en-US" sz="2000" dirty="0" err="1">
                <a:solidFill>
                  <a:schemeClr val="bg1"/>
                </a:solidFill>
              </a:rPr>
              <a:t>Osigurati</a:t>
            </a:r>
            <a:r>
              <a:rPr lang="en-US" sz="2000" dirty="0">
                <a:solidFill>
                  <a:schemeClr val="bg1"/>
                </a:solidFill>
              </a:rPr>
              <a:t> da </a:t>
            </a:r>
            <a:r>
              <a:rPr lang="en-US" sz="2000" dirty="0" err="1">
                <a:solidFill>
                  <a:schemeClr val="bg1"/>
                </a:solidFill>
              </a:rPr>
              <a:t>su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svi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podaci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spremni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prije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sljedeće</a:t>
            </a:r>
            <a:r>
              <a:rPr lang="en-US" sz="2000" dirty="0">
                <a:solidFill>
                  <a:schemeClr val="bg1"/>
                </a:solidFill>
              </a:rPr>
              <a:t> faze</a:t>
            </a:r>
          </a:p>
          <a:p>
            <a:r>
              <a:rPr lang="en-US" sz="2000" dirty="0">
                <a:solidFill>
                  <a:schemeClr val="bg1"/>
                </a:solidFill>
              </a:rPr>
              <a:t>- </a:t>
            </a:r>
            <a:r>
              <a:rPr lang="en-US" sz="2000" dirty="0" err="1">
                <a:solidFill>
                  <a:schemeClr val="bg1"/>
                </a:solidFill>
              </a:rPr>
              <a:t>Globalna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sinkronizacija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67008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0D1C8-8B7A-F3DD-A4C9-9D2889568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7A8FE-649A-245E-768B-DDCA4868D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5320" y="666000"/>
            <a:ext cx="7620334" cy="459720"/>
          </a:xfrm>
        </p:spPr>
        <p:txBody>
          <a:bodyPr/>
          <a:lstStyle/>
          <a:p>
            <a:r>
              <a:rPr lang="en-US" sz="2400" dirty="0" err="1">
                <a:solidFill>
                  <a:srgbClr val="39C0BA"/>
                </a:solidFill>
              </a:rPr>
              <a:t>Sinkronizacijski</a:t>
            </a:r>
            <a:r>
              <a:rPr lang="en-US" sz="2400" dirty="0">
                <a:solidFill>
                  <a:srgbClr val="39C0BA"/>
                </a:solidFill>
              </a:rPr>
              <a:t> </a:t>
            </a:r>
            <a:r>
              <a:rPr lang="en-US" sz="2400" dirty="0" err="1">
                <a:solidFill>
                  <a:srgbClr val="39C0BA"/>
                </a:solidFill>
              </a:rPr>
              <a:t>primitivi</a:t>
            </a:r>
            <a:endParaRPr lang="hr-HR" sz="2400" dirty="0">
              <a:solidFill>
                <a:srgbClr val="39C0BA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30E98C-BDC8-E970-A117-C9A15647E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5319" y="1125720"/>
            <a:ext cx="8065177" cy="5534572"/>
          </a:xfrm>
        </p:spPr>
        <p:txBody>
          <a:bodyPr>
            <a:noAutofit/>
          </a:bodyPr>
          <a:lstStyle/>
          <a:p>
            <a:pPr marL="228600" indent="0">
              <a:buClr>
                <a:srgbClr val="39C0BA"/>
              </a:buClr>
            </a:pPr>
            <a:r>
              <a:rPr lang="en-US" sz="2000" b="1" dirty="0">
                <a:solidFill>
                  <a:srgbClr val="39C0BA"/>
                </a:solidFill>
              </a:rPr>
              <a:t>3. SEMAFORI </a:t>
            </a:r>
          </a:p>
          <a:p>
            <a:pPr marL="685800" indent="-457200">
              <a:buClr>
                <a:schemeClr val="bg1"/>
              </a:buClr>
              <a:buAutoNum type="arabicPeriod"/>
            </a:pPr>
            <a:endParaRPr lang="en-US" sz="2000" b="1" dirty="0">
              <a:solidFill>
                <a:srgbClr val="39C0BA"/>
              </a:solidFill>
            </a:endParaRPr>
          </a:p>
          <a:p>
            <a:pPr marL="228600" indent="0">
              <a:buClr>
                <a:schemeClr val="bg1"/>
              </a:buClr>
            </a:pP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semaphore_wait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sem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  //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Smanji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brojač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čekaj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ako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je 0</a:t>
            </a:r>
          </a:p>
          <a:p>
            <a:pPr marL="228600" indent="0">
              <a:buClr>
                <a:schemeClr val="bg1"/>
              </a:buClr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Pristup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resursu</a:t>
            </a:r>
            <a:endParaRPr lang="en-US" sz="20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28600" indent="0">
              <a:buClr>
                <a:schemeClr val="bg1"/>
              </a:buClr>
            </a:pP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semaphore_signal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sem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  //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Povećaj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brojač</a:t>
            </a:r>
            <a:endParaRPr lang="en-US" sz="20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28600" indent="0">
              <a:buClr>
                <a:schemeClr val="bg1"/>
              </a:buClr>
            </a:pPr>
            <a:endParaRPr lang="en-US" sz="20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28600" indent="0">
              <a:buClr>
                <a:schemeClr val="bg1"/>
              </a:buClr>
            </a:pPr>
            <a:endParaRPr lang="en-US" sz="20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28600" indent="0">
              <a:buClr>
                <a:schemeClr val="bg1"/>
              </a:buClr>
            </a:pPr>
            <a:r>
              <a:rPr lang="en-US" sz="2000" b="1" dirty="0">
                <a:solidFill>
                  <a:srgbClr val="39C0BA"/>
                </a:solidFill>
              </a:rPr>
              <a:t>4. ATOMIC OPERATIONS</a:t>
            </a:r>
          </a:p>
          <a:p>
            <a:pPr marL="228600" indent="0">
              <a:buClr>
                <a:schemeClr val="bg1"/>
              </a:buClr>
            </a:pPr>
            <a:endParaRPr lang="en-US" sz="2000" b="1" dirty="0">
              <a:solidFill>
                <a:srgbClr val="39C0BA"/>
              </a:solidFill>
            </a:endParaRPr>
          </a:p>
          <a:p>
            <a:pPr marL="228600" indent="0">
              <a:buClr>
                <a:schemeClr val="bg1"/>
              </a:buClr>
            </a:pP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atomic_add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(&amp;counter, 1);  //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Atomični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increment</a:t>
            </a:r>
          </a:p>
          <a:p>
            <a:pPr marL="228600" indent="0">
              <a:buClr>
                <a:schemeClr val="bg1"/>
              </a:buClr>
            </a:pPr>
            <a:endParaRPr lang="en-US" sz="2000" b="1" dirty="0">
              <a:solidFill>
                <a:srgbClr val="39C0B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006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3405</Words>
  <Application>Microsoft Office PowerPoint</Application>
  <PresentationFormat>Prikaz na zaslonu (4:3)</PresentationFormat>
  <Paragraphs>554</Paragraphs>
  <Slides>48</Slides>
  <Notes>40</Notes>
  <HiddenSlides>0</HiddenSlides>
  <MMClips>0</MMClips>
  <ScaleCrop>false</ScaleCrop>
  <HeadingPairs>
    <vt:vector size="6" baseType="variant">
      <vt:variant>
        <vt:lpstr>Korišteni fontovi</vt:lpstr>
      </vt:variant>
      <vt:variant>
        <vt:i4>7</vt:i4>
      </vt:variant>
      <vt:variant>
        <vt:lpstr>Tema</vt:lpstr>
      </vt:variant>
      <vt:variant>
        <vt:i4>3</vt:i4>
      </vt:variant>
      <vt:variant>
        <vt:lpstr>Naslovi slajdova</vt:lpstr>
      </vt:variant>
      <vt:variant>
        <vt:i4>48</vt:i4>
      </vt:variant>
    </vt:vector>
  </HeadingPairs>
  <TitlesOfParts>
    <vt:vector size="58" baseType="lpstr">
      <vt:lpstr>Arial</vt:lpstr>
      <vt:lpstr>Times New Roman</vt:lpstr>
      <vt:lpstr>Quicksand</vt:lpstr>
      <vt:lpstr>Cambria Math</vt:lpstr>
      <vt:lpstr>Cambria</vt:lpstr>
      <vt:lpstr>Consolas</vt:lpstr>
      <vt:lpstr>Wingdings</vt:lpstr>
      <vt:lpstr>Office Theme</vt:lpstr>
      <vt:lpstr>Office Theme</vt:lpstr>
      <vt:lpstr>Office Theme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Amdahlov zakon</vt:lpstr>
      <vt:lpstr>PowerPoint prezentacija</vt:lpstr>
      <vt:lpstr>Amdahlov zakon</vt:lpstr>
      <vt:lpstr>Summit supercomputer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2D Grid Solver</vt:lpstr>
      <vt:lpstr>PowerPoint prezentacija</vt:lpstr>
      <vt:lpstr>Orchestration</vt:lpstr>
      <vt:lpstr>MODEL 1: Data-Parallel (Implicitna sinkronizacija)</vt:lpstr>
      <vt:lpstr>MODEL 2: Shared Address Space / SPMD</vt:lpstr>
      <vt:lpstr>Sinkronizacijski primitivi</vt:lpstr>
      <vt:lpstr>Sinkronizacijski primitivi</vt:lpstr>
      <vt:lpstr>Sinkronizacijski primitivi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modified xsi:type="dcterms:W3CDTF">2025-10-17T11:42:11Z</dcterms:modified>
</cp:coreProperties>
</file>