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trictFirstAndLastChars="0" embedTrueTypeFonts="1" saveSubsetFonts="1" autoCompressPictures="0">
  <p:sldMasterIdLst>
    <p:sldMasterId id="2147483684" r:id="rId1"/>
    <p:sldMasterId id="2147483685" r:id="rId2"/>
    <p:sldMasterId id="2147483686" r:id="rId3"/>
  </p:sldMasterIdLst>
  <p:notesMasterIdLst>
    <p:notesMasterId r:id="rId33"/>
  </p:notesMasterIdLst>
  <p:sldIdLst>
    <p:sldId id="256" r:id="rId4"/>
    <p:sldId id="257" r:id="rId5"/>
    <p:sldId id="258" r:id="rId6"/>
    <p:sldId id="295" r:id="rId7"/>
    <p:sldId id="296" r:id="rId8"/>
    <p:sldId id="299" r:id="rId9"/>
    <p:sldId id="300" r:id="rId10"/>
    <p:sldId id="297" r:id="rId11"/>
    <p:sldId id="298" r:id="rId12"/>
    <p:sldId id="302" r:id="rId13"/>
    <p:sldId id="303" r:id="rId14"/>
    <p:sldId id="307" r:id="rId15"/>
    <p:sldId id="308" r:id="rId16"/>
    <p:sldId id="301" r:id="rId17"/>
    <p:sldId id="305" r:id="rId18"/>
    <p:sldId id="306" r:id="rId19"/>
    <p:sldId id="309" r:id="rId20"/>
    <p:sldId id="311" r:id="rId21"/>
    <p:sldId id="312" r:id="rId22"/>
    <p:sldId id="314" r:id="rId23"/>
    <p:sldId id="315" r:id="rId24"/>
    <p:sldId id="316" r:id="rId25"/>
    <p:sldId id="317" r:id="rId26"/>
    <p:sldId id="318" r:id="rId27"/>
    <p:sldId id="319" r:id="rId28"/>
    <p:sldId id="320" r:id="rId29"/>
    <p:sldId id="321" r:id="rId30"/>
    <p:sldId id="322" r:id="rId31"/>
    <p:sldId id="323" r:id="rId32"/>
  </p:sldIdLst>
  <p:sldSz cx="9144000" cy="6858000" type="screen4x3"/>
  <p:notesSz cx="6858000" cy="9144000"/>
  <p:embeddedFontLst>
    <p:embeddedFont>
      <p:font typeface="Cambria" panose="02040503050406030204" pitchFamily="18" charset="0"/>
      <p:regular r:id="rId34"/>
      <p:bold r:id="rId35"/>
      <p:italic r:id="rId36"/>
      <p:boldItalic r:id="rId37"/>
    </p:embeddedFont>
    <p:embeddedFont>
      <p:font typeface="Consolas" panose="020B0609020204030204" pitchFamily="49" charset="0"/>
      <p:regular r:id="rId38"/>
      <p:bold r:id="rId39"/>
      <p:italic r:id="rId40"/>
      <p:boldItalic r:id="rId41"/>
    </p:embeddedFont>
    <p:embeddedFont>
      <p:font typeface="Quicksand" panose="020B0604020202020204" charset="0"/>
      <p:regular r:id="rId42"/>
      <p:bold r:id="rId4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9C0BA"/>
    <a:srgbClr val="569A9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rednji stil 2 - Isticanj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Srednji stil 1 - Isticanj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10A1B5D5-9B99-4C35-A422-299274C87663}" styleName="Srednji stil 1 - Isticanje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216"/>
    <p:restoredTop sz="88784" autoAdjust="0"/>
  </p:normalViewPr>
  <p:slideViewPr>
    <p:cSldViewPr snapToGrid="0">
      <p:cViewPr varScale="1">
        <p:scale>
          <a:sx n="110" d="100"/>
          <a:sy n="110" d="100"/>
        </p:scale>
        <p:origin x="13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font" Target="fonts/font6.fntdata"/><Relationship Id="rId21" Type="http://schemas.openxmlformats.org/officeDocument/2006/relationships/slide" Target="slides/slide18.xml"/><Relationship Id="rId34" Type="http://schemas.openxmlformats.org/officeDocument/2006/relationships/font" Target="fonts/font1.fntdata"/><Relationship Id="rId42" Type="http://schemas.openxmlformats.org/officeDocument/2006/relationships/font" Target="fonts/font9.fntdata"/><Relationship Id="rId47" Type="http://schemas.openxmlformats.org/officeDocument/2006/relationships/tableStyles" Target="tableStyles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font" Target="fonts/font4.fntdata"/><Relationship Id="rId40" Type="http://schemas.openxmlformats.org/officeDocument/2006/relationships/font" Target="fonts/font7.fntdata"/><Relationship Id="rId45" Type="http://schemas.openxmlformats.org/officeDocument/2006/relationships/viewProps" Target="view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font" Target="fonts/font3.fntdata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presProps" Target="pres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font" Target="fonts/font2.fntdata"/><Relationship Id="rId43" Type="http://schemas.openxmlformats.org/officeDocument/2006/relationships/font" Target="fonts/font10.fntdata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notesMaster" Target="notesMasters/notesMaster1.xml"/><Relationship Id="rId38" Type="http://schemas.openxmlformats.org/officeDocument/2006/relationships/font" Target="fonts/font5.fntdata"/><Relationship Id="rId46" Type="http://schemas.openxmlformats.org/officeDocument/2006/relationships/theme" Target="theme/theme1.xml"/><Relationship Id="rId20" Type="http://schemas.openxmlformats.org/officeDocument/2006/relationships/slide" Target="slides/slide17.xml"/><Relationship Id="rId41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8" name="Google Shape;16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73" name="Google Shape;17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endParaRPr dirty="0"/>
          </a:p>
        </p:txBody>
      </p:sp>
      <p:sp>
        <p:nvSpPr>
          <p:cNvPr id="180" name="Google Shape;18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>
          <a:extLst>
            <a:ext uri="{FF2B5EF4-FFF2-40B4-BE49-F238E27FC236}">
              <a16:creationId xmlns:a16="http://schemas.microsoft.com/office/drawing/2014/main" id="{7D8D584C-1692-8D86-17F5-1D7FE1F9E1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:notes">
            <a:extLst>
              <a:ext uri="{FF2B5EF4-FFF2-40B4-BE49-F238E27FC236}">
                <a16:creationId xmlns:a16="http://schemas.microsoft.com/office/drawing/2014/main" id="{C5881809-17B1-2D2F-61C9-A394C89C284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endParaRPr dirty="0"/>
          </a:p>
        </p:txBody>
      </p:sp>
      <p:sp>
        <p:nvSpPr>
          <p:cNvPr id="180" name="Google Shape;180;p3:notes">
            <a:extLst>
              <a:ext uri="{FF2B5EF4-FFF2-40B4-BE49-F238E27FC236}">
                <a16:creationId xmlns:a16="http://schemas.microsoft.com/office/drawing/2014/main" id="{DE6F5E06-691D-6FBE-0BE8-176F0DDA168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287306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>
          <a:extLst>
            <a:ext uri="{FF2B5EF4-FFF2-40B4-BE49-F238E27FC236}">
              <a16:creationId xmlns:a16="http://schemas.microsoft.com/office/drawing/2014/main" id="{ED3B303F-985E-2DD0-6910-67E4D5DF4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:notes">
            <a:extLst>
              <a:ext uri="{FF2B5EF4-FFF2-40B4-BE49-F238E27FC236}">
                <a16:creationId xmlns:a16="http://schemas.microsoft.com/office/drawing/2014/main" id="{2E45393F-3046-E3A3-C249-B2BEA60940F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endParaRPr dirty="0"/>
          </a:p>
        </p:txBody>
      </p:sp>
      <p:sp>
        <p:nvSpPr>
          <p:cNvPr id="180" name="Google Shape;180;p3:notes">
            <a:extLst>
              <a:ext uri="{FF2B5EF4-FFF2-40B4-BE49-F238E27FC236}">
                <a16:creationId xmlns:a16="http://schemas.microsoft.com/office/drawing/2014/main" id="{653E5D79-EB5E-497B-BF15-6328C85F69C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494597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>
          <a:extLst>
            <a:ext uri="{FF2B5EF4-FFF2-40B4-BE49-F238E27FC236}">
              <a16:creationId xmlns:a16="http://schemas.microsoft.com/office/drawing/2014/main" id="{EB35D832-6CB3-F686-147C-C7BB5BFDE8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:notes">
            <a:extLst>
              <a:ext uri="{FF2B5EF4-FFF2-40B4-BE49-F238E27FC236}">
                <a16:creationId xmlns:a16="http://schemas.microsoft.com/office/drawing/2014/main" id="{572C49F8-9241-C664-2180-F72A4773EB4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endParaRPr dirty="0"/>
          </a:p>
        </p:txBody>
      </p:sp>
      <p:sp>
        <p:nvSpPr>
          <p:cNvPr id="180" name="Google Shape;180;p3:notes">
            <a:extLst>
              <a:ext uri="{FF2B5EF4-FFF2-40B4-BE49-F238E27FC236}">
                <a16:creationId xmlns:a16="http://schemas.microsoft.com/office/drawing/2014/main" id="{8530F16A-B46A-C737-0FCD-3BEE3A466B4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140840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>
          <a:extLst>
            <a:ext uri="{FF2B5EF4-FFF2-40B4-BE49-F238E27FC236}">
              <a16:creationId xmlns:a16="http://schemas.microsoft.com/office/drawing/2014/main" id="{179029B0-B61A-99EB-0DB1-A10F09DF19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:notes">
            <a:extLst>
              <a:ext uri="{FF2B5EF4-FFF2-40B4-BE49-F238E27FC236}">
                <a16:creationId xmlns:a16="http://schemas.microsoft.com/office/drawing/2014/main" id="{3D04B5EF-5A1D-594B-7406-0E993D5435B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endParaRPr dirty="0"/>
          </a:p>
        </p:txBody>
      </p:sp>
      <p:sp>
        <p:nvSpPr>
          <p:cNvPr id="180" name="Google Shape;180;p3:notes">
            <a:extLst>
              <a:ext uri="{FF2B5EF4-FFF2-40B4-BE49-F238E27FC236}">
                <a16:creationId xmlns:a16="http://schemas.microsoft.com/office/drawing/2014/main" id="{12A7B5E9-0E41-55F1-B854-A5607E58822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0822922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>
          <a:extLst>
            <a:ext uri="{FF2B5EF4-FFF2-40B4-BE49-F238E27FC236}">
              <a16:creationId xmlns:a16="http://schemas.microsoft.com/office/drawing/2014/main" id="{EA38C2C8-28FD-B937-8EE9-F9F3F304AE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:notes">
            <a:extLst>
              <a:ext uri="{FF2B5EF4-FFF2-40B4-BE49-F238E27FC236}">
                <a16:creationId xmlns:a16="http://schemas.microsoft.com/office/drawing/2014/main" id="{05623216-197D-1BDB-0D84-1450059D6D8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endParaRPr dirty="0"/>
          </a:p>
        </p:txBody>
      </p:sp>
      <p:sp>
        <p:nvSpPr>
          <p:cNvPr id="180" name="Google Shape;180;p3:notes">
            <a:extLst>
              <a:ext uri="{FF2B5EF4-FFF2-40B4-BE49-F238E27FC236}">
                <a16:creationId xmlns:a16="http://schemas.microsoft.com/office/drawing/2014/main" id="{FDC31F1E-C735-C5FC-7A49-C680414CD34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516292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>
          <a:extLst>
            <a:ext uri="{FF2B5EF4-FFF2-40B4-BE49-F238E27FC236}">
              <a16:creationId xmlns:a16="http://schemas.microsoft.com/office/drawing/2014/main" id="{4C33CCF3-57FE-9F35-43AB-F1206DB58C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:notes">
            <a:extLst>
              <a:ext uri="{FF2B5EF4-FFF2-40B4-BE49-F238E27FC236}">
                <a16:creationId xmlns:a16="http://schemas.microsoft.com/office/drawing/2014/main" id="{F7636634-B1DD-AE98-2FA5-ED63E7E4AD4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endParaRPr dirty="0"/>
          </a:p>
        </p:txBody>
      </p:sp>
      <p:sp>
        <p:nvSpPr>
          <p:cNvPr id="180" name="Google Shape;180;p3:notes">
            <a:extLst>
              <a:ext uri="{FF2B5EF4-FFF2-40B4-BE49-F238E27FC236}">
                <a16:creationId xmlns:a16="http://schemas.microsoft.com/office/drawing/2014/main" id="{78E97446-36C9-F200-5BAC-FA97882291B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5590636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>
          <a:extLst>
            <a:ext uri="{FF2B5EF4-FFF2-40B4-BE49-F238E27FC236}">
              <a16:creationId xmlns:a16="http://schemas.microsoft.com/office/drawing/2014/main" id="{D59F4C7B-5FD6-B78B-7C55-4A3EA1FD2A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:notes">
            <a:extLst>
              <a:ext uri="{FF2B5EF4-FFF2-40B4-BE49-F238E27FC236}">
                <a16:creationId xmlns:a16="http://schemas.microsoft.com/office/drawing/2014/main" id="{6BF7ECCF-0D64-EE5E-C04D-B383A803CD5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endParaRPr dirty="0"/>
          </a:p>
        </p:txBody>
      </p:sp>
      <p:sp>
        <p:nvSpPr>
          <p:cNvPr id="180" name="Google Shape;180;p3:notes">
            <a:extLst>
              <a:ext uri="{FF2B5EF4-FFF2-40B4-BE49-F238E27FC236}">
                <a16:creationId xmlns:a16="http://schemas.microsoft.com/office/drawing/2014/main" id="{BF8213A2-0D2F-6FC2-FED7-6D66B0572C4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9922930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>
          <a:extLst>
            <a:ext uri="{FF2B5EF4-FFF2-40B4-BE49-F238E27FC236}">
              <a16:creationId xmlns:a16="http://schemas.microsoft.com/office/drawing/2014/main" id="{DEC4D9A3-82BE-C485-DF24-C84A191B20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:notes">
            <a:extLst>
              <a:ext uri="{FF2B5EF4-FFF2-40B4-BE49-F238E27FC236}">
                <a16:creationId xmlns:a16="http://schemas.microsoft.com/office/drawing/2014/main" id="{B7936744-D939-8EEF-6280-794D0F2CBC8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endParaRPr dirty="0"/>
          </a:p>
        </p:txBody>
      </p:sp>
      <p:sp>
        <p:nvSpPr>
          <p:cNvPr id="180" name="Google Shape;180;p3:notes">
            <a:extLst>
              <a:ext uri="{FF2B5EF4-FFF2-40B4-BE49-F238E27FC236}">
                <a16:creationId xmlns:a16="http://schemas.microsoft.com/office/drawing/2014/main" id="{8186A075-7F36-5633-9320-96C317A6EE8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6685238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>
          <a:extLst>
            <a:ext uri="{FF2B5EF4-FFF2-40B4-BE49-F238E27FC236}">
              <a16:creationId xmlns:a16="http://schemas.microsoft.com/office/drawing/2014/main" id="{3207F914-ED0A-3A5F-A5EC-C11D69AA09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:notes">
            <a:extLst>
              <a:ext uri="{FF2B5EF4-FFF2-40B4-BE49-F238E27FC236}">
                <a16:creationId xmlns:a16="http://schemas.microsoft.com/office/drawing/2014/main" id="{A8248883-14D0-7F9F-4255-BFF1932E88F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endParaRPr dirty="0"/>
          </a:p>
        </p:txBody>
      </p:sp>
      <p:sp>
        <p:nvSpPr>
          <p:cNvPr id="180" name="Google Shape;180;p3:notes">
            <a:extLst>
              <a:ext uri="{FF2B5EF4-FFF2-40B4-BE49-F238E27FC236}">
                <a16:creationId xmlns:a16="http://schemas.microsoft.com/office/drawing/2014/main" id="{4B52B899-691C-0C09-6CA4-583A1B8E66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8148150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>
          <a:extLst>
            <a:ext uri="{FF2B5EF4-FFF2-40B4-BE49-F238E27FC236}">
              <a16:creationId xmlns:a16="http://schemas.microsoft.com/office/drawing/2014/main" id="{E1AE1184-C899-AE9B-DE2B-9D5D3CA978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:notes">
            <a:extLst>
              <a:ext uri="{FF2B5EF4-FFF2-40B4-BE49-F238E27FC236}">
                <a16:creationId xmlns:a16="http://schemas.microsoft.com/office/drawing/2014/main" id="{B32C9E8F-B429-58D9-F187-5BFECA32C48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endParaRPr dirty="0"/>
          </a:p>
        </p:txBody>
      </p:sp>
      <p:sp>
        <p:nvSpPr>
          <p:cNvPr id="180" name="Google Shape;180;p3:notes">
            <a:extLst>
              <a:ext uri="{FF2B5EF4-FFF2-40B4-BE49-F238E27FC236}">
                <a16:creationId xmlns:a16="http://schemas.microsoft.com/office/drawing/2014/main" id="{4B3E13B9-B950-AF15-5115-434BE49FFC4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0648542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>
          <a:extLst>
            <a:ext uri="{FF2B5EF4-FFF2-40B4-BE49-F238E27FC236}">
              <a16:creationId xmlns:a16="http://schemas.microsoft.com/office/drawing/2014/main" id="{D272C9D5-7646-38F0-B088-3D9018AAAB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:notes">
            <a:extLst>
              <a:ext uri="{FF2B5EF4-FFF2-40B4-BE49-F238E27FC236}">
                <a16:creationId xmlns:a16="http://schemas.microsoft.com/office/drawing/2014/main" id="{DFE97451-BF4E-25A1-EEAE-1EA82CD341A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endParaRPr dirty="0"/>
          </a:p>
        </p:txBody>
      </p:sp>
      <p:sp>
        <p:nvSpPr>
          <p:cNvPr id="180" name="Google Shape;180;p3:notes">
            <a:extLst>
              <a:ext uri="{FF2B5EF4-FFF2-40B4-BE49-F238E27FC236}">
                <a16:creationId xmlns:a16="http://schemas.microsoft.com/office/drawing/2014/main" id="{0EC26517-8115-8F61-1738-A26E07F67C7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3829896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>
          <a:extLst>
            <a:ext uri="{FF2B5EF4-FFF2-40B4-BE49-F238E27FC236}">
              <a16:creationId xmlns:a16="http://schemas.microsoft.com/office/drawing/2014/main" id="{C5D16186-531F-226F-D2CC-0593E230F0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:notes">
            <a:extLst>
              <a:ext uri="{FF2B5EF4-FFF2-40B4-BE49-F238E27FC236}">
                <a16:creationId xmlns:a16="http://schemas.microsoft.com/office/drawing/2014/main" id="{3C7E9CEE-BA1C-6C43-E149-51BC355DB71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endParaRPr dirty="0"/>
          </a:p>
        </p:txBody>
      </p:sp>
      <p:sp>
        <p:nvSpPr>
          <p:cNvPr id="180" name="Google Shape;180;p3:notes">
            <a:extLst>
              <a:ext uri="{FF2B5EF4-FFF2-40B4-BE49-F238E27FC236}">
                <a16:creationId xmlns:a16="http://schemas.microsoft.com/office/drawing/2014/main" id="{2F872C48-47A4-F711-A620-B739548AD4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933504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>
          <a:extLst>
            <a:ext uri="{FF2B5EF4-FFF2-40B4-BE49-F238E27FC236}">
              <a16:creationId xmlns:a16="http://schemas.microsoft.com/office/drawing/2014/main" id="{319DA4FF-9DC1-BDD5-944E-3D56B70FDA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:notes">
            <a:extLst>
              <a:ext uri="{FF2B5EF4-FFF2-40B4-BE49-F238E27FC236}">
                <a16:creationId xmlns:a16="http://schemas.microsoft.com/office/drawing/2014/main" id="{CEFA58AD-1D92-C3D8-CD63-F50DEF5F204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endParaRPr dirty="0"/>
          </a:p>
        </p:txBody>
      </p:sp>
      <p:sp>
        <p:nvSpPr>
          <p:cNvPr id="180" name="Google Shape;180;p3:notes">
            <a:extLst>
              <a:ext uri="{FF2B5EF4-FFF2-40B4-BE49-F238E27FC236}">
                <a16:creationId xmlns:a16="http://schemas.microsoft.com/office/drawing/2014/main" id="{CBFA42C6-93AE-35FC-FE44-D160477F332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9462791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>
          <a:extLst>
            <a:ext uri="{FF2B5EF4-FFF2-40B4-BE49-F238E27FC236}">
              <a16:creationId xmlns:a16="http://schemas.microsoft.com/office/drawing/2014/main" id="{B81A25B0-F313-D286-7212-B6EC9A368A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:notes">
            <a:extLst>
              <a:ext uri="{FF2B5EF4-FFF2-40B4-BE49-F238E27FC236}">
                <a16:creationId xmlns:a16="http://schemas.microsoft.com/office/drawing/2014/main" id="{04EEA3A6-91F4-3600-B342-071348A8733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endParaRPr dirty="0"/>
          </a:p>
        </p:txBody>
      </p:sp>
      <p:sp>
        <p:nvSpPr>
          <p:cNvPr id="180" name="Google Shape;180;p3:notes">
            <a:extLst>
              <a:ext uri="{FF2B5EF4-FFF2-40B4-BE49-F238E27FC236}">
                <a16:creationId xmlns:a16="http://schemas.microsoft.com/office/drawing/2014/main" id="{0989ACFA-FA01-22F7-CAF9-27DA3FB5298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9013051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>
          <a:extLst>
            <a:ext uri="{FF2B5EF4-FFF2-40B4-BE49-F238E27FC236}">
              <a16:creationId xmlns:a16="http://schemas.microsoft.com/office/drawing/2014/main" id="{7C14F6B0-4285-83A1-4078-3C2C440B90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:notes">
            <a:extLst>
              <a:ext uri="{FF2B5EF4-FFF2-40B4-BE49-F238E27FC236}">
                <a16:creationId xmlns:a16="http://schemas.microsoft.com/office/drawing/2014/main" id="{04C27F72-4661-55F6-37A5-DC1833E4FB8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endParaRPr dirty="0"/>
          </a:p>
        </p:txBody>
      </p:sp>
      <p:sp>
        <p:nvSpPr>
          <p:cNvPr id="180" name="Google Shape;180;p3:notes">
            <a:extLst>
              <a:ext uri="{FF2B5EF4-FFF2-40B4-BE49-F238E27FC236}">
                <a16:creationId xmlns:a16="http://schemas.microsoft.com/office/drawing/2014/main" id="{B5687FF0-D32B-B092-672D-B3606C03E89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0624048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>
          <a:extLst>
            <a:ext uri="{FF2B5EF4-FFF2-40B4-BE49-F238E27FC236}">
              <a16:creationId xmlns:a16="http://schemas.microsoft.com/office/drawing/2014/main" id="{07837DD8-FDBA-CD88-0FC1-E439B4869A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:notes">
            <a:extLst>
              <a:ext uri="{FF2B5EF4-FFF2-40B4-BE49-F238E27FC236}">
                <a16:creationId xmlns:a16="http://schemas.microsoft.com/office/drawing/2014/main" id="{25513DA4-9BA3-D5A1-C12B-3402E5849B6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endParaRPr dirty="0"/>
          </a:p>
        </p:txBody>
      </p:sp>
      <p:sp>
        <p:nvSpPr>
          <p:cNvPr id="180" name="Google Shape;180;p3:notes">
            <a:extLst>
              <a:ext uri="{FF2B5EF4-FFF2-40B4-BE49-F238E27FC236}">
                <a16:creationId xmlns:a16="http://schemas.microsoft.com/office/drawing/2014/main" id="{71495F68-CEDE-F690-6D44-BC1DFA31FF0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9653390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>
          <a:extLst>
            <a:ext uri="{FF2B5EF4-FFF2-40B4-BE49-F238E27FC236}">
              <a16:creationId xmlns:a16="http://schemas.microsoft.com/office/drawing/2014/main" id="{CB7C1FC7-9543-A0BA-1527-B3861A5296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:notes">
            <a:extLst>
              <a:ext uri="{FF2B5EF4-FFF2-40B4-BE49-F238E27FC236}">
                <a16:creationId xmlns:a16="http://schemas.microsoft.com/office/drawing/2014/main" id="{89B5D862-66F8-AE2C-1CA2-7E16ED638BD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endParaRPr dirty="0"/>
          </a:p>
        </p:txBody>
      </p:sp>
      <p:sp>
        <p:nvSpPr>
          <p:cNvPr id="180" name="Google Shape;180;p3:notes">
            <a:extLst>
              <a:ext uri="{FF2B5EF4-FFF2-40B4-BE49-F238E27FC236}">
                <a16:creationId xmlns:a16="http://schemas.microsoft.com/office/drawing/2014/main" id="{127EEFBF-C2E2-521D-2C72-D37F54517A3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4133547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>
          <a:extLst>
            <a:ext uri="{FF2B5EF4-FFF2-40B4-BE49-F238E27FC236}">
              <a16:creationId xmlns:a16="http://schemas.microsoft.com/office/drawing/2014/main" id="{784FA110-A85D-10F9-4BDD-DB027AB968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:notes">
            <a:extLst>
              <a:ext uri="{FF2B5EF4-FFF2-40B4-BE49-F238E27FC236}">
                <a16:creationId xmlns:a16="http://schemas.microsoft.com/office/drawing/2014/main" id="{047B1CC9-DDBF-BDB2-56C3-48E2632EF7F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endParaRPr dirty="0"/>
          </a:p>
        </p:txBody>
      </p:sp>
      <p:sp>
        <p:nvSpPr>
          <p:cNvPr id="180" name="Google Shape;180;p3:notes">
            <a:extLst>
              <a:ext uri="{FF2B5EF4-FFF2-40B4-BE49-F238E27FC236}">
                <a16:creationId xmlns:a16="http://schemas.microsoft.com/office/drawing/2014/main" id="{2DA42361-C285-1665-07C8-62115FD2DB1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6225927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>
          <a:extLst>
            <a:ext uri="{FF2B5EF4-FFF2-40B4-BE49-F238E27FC236}">
              <a16:creationId xmlns:a16="http://schemas.microsoft.com/office/drawing/2014/main" id="{5C9FCA66-EA34-F221-8629-F72FCAEB0E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:notes">
            <a:extLst>
              <a:ext uri="{FF2B5EF4-FFF2-40B4-BE49-F238E27FC236}">
                <a16:creationId xmlns:a16="http://schemas.microsoft.com/office/drawing/2014/main" id="{94079767-287B-7133-CD79-FE6AABDD2E2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endParaRPr dirty="0"/>
          </a:p>
        </p:txBody>
      </p:sp>
      <p:sp>
        <p:nvSpPr>
          <p:cNvPr id="180" name="Google Shape;180;p3:notes">
            <a:extLst>
              <a:ext uri="{FF2B5EF4-FFF2-40B4-BE49-F238E27FC236}">
                <a16:creationId xmlns:a16="http://schemas.microsoft.com/office/drawing/2014/main" id="{FA8CB728-16D1-B3BE-8D38-C2F25EC1879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9316052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>
          <a:extLst>
            <a:ext uri="{FF2B5EF4-FFF2-40B4-BE49-F238E27FC236}">
              <a16:creationId xmlns:a16="http://schemas.microsoft.com/office/drawing/2014/main" id="{399052E1-E292-45C2-B40F-E8390882EF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:notes">
            <a:extLst>
              <a:ext uri="{FF2B5EF4-FFF2-40B4-BE49-F238E27FC236}">
                <a16:creationId xmlns:a16="http://schemas.microsoft.com/office/drawing/2014/main" id="{99E7E8BE-B01D-F8E4-2524-494DE70A0D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endParaRPr dirty="0"/>
          </a:p>
        </p:txBody>
      </p:sp>
      <p:sp>
        <p:nvSpPr>
          <p:cNvPr id="180" name="Google Shape;180;p3:notes">
            <a:extLst>
              <a:ext uri="{FF2B5EF4-FFF2-40B4-BE49-F238E27FC236}">
                <a16:creationId xmlns:a16="http://schemas.microsoft.com/office/drawing/2014/main" id="{7FC102E6-BCE2-BD5C-65B0-126D245C72B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8839263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>
          <a:extLst>
            <a:ext uri="{FF2B5EF4-FFF2-40B4-BE49-F238E27FC236}">
              <a16:creationId xmlns:a16="http://schemas.microsoft.com/office/drawing/2014/main" id="{9212E070-14B9-188C-AB17-D0770AD7A4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:notes">
            <a:extLst>
              <a:ext uri="{FF2B5EF4-FFF2-40B4-BE49-F238E27FC236}">
                <a16:creationId xmlns:a16="http://schemas.microsoft.com/office/drawing/2014/main" id="{5B6CB641-321C-5E76-C926-2FAEB0550CF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endParaRPr dirty="0"/>
          </a:p>
        </p:txBody>
      </p:sp>
      <p:sp>
        <p:nvSpPr>
          <p:cNvPr id="180" name="Google Shape;180;p3:notes">
            <a:extLst>
              <a:ext uri="{FF2B5EF4-FFF2-40B4-BE49-F238E27FC236}">
                <a16:creationId xmlns:a16="http://schemas.microsoft.com/office/drawing/2014/main" id="{446428C2-9A7A-FD40-14B6-02AC19AC68E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9160884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>
          <a:extLst>
            <a:ext uri="{FF2B5EF4-FFF2-40B4-BE49-F238E27FC236}">
              <a16:creationId xmlns:a16="http://schemas.microsoft.com/office/drawing/2014/main" id="{9FA0BAD1-58C9-3733-E4CE-E4392114A9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:notes">
            <a:extLst>
              <a:ext uri="{FF2B5EF4-FFF2-40B4-BE49-F238E27FC236}">
                <a16:creationId xmlns:a16="http://schemas.microsoft.com/office/drawing/2014/main" id="{ACFC0C3E-60C1-DA06-354C-DF86D8D97F9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endParaRPr dirty="0"/>
          </a:p>
        </p:txBody>
      </p:sp>
      <p:sp>
        <p:nvSpPr>
          <p:cNvPr id="180" name="Google Shape;180;p3:notes">
            <a:extLst>
              <a:ext uri="{FF2B5EF4-FFF2-40B4-BE49-F238E27FC236}">
                <a16:creationId xmlns:a16="http://schemas.microsoft.com/office/drawing/2014/main" id="{49A3E6E5-0FAC-AC93-9D11-859124970F9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1140696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>
          <a:extLst>
            <a:ext uri="{FF2B5EF4-FFF2-40B4-BE49-F238E27FC236}">
              <a16:creationId xmlns:a16="http://schemas.microsoft.com/office/drawing/2014/main" id="{704A3C0A-6496-F4DD-E15E-09F0E813F6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:notes">
            <a:extLst>
              <a:ext uri="{FF2B5EF4-FFF2-40B4-BE49-F238E27FC236}">
                <a16:creationId xmlns:a16="http://schemas.microsoft.com/office/drawing/2014/main" id="{149E1D8B-AC05-A9C0-A97F-41DF5D0851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endParaRPr dirty="0"/>
          </a:p>
        </p:txBody>
      </p:sp>
      <p:sp>
        <p:nvSpPr>
          <p:cNvPr id="180" name="Google Shape;180;p3:notes">
            <a:extLst>
              <a:ext uri="{FF2B5EF4-FFF2-40B4-BE49-F238E27FC236}">
                <a16:creationId xmlns:a16="http://schemas.microsoft.com/office/drawing/2014/main" id="{7EDB8E33-8B62-BD66-1200-8966C2CEEBD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6781172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>
          <a:extLst>
            <a:ext uri="{FF2B5EF4-FFF2-40B4-BE49-F238E27FC236}">
              <a16:creationId xmlns:a16="http://schemas.microsoft.com/office/drawing/2014/main" id="{5986F4BD-2D70-0876-6321-B572EA3E40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:notes">
            <a:extLst>
              <a:ext uri="{FF2B5EF4-FFF2-40B4-BE49-F238E27FC236}">
                <a16:creationId xmlns:a16="http://schemas.microsoft.com/office/drawing/2014/main" id="{2407114B-8F50-6429-381D-C4D84EEEF00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endParaRPr dirty="0"/>
          </a:p>
        </p:txBody>
      </p:sp>
      <p:sp>
        <p:nvSpPr>
          <p:cNvPr id="180" name="Google Shape;180;p3:notes">
            <a:extLst>
              <a:ext uri="{FF2B5EF4-FFF2-40B4-BE49-F238E27FC236}">
                <a16:creationId xmlns:a16="http://schemas.microsoft.com/office/drawing/2014/main" id="{59A06407-18D3-FC02-E598-1C7B25029DE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2343204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>
          <a:extLst>
            <a:ext uri="{FF2B5EF4-FFF2-40B4-BE49-F238E27FC236}">
              <a16:creationId xmlns:a16="http://schemas.microsoft.com/office/drawing/2014/main" id="{569B66B5-43CC-A94E-96D5-4EEAA5D585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:notes">
            <a:extLst>
              <a:ext uri="{FF2B5EF4-FFF2-40B4-BE49-F238E27FC236}">
                <a16:creationId xmlns:a16="http://schemas.microsoft.com/office/drawing/2014/main" id="{9426D9A6-D273-769B-4821-9DC754DB23D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endParaRPr dirty="0"/>
          </a:p>
        </p:txBody>
      </p:sp>
      <p:sp>
        <p:nvSpPr>
          <p:cNvPr id="180" name="Google Shape;180;p3:notes">
            <a:extLst>
              <a:ext uri="{FF2B5EF4-FFF2-40B4-BE49-F238E27FC236}">
                <a16:creationId xmlns:a16="http://schemas.microsoft.com/office/drawing/2014/main" id="{87D8867F-28FD-E31D-0DB5-C9C2F4261B9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1795337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>
          <a:extLst>
            <a:ext uri="{FF2B5EF4-FFF2-40B4-BE49-F238E27FC236}">
              <a16:creationId xmlns:a16="http://schemas.microsoft.com/office/drawing/2014/main" id="{10207296-8AA4-E908-58F5-1F196AAE89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:notes">
            <a:extLst>
              <a:ext uri="{FF2B5EF4-FFF2-40B4-BE49-F238E27FC236}">
                <a16:creationId xmlns:a16="http://schemas.microsoft.com/office/drawing/2014/main" id="{5C3AA88D-5AEE-B97D-87B3-5E46A47A218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endParaRPr dirty="0"/>
          </a:p>
        </p:txBody>
      </p:sp>
      <p:sp>
        <p:nvSpPr>
          <p:cNvPr id="180" name="Google Shape;180;p3:notes">
            <a:extLst>
              <a:ext uri="{FF2B5EF4-FFF2-40B4-BE49-F238E27FC236}">
                <a16:creationId xmlns:a16="http://schemas.microsoft.com/office/drawing/2014/main" id="{3CB17319-F1CB-39EA-BE2E-55C07DB96C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077593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x">
  <p:cSld name="TITLE_AND_BODY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>
            <a:spLocks noGrp="1"/>
          </p:cNvSpPr>
          <p:nvPr>
            <p:ph type="title"/>
          </p:nvPr>
        </p:nvSpPr>
        <p:spPr>
          <a:xfrm>
            <a:off x="1165320" y="66600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1165320" y="1600200"/>
            <a:ext cx="3306600" cy="496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" type="obj">
  <p:cSld name="OBJECT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 txBox="1">
            <a:spLocks noGrp="1"/>
          </p:cNvSpPr>
          <p:nvPr>
            <p:ph type="title"/>
          </p:nvPr>
        </p:nvSpPr>
        <p:spPr>
          <a:xfrm>
            <a:off x="1165320" y="66600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4"/>
          <p:cNvSpPr txBox="1">
            <a:spLocks noGrp="1"/>
          </p:cNvSpPr>
          <p:nvPr>
            <p:ph type="body" idx="1"/>
          </p:nvPr>
        </p:nvSpPr>
        <p:spPr>
          <a:xfrm>
            <a:off x="1165320" y="1600200"/>
            <a:ext cx="3306600" cy="496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" type="twoObj">
  <p:cSld name="TWO_OBJECTS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 txBox="1">
            <a:spLocks noGrp="1"/>
          </p:cNvSpPr>
          <p:nvPr>
            <p:ph type="title"/>
          </p:nvPr>
        </p:nvSpPr>
        <p:spPr>
          <a:xfrm>
            <a:off x="1165320" y="66600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5"/>
          <p:cNvSpPr txBox="1">
            <a:spLocks noGrp="1"/>
          </p:cNvSpPr>
          <p:nvPr>
            <p:ph type="body" idx="1"/>
          </p:nvPr>
        </p:nvSpPr>
        <p:spPr>
          <a:xfrm>
            <a:off x="1165320" y="1600200"/>
            <a:ext cx="1613520" cy="496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body" idx="2"/>
          </p:nvPr>
        </p:nvSpPr>
        <p:spPr>
          <a:xfrm>
            <a:off x="2859840" y="1600200"/>
            <a:ext cx="1613520" cy="496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"/>
          <p:cNvSpPr txBox="1">
            <a:spLocks noGrp="1"/>
          </p:cNvSpPr>
          <p:nvPr>
            <p:ph type="title"/>
          </p:nvPr>
        </p:nvSpPr>
        <p:spPr>
          <a:xfrm>
            <a:off x="1165320" y="66600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entered Text" type="objOnly">
  <p:cSld name="OBJECT_ONL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"/>
          <p:cNvSpPr txBox="1">
            <a:spLocks noGrp="1"/>
          </p:cNvSpPr>
          <p:nvPr>
            <p:ph type="subTitle" idx="1"/>
          </p:nvPr>
        </p:nvSpPr>
        <p:spPr>
          <a:xfrm>
            <a:off x="1165320" y="666000"/>
            <a:ext cx="6857640" cy="2132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and Content" type="twoObjAndObj">
  <p:cSld name="TWO_OBJECTS_AND_OBJEC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8"/>
          <p:cNvSpPr txBox="1">
            <a:spLocks noGrp="1"/>
          </p:cNvSpPr>
          <p:nvPr>
            <p:ph type="title"/>
          </p:nvPr>
        </p:nvSpPr>
        <p:spPr>
          <a:xfrm>
            <a:off x="1165320" y="66600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8"/>
          <p:cNvSpPr txBox="1">
            <a:spLocks noGrp="1"/>
          </p:cNvSpPr>
          <p:nvPr>
            <p:ph type="body" idx="1"/>
          </p:nvPr>
        </p:nvSpPr>
        <p:spPr>
          <a:xfrm>
            <a:off x="1165320" y="1600200"/>
            <a:ext cx="161352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8"/>
          <p:cNvSpPr txBox="1">
            <a:spLocks noGrp="1"/>
          </p:cNvSpPr>
          <p:nvPr>
            <p:ph type="body" idx="2"/>
          </p:nvPr>
        </p:nvSpPr>
        <p:spPr>
          <a:xfrm>
            <a:off x="2859840" y="1600200"/>
            <a:ext cx="1613520" cy="496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8"/>
          <p:cNvSpPr txBox="1">
            <a:spLocks noGrp="1"/>
          </p:cNvSpPr>
          <p:nvPr>
            <p:ph type="body" idx="3"/>
          </p:nvPr>
        </p:nvSpPr>
        <p:spPr>
          <a:xfrm>
            <a:off x="1165320" y="4194720"/>
            <a:ext cx="161352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Content and 2 Content" type="objAndTwoObj">
  <p:cSld name="OBJECT_AND_TWO_OBJECTS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9"/>
          <p:cNvSpPr txBox="1">
            <a:spLocks noGrp="1"/>
          </p:cNvSpPr>
          <p:nvPr>
            <p:ph type="title"/>
          </p:nvPr>
        </p:nvSpPr>
        <p:spPr>
          <a:xfrm>
            <a:off x="1165320" y="66600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9"/>
          <p:cNvSpPr txBox="1">
            <a:spLocks noGrp="1"/>
          </p:cNvSpPr>
          <p:nvPr>
            <p:ph type="body" idx="1"/>
          </p:nvPr>
        </p:nvSpPr>
        <p:spPr>
          <a:xfrm>
            <a:off x="1165320" y="1600200"/>
            <a:ext cx="1613520" cy="496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9"/>
          <p:cNvSpPr txBox="1">
            <a:spLocks noGrp="1"/>
          </p:cNvSpPr>
          <p:nvPr>
            <p:ph type="body" idx="2"/>
          </p:nvPr>
        </p:nvSpPr>
        <p:spPr>
          <a:xfrm>
            <a:off x="2859840" y="1600200"/>
            <a:ext cx="161352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9"/>
          <p:cNvSpPr txBox="1">
            <a:spLocks noGrp="1"/>
          </p:cNvSpPr>
          <p:nvPr>
            <p:ph type="body" idx="3"/>
          </p:nvPr>
        </p:nvSpPr>
        <p:spPr>
          <a:xfrm>
            <a:off x="2859840" y="4194720"/>
            <a:ext cx="161352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over Content" type="twoObjOverTx">
  <p:cSld name="TWO_OBJECTS_OVER_TEXT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0"/>
          <p:cNvSpPr txBox="1">
            <a:spLocks noGrp="1"/>
          </p:cNvSpPr>
          <p:nvPr>
            <p:ph type="title"/>
          </p:nvPr>
        </p:nvSpPr>
        <p:spPr>
          <a:xfrm>
            <a:off x="1165320" y="66600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0"/>
          <p:cNvSpPr txBox="1">
            <a:spLocks noGrp="1"/>
          </p:cNvSpPr>
          <p:nvPr>
            <p:ph type="body" idx="1"/>
          </p:nvPr>
        </p:nvSpPr>
        <p:spPr>
          <a:xfrm>
            <a:off x="1165320" y="1600200"/>
            <a:ext cx="161352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0"/>
          <p:cNvSpPr txBox="1">
            <a:spLocks noGrp="1"/>
          </p:cNvSpPr>
          <p:nvPr>
            <p:ph type="body" idx="2"/>
          </p:nvPr>
        </p:nvSpPr>
        <p:spPr>
          <a:xfrm>
            <a:off x="2859840" y="1600200"/>
            <a:ext cx="161352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0"/>
          <p:cNvSpPr txBox="1">
            <a:spLocks noGrp="1"/>
          </p:cNvSpPr>
          <p:nvPr>
            <p:ph type="body" idx="3"/>
          </p:nvPr>
        </p:nvSpPr>
        <p:spPr>
          <a:xfrm>
            <a:off x="1165320" y="4194720"/>
            <a:ext cx="330660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 over Content" type="objOverTx">
  <p:cSld name="OBJECT_OVER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>
            <a:spLocks noGrp="1"/>
          </p:cNvSpPr>
          <p:nvPr>
            <p:ph type="title"/>
          </p:nvPr>
        </p:nvSpPr>
        <p:spPr>
          <a:xfrm>
            <a:off x="1165320" y="66600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body" idx="1"/>
          </p:nvPr>
        </p:nvSpPr>
        <p:spPr>
          <a:xfrm>
            <a:off x="1165320" y="1600200"/>
            <a:ext cx="330660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body" idx="2"/>
          </p:nvPr>
        </p:nvSpPr>
        <p:spPr>
          <a:xfrm>
            <a:off x="1165320" y="4194720"/>
            <a:ext cx="330660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4 Content" type="fourObj">
  <p:cSld name="FOUR_OBJECTS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2"/>
          <p:cNvSpPr txBox="1">
            <a:spLocks noGrp="1"/>
          </p:cNvSpPr>
          <p:nvPr>
            <p:ph type="title"/>
          </p:nvPr>
        </p:nvSpPr>
        <p:spPr>
          <a:xfrm>
            <a:off x="1165320" y="66600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2"/>
          <p:cNvSpPr txBox="1">
            <a:spLocks noGrp="1"/>
          </p:cNvSpPr>
          <p:nvPr>
            <p:ph type="body" idx="1"/>
          </p:nvPr>
        </p:nvSpPr>
        <p:spPr>
          <a:xfrm>
            <a:off x="1165320" y="1600200"/>
            <a:ext cx="161352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2"/>
          <p:cNvSpPr txBox="1">
            <a:spLocks noGrp="1"/>
          </p:cNvSpPr>
          <p:nvPr>
            <p:ph type="body" idx="2"/>
          </p:nvPr>
        </p:nvSpPr>
        <p:spPr>
          <a:xfrm>
            <a:off x="2859840" y="1600200"/>
            <a:ext cx="161352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2"/>
          <p:cNvSpPr txBox="1">
            <a:spLocks noGrp="1"/>
          </p:cNvSpPr>
          <p:nvPr>
            <p:ph type="body" idx="3"/>
          </p:nvPr>
        </p:nvSpPr>
        <p:spPr>
          <a:xfrm>
            <a:off x="1165320" y="4194720"/>
            <a:ext cx="161352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body" idx="4"/>
          </p:nvPr>
        </p:nvSpPr>
        <p:spPr>
          <a:xfrm>
            <a:off x="2859840" y="4194720"/>
            <a:ext cx="161352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6 Content">
  <p:cSld name="Title, 6 Content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1165320" y="66600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1165320" y="1600200"/>
            <a:ext cx="106452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body" idx="2"/>
          </p:nvPr>
        </p:nvSpPr>
        <p:spPr>
          <a:xfrm>
            <a:off x="2283480" y="1600200"/>
            <a:ext cx="106452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body" idx="3"/>
          </p:nvPr>
        </p:nvSpPr>
        <p:spPr>
          <a:xfrm>
            <a:off x="3401640" y="1600200"/>
            <a:ext cx="106452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body" idx="4"/>
          </p:nvPr>
        </p:nvSpPr>
        <p:spPr>
          <a:xfrm>
            <a:off x="1165320" y="4194720"/>
            <a:ext cx="106452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3"/>
          <p:cNvSpPr txBox="1">
            <a:spLocks noGrp="1"/>
          </p:cNvSpPr>
          <p:nvPr>
            <p:ph type="body" idx="5"/>
          </p:nvPr>
        </p:nvSpPr>
        <p:spPr>
          <a:xfrm>
            <a:off x="2283480" y="4194720"/>
            <a:ext cx="106452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body" idx="6"/>
          </p:nvPr>
        </p:nvSpPr>
        <p:spPr>
          <a:xfrm>
            <a:off x="3401640" y="4194720"/>
            <a:ext cx="106452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" type="obj">
  <p:cSld name="OBJEC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7"/>
          <p:cNvSpPr txBox="1">
            <a:spLocks noGrp="1"/>
          </p:cNvSpPr>
          <p:nvPr>
            <p:ph type="title"/>
          </p:nvPr>
        </p:nvSpPr>
        <p:spPr>
          <a:xfrm>
            <a:off x="1165320" y="66600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7"/>
          <p:cNvSpPr txBox="1">
            <a:spLocks noGrp="1"/>
          </p:cNvSpPr>
          <p:nvPr>
            <p:ph type="body" idx="1"/>
          </p:nvPr>
        </p:nvSpPr>
        <p:spPr>
          <a:xfrm>
            <a:off x="1165320" y="1600200"/>
            <a:ext cx="3306600" cy="496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" type="twoObj">
  <p:cSld name="TWO_OBJECTS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>
            <a:spLocks noGrp="1"/>
          </p:cNvSpPr>
          <p:nvPr>
            <p:ph type="title"/>
          </p:nvPr>
        </p:nvSpPr>
        <p:spPr>
          <a:xfrm>
            <a:off x="1165320" y="66600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8"/>
          <p:cNvSpPr txBox="1">
            <a:spLocks noGrp="1"/>
          </p:cNvSpPr>
          <p:nvPr>
            <p:ph type="body" idx="1"/>
          </p:nvPr>
        </p:nvSpPr>
        <p:spPr>
          <a:xfrm>
            <a:off x="1165320" y="1600200"/>
            <a:ext cx="1613520" cy="496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8"/>
          <p:cNvSpPr txBox="1">
            <a:spLocks noGrp="1"/>
          </p:cNvSpPr>
          <p:nvPr>
            <p:ph type="body" idx="2"/>
          </p:nvPr>
        </p:nvSpPr>
        <p:spPr>
          <a:xfrm>
            <a:off x="2859840" y="1600200"/>
            <a:ext cx="1613520" cy="496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9"/>
          <p:cNvSpPr txBox="1">
            <a:spLocks noGrp="1"/>
          </p:cNvSpPr>
          <p:nvPr>
            <p:ph type="title"/>
          </p:nvPr>
        </p:nvSpPr>
        <p:spPr>
          <a:xfrm>
            <a:off x="1165320" y="66600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entered Text" type="objOnly">
  <p:cSld name="OBJECT_ONLY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0"/>
          <p:cNvSpPr txBox="1">
            <a:spLocks noGrp="1"/>
          </p:cNvSpPr>
          <p:nvPr>
            <p:ph type="subTitle" idx="1"/>
          </p:nvPr>
        </p:nvSpPr>
        <p:spPr>
          <a:xfrm>
            <a:off x="1165320" y="666000"/>
            <a:ext cx="6857640" cy="2132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and Content" type="twoObjAndObj">
  <p:cSld name="TWO_OBJECTS_AND_OBJEC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1"/>
          <p:cNvSpPr txBox="1">
            <a:spLocks noGrp="1"/>
          </p:cNvSpPr>
          <p:nvPr>
            <p:ph type="title"/>
          </p:nvPr>
        </p:nvSpPr>
        <p:spPr>
          <a:xfrm>
            <a:off x="1165320" y="66600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1"/>
          <p:cNvSpPr txBox="1">
            <a:spLocks noGrp="1"/>
          </p:cNvSpPr>
          <p:nvPr>
            <p:ph type="body" idx="1"/>
          </p:nvPr>
        </p:nvSpPr>
        <p:spPr>
          <a:xfrm>
            <a:off x="1165320" y="1600200"/>
            <a:ext cx="161352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21"/>
          <p:cNvSpPr txBox="1">
            <a:spLocks noGrp="1"/>
          </p:cNvSpPr>
          <p:nvPr>
            <p:ph type="body" idx="2"/>
          </p:nvPr>
        </p:nvSpPr>
        <p:spPr>
          <a:xfrm>
            <a:off x="2859840" y="1600200"/>
            <a:ext cx="1613520" cy="496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1"/>
          <p:cNvSpPr txBox="1">
            <a:spLocks noGrp="1"/>
          </p:cNvSpPr>
          <p:nvPr>
            <p:ph type="body" idx="3"/>
          </p:nvPr>
        </p:nvSpPr>
        <p:spPr>
          <a:xfrm>
            <a:off x="1165320" y="4194720"/>
            <a:ext cx="161352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Content and 2 Content" type="objAndTwoObj">
  <p:cSld name="OBJECT_AND_TWO_OBJECTS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2"/>
          <p:cNvSpPr txBox="1">
            <a:spLocks noGrp="1"/>
          </p:cNvSpPr>
          <p:nvPr>
            <p:ph type="title"/>
          </p:nvPr>
        </p:nvSpPr>
        <p:spPr>
          <a:xfrm>
            <a:off x="1165320" y="66600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22"/>
          <p:cNvSpPr txBox="1">
            <a:spLocks noGrp="1"/>
          </p:cNvSpPr>
          <p:nvPr>
            <p:ph type="body" idx="1"/>
          </p:nvPr>
        </p:nvSpPr>
        <p:spPr>
          <a:xfrm>
            <a:off x="1165320" y="1600200"/>
            <a:ext cx="1613520" cy="496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22"/>
          <p:cNvSpPr txBox="1">
            <a:spLocks noGrp="1"/>
          </p:cNvSpPr>
          <p:nvPr>
            <p:ph type="body" idx="2"/>
          </p:nvPr>
        </p:nvSpPr>
        <p:spPr>
          <a:xfrm>
            <a:off x="2859840" y="1600200"/>
            <a:ext cx="161352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22"/>
          <p:cNvSpPr txBox="1">
            <a:spLocks noGrp="1"/>
          </p:cNvSpPr>
          <p:nvPr>
            <p:ph type="body" idx="3"/>
          </p:nvPr>
        </p:nvSpPr>
        <p:spPr>
          <a:xfrm>
            <a:off x="2859840" y="4194720"/>
            <a:ext cx="161352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over Content" type="twoObjOverTx">
  <p:cSld name="TWO_OBJECTS_OVER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3"/>
          <p:cNvSpPr txBox="1">
            <a:spLocks noGrp="1"/>
          </p:cNvSpPr>
          <p:nvPr>
            <p:ph type="title"/>
          </p:nvPr>
        </p:nvSpPr>
        <p:spPr>
          <a:xfrm>
            <a:off x="1165320" y="66600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23"/>
          <p:cNvSpPr txBox="1">
            <a:spLocks noGrp="1"/>
          </p:cNvSpPr>
          <p:nvPr>
            <p:ph type="body" idx="1"/>
          </p:nvPr>
        </p:nvSpPr>
        <p:spPr>
          <a:xfrm>
            <a:off x="1165320" y="1600200"/>
            <a:ext cx="161352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23"/>
          <p:cNvSpPr txBox="1">
            <a:spLocks noGrp="1"/>
          </p:cNvSpPr>
          <p:nvPr>
            <p:ph type="body" idx="2"/>
          </p:nvPr>
        </p:nvSpPr>
        <p:spPr>
          <a:xfrm>
            <a:off x="2859840" y="1600200"/>
            <a:ext cx="161352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23"/>
          <p:cNvSpPr txBox="1">
            <a:spLocks noGrp="1"/>
          </p:cNvSpPr>
          <p:nvPr>
            <p:ph type="body" idx="3"/>
          </p:nvPr>
        </p:nvSpPr>
        <p:spPr>
          <a:xfrm>
            <a:off x="1165320" y="4194720"/>
            <a:ext cx="330660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 over Content" type="objOverTx">
  <p:cSld name="OBJECT_OVER_TEXT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>
            <a:spLocks noGrp="1"/>
          </p:cNvSpPr>
          <p:nvPr>
            <p:ph type="title"/>
          </p:nvPr>
        </p:nvSpPr>
        <p:spPr>
          <a:xfrm>
            <a:off x="1165320" y="66600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24"/>
          <p:cNvSpPr txBox="1">
            <a:spLocks noGrp="1"/>
          </p:cNvSpPr>
          <p:nvPr>
            <p:ph type="body" idx="1"/>
          </p:nvPr>
        </p:nvSpPr>
        <p:spPr>
          <a:xfrm>
            <a:off x="1165320" y="1600200"/>
            <a:ext cx="330660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24"/>
          <p:cNvSpPr txBox="1">
            <a:spLocks noGrp="1"/>
          </p:cNvSpPr>
          <p:nvPr>
            <p:ph type="body" idx="2"/>
          </p:nvPr>
        </p:nvSpPr>
        <p:spPr>
          <a:xfrm>
            <a:off x="1165320" y="4194720"/>
            <a:ext cx="330660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4 Content" type="fourObj">
  <p:cSld name="FOUR_OBJECTS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5"/>
          <p:cNvSpPr txBox="1">
            <a:spLocks noGrp="1"/>
          </p:cNvSpPr>
          <p:nvPr>
            <p:ph type="title"/>
          </p:nvPr>
        </p:nvSpPr>
        <p:spPr>
          <a:xfrm>
            <a:off x="1165320" y="66600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25"/>
          <p:cNvSpPr txBox="1">
            <a:spLocks noGrp="1"/>
          </p:cNvSpPr>
          <p:nvPr>
            <p:ph type="body" idx="1"/>
          </p:nvPr>
        </p:nvSpPr>
        <p:spPr>
          <a:xfrm>
            <a:off x="1165320" y="1600200"/>
            <a:ext cx="161352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25"/>
          <p:cNvSpPr txBox="1">
            <a:spLocks noGrp="1"/>
          </p:cNvSpPr>
          <p:nvPr>
            <p:ph type="body" idx="2"/>
          </p:nvPr>
        </p:nvSpPr>
        <p:spPr>
          <a:xfrm>
            <a:off x="2859840" y="1600200"/>
            <a:ext cx="161352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25"/>
          <p:cNvSpPr txBox="1">
            <a:spLocks noGrp="1"/>
          </p:cNvSpPr>
          <p:nvPr>
            <p:ph type="body" idx="3"/>
          </p:nvPr>
        </p:nvSpPr>
        <p:spPr>
          <a:xfrm>
            <a:off x="1165320" y="4194720"/>
            <a:ext cx="161352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25"/>
          <p:cNvSpPr txBox="1">
            <a:spLocks noGrp="1"/>
          </p:cNvSpPr>
          <p:nvPr>
            <p:ph type="body" idx="4"/>
          </p:nvPr>
        </p:nvSpPr>
        <p:spPr>
          <a:xfrm>
            <a:off x="2859840" y="4194720"/>
            <a:ext cx="161352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6 Content">
  <p:cSld name="Title, 6 Content"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6"/>
          <p:cNvSpPr txBox="1">
            <a:spLocks noGrp="1"/>
          </p:cNvSpPr>
          <p:nvPr>
            <p:ph type="title"/>
          </p:nvPr>
        </p:nvSpPr>
        <p:spPr>
          <a:xfrm>
            <a:off x="1165320" y="66600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26"/>
          <p:cNvSpPr txBox="1">
            <a:spLocks noGrp="1"/>
          </p:cNvSpPr>
          <p:nvPr>
            <p:ph type="body" idx="1"/>
          </p:nvPr>
        </p:nvSpPr>
        <p:spPr>
          <a:xfrm>
            <a:off x="1165320" y="1600200"/>
            <a:ext cx="106452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26"/>
          <p:cNvSpPr txBox="1">
            <a:spLocks noGrp="1"/>
          </p:cNvSpPr>
          <p:nvPr>
            <p:ph type="body" idx="2"/>
          </p:nvPr>
        </p:nvSpPr>
        <p:spPr>
          <a:xfrm>
            <a:off x="2283480" y="1600200"/>
            <a:ext cx="106452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26"/>
          <p:cNvSpPr txBox="1">
            <a:spLocks noGrp="1"/>
          </p:cNvSpPr>
          <p:nvPr>
            <p:ph type="body" idx="3"/>
          </p:nvPr>
        </p:nvSpPr>
        <p:spPr>
          <a:xfrm>
            <a:off x="3401640" y="1600200"/>
            <a:ext cx="106452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26"/>
          <p:cNvSpPr txBox="1">
            <a:spLocks noGrp="1"/>
          </p:cNvSpPr>
          <p:nvPr>
            <p:ph type="body" idx="4"/>
          </p:nvPr>
        </p:nvSpPr>
        <p:spPr>
          <a:xfrm>
            <a:off x="1165320" y="4194720"/>
            <a:ext cx="106452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26"/>
          <p:cNvSpPr txBox="1">
            <a:spLocks noGrp="1"/>
          </p:cNvSpPr>
          <p:nvPr>
            <p:ph type="body" idx="5"/>
          </p:nvPr>
        </p:nvSpPr>
        <p:spPr>
          <a:xfrm>
            <a:off x="2283480" y="4194720"/>
            <a:ext cx="106452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26"/>
          <p:cNvSpPr txBox="1">
            <a:spLocks noGrp="1"/>
          </p:cNvSpPr>
          <p:nvPr>
            <p:ph type="body" idx="6"/>
          </p:nvPr>
        </p:nvSpPr>
        <p:spPr>
          <a:xfrm>
            <a:off x="3401640" y="4194720"/>
            <a:ext cx="106452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" type="twoObj">
  <p:cSld name="TWO_OBJECTS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8"/>
          <p:cNvSpPr txBox="1">
            <a:spLocks noGrp="1"/>
          </p:cNvSpPr>
          <p:nvPr>
            <p:ph type="title"/>
          </p:nvPr>
        </p:nvSpPr>
        <p:spPr>
          <a:xfrm>
            <a:off x="1165320" y="66600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28"/>
          <p:cNvSpPr txBox="1">
            <a:spLocks noGrp="1"/>
          </p:cNvSpPr>
          <p:nvPr>
            <p:ph type="body" idx="1"/>
          </p:nvPr>
        </p:nvSpPr>
        <p:spPr>
          <a:xfrm>
            <a:off x="1165320" y="1600200"/>
            <a:ext cx="1613520" cy="496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28"/>
          <p:cNvSpPr txBox="1">
            <a:spLocks noGrp="1"/>
          </p:cNvSpPr>
          <p:nvPr>
            <p:ph type="body" idx="2"/>
          </p:nvPr>
        </p:nvSpPr>
        <p:spPr>
          <a:xfrm>
            <a:off x="2859840" y="1600200"/>
            <a:ext cx="1613520" cy="496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entered Text" type="objOnly">
  <p:cSld name="OBJECT_ONLY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33"/>
          <p:cNvSpPr txBox="1">
            <a:spLocks noGrp="1"/>
          </p:cNvSpPr>
          <p:nvPr>
            <p:ph type="subTitle" idx="1"/>
          </p:nvPr>
        </p:nvSpPr>
        <p:spPr>
          <a:xfrm>
            <a:off x="1165320" y="666000"/>
            <a:ext cx="6857640" cy="2132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and Content" type="twoObjAndObj">
  <p:cSld name="TWO_OBJECTS_AND_OBJECT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4"/>
          <p:cNvSpPr txBox="1">
            <a:spLocks noGrp="1"/>
          </p:cNvSpPr>
          <p:nvPr>
            <p:ph type="title"/>
          </p:nvPr>
        </p:nvSpPr>
        <p:spPr>
          <a:xfrm>
            <a:off x="1165320" y="66600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34"/>
          <p:cNvSpPr txBox="1">
            <a:spLocks noGrp="1"/>
          </p:cNvSpPr>
          <p:nvPr>
            <p:ph type="body" idx="1"/>
          </p:nvPr>
        </p:nvSpPr>
        <p:spPr>
          <a:xfrm>
            <a:off x="1165320" y="1600200"/>
            <a:ext cx="161352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34"/>
          <p:cNvSpPr txBox="1">
            <a:spLocks noGrp="1"/>
          </p:cNvSpPr>
          <p:nvPr>
            <p:ph type="body" idx="2"/>
          </p:nvPr>
        </p:nvSpPr>
        <p:spPr>
          <a:xfrm>
            <a:off x="2859840" y="1600200"/>
            <a:ext cx="1613520" cy="496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7" name="Google Shape;137;p34"/>
          <p:cNvSpPr txBox="1">
            <a:spLocks noGrp="1"/>
          </p:cNvSpPr>
          <p:nvPr>
            <p:ph type="body" idx="3"/>
          </p:nvPr>
        </p:nvSpPr>
        <p:spPr>
          <a:xfrm>
            <a:off x="1165320" y="4194720"/>
            <a:ext cx="161352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Content and 2 Content" type="objAndTwoObj">
  <p:cSld name="OBJECT_AND_TWO_OBJECTS"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5"/>
          <p:cNvSpPr txBox="1">
            <a:spLocks noGrp="1"/>
          </p:cNvSpPr>
          <p:nvPr>
            <p:ph type="title"/>
          </p:nvPr>
        </p:nvSpPr>
        <p:spPr>
          <a:xfrm>
            <a:off x="1165320" y="66600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0" name="Google Shape;140;p35"/>
          <p:cNvSpPr txBox="1">
            <a:spLocks noGrp="1"/>
          </p:cNvSpPr>
          <p:nvPr>
            <p:ph type="body" idx="1"/>
          </p:nvPr>
        </p:nvSpPr>
        <p:spPr>
          <a:xfrm>
            <a:off x="1165320" y="1600200"/>
            <a:ext cx="1613520" cy="496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1" name="Google Shape;141;p35"/>
          <p:cNvSpPr txBox="1">
            <a:spLocks noGrp="1"/>
          </p:cNvSpPr>
          <p:nvPr>
            <p:ph type="body" idx="2"/>
          </p:nvPr>
        </p:nvSpPr>
        <p:spPr>
          <a:xfrm>
            <a:off x="2859840" y="1600200"/>
            <a:ext cx="161352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35"/>
          <p:cNvSpPr txBox="1">
            <a:spLocks noGrp="1"/>
          </p:cNvSpPr>
          <p:nvPr>
            <p:ph type="body" idx="3"/>
          </p:nvPr>
        </p:nvSpPr>
        <p:spPr>
          <a:xfrm>
            <a:off x="2859840" y="4194720"/>
            <a:ext cx="161352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over Content" type="twoObjOverTx">
  <p:cSld name="TWO_OBJECTS_OVER_TEXT"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6"/>
          <p:cNvSpPr txBox="1">
            <a:spLocks noGrp="1"/>
          </p:cNvSpPr>
          <p:nvPr>
            <p:ph type="title"/>
          </p:nvPr>
        </p:nvSpPr>
        <p:spPr>
          <a:xfrm>
            <a:off x="1165320" y="66600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p36"/>
          <p:cNvSpPr txBox="1">
            <a:spLocks noGrp="1"/>
          </p:cNvSpPr>
          <p:nvPr>
            <p:ph type="body" idx="1"/>
          </p:nvPr>
        </p:nvSpPr>
        <p:spPr>
          <a:xfrm>
            <a:off x="1165320" y="1600200"/>
            <a:ext cx="161352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6" name="Google Shape;146;p36"/>
          <p:cNvSpPr txBox="1">
            <a:spLocks noGrp="1"/>
          </p:cNvSpPr>
          <p:nvPr>
            <p:ph type="body" idx="2"/>
          </p:nvPr>
        </p:nvSpPr>
        <p:spPr>
          <a:xfrm>
            <a:off x="2859840" y="1600200"/>
            <a:ext cx="161352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7" name="Google Shape;147;p36"/>
          <p:cNvSpPr txBox="1">
            <a:spLocks noGrp="1"/>
          </p:cNvSpPr>
          <p:nvPr>
            <p:ph type="body" idx="3"/>
          </p:nvPr>
        </p:nvSpPr>
        <p:spPr>
          <a:xfrm>
            <a:off x="1165320" y="4194720"/>
            <a:ext cx="330660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 over Content" type="objOverTx">
  <p:cSld name="OBJECT_OVER_TEXT"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37"/>
          <p:cNvSpPr txBox="1">
            <a:spLocks noGrp="1"/>
          </p:cNvSpPr>
          <p:nvPr>
            <p:ph type="title"/>
          </p:nvPr>
        </p:nvSpPr>
        <p:spPr>
          <a:xfrm>
            <a:off x="1165320" y="66600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0" name="Google Shape;150;p37"/>
          <p:cNvSpPr txBox="1">
            <a:spLocks noGrp="1"/>
          </p:cNvSpPr>
          <p:nvPr>
            <p:ph type="body" idx="1"/>
          </p:nvPr>
        </p:nvSpPr>
        <p:spPr>
          <a:xfrm>
            <a:off x="1165320" y="1600200"/>
            <a:ext cx="330660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1" name="Google Shape;151;p37"/>
          <p:cNvSpPr txBox="1">
            <a:spLocks noGrp="1"/>
          </p:cNvSpPr>
          <p:nvPr>
            <p:ph type="body" idx="2"/>
          </p:nvPr>
        </p:nvSpPr>
        <p:spPr>
          <a:xfrm>
            <a:off x="1165320" y="4194720"/>
            <a:ext cx="330660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4 Content" type="fourObj">
  <p:cSld name="FOUR_OBJECTS"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38"/>
          <p:cNvSpPr txBox="1">
            <a:spLocks noGrp="1"/>
          </p:cNvSpPr>
          <p:nvPr>
            <p:ph type="title"/>
          </p:nvPr>
        </p:nvSpPr>
        <p:spPr>
          <a:xfrm>
            <a:off x="1165320" y="66600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4" name="Google Shape;154;p38"/>
          <p:cNvSpPr txBox="1">
            <a:spLocks noGrp="1"/>
          </p:cNvSpPr>
          <p:nvPr>
            <p:ph type="body" idx="1"/>
          </p:nvPr>
        </p:nvSpPr>
        <p:spPr>
          <a:xfrm>
            <a:off x="1165320" y="1600200"/>
            <a:ext cx="161352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5" name="Google Shape;155;p38"/>
          <p:cNvSpPr txBox="1">
            <a:spLocks noGrp="1"/>
          </p:cNvSpPr>
          <p:nvPr>
            <p:ph type="body" idx="2"/>
          </p:nvPr>
        </p:nvSpPr>
        <p:spPr>
          <a:xfrm>
            <a:off x="2859840" y="1600200"/>
            <a:ext cx="161352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6" name="Google Shape;156;p38"/>
          <p:cNvSpPr txBox="1">
            <a:spLocks noGrp="1"/>
          </p:cNvSpPr>
          <p:nvPr>
            <p:ph type="body" idx="3"/>
          </p:nvPr>
        </p:nvSpPr>
        <p:spPr>
          <a:xfrm>
            <a:off x="1165320" y="4194720"/>
            <a:ext cx="161352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7" name="Google Shape;157;p38"/>
          <p:cNvSpPr txBox="1">
            <a:spLocks noGrp="1"/>
          </p:cNvSpPr>
          <p:nvPr>
            <p:ph type="body" idx="4"/>
          </p:nvPr>
        </p:nvSpPr>
        <p:spPr>
          <a:xfrm>
            <a:off x="2859840" y="4194720"/>
            <a:ext cx="161352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6 Content">
  <p:cSld name="Title, 6 Content"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9"/>
          <p:cNvSpPr txBox="1">
            <a:spLocks noGrp="1"/>
          </p:cNvSpPr>
          <p:nvPr>
            <p:ph type="title"/>
          </p:nvPr>
        </p:nvSpPr>
        <p:spPr>
          <a:xfrm>
            <a:off x="1165320" y="66600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0" name="Google Shape;160;p39"/>
          <p:cNvSpPr txBox="1">
            <a:spLocks noGrp="1"/>
          </p:cNvSpPr>
          <p:nvPr>
            <p:ph type="body" idx="1"/>
          </p:nvPr>
        </p:nvSpPr>
        <p:spPr>
          <a:xfrm>
            <a:off x="1165320" y="1600200"/>
            <a:ext cx="106452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1" name="Google Shape;161;p39"/>
          <p:cNvSpPr txBox="1">
            <a:spLocks noGrp="1"/>
          </p:cNvSpPr>
          <p:nvPr>
            <p:ph type="body" idx="2"/>
          </p:nvPr>
        </p:nvSpPr>
        <p:spPr>
          <a:xfrm>
            <a:off x="2283480" y="1600200"/>
            <a:ext cx="106452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2" name="Google Shape;162;p39"/>
          <p:cNvSpPr txBox="1">
            <a:spLocks noGrp="1"/>
          </p:cNvSpPr>
          <p:nvPr>
            <p:ph type="body" idx="3"/>
          </p:nvPr>
        </p:nvSpPr>
        <p:spPr>
          <a:xfrm>
            <a:off x="3401640" y="1600200"/>
            <a:ext cx="106452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3" name="Google Shape;163;p39"/>
          <p:cNvSpPr txBox="1">
            <a:spLocks noGrp="1"/>
          </p:cNvSpPr>
          <p:nvPr>
            <p:ph type="body" idx="4"/>
          </p:nvPr>
        </p:nvSpPr>
        <p:spPr>
          <a:xfrm>
            <a:off x="1165320" y="4194720"/>
            <a:ext cx="106452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4" name="Google Shape;164;p39"/>
          <p:cNvSpPr txBox="1">
            <a:spLocks noGrp="1"/>
          </p:cNvSpPr>
          <p:nvPr>
            <p:ph type="body" idx="5"/>
          </p:nvPr>
        </p:nvSpPr>
        <p:spPr>
          <a:xfrm>
            <a:off x="2283480" y="4194720"/>
            <a:ext cx="106452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5" name="Google Shape;165;p39"/>
          <p:cNvSpPr txBox="1">
            <a:spLocks noGrp="1"/>
          </p:cNvSpPr>
          <p:nvPr>
            <p:ph type="body" idx="6"/>
          </p:nvPr>
        </p:nvSpPr>
        <p:spPr>
          <a:xfrm>
            <a:off x="3401640" y="4194720"/>
            <a:ext cx="106452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7.xml"/><Relationship Id="rId9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3037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1319040" y="2876400"/>
            <a:ext cx="6680160" cy="15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7" name="Google Shape;7;p1"/>
          <p:cNvSpPr/>
          <p:nvPr/>
        </p:nvSpPr>
        <p:spPr>
          <a:xfrm>
            <a:off x="903600" y="3563640"/>
            <a:ext cx="360" cy="329400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9525" cap="flat" cmpd="sng">
            <a:solidFill>
              <a:srgbClr val="999FA9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hr-HR"/>
          </a:p>
        </p:txBody>
      </p:sp>
      <p:sp>
        <p:nvSpPr>
          <p:cNvPr id="8" name="Google Shape;8;p1"/>
          <p:cNvSpPr/>
          <p:nvPr/>
        </p:nvSpPr>
        <p:spPr>
          <a:xfrm>
            <a:off x="768960" y="3294360"/>
            <a:ext cx="268920" cy="268920"/>
          </a:xfrm>
          <a:prstGeom prst="ellipse">
            <a:avLst/>
          </a:prstGeom>
          <a:solidFill>
            <a:srgbClr val="39C0BA"/>
          </a:solidFill>
          <a:ln w="28425" cap="flat" cmpd="sng">
            <a:solidFill>
              <a:srgbClr val="2E303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3037"/>
        </a:solidFill>
        <a:effectLst/>
      </p:bgPr>
    </p:bg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>
            <a:spLocks noGrp="1"/>
          </p:cNvSpPr>
          <p:nvPr>
            <p:ph type="title"/>
          </p:nvPr>
        </p:nvSpPr>
        <p:spPr>
          <a:xfrm>
            <a:off x="1530000" y="3076920"/>
            <a:ext cx="6766920" cy="709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60" name="Google Shape;60;p14"/>
          <p:cNvSpPr/>
          <p:nvPr/>
        </p:nvSpPr>
        <p:spPr>
          <a:xfrm>
            <a:off x="903960" y="-7920"/>
            <a:ext cx="360" cy="686592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9525" cap="flat" cmpd="sng">
            <a:solidFill>
              <a:srgbClr val="999FA9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hr-HR"/>
          </a:p>
        </p:txBody>
      </p:sp>
      <p:sp>
        <p:nvSpPr>
          <p:cNvPr id="61" name="Google Shape;61;p14"/>
          <p:cNvSpPr/>
          <p:nvPr/>
        </p:nvSpPr>
        <p:spPr>
          <a:xfrm>
            <a:off x="493560" y="3018960"/>
            <a:ext cx="819720" cy="819720"/>
          </a:xfrm>
          <a:prstGeom prst="ellipse">
            <a:avLst/>
          </a:prstGeom>
          <a:solidFill>
            <a:srgbClr val="39C0BA"/>
          </a:solidFill>
          <a:ln w="28425" cap="flat" cmpd="sng">
            <a:solidFill>
              <a:srgbClr val="2E303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p14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0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3037"/>
        </a:solidFill>
        <a:effectLst/>
      </p:bgPr>
    </p:bg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7"/>
          <p:cNvSpPr txBox="1">
            <a:spLocks noGrp="1"/>
          </p:cNvSpPr>
          <p:nvPr>
            <p:ph type="title"/>
          </p:nvPr>
        </p:nvSpPr>
        <p:spPr>
          <a:xfrm>
            <a:off x="1165320" y="66600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113" name="Google Shape;113;p27"/>
          <p:cNvSpPr txBox="1">
            <a:spLocks noGrp="1"/>
          </p:cNvSpPr>
          <p:nvPr>
            <p:ph type="body" idx="1"/>
          </p:nvPr>
        </p:nvSpPr>
        <p:spPr>
          <a:xfrm>
            <a:off x="1165320" y="1600200"/>
            <a:ext cx="3306600" cy="496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114" name="Google Shape;114;p27"/>
          <p:cNvSpPr txBox="1">
            <a:spLocks noGrp="1"/>
          </p:cNvSpPr>
          <p:nvPr>
            <p:ph type="body" idx="2"/>
          </p:nvPr>
        </p:nvSpPr>
        <p:spPr>
          <a:xfrm>
            <a:off x="4671720" y="1600200"/>
            <a:ext cx="3306600" cy="496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115" name="Google Shape;115;p27"/>
          <p:cNvSpPr/>
          <p:nvPr/>
        </p:nvSpPr>
        <p:spPr>
          <a:xfrm>
            <a:off x="903960" y="-7920"/>
            <a:ext cx="360" cy="686592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9525" cap="flat" cmpd="sng">
            <a:solidFill>
              <a:srgbClr val="999FA9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hr-HR"/>
          </a:p>
        </p:txBody>
      </p:sp>
      <p:sp>
        <p:nvSpPr>
          <p:cNvPr id="116" name="Google Shape;116;p27"/>
          <p:cNvSpPr/>
          <p:nvPr/>
        </p:nvSpPr>
        <p:spPr>
          <a:xfrm>
            <a:off x="808560" y="800640"/>
            <a:ext cx="189720" cy="189720"/>
          </a:xfrm>
          <a:prstGeom prst="ellipse">
            <a:avLst/>
          </a:prstGeom>
          <a:solidFill>
            <a:srgbClr val="39C0BA"/>
          </a:solidFill>
          <a:ln w="28425" cap="flat" cmpd="sng">
            <a:solidFill>
              <a:srgbClr val="2E303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27"/>
          <p:cNvSpPr/>
          <p:nvPr/>
        </p:nvSpPr>
        <p:spPr>
          <a:xfrm>
            <a:off x="768960" y="1861920"/>
            <a:ext cx="268920" cy="268920"/>
          </a:xfrm>
          <a:prstGeom prst="ellipse">
            <a:avLst/>
          </a:prstGeom>
          <a:solidFill>
            <a:srgbClr val="2E3037"/>
          </a:solidFill>
          <a:ln w="9525" cap="flat" cmpd="sng">
            <a:solidFill>
              <a:srgbClr val="999FA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2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40"/>
          <p:cNvSpPr txBox="1"/>
          <p:nvPr/>
        </p:nvSpPr>
        <p:spPr>
          <a:xfrm>
            <a:off x="1319040" y="2876400"/>
            <a:ext cx="6680160" cy="15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6000" b="0" i="0" u="none" strike="noStrike" cap="none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Paralelno programiranje</a:t>
            </a:r>
            <a:endParaRPr sz="6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41"/>
          <p:cNvSpPr txBox="1"/>
          <p:nvPr/>
        </p:nvSpPr>
        <p:spPr>
          <a:xfrm>
            <a:off x="1530000" y="3076920"/>
            <a:ext cx="6766920" cy="709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hr-HR" sz="3000" b="0" i="0" u="none" strike="noStrike" cap="none" dirty="0" err="1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OpenMP</a:t>
            </a:r>
            <a:endParaRPr lang="hr-HR" sz="3000" b="0" i="0" u="none" strike="noStrike" cap="none" dirty="0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176" name="Google Shape;176;p41"/>
          <p:cNvSpPr txBox="1"/>
          <p:nvPr/>
        </p:nvSpPr>
        <p:spPr>
          <a:xfrm>
            <a:off x="1530000" y="3710520"/>
            <a:ext cx="6927480" cy="470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77" name="Google Shape;177;p41"/>
          <p:cNvSpPr/>
          <p:nvPr/>
        </p:nvSpPr>
        <p:spPr>
          <a:xfrm>
            <a:off x="502560" y="3039840"/>
            <a:ext cx="802080" cy="785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3000" b="0" i="0" u="none" strike="noStrike" cap="none">
                <a:solidFill>
                  <a:srgbClr val="2E3037"/>
                </a:solidFill>
                <a:latin typeface="Quicksand"/>
                <a:ea typeface="Quicksand"/>
                <a:cs typeface="Quicksand"/>
                <a:sym typeface="Quicksand"/>
              </a:rPr>
              <a:t>1</a:t>
            </a:r>
            <a:endParaRPr sz="3000" b="0" i="0" u="none" strike="noStrike" cap="none"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42"/>
          <p:cNvSpPr txBox="1"/>
          <p:nvPr/>
        </p:nvSpPr>
        <p:spPr>
          <a:xfrm>
            <a:off x="1165320" y="70452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400" b="1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Što je </a:t>
            </a:r>
            <a:r>
              <a:rPr lang="hr-HR" sz="2400" b="1" dirty="0" err="1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OpenMP</a:t>
            </a:r>
            <a:r>
              <a:rPr lang="hr-HR" sz="2400" b="1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?</a:t>
            </a:r>
          </a:p>
        </p:txBody>
      </p:sp>
      <p:sp>
        <p:nvSpPr>
          <p:cNvPr id="183" name="Google Shape;183;p42"/>
          <p:cNvSpPr/>
          <p:nvPr/>
        </p:nvSpPr>
        <p:spPr>
          <a:xfrm>
            <a:off x="838210" y="1354094"/>
            <a:ext cx="7970812" cy="47993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lvl="0">
              <a:lnSpc>
                <a:spcPct val="150000"/>
              </a:lnSpc>
              <a:buClr>
                <a:srgbClr val="39C0BA"/>
              </a:buClr>
              <a:buSzPts val="2400"/>
            </a:pPr>
            <a:r>
              <a:rPr lang="hr-HR" sz="2000" b="1" dirty="0">
                <a:solidFill>
                  <a:schemeClr val="bg1"/>
                </a:solidFill>
                <a:latin typeface="Arial" panose="020B0604020202020204" pitchFamily="34" charset="0"/>
                <a:ea typeface="Quicksand"/>
                <a:cs typeface="Arial" panose="020B0604020202020204" pitchFamily="34" charset="0"/>
                <a:sym typeface="Quicksand"/>
              </a:rPr>
              <a:t>Definicija: </a:t>
            </a:r>
          </a:p>
          <a:p>
            <a:pPr marL="419100" lvl="0" indent="-342900">
              <a:lnSpc>
                <a:spcPct val="150000"/>
              </a:lnSpc>
              <a:buClr>
                <a:srgbClr val="39C0BA"/>
              </a:buClr>
              <a:buSzPts val="2400"/>
              <a:buFont typeface="Arial" panose="020B0604020202020204" pitchFamily="34" charset="0"/>
              <a:buChar char="•"/>
            </a:pPr>
            <a:r>
              <a:rPr lang="hr-HR" sz="2000" dirty="0" err="1">
                <a:solidFill>
                  <a:schemeClr val="bg1"/>
                </a:solidFill>
                <a:latin typeface="Arial" panose="020B0604020202020204" pitchFamily="34" charset="0"/>
                <a:ea typeface="Quicksand"/>
                <a:cs typeface="Arial" panose="020B0604020202020204" pitchFamily="34" charset="0"/>
                <a:sym typeface="Quicksand"/>
              </a:rPr>
              <a:t>OpenMP</a:t>
            </a:r>
            <a:r>
              <a:rPr lang="hr-HR" sz="2000" dirty="0">
                <a:solidFill>
                  <a:schemeClr val="bg1"/>
                </a:solidFill>
                <a:latin typeface="Arial" panose="020B0604020202020204" pitchFamily="34" charset="0"/>
                <a:ea typeface="Quicksand"/>
                <a:cs typeface="Arial" panose="020B0604020202020204" pitchFamily="34" charset="0"/>
                <a:sym typeface="Quicksand"/>
              </a:rPr>
              <a:t> je API za </a:t>
            </a:r>
            <a:r>
              <a:rPr lang="hr-HR" sz="2000" dirty="0" err="1">
                <a:solidFill>
                  <a:schemeClr val="bg1"/>
                </a:solidFill>
                <a:latin typeface="Arial" panose="020B0604020202020204" pitchFamily="34" charset="0"/>
                <a:ea typeface="Quicksand"/>
                <a:cs typeface="Arial" panose="020B0604020202020204" pitchFamily="34" charset="0"/>
                <a:sym typeface="Quicksand"/>
              </a:rPr>
              <a:t>višedretveno</a:t>
            </a:r>
            <a:r>
              <a:rPr lang="hr-HR" sz="2000" dirty="0">
                <a:solidFill>
                  <a:schemeClr val="bg1"/>
                </a:solidFill>
                <a:latin typeface="Arial" panose="020B0604020202020204" pitchFamily="34" charset="0"/>
                <a:ea typeface="Quicksand"/>
                <a:cs typeface="Arial" panose="020B0604020202020204" pitchFamily="34" charset="0"/>
                <a:sym typeface="Quicksand"/>
              </a:rPr>
              <a:t> programiranje u dijeljenoj memoriji.</a:t>
            </a:r>
          </a:p>
          <a:p>
            <a:pPr marL="419100" lvl="0" indent="-342900">
              <a:lnSpc>
                <a:spcPct val="150000"/>
              </a:lnSpc>
              <a:buClr>
                <a:srgbClr val="39C0BA"/>
              </a:buClr>
              <a:buSzPts val="2400"/>
              <a:buFont typeface="Arial" panose="020B0604020202020204" pitchFamily="34" charset="0"/>
              <a:buChar char="•"/>
            </a:pPr>
            <a:r>
              <a:rPr lang="hr-HR" sz="2000" dirty="0">
                <a:solidFill>
                  <a:schemeClr val="bg1"/>
                </a:solidFill>
                <a:latin typeface="Arial" panose="020B0604020202020204" pitchFamily="34" charset="0"/>
                <a:ea typeface="Quicksand"/>
                <a:cs typeface="Arial" panose="020B0604020202020204" pitchFamily="34" charset="0"/>
                <a:sym typeface="Quicksand"/>
              </a:rPr>
              <a:t>Omogućuje jednostavno </a:t>
            </a:r>
            <a:r>
              <a:rPr lang="hr-HR" sz="2000" dirty="0" err="1">
                <a:solidFill>
                  <a:schemeClr val="bg1"/>
                </a:solidFill>
                <a:latin typeface="Arial" panose="020B0604020202020204" pitchFamily="34" charset="0"/>
                <a:ea typeface="Quicksand"/>
                <a:cs typeface="Arial" panose="020B0604020202020204" pitchFamily="34" charset="0"/>
                <a:sym typeface="Quicksand"/>
              </a:rPr>
              <a:t>paraleliziranje</a:t>
            </a:r>
            <a:r>
              <a:rPr lang="hr-HR" sz="2000" dirty="0">
                <a:solidFill>
                  <a:schemeClr val="bg1"/>
                </a:solidFill>
                <a:latin typeface="Arial" panose="020B0604020202020204" pitchFamily="34" charset="0"/>
                <a:ea typeface="Quicksand"/>
                <a:cs typeface="Arial" panose="020B0604020202020204" pitchFamily="34" charset="0"/>
                <a:sym typeface="Quicksand"/>
              </a:rPr>
              <a:t> postojećeg C/C++ i </a:t>
            </a:r>
            <a:r>
              <a:rPr lang="hr-HR" sz="2000" dirty="0" err="1">
                <a:solidFill>
                  <a:schemeClr val="bg1"/>
                </a:solidFill>
                <a:latin typeface="Arial" panose="020B0604020202020204" pitchFamily="34" charset="0"/>
                <a:ea typeface="Quicksand"/>
                <a:cs typeface="Arial" panose="020B0604020202020204" pitchFamily="34" charset="0"/>
                <a:sym typeface="Quicksand"/>
              </a:rPr>
              <a:t>Fortran</a:t>
            </a:r>
            <a:r>
              <a:rPr lang="hr-HR" sz="2000" dirty="0">
                <a:solidFill>
                  <a:schemeClr val="bg1"/>
                </a:solidFill>
                <a:latin typeface="Arial" panose="020B0604020202020204" pitchFamily="34" charset="0"/>
                <a:ea typeface="Quicksand"/>
                <a:cs typeface="Arial" panose="020B0604020202020204" pitchFamily="34" charset="0"/>
                <a:sym typeface="Quicksand"/>
              </a:rPr>
              <a:t> koda.</a:t>
            </a:r>
          </a:p>
          <a:p>
            <a:pPr marL="419100" lvl="0" indent="-342900">
              <a:lnSpc>
                <a:spcPct val="150000"/>
              </a:lnSpc>
              <a:buClr>
                <a:srgbClr val="39C0BA"/>
              </a:buClr>
              <a:buSzPts val="2400"/>
              <a:buFont typeface="Arial" panose="020B0604020202020204" pitchFamily="34" charset="0"/>
              <a:buChar char="•"/>
            </a:pPr>
            <a:r>
              <a:rPr lang="hr-HR" sz="2000" dirty="0">
                <a:solidFill>
                  <a:schemeClr val="bg1"/>
                </a:solidFill>
                <a:latin typeface="Arial" panose="020B0604020202020204" pitchFamily="34" charset="0"/>
                <a:ea typeface="Quicksand"/>
                <a:cs typeface="Arial" panose="020B0604020202020204" pitchFamily="34" charset="0"/>
                <a:sym typeface="Quicksand"/>
              </a:rPr>
              <a:t>Koristi: direktive prevoditelja (#pragma), funkcije i varijable okruženja.</a:t>
            </a:r>
          </a:p>
          <a:p>
            <a:pPr marL="419100" lvl="0" indent="-342900">
              <a:lnSpc>
                <a:spcPct val="150000"/>
              </a:lnSpc>
              <a:buClr>
                <a:srgbClr val="39C0BA"/>
              </a:buClr>
              <a:buSzPts val="2400"/>
              <a:buFont typeface="Arial" panose="020B0604020202020204" pitchFamily="34" charset="0"/>
              <a:buChar char="•"/>
            </a:pPr>
            <a:r>
              <a:rPr lang="hr-HR" sz="2000" dirty="0">
                <a:solidFill>
                  <a:schemeClr val="bg1"/>
                </a:solidFill>
                <a:latin typeface="Arial" panose="020B0604020202020204" pitchFamily="34" charset="0"/>
                <a:ea typeface="Quicksand"/>
                <a:cs typeface="Arial" panose="020B0604020202020204" pitchFamily="34" charset="0"/>
                <a:sym typeface="Quicksand"/>
              </a:rPr>
              <a:t>Standardiziran i prenosiv – podržan na većini modernih procesora.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>
          <a:extLst>
            <a:ext uri="{FF2B5EF4-FFF2-40B4-BE49-F238E27FC236}">
              <a16:creationId xmlns:a16="http://schemas.microsoft.com/office/drawing/2014/main" id="{B8094ACB-76C2-5503-4D98-45BF134CA9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42">
            <a:extLst>
              <a:ext uri="{FF2B5EF4-FFF2-40B4-BE49-F238E27FC236}">
                <a16:creationId xmlns:a16="http://schemas.microsoft.com/office/drawing/2014/main" id="{46BF7F82-5D01-CFDB-664D-AEBC3F10A7DE}"/>
              </a:ext>
            </a:extLst>
          </p:cNvPr>
          <p:cNvSpPr txBox="1"/>
          <p:nvPr/>
        </p:nvSpPr>
        <p:spPr>
          <a:xfrm>
            <a:off x="1165320" y="70452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400" b="1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Kratka povijest </a:t>
            </a:r>
            <a:r>
              <a:rPr lang="hr-HR" sz="2400" b="1" dirty="0" err="1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OpenMP</a:t>
            </a:r>
            <a:r>
              <a:rPr lang="hr-HR" sz="2400" b="1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-a</a:t>
            </a:r>
          </a:p>
        </p:txBody>
      </p:sp>
      <p:sp>
        <p:nvSpPr>
          <p:cNvPr id="183" name="Google Shape;183;p42">
            <a:extLst>
              <a:ext uri="{FF2B5EF4-FFF2-40B4-BE49-F238E27FC236}">
                <a16:creationId xmlns:a16="http://schemas.microsoft.com/office/drawing/2014/main" id="{E718D217-F01B-C71B-44BA-BB718C43475D}"/>
              </a:ext>
            </a:extLst>
          </p:cNvPr>
          <p:cNvSpPr/>
          <p:nvPr/>
        </p:nvSpPr>
        <p:spPr>
          <a:xfrm>
            <a:off x="838210" y="1354094"/>
            <a:ext cx="7970812" cy="47993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19100" lvl="0" indent="-342900">
              <a:lnSpc>
                <a:spcPct val="150000"/>
              </a:lnSpc>
              <a:buClr>
                <a:srgbClr val="39C0BA"/>
              </a:buClr>
              <a:buSzPts val="2400"/>
              <a:buFont typeface="Arial" panose="020B0604020202020204" pitchFamily="34" charset="0"/>
              <a:buChar char="•"/>
            </a:pPr>
            <a:r>
              <a:rPr lang="hr-HR" sz="2000" b="1" dirty="0">
                <a:solidFill>
                  <a:schemeClr val="bg1"/>
                </a:solidFill>
                <a:latin typeface="Arial" panose="020B0604020202020204" pitchFamily="34" charset="0"/>
                <a:ea typeface="Quicksand"/>
                <a:cs typeface="Arial" panose="020B0604020202020204" pitchFamily="34" charset="0"/>
                <a:sym typeface="Quicksand"/>
              </a:rPr>
              <a:t>1991. – </a:t>
            </a:r>
            <a:r>
              <a:rPr lang="hr-HR" sz="2000" b="1" dirty="0" err="1">
                <a:solidFill>
                  <a:schemeClr val="bg1"/>
                </a:solidFill>
                <a:latin typeface="Arial" panose="020B0604020202020204" pitchFamily="34" charset="0"/>
                <a:ea typeface="Quicksand"/>
                <a:cs typeface="Arial" panose="020B0604020202020204" pitchFamily="34" charset="0"/>
                <a:sym typeface="Quicksand"/>
              </a:rPr>
              <a:t>Parallel</a:t>
            </a:r>
            <a:r>
              <a:rPr lang="hr-HR" sz="2000" b="1" dirty="0">
                <a:solidFill>
                  <a:schemeClr val="bg1"/>
                </a:solidFill>
                <a:latin typeface="Arial" panose="020B0604020202020204" pitchFamily="34" charset="0"/>
                <a:ea typeface="Quicksand"/>
                <a:cs typeface="Arial" panose="020B0604020202020204" pitchFamily="34" charset="0"/>
                <a:sym typeface="Quicksand"/>
              </a:rPr>
              <a:t> Computing Forum (PCF) definira direktive za </a:t>
            </a:r>
            <a:r>
              <a:rPr lang="hr-HR" sz="2000" b="1" dirty="0" err="1">
                <a:solidFill>
                  <a:schemeClr val="bg1"/>
                </a:solidFill>
                <a:latin typeface="Arial" panose="020B0604020202020204" pitchFamily="34" charset="0"/>
                <a:ea typeface="Quicksand"/>
                <a:cs typeface="Arial" panose="020B0604020202020204" pitchFamily="34" charset="0"/>
                <a:sym typeface="Quicksand"/>
              </a:rPr>
              <a:t>paralelizaciju</a:t>
            </a:r>
            <a:r>
              <a:rPr lang="hr-HR" sz="2000" b="1" dirty="0">
                <a:solidFill>
                  <a:schemeClr val="bg1"/>
                </a:solidFill>
                <a:latin typeface="Arial" panose="020B0604020202020204" pitchFamily="34" charset="0"/>
                <a:ea typeface="Quicksand"/>
                <a:cs typeface="Arial" panose="020B0604020202020204" pitchFamily="34" charset="0"/>
                <a:sym typeface="Quicksand"/>
              </a:rPr>
              <a:t> petlji u </a:t>
            </a:r>
            <a:r>
              <a:rPr lang="hr-HR" sz="2000" b="1" dirty="0" err="1">
                <a:solidFill>
                  <a:schemeClr val="bg1"/>
                </a:solidFill>
                <a:latin typeface="Arial" panose="020B0604020202020204" pitchFamily="34" charset="0"/>
                <a:ea typeface="Quicksand"/>
                <a:cs typeface="Arial" panose="020B0604020202020204" pitchFamily="34" charset="0"/>
                <a:sym typeface="Quicksand"/>
              </a:rPr>
              <a:t>Fortranu</a:t>
            </a:r>
            <a:r>
              <a:rPr lang="hr-HR" sz="2000" b="1" dirty="0">
                <a:solidFill>
                  <a:schemeClr val="bg1"/>
                </a:solidFill>
                <a:latin typeface="Arial" panose="020B0604020202020204" pitchFamily="34" charset="0"/>
                <a:ea typeface="Quicksand"/>
                <a:cs typeface="Arial" panose="020B0604020202020204" pitchFamily="34" charset="0"/>
                <a:sym typeface="Quicksand"/>
              </a:rPr>
              <a:t>.</a:t>
            </a:r>
          </a:p>
          <a:p>
            <a:pPr marL="419100" lvl="0" indent="-342900">
              <a:lnSpc>
                <a:spcPct val="150000"/>
              </a:lnSpc>
              <a:buClr>
                <a:srgbClr val="39C0BA"/>
              </a:buClr>
              <a:buSzPts val="2400"/>
              <a:buFont typeface="Arial" panose="020B0604020202020204" pitchFamily="34" charset="0"/>
              <a:buChar char="•"/>
            </a:pPr>
            <a:r>
              <a:rPr lang="hr-HR" sz="2000" b="1" dirty="0">
                <a:solidFill>
                  <a:schemeClr val="bg1"/>
                </a:solidFill>
                <a:latin typeface="Arial" panose="020B0604020202020204" pitchFamily="34" charset="0"/>
                <a:ea typeface="Quicksand"/>
                <a:cs typeface="Arial" panose="020B0604020202020204" pitchFamily="34" charset="0"/>
                <a:sym typeface="Quicksand"/>
              </a:rPr>
              <a:t>1997. – </a:t>
            </a:r>
            <a:r>
              <a:rPr lang="hr-HR" sz="2000" b="1" dirty="0" err="1">
                <a:solidFill>
                  <a:schemeClr val="bg1"/>
                </a:solidFill>
                <a:latin typeface="Arial" panose="020B0604020202020204" pitchFamily="34" charset="0"/>
                <a:ea typeface="Quicksand"/>
                <a:cs typeface="Arial" panose="020B0604020202020204" pitchFamily="34" charset="0"/>
                <a:sym typeface="Quicksand"/>
              </a:rPr>
              <a:t>OpenMP</a:t>
            </a:r>
            <a:r>
              <a:rPr lang="hr-HR" sz="2000" b="1" dirty="0">
                <a:solidFill>
                  <a:schemeClr val="bg1"/>
                </a:solidFill>
                <a:latin typeface="Arial" panose="020B0604020202020204" pitchFamily="34" charset="0"/>
                <a:ea typeface="Quicksand"/>
                <a:cs typeface="Arial" panose="020B0604020202020204" pitchFamily="34" charset="0"/>
                <a:sym typeface="Quicksand"/>
              </a:rPr>
              <a:t> </a:t>
            </a:r>
            <a:r>
              <a:rPr lang="hr-HR" sz="2000" b="1" dirty="0" err="1">
                <a:solidFill>
                  <a:schemeClr val="bg1"/>
                </a:solidFill>
                <a:latin typeface="Arial" panose="020B0604020202020204" pitchFamily="34" charset="0"/>
                <a:ea typeface="Quicksand"/>
                <a:cs typeface="Arial" panose="020B0604020202020204" pitchFamily="34" charset="0"/>
                <a:sym typeface="Quicksand"/>
              </a:rPr>
              <a:t>Architecture</a:t>
            </a:r>
            <a:r>
              <a:rPr lang="hr-HR" sz="2000" b="1" dirty="0">
                <a:solidFill>
                  <a:schemeClr val="bg1"/>
                </a:solidFill>
                <a:latin typeface="Arial" panose="020B0604020202020204" pitchFamily="34" charset="0"/>
                <a:ea typeface="Quicksand"/>
                <a:cs typeface="Arial" panose="020B0604020202020204" pitchFamily="34" charset="0"/>
                <a:sym typeface="Quicksand"/>
              </a:rPr>
              <a:t> </a:t>
            </a:r>
            <a:r>
              <a:rPr lang="hr-HR" sz="2000" b="1" dirty="0" err="1">
                <a:solidFill>
                  <a:schemeClr val="bg1"/>
                </a:solidFill>
                <a:latin typeface="Arial" panose="020B0604020202020204" pitchFamily="34" charset="0"/>
                <a:ea typeface="Quicksand"/>
                <a:cs typeface="Arial" panose="020B0604020202020204" pitchFamily="34" charset="0"/>
                <a:sym typeface="Quicksand"/>
              </a:rPr>
              <a:t>Review</a:t>
            </a:r>
            <a:r>
              <a:rPr lang="hr-HR" sz="2000" b="1" dirty="0">
                <a:solidFill>
                  <a:schemeClr val="bg1"/>
                </a:solidFill>
                <a:latin typeface="Arial" panose="020B0604020202020204" pitchFamily="34" charset="0"/>
                <a:ea typeface="Quicksand"/>
                <a:cs typeface="Arial" panose="020B0604020202020204" pitchFamily="34" charset="0"/>
                <a:sym typeface="Quicksand"/>
              </a:rPr>
              <a:t> </a:t>
            </a:r>
            <a:r>
              <a:rPr lang="hr-HR" sz="2000" b="1" dirty="0" err="1">
                <a:solidFill>
                  <a:schemeClr val="bg1"/>
                </a:solidFill>
                <a:latin typeface="Arial" panose="020B0604020202020204" pitchFamily="34" charset="0"/>
                <a:ea typeface="Quicksand"/>
                <a:cs typeface="Arial" panose="020B0604020202020204" pitchFamily="34" charset="0"/>
                <a:sym typeface="Quicksand"/>
              </a:rPr>
              <a:t>Board</a:t>
            </a:r>
            <a:r>
              <a:rPr lang="hr-HR" sz="2000" b="1" dirty="0">
                <a:solidFill>
                  <a:schemeClr val="bg1"/>
                </a:solidFill>
                <a:latin typeface="Arial" panose="020B0604020202020204" pitchFamily="34" charset="0"/>
                <a:ea typeface="Quicksand"/>
                <a:cs typeface="Arial" panose="020B0604020202020204" pitchFamily="34" charset="0"/>
                <a:sym typeface="Quicksand"/>
              </a:rPr>
              <a:t> objavljuje prvu verziju.</a:t>
            </a:r>
          </a:p>
          <a:p>
            <a:pPr marL="419100" lvl="0" indent="-342900">
              <a:lnSpc>
                <a:spcPct val="150000"/>
              </a:lnSpc>
              <a:buClr>
                <a:srgbClr val="39C0BA"/>
              </a:buClr>
              <a:buSzPts val="2400"/>
              <a:buFont typeface="Arial" panose="020B0604020202020204" pitchFamily="34" charset="0"/>
              <a:buChar char="•"/>
            </a:pPr>
            <a:r>
              <a:rPr lang="hr-HR" sz="2000" b="1" dirty="0">
                <a:solidFill>
                  <a:schemeClr val="bg1"/>
                </a:solidFill>
                <a:latin typeface="Arial" panose="020B0604020202020204" pitchFamily="34" charset="0"/>
                <a:ea typeface="Quicksand"/>
                <a:cs typeface="Arial" panose="020B0604020202020204" pitchFamily="34" charset="0"/>
                <a:sym typeface="Quicksand"/>
              </a:rPr>
              <a:t>2008–2018. – Dodane podrške za </a:t>
            </a:r>
            <a:r>
              <a:rPr lang="hr-HR" sz="2000" b="1" dirty="0" err="1">
                <a:solidFill>
                  <a:schemeClr val="bg1"/>
                </a:solidFill>
                <a:latin typeface="Arial" panose="020B0604020202020204" pitchFamily="34" charset="0"/>
                <a:ea typeface="Quicksand"/>
                <a:cs typeface="Arial" panose="020B0604020202020204" pitchFamily="34" charset="0"/>
                <a:sym typeface="Quicksand"/>
              </a:rPr>
              <a:t>taskove</a:t>
            </a:r>
            <a:r>
              <a:rPr lang="hr-HR" sz="2000" b="1" dirty="0">
                <a:solidFill>
                  <a:schemeClr val="bg1"/>
                </a:solidFill>
                <a:latin typeface="Arial" panose="020B0604020202020204" pitchFamily="34" charset="0"/>
                <a:ea typeface="Quicksand"/>
                <a:cs typeface="Arial" panose="020B0604020202020204" pitchFamily="34" charset="0"/>
                <a:sym typeface="Quicksand"/>
              </a:rPr>
              <a:t>, </a:t>
            </a:r>
            <a:r>
              <a:rPr lang="hr-HR" sz="2000" b="1" dirty="0" err="1">
                <a:solidFill>
                  <a:schemeClr val="bg1"/>
                </a:solidFill>
                <a:latin typeface="Arial" panose="020B0604020202020204" pitchFamily="34" charset="0"/>
                <a:ea typeface="Quicksand"/>
                <a:cs typeface="Arial" panose="020B0604020202020204" pitchFamily="34" charset="0"/>
                <a:sym typeface="Quicksand"/>
              </a:rPr>
              <a:t>nested</a:t>
            </a:r>
            <a:r>
              <a:rPr lang="hr-HR" sz="2000" b="1" dirty="0">
                <a:solidFill>
                  <a:schemeClr val="bg1"/>
                </a:solidFill>
                <a:latin typeface="Arial" panose="020B0604020202020204" pitchFamily="34" charset="0"/>
                <a:ea typeface="Quicksand"/>
                <a:cs typeface="Arial" panose="020B0604020202020204" pitchFamily="34" charset="0"/>
                <a:sym typeface="Quicksand"/>
              </a:rPr>
              <a:t> paralelizam i SIMD.</a:t>
            </a:r>
          </a:p>
          <a:p>
            <a:pPr marL="419100" lvl="0" indent="-342900">
              <a:lnSpc>
                <a:spcPct val="150000"/>
              </a:lnSpc>
              <a:buClr>
                <a:srgbClr val="39C0BA"/>
              </a:buClr>
              <a:buSzPts val="2400"/>
              <a:buFont typeface="Arial" panose="020B0604020202020204" pitchFamily="34" charset="0"/>
              <a:buChar char="•"/>
            </a:pPr>
            <a:r>
              <a:rPr lang="hr-HR" sz="2000" b="1" dirty="0">
                <a:solidFill>
                  <a:schemeClr val="bg1"/>
                </a:solidFill>
                <a:latin typeface="Arial" panose="020B0604020202020204" pitchFamily="34" charset="0"/>
                <a:ea typeface="Quicksand"/>
                <a:cs typeface="Arial" panose="020B0604020202020204" pitchFamily="34" charset="0"/>
                <a:sym typeface="Quicksand"/>
              </a:rPr>
              <a:t>Danas: industrijski standard za CPU </a:t>
            </a:r>
            <a:r>
              <a:rPr lang="hr-HR" sz="2000" b="1" dirty="0" err="1">
                <a:solidFill>
                  <a:schemeClr val="bg1"/>
                </a:solidFill>
                <a:latin typeface="Arial" panose="020B0604020202020204" pitchFamily="34" charset="0"/>
                <a:ea typeface="Quicksand"/>
                <a:cs typeface="Arial" panose="020B0604020202020204" pitchFamily="34" charset="0"/>
                <a:sym typeface="Quicksand"/>
              </a:rPr>
              <a:t>paralelizaciju</a:t>
            </a:r>
            <a:r>
              <a:rPr lang="hr-HR" sz="2000" b="1" dirty="0">
                <a:solidFill>
                  <a:schemeClr val="bg1"/>
                </a:solidFill>
                <a:latin typeface="Arial" panose="020B0604020202020204" pitchFamily="34" charset="0"/>
                <a:ea typeface="Quicksand"/>
                <a:cs typeface="Arial" panose="020B0604020202020204" pitchFamily="34" charset="0"/>
                <a:sym typeface="Quicksand"/>
              </a:rPr>
              <a:t> u znanstvenim aplikacijama.</a:t>
            </a:r>
          </a:p>
        </p:txBody>
      </p:sp>
    </p:spTree>
    <p:extLst>
      <p:ext uri="{BB962C8B-B14F-4D97-AF65-F5344CB8AC3E}">
        <p14:creationId xmlns:p14="http://schemas.microsoft.com/office/powerpoint/2010/main" val="36746789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>
          <a:extLst>
            <a:ext uri="{FF2B5EF4-FFF2-40B4-BE49-F238E27FC236}">
              <a16:creationId xmlns:a16="http://schemas.microsoft.com/office/drawing/2014/main" id="{AF4E4D5C-AE0B-C4AF-4A18-E4719F7BE7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42">
            <a:extLst>
              <a:ext uri="{FF2B5EF4-FFF2-40B4-BE49-F238E27FC236}">
                <a16:creationId xmlns:a16="http://schemas.microsoft.com/office/drawing/2014/main" id="{F8C8F51B-B5C8-B81A-8F7D-1D42AF1A2755}"/>
              </a:ext>
            </a:extLst>
          </p:cNvPr>
          <p:cNvSpPr txBox="1"/>
          <p:nvPr/>
        </p:nvSpPr>
        <p:spPr>
          <a:xfrm>
            <a:off x="1165320" y="70452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400" b="1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Programski model </a:t>
            </a:r>
            <a:r>
              <a:rPr lang="hr-HR" sz="2400" b="1" dirty="0" err="1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OpenMP</a:t>
            </a:r>
            <a:r>
              <a:rPr lang="hr-HR" sz="2400" b="1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-a</a:t>
            </a:r>
          </a:p>
        </p:txBody>
      </p:sp>
      <p:pic>
        <p:nvPicPr>
          <p:cNvPr id="3" name="Slika 2">
            <a:extLst>
              <a:ext uri="{FF2B5EF4-FFF2-40B4-BE49-F238E27FC236}">
                <a16:creationId xmlns:a16="http://schemas.microsoft.com/office/drawing/2014/main" id="{4B9ED0E6-DF56-776B-6D98-0EFE08EEE7E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59" t="1607" r="625" b="7979"/>
          <a:stretch>
            <a:fillRect/>
          </a:stretch>
        </p:blipFill>
        <p:spPr>
          <a:xfrm>
            <a:off x="1165320" y="1367758"/>
            <a:ext cx="7384454" cy="4487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21993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>
          <a:extLst>
            <a:ext uri="{FF2B5EF4-FFF2-40B4-BE49-F238E27FC236}">
              <a16:creationId xmlns:a16="http://schemas.microsoft.com/office/drawing/2014/main" id="{D33E9747-4E4A-EDA0-4D47-BEEC752567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42">
            <a:extLst>
              <a:ext uri="{FF2B5EF4-FFF2-40B4-BE49-F238E27FC236}">
                <a16:creationId xmlns:a16="http://schemas.microsoft.com/office/drawing/2014/main" id="{46D2380B-3CBB-A4FA-5F34-150DD5C0C185}"/>
              </a:ext>
            </a:extLst>
          </p:cNvPr>
          <p:cNvSpPr txBox="1"/>
          <p:nvPr/>
        </p:nvSpPr>
        <p:spPr>
          <a:xfrm>
            <a:off x="1165320" y="70452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400" b="1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Programski model </a:t>
            </a:r>
            <a:r>
              <a:rPr lang="hr-HR" sz="2400" b="1" dirty="0" err="1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OpenMP</a:t>
            </a:r>
            <a:r>
              <a:rPr lang="hr-HR" sz="2400" b="1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-a</a:t>
            </a:r>
          </a:p>
        </p:txBody>
      </p:sp>
      <p:sp>
        <p:nvSpPr>
          <p:cNvPr id="183" name="Google Shape;183;p42">
            <a:extLst>
              <a:ext uri="{FF2B5EF4-FFF2-40B4-BE49-F238E27FC236}">
                <a16:creationId xmlns:a16="http://schemas.microsoft.com/office/drawing/2014/main" id="{B2C029F9-41A8-5AC4-9034-072D90B4254D}"/>
              </a:ext>
            </a:extLst>
          </p:cNvPr>
          <p:cNvSpPr/>
          <p:nvPr/>
        </p:nvSpPr>
        <p:spPr>
          <a:xfrm>
            <a:off x="838210" y="1354094"/>
            <a:ext cx="7970812" cy="47993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lvl="0">
              <a:lnSpc>
                <a:spcPct val="150000"/>
              </a:lnSpc>
              <a:buClr>
                <a:srgbClr val="39C0BA"/>
              </a:buClr>
              <a:buSzPts val="2400"/>
            </a:pPr>
            <a:r>
              <a:rPr lang="hr-HR" sz="2000" b="1" dirty="0">
                <a:solidFill>
                  <a:schemeClr val="bg1"/>
                </a:solidFill>
                <a:latin typeface="Arial" panose="020B0604020202020204" pitchFamily="34" charset="0"/>
                <a:ea typeface="Quicksand"/>
                <a:cs typeface="Arial" panose="020B0604020202020204" pitchFamily="34" charset="0"/>
                <a:sym typeface="Quicksand"/>
              </a:rPr>
              <a:t>Dijeljena memorija i paralelizam na osnovi niti:</a:t>
            </a:r>
          </a:p>
          <a:p>
            <a:pPr marL="419100" lvl="0" indent="-342900">
              <a:lnSpc>
                <a:spcPct val="150000"/>
              </a:lnSpc>
              <a:buClr>
                <a:srgbClr val="39C0BA"/>
              </a:buClr>
              <a:buSzPts val="2400"/>
              <a:buFont typeface="Arial" panose="020B0604020202020204" pitchFamily="34" charset="0"/>
              <a:buChar char="•"/>
            </a:pPr>
            <a:r>
              <a:rPr lang="hr-HR" sz="2000" b="1" dirty="0" err="1">
                <a:solidFill>
                  <a:schemeClr val="bg1"/>
                </a:solidFill>
                <a:latin typeface="Arial" panose="020B0604020202020204" pitchFamily="34" charset="0"/>
                <a:ea typeface="Quicksand"/>
                <a:cs typeface="Arial" panose="020B0604020202020204" pitchFamily="34" charset="0"/>
                <a:sym typeface="Quicksand"/>
              </a:rPr>
              <a:t>OpenMP</a:t>
            </a:r>
            <a:r>
              <a:rPr lang="hr-HR" sz="2000" b="1" dirty="0">
                <a:solidFill>
                  <a:schemeClr val="bg1"/>
                </a:solidFill>
                <a:latin typeface="Arial" panose="020B0604020202020204" pitchFamily="34" charset="0"/>
                <a:ea typeface="Quicksand"/>
                <a:cs typeface="Arial" panose="020B0604020202020204" pitchFamily="34" charset="0"/>
                <a:sym typeface="Quicksand"/>
              </a:rPr>
              <a:t> se zasniva na postojanju više niti unutar paradigme programiranja s dijeljenom memorijom.</a:t>
            </a:r>
          </a:p>
          <a:p>
            <a:pPr marL="419100" lvl="0" indent="-342900">
              <a:lnSpc>
                <a:spcPct val="150000"/>
              </a:lnSpc>
              <a:buClr>
                <a:srgbClr val="39C0BA"/>
              </a:buClr>
              <a:buSzPts val="2400"/>
              <a:buFont typeface="Arial" panose="020B0604020202020204" pitchFamily="34" charset="0"/>
              <a:buChar char="•"/>
            </a:pPr>
            <a:r>
              <a:rPr lang="hr-HR" sz="2000" b="1" dirty="0">
                <a:solidFill>
                  <a:schemeClr val="bg1"/>
                </a:solidFill>
                <a:latin typeface="Arial" panose="020B0604020202020204" pitchFamily="34" charset="0"/>
                <a:ea typeface="Quicksand"/>
                <a:cs typeface="Arial" panose="020B0604020202020204" pitchFamily="34" charset="0"/>
                <a:sym typeface="Quicksand"/>
              </a:rPr>
              <a:t>Proces s dijeljenom memorijom sastoji se od više niti.</a:t>
            </a:r>
          </a:p>
          <a:p>
            <a:pPr marL="76200" lvl="0">
              <a:lnSpc>
                <a:spcPct val="150000"/>
              </a:lnSpc>
              <a:buClr>
                <a:srgbClr val="39C0BA"/>
              </a:buClr>
              <a:buSzPts val="2400"/>
            </a:pPr>
            <a:r>
              <a:rPr lang="hr-HR" sz="2000" b="1" dirty="0">
                <a:solidFill>
                  <a:schemeClr val="bg1"/>
                </a:solidFill>
                <a:latin typeface="Arial" panose="020B0604020202020204" pitchFamily="34" charset="0"/>
                <a:ea typeface="Quicksand"/>
                <a:cs typeface="Arial" panose="020B0604020202020204" pitchFamily="34" charset="0"/>
                <a:sym typeface="Quicksand"/>
              </a:rPr>
              <a:t>Eksplicitni paralelizam:</a:t>
            </a:r>
          </a:p>
          <a:p>
            <a:pPr marL="419100" lvl="1" indent="-342900">
              <a:lnSpc>
                <a:spcPct val="150000"/>
              </a:lnSpc>
              <a:buClr>
                <a:srgbClr val="39C0BA"/>
              </a:buClr>
              <a:buSzPts val="2400"/>
              <a:buFont typeface="Arial" panose="020B0604020202020204" pitchFamily="34" charset="0"/>
              <a:buChar char="•"/>
            </a:pPr>
            <a:r>
              <a:rPr lang="hr-HR" sz="2000" b="1" dirty="0">
                <a:solidFill>
                  <a:schemeClr val="bg1"/>
                </a:solidFill>
                <a:latin typeface="Arial" panose="020B0604020202020204" pitchFamily="34" charset="0"/>
                <a:ea typeface="Quicksand"/>
                <a:cs typeface="Arial" panose="020B0604020202020204" pitchFamily="34" charset="0"/>
                <a:sym typeface="Quicksand"/>
              </a:rPr>
              <a:t>Programer ima potpunu kontrolu nad </a:t>
            </a:r>
            <a:r>
              <a:rPr lang="hr-HR" sz="2000" b="1" dirty="0" err="1">
                <a:solidFill>
                  <a:schemeClr val="bg1"/>
                </a:solidFill>
                <a:latin typeface="Arial" panose="020B0604020202020204" pitchFamily="34" charset="0"/>
                <a:ea typeface="Quicksand"/>
                <a:cs typeface="Arial" panose="020B0604020202020204" pitchFamily="34" charset="0"/>
                <a:sym typeface="Quicksand"/>
              </a:rPr>
              <a:t>paralelizacijom</a:t>
            </a:r>
            <a:r>
              <a:rPr lang="hr-HR" sz="2000" b="1" dirty="0">
                <a:solidFill>
                  <a:schemeClr val="bg1"/>
                </a:solidFill>
                <a:latin typeface="Arial" panose="020B0604020202020204" pitchFamily="34" charset="0"/>
                <a:ea typeface="Quicksand"/>
                <a:cs typeface="Arial" panose="020B0604020202020204" pitchFamily="34" charset="0"/>
                <a:sym typeface="Quicksand"/>
              </a:rPr>
              <a:t>.</a:t>
            </a:r>
          </a:p>
          <a:p>
            <a:pPr marL="419100" lvl="0" indent="-342900">
              <a:lnSpc>
                <a:spcPct val="150000"/>
              </a:lnSpc>
              <a:buClr>
                <a:srgbClr val="39C0BA"/>
              </a:buClr>
              <a:buSzPts val="2400"/>
              <a:buFont typeface="Arial" panose="020B0604020202020204" pitchFamily="34" charset="0"/>
              <a:buChar char="•"/>
            </a:pPr>
            <a:r>
              <a:rPr lang="hr-HR" sz="2000" b="1" dirty="0" err="1">
                <a:solidFill>
                  <a:schemeClr val="bg1"/>
                </a:solidFill>
                <a:latin typeface="Arial" panose="020B0604020202020204" pitchFamily="34" charset="0"/>
                <a:ea typeface="Quicksand"/>
                <a:cs typeface="Arial" panose="020B0604020202020204" pitchFamily="34" charset="0"/>
                <a:sym typeface="Quicksand"/>
              </a:rPr>
              <a:t>OpenMP</a:t>
            </a:r>
            <a:r>
              <a:rPr lang="hr-HR" sz="2000" b="1" dirty="0">
                <a:solidFill>
                  <a:schemeClr val="bg1"/>
                </a:solidFill>
                <a:latin typeface="Arial" panose="020B0604020202020204" pitchFamily="34" charset="0"/>
                <a:ea typeface="Quicksand"/>
                <a:cs typeface="Arial" panose="020B0604020202020204" pitchFamily="34" charset="0"/>
                <a:sym typeface="Quicksand"/>
              </a:rPr>
              <a:t> nije automatski model za paralelno programiranje.</a:t>
            </a:r>
          </a:p>
          <a:p>
            <a:pPr marL="76200" lvl="0">
              <a:lnSpc>
                <a:spcPct val="150000"/>
              </a:lnSpc>
              <a:buClr>
                <a:srgbClr val="39C0BA"/>
              </a:buClr>
              <a:buSzPts val="2400"/>
            </a:pPr>
            <a:r>
              <a:rPr lang="hr-HR" sz="2000" b="1" dirty="0">
                <a:solidFill>
                  <a:schemeClr val="bg1"/>
                </a:solidFill>
                <a:latin typeface="Arial" panose="020B0604020202020204" pitchFamily="34" charset="0"/>
                <a:ea typeface="Quicksand"/>
                <a:cs typeface="Arial" panose="020B0604020202020204" pitchFamily="34" charset="0"/>
                <a:sym typeface="Quicksand"/>
              </a:rPr>
              <a:t>Direktive kompajlera:</a:t>
            </a:r>
          </a:p>
          <a:p>
            <a:pPr marL="419100" lvl="0" indent="-342900">
              <a:lnSpc>
                <a:spcPct val="150000"/>
              </a:lnSpc>
              <a:buClr>
                <a:srgbClr val="39C0BA"/>
              </a:buClr>
              <a:buSzPts val="2400"/>
              <a:buFont typeface="Arial" panose="020B0604020202020204" pitchFamily="34" charset="0"/>
              <a:buChar char="•"/>
            </a:pPr>
            <a:r>
              <a:rPr lang="hr-HR" sz="2000" b="1" dirty="0">
                <a:solidFill>
                  <a:schemeClr val="bg1"/>
                </a:solidFill>
                <a:latin typeface="Arial" panose="020B0604020202020204" pitchFamily="34" charset="0"/>
                <a:ea typeface="Quicksand"/>
                <a:cs typeface="Arial" panose="020B0604020202020204" pitchFamily="34" charset="0"/>
                <a:sym typeface="Quicksand"/>
              </a:rPr>
              <a:t>Većina paralelizma u </a:t>
            </a:r>
            <a:r>
              <a:rPr lang="hr-HR" sz="2000" b="1" dirty="0" err="1">
                <a:solidFill>
                  <a:schemeClr val="bg1"/>
                </a:solidFill>
                <a:latin typeface="Arial" panose="020B0604020202020204" pitchFamily="34" charset="0"/>
                <a:ea typeface="Quicksand"/>
                <a:cs typeface="Arial" panose="020B0604020202020204" pitchFamily="34" charset="0"/>
                <a:sym typeface="Quicksand"/>
              </a:rPr>
              <a:t>OpenMP</a:t>
            </a:r>
            <a:r>
              <a:rPr lang="hr-HR" sz="2000" b="1" dirty="0">
                <a:solidFill>
                  <a:schemeClr val="bg1"/>
                </a:solidFill>
                <a:latin typeface="Arial" panose="020B0604020202020204" pitchFamily="34" charset="0"/>
                <a:ea typeface="Quicksand"/>
                <a:cs typeface="Arial" panose="020B0604020202020204" pitchFamily="34" charset="0"/>
                <a:sym typeface="Quicksand"/>
              </a:rPr>
              <a:t>-u specificira se pomoću direktiva kompajlera koje su ugrađene u izvorni kod.</a:t>
            </a:r>
          </a:p>
        </p:txBody>
      </p:sp>
    </p:spTree>
    <p:extLst>
      <p:ext uri="{BB962C8B-B14F-4D97-AF65-F5344CB8AC3E}">
        <p14:creationId xmlns:p14="http://schemas.microsoft.com/office/powerpoint/2010/main" val="37753659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>
          <a:extLst>
            <a:ext uri="{FF2B5EF4-FFF2-40B4-BE49-F238E27FC236}">
              <a16:creationId xmlns:a16="http://schemas.microsoft.com/office/drawing/2014/main" id="{9FDBB458-5747-E14E-B581-C8F3F7EDE2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42">
            <a:extLst>
              <a:ext uri="{FF2B5EF4-FFF2-40B4-BE49-F238E27FC236}">
                <a16:creationId xmlns:a16="http://schemas.microsoft.com/office/drawing/2014/main" id="{792C850F-C70B-CF6C-46DC-A7A9DAE6D85F}"/>
              </a:ext>
            </a:extLst>
          </p:cNvPr>
          <p:cNvSpPr txBox="1"/>
          <p:nvPr/>
        </p:nvSpPr>
        <p:spPr>
          <a:xfrm>
            <a:off x="1165320" y="70452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400" b="1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Što </a:t>
            </a:r>
            <a:r>
              <a:rPr lang="hr-HR" sz="2400" b="1" dirty="0" err="1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OpenMP</a:t>
            </a:r>
            <a:r>
              <a:rPr lang="hr-HR" sz="2400" b="1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 </a:t>
            </a:r>
            <a:r>
              <a:rPr lang="hr-HR" sz="2400" b="1" dirty="0">
                <a:solidFill>
                  <a:srgbClr val="FF0000"/>
                </a:solidFill>
                <a:latin typeface="Quicksand"/>
                <a:ea typeface="Quicksand"/>
                <a:cs typeface="Quicksand"/>
                <a:sym typeface="Quicksand"/>
              </a:rPr>
              <a:t>ne</a:t>
            </a:r>
            <a:r>
              <a:rPr lang="hr-HR" sz="2400" b="1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 podrazumijeva?</a:t>
            </a:r>
          </a:p>
        </p:txBody>
      </p:sp>
      <p:sp>
        <p:nvSpPr>
          <p:cNvPr id="183" name="Google Shape;183;p42">
            <a:extLst>
              <a:ext uri="{FF2B5EF4-FFF2-40B4-BE49-F238E27FC236}">
                <a16:creationId xmlns:a16="http://schemas.microsoft.com/office/drawing/2014/main" id="{D9CFD7B5-84F7-F0C2-AF2A-B7ACFD8F291C}"/>
              </a:ext>
            </a:extLst>
          </p:cNvPr>
          <p:cNvSpPr/>
          <p:nvPr/>
        </p:nvSpPr>
        <p:spPr>
          <a:xfrm>
            <a:off x="838210" y="1354094"/>
            <a:ext cx="7970812" cy="47993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19100" lvl="0" indent="-342900">
              <a:lnSpc>
                <a:spcPct val="150000"/>
              </a:lnSpc>
              <a:buClr>
                <a:srgbClr val="39C0BA"/>
              </a:buClr>
              <a:buSzPts val="2400"/>
              <a:buFont typeface="Arial" panose="020B0604020202020204" pitchFamily="34" charset="0"/>
              <a:buChar char="•"/>
            </a:pPr>
            <a:r>
              <a:rPr lang="hr-HR" sz="2000" b="1" dirty="0" err="1">
                <a:solidFill>
                  <a:schemeClr val="bg1"/>
                </a:solidFill>
                <a:latin typeface="Arial" panose="020B0604020202020204" pitchFamily="34" charset="0"/>
                <a:ea typeface="Quicksand"/>
                <a:cs typeface="Arial" panose="020B0604020202020204" pitchFamily="34" charset="0"/>
                <a:sym typeface="Quicksand"/>
              </a:rPr>
              <a:t>OpenMP</a:t>
            </a:r>
            <a:r>
              <a:rPr lang="hr-HR" sz="2000" b="1" dirty="0">
                <a:solidFill>
                  <a:schemeClr val="bg1"/>
                </a:solidFill>
                <a:latin typeface="Arial" panose="020B0604020202020204" pitchFamily="34" charset="0"/>
                <a:ea typeface="Quicksand"/>
                <a:cs typeface="Arial" panose="020B0604020202020204" pitchFamily="34" charset="0"/>
                <a:sym typeface="Quicksand"/>
              </a:rPr>
              <a:t> se ne implementira isto kod svih proizvođača.</a:t>
            </a:r>
          </a:p>
          <a:p>
            <a:pPr marL="419100" lvl="0" indent="-342900">
              <a:lnSpc>
                <a:spcPct val="150000"/>
              </a:lnSpc>
              <a:buClr>
                <a:srgbClr val="39C0BA"/>
              </a:buClr>
              <a:buSzPts val="2400"/>
              <a:buFont typeface="Arial" panose="020B0604020202020204" pitchFamily="34" charset="0"/>
              <a:buChar char="•"/>
            </a:pPr>
            <a:r>
              <a:rPr lang="hr-HR" sz="2000" b="1" dirty="0">
                <a:solidFill>
                  <a:schemeClr val="bg1"/>
                </a:solidFill>
                <a:latin typeface="Arial" panose="020B0604020202020204" pitchFamily="34" charset="0"/>
                <a:ea typeface="Quicksand"/>
                <a:cs typeface="Arial" panose="020B0604020202020204" pitchFamily="34" charset="0"/>
                <a:sym typeface="Quicksand"/>
              </a:rPr>
              <a:t>Dizajniran je za strojeve s dijeljenom memorijom, ne za distribuirane sustave.</a:t>
            </a:r>
          </a:p>
          <a:p>
            <a:pPr marL="419100" lvl="0" indent="-342900">
              <a:lnSpc>
                <a:spcPct val="150000"/>
              </a:lnSpc>
              <a:buClr>
                <a:srgbClr val="39C0BA"/>
              </a:buClr>
              <a:buSzPts val="2400"/>
              <a:buFont typeface="Arial" panose="020B0604020202020204" pitchFamily="34" charset="0"/>
              <a:buChar char="•"/>
            </a:pPr>
            <a:r>
              <a:rPr lang="hr-HR" sz="2000" b="1" dirty="0">
                <a:solidFill>
                  <a:schemeClr val="bg1"/>
                </a:solidFill>
                <a:latin typeface="Arial" panose="020B0604020202020204" pitchFamily="34" charset="0"/>
                <a:ea typeface="Quicksand"/>
                <a:cs typeface="Arial" panose="020B0604020202020204" pitchFamily="34" charset="0"/>
                <a:sym typeface="Quicksand"/>
              </a:rPr>
              <a:t>Ne jamči uvijek maksimalnu efikasnost dijeljene memorije.</a:t>
            </a:r>
          </a:p>
          <a:p>
            <a:pPr marL="419100" lvl="0" indent="-342900">
              <a:lnSpc>
                <a:spcPct val="150000"/>
              </a:lnSpc>
              <a:buClr>
                <a:srgbClr val="39C0BA"/>
              </a:buClr>
              <a:buSzPts val="2400"/>
              <a:buFont typeface="Arial" panose="020B0604020202020204" pitchFamily="34" charset="0"/>
              <a:buChar char="•"/>
            </a:pPr>
            <a:r>
              <a:rPr lang="hr-HR" sz="2000" b="1" dirty="0">
                <a:solidFill>
                  <a:schemeClr val="bg1"/>
                </a:solidFill>
                <a:latin typeface="Arial" panose="020B0604020202020204" pitchFamily="34" charset="0"/>
                <a:ea typeface="Quicksand"/>
                <a:cs typeface="Arial" panose="020B0604020202020204" pitchFamily="34" charset="0"/>
                <a:sym typeface="Quicksand"/>
              </a:rPr>
              <a:t>Ne provjerava automatski ovisnosti podataka, sukobe niti greške u kodu.</a:t>
            </a:r>
          </a:p>
          <a:p>
            <a:pPr marL="419100" lvl="0" indent="-342900">
              <a:lnSpc>
                <a:spcPct val="150000"/>
              </a:lnSpc>
              <a:buClr>
                <a:srgbClr val="39C0BA"/>
              </a:buClr>
              <a:buSzPts val="2400"/>
              <a:buFont typeface="Arial" panose="020B0604020202020204" pitchFamily="34" charset="0"/>
              <a:buChar char="•"/>
            </a:pPr>
            <a:r>
              <a:rPr lang="hr-HR" sz="2000" b="1" dirty="0">
                <a:solidFill>
                  <a:schemeClr val="bg1"/>
                </a:solidFill>
                <a:latin typeface="Arial" panose="020B0604020202020204" pitchFamily="34" charset="0"/>
                <a:ea typeface="Quicksand"/>
                <a:cs typeface="Arial" panose="020B0604020202020204" pitchFamily="34" charset="0"/>
                <a:sym typeface="Quicksand"/>
              </a:rPr>
              <a:t>Namijenjen je za eksplicitnu </a:t>
            </a:r>
            <a:r>
              <a:rPr lang="hr-HR" sz="2000" b="1" dirty="0" err="1">
                <a:solidFill>
                  <a:schemeClr val="bg1"/>
                </a:solidFill>
                <a:latin typeface="Arial" panose="020B0604020202020204" pitchFamily="34" charset="0"/>
                <a:ea typeface="Quicksand"/>
                <a:cs typeface="Arial" panose="020B0604020202020204" pitchFamily="34" charset="0"/>
                <a:sym typeface="Quicksand"/>
              </a:rPr>
              <a:t>paralelizaciju</a:t>
            </a:r>
            <a:r>
              <a:rPr lang="hr-HR" sz="2000" b="1" dirty="0">
                <a:solidFill>
                  <a:schemeClr val="bg1"/>
                </a:solidFill>
                <a:latin typeface="Arial" panose="020B0604020202020204" pitchFamily="34" charset="0"/>
                <a:ea typeface="Quicksand"/>
                <a:cs typeface="Arial" panose="020B0604020202020204" pitchFamily="34" charset="0"/>
                <a:sym typeface="Quicksand"/>
              </a:rPr>
              <a:t>, ne za punu automatizaciju.</a:t>
            </a:r>
          </a:p>
          <a:p>
            <a:pPr marL="419100" lvl="0" indent="-342900">
              <a:lnSpc>
                <a:spcPct val="150000"/>
              </a:lnSpc>
              <a:buClr>
                <a:srgbClr val="39C0BA"/>
              </a:buClr>
              <a:buSzPts val="2400"/>
              <a:buFont typeface="Arial" panose="020B0604020202020204" pitchFamily="34" charset="0"/>
              <a:buChar char="•"/>
            </a:pPr>
            <a:r>
              <a:rPr lang="hr-HR" sz="2000" b="1" dirty="0">
                <a:solidFill>
                  <a:schemeClr val="bg1"/>
                </a:solidFill>
                <a:latin typeface="Arial" panose="020B0604020202020204" pitchFamily="34" charset="0"/>
                <a:ea typeface="Quicksand"/>
                <a:cs typeface="Arial" panose="020B0604020202020204" pitchFamily="34" charset="0"/>
                <a:sym typeface="Quicksand"/>
              </a:rPr>
              <a:t>Osigurava sinkronizirani pristup ulazu/izlazu pri paralelnom izvođenju.</a:t>
            </a:r>
          </a:p>
        </p:txBody>
      </p:sp>
    </p:spTree>
    <p:extLst>
      <p:ext uri="{BB962C8B-B14F-4D97-AF65-F5344CB8AC3E}">
        <p14:creationId xmlns:p14="http://schemas.microsoft.com/office/powerpoint/2010/main" val="33653593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>
          <a:extLst>
            <a:ext uri="{FF2B5EF4-FFF2-40B4-BE49-F238E27FC236}">
              <a16:creationId xmlns:a16="http://schemas.microsoft.com/office/drawing/2014/main" id="{C84FF71C-3147-7DC6-B51E-18BBCAC89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42">
            <a:extLst>
              <a:ext uri="{FF2B5EF4-FFF2-40B4-BE49-F238E27FC236}">
                <a16:creationId xmlns:a16="http://schemas.microsoft.com/office/drawing/2014/main" id="{9F3F14DC-7E81-FC08-E4C5-2FE03A1DBCF7}"/>
              </a:ext>
            </a:extLst>
          </p:cNvPr>
          <p:cNvSpPr txBox="1"/>
          <p:nvPr/>
        </p:nvSpPr>
        <p:spPr>
          <a:xfrm>
            <a:off x="1165320" y="70452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400" b="1" dirty="0" err="1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Fork-Join</a:t>
            </a:r>
            <a:r>
              <a:rPr lang="hr-HR" sz="2400" b="1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 model (konceptualno)</a:t>
            </a:r>
          </a:p>
        </p:txBody>
      </p:sp>
      <p:sp>
        <p:nvSpPr>
          <p:cNvPr id="183" name="Google Shape;183;p42">
            <a:extLst>
              <a:ext uri="{FF2B5EF4-FFF2-40B4-BE49-F238E27FC236}">
                <a16:creationId xmlns:a16="http://schemas.microsoft.com/office/drawing/2014/main" id="{F24EC2A2-09C6-4232-AD2B-F21C82D5D34A}"/>
              </a:ext>
            </a:extLst>
          </p:cNvPr>
          <p:cNvSpPr/>
          <p:nvPr/>
        </p:nvSpPr>
        <p:spPr>
          <a:xfrm>
            <a:off x="838210" y="1164239"/>
            <a:ext cx="8305790" cy="5497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19100" lvl="0" indent="-342900">
              <a:lnSpc>
                <a:spcPct val="150000"/>
              </a:lnSpc>
              <a:buClr>
                <a:srgbClr val="39C0BA"/>
              </a:buClr>
              <a:buSzPts val="2400"/>
              <a:buFont typeface="Arial" panose="020B0604020202020204" pitchFamily="34" charset="0"/>
              <a:buChar char="•"/>
            </a:pPr>
            <a:r>
              <a:rPr lang="hr-HR" sz="1800" b="1" dirty="0">
                <a:solidFill>
                  <a:schemeClr val="bg1"/>
                </a:solidFill>
                <a:latin typeface="Arial" panose="020B0604020202020204" pitchFamily="34" charset="0"/>
                <a:ea typeface="Quicksand"/>
                <a:cs typeface="Arial" panose="020B0604020202020204" pitchFamily="34" charset="0"/>
                <a:sym typeface="Quicksand"/>
              </a:rPr>
              <a:t>Program počinje s jednom niti: master niti.</a:t>
            </a:r>
          </a:p>
          <a:p>
            <a:pPr marL="419100" lvl="0" indent="-342900">
              <a:lnSpc>
                <a:spcPct val="150000"/>
              </a:lnSpc>
              <a:buClr>
                <a:srgbClr val="39C0BA"/>
              </a:buClr>
              <a:buSzPts val="2400"/>
              <a:buFont typeface="Arial" panose="020B0604020202020204" pitchFamily="34" charset="0"/>
              <a:buChar char="•"/>
            </a:pPr>
            <a:r>
              <a:rPr lang="hr-HR" sz="1800" b="1" dirty="0">
                <a:solidFill>
                  <a:schemeClr val="bg1"/>
                </a:solidFill>
                <a:latin typeface="Arial" panose="020B0604020202020204" pitchFamily="34" charset="0"/>
                <a:ea typeface="Quicksand"/>
                <a:cs typeface="Arial" panose="020B0604020202020204" pitchFamily="34" charset="0"/>
                <a:sym typeface="Quicksand"/>
              </a:rPr>
              <a:t>Master nit radi sekvencijalno dok ne dođe do paralelnog dijela.</a:t>
            </a:r>
          </a:p>
          <a:p>
            <a:pPr marL="419100" lvl="0" indent="-342900">
              <a:lnSpc>
                <a:spcPct val="150000"/>
              </a:lnSpc>
              <a:buClr>
                <a:srgbClr val="39C0BA"/>
              </a:buClr>
              <a:buSzPts val="2400"/>
              <a:buFont typeface="Arial" panose="020B0604020202020204" pitchFamily="34" charset="0"/>
              <a:buChar char="•"/>
            </a:pPr>
            <a:r>
              <a:rPr lang="hr-HR" sz="1800" b="1" dirty="0">
                <a:solidFill>
                  <a:schemeClr val="bg1"/>
                </a:solidFill>
                <a:latin typeface="Arial" panose="020B0604020202020204" pitchFamily="34" charset="0"/>
                <a:ea typeface="Quicksand"/>
                <a:cs typeface="Arial" panose="020B0604020202020204" pitchFamily="34" charset="0"/>
                <a:sym typeface="Quicksand"/>
              </a:rPr>
              <a:t>Kad se paralelni dio dosegne:</a:t>
            </a:r>
          </a:p>
          <a:p>
            <a:pPr marL="76200" lvl="0">
              <a:lnSpc>
                <a:spcPct val="150000"/>
              </a:lnSpc>
              <a:buClr>
                <a:srgbClr val="39C0BA"/>
              </a:buClr>
              <a:buSzPts val="2400"/>
            </a:pPr>
            <a:r>
              <a:rPr lang="hr-HR" sz="1800" b="1" dirty="0">
                <a:solidFill>
                  <a:schemeClr val="bg1"/>
                </a:solidFill>
                <a:latin typeface="Arial" panose="020B0604020202020204" pitchFamily="34" charset="0"/>
                <a:ea typeface="Quicksand"/>
                <a:cs typeface="Arial" panose="020B0604020202020204" pitchFamily="34" charset="0"/>
                <a:sym typeface="Quicksand"/>
              </a:rPr>
              <a:t>	- Master nit </a:t>
            </a:r>
            <a:r>
              <a:rPr lang="hr-HR" sz="1800" b="1" dirty="0" err="1">
                <a:solidFill>
                  <a:schemeClr val="bg1"/>
                </a:solidFill>
                <a:latin typeface="Arial" panose="020B0604020202020204" pitchFamily="34" charset="0"/>
                <a:ea typeface="Quicksand"/>
                <a:cs typeface="Arial" panose="020B0604020202020204" pitchFamily="34" charset="0"/>
                <a:sym typeface="Quicksand"/>
              </a:rPr>
              <a:t>forka</a:t>
            </a:r>
            <a:r>
              <a:rPr lang="hr-HR" sz="1800" b="1" dirty="0">
                <a:solidFill>
                  <a:schemeClr val="bg1"/>
                </a:solidFill>
                <a:latin typeface="Arial" panose="020B0604020202020204" pitchFamily="34" charset="0"/>
                <a:ea typeface="Quicksand"/>
                <a:cs typeface="Arial" panose="020B0604020202020204" pitchFamily="34" charset="0"/>
                <a:sym typeface="Quicksand"/>
              </a:rPr>
              <a:t> i stvara skup niti.</a:t>
            </a:r>
          </a:p>
          <a:p>
            <a:pPr marL="76200" lvl="0">
              <a:lnSpc>
                <a:spcPct val="150000"/>
              </a:lnSpc>
              <a:buClr>
                <a:srgbClr val="39C0BA"/>
              </a:buClr>
              <a:buSzPts val="2400"/>
            </a:pPr>
            <a:r>
              <a:rPr lang="hr-HR" sz="1800" b="1" dirty="0">
                <a:solidFill>
                  <a:schemeClr val="bg1"/>
                </a:solidFill>
                <a:latin typeface="Arial" panose="020B0604020202020204" pitchFamily="34" charset="0"/>
                <a:ea typeface="Quicksand"/>
                <a:cs typeface="Arial" panose="020B0604020202020204" pitchFamily="34" charset="0"/>
                <a:sym typeface="Quicksand"/>
              </a:rPr>
              <a:t>	- Postaje vođa tog skupa s ID-</a:t>
            </a:r>
            <a:r>
              <a:rPr lang="hr-HR" sz="1800" b="1" dirty="0" err="1">
                <a:solidFill>
                  <a:schemeClr val="bg1"/>
                </a:solidFill>
                <a:latin typeface="Arial" panose="020B0604020202020204" pitchFamily="34" charset="0"/>
                <a:ea typeface="Quicksand"/>
                <a:cs typeface="Arial" panose="020B0604020202020204" pitchFamily="34" charset="0"/>
                <a:sym typeface="Quicksand"/>
              </a:rPr>
              <a:t>jem</a:t>
            </a:r>
            <a:r>
              <a:rPr lang="hr-HR" sz="1800" b="1" dirty="0">
                <a:solidFill>
                  <a:schemeClr val="bg1"/>
                </a:solidFill>
                <a:latin typeface="Arial" panose="020B0604020202020204" pitchFamily="34" charset="0"/>
                <a:ea typeface="Quicksand"/>
                <a:cs typeface="Arial" panose="020B0604020202020204" pitchFamily="34" charset="0"/>
                <a:sym typeface="Quicksand"/>
              </a:rPr>
              <a:t> 0.</a:t>
            </a:r>
          </a:p>
          <a:p>
            <a:pPr marL="419100" lvl="0" indent="-342900">
              <a:lnSpc>
                <a:spcPct val="150000"/>
              </a:lnSpc>
              <a:buClr>
                <a:srgbClr val="39C0BA"/>
              </a:buClr>
              <a:buSzPts val="2400"/>
              <a:buFont typeface="Arial" panose="020B0604020202020204" pitchFamily="34" charset="0"/>
              <a:buChar char="•"/>
            </a:pPr>
            <a:r>
              <a:rPr lang="hr-HR" sz="1800" b="1" dirty="0">
                <a:solidFill>
                  <a:schemeClr val="bg1"/>
                </a:solidFill>
                <a:latin typeface="Arial" panose="020B0604020202020204" pitchFamily="34" charset="0"/>
                <a:ea typeface="Quicksand"/>
                <a:cs typeface="Arial" panose="020B0604020202020204" pitchFamily="34" charset="0"/>
                <a:sym typeface="Quicksand"/>
              </a:rPr>
              <a:t>Naredbe unutar paralelnog bloka izvršavaju se istovremeno na više niti.</a:t>
            </a:r>
          </a:p>
          <a:p>
            <a:pPr marL="419100" lvl="0" indent="-342900">
              <a:lnSpc>
                <a:spcPct val="150000"/>
              </a:lnSpc>
              <a:buClr>
                <a:srgbClr val="39C0BA"/>
              </a:buClr>
              <a:buSzPts val="2400"/>
              <a:buFont typeface="Arial" panose="020B0604020202020204" pitchFamily="34" charset="0"/>
              <a:buChar char="•"/>
            </a:pPr>
            <a:r>
              <a:rPr lang="hr-HR" sz="1800" b="1" dirty="0">
                <a:solidFill>
                  <a:schemeClr val="bg1"/>
                </a:solidFill>
                <a:latin typeface="Arial" panose="020B0604020202020204" pitchFamily="34" charset="0"/>
                <a:ea typeface="Quicksand"/>
                <a:cs typeface="Arial" panose="020B0604020202020204" pitchFamily="34" charset="0"/>
                <a:sym typeface="Quicksand"/>
              </a:rPr>
              <a:t>Nakon završetka, niti se </a:t>
            </a:r>
            <a:r>
              <a:rPr lang="hr-HR" sz="1800" b="1" dirty="0" err="1">
                <a:solidFill>
                  <a:schemeClr val="bg1"/>
                </a:solidFill>
                <a:latin typeface="Arial" panose="020B0604020202020204" pitchFamily="34" charset="0"/>
                <a:ea typeface="Quicksand"/>
                <a:cs typeface="Arial" panose="020B0604020202020204" pitchFamily="34" charset="0"/>
                <a:sym typeface="Quicksand"/>
              </a:rPr>
              <a:t>joinaju</a:t>
            </a:r>
            <a:r>
              <a:rPr lang="hr-HR" sz="1800" b="1" dirty="0">
                <a:solidFill>
                  <a:schemeClr val="bg1"/>
                </a:solidFill>
                <a:latin typeface="Arial" panose="020B0604020202020204" pitchFamily="34" charset="0"/>
                <a:ea typeface="Quicksand"/>
                <a:cs typeface="Arial" panose="020B0604020202020204" pitchFamily="34" charset="0"/>
                <a:sym typeface="Quicksand"/>
              </a:rPr>
              <a:t> (sinkroniziraju) i završavaju, ostavljajući samo master nit.</a:t>
            </a:r>
          </a:p>
          <a:p>
            <a:pPr marL="76200" lvl="0">
              <a:lnSpc>
                <a:spcPct val="150000"/>
              </a:lnSpc>
              <a:buClr>
                <a:srgbClr val="39C0BA"/>
              </a:buClr>
              <a:buSzPts val="2400"/>
            </a:pPr>
            <a:r>
              <a:rPr lang="hr-HR" sz="1800" b="1" dirty="0">
                <a:solidFill>
                  <a:schemeClr val="bg1"/>
                </a:solidFill>
                <a:latin typeface="Arial" panose="020B0604020202020204" pitchFamily="34" charset="0"/>
                <a:ea typeface="Quicksand"/>
                <a:cs typeface="Arial" panose="020B0604020202020204" pitchFamily="34" charset="0"/>
                <a:sym typeface="Quicksand"/>
              </a:rPr>
              <a:t>Ključne točke</a:t>
            </a:r>
          </a:p>
          <a:p>
            <a:pPr marL="419100" lvl="0" indent="-342900">
              <a:lnSpc>
                <a:spcPct val="150000"/>
              </a:lnSpc>
              <a:buClr>
                <a:srgbClr val="39C0BA"/>
              </a:buClr>
              <a:buSzPts val="2400"/>
              <a:buFont typeface="Arial" panose="020B0604020202020204" pitchFamily="34" charset="0"/>
              <a:buChar char="•"/>
            </a:pPr>
            <a:r>
              <a:rPr lang="hr-HR" sz="1800" b="1" dirty="0">
                <a:solidFill>
                  <a:schemeClr val="bg1"/>
                </a:solidFill>
                <a:latin typeface="Arial" panose="020B0604020202020204" pitchFamily="34" charset="0"/>
                <a:ea typeface="Quicksand"/>
                <a:cs typeface="Arial" panose="020B0604020202020204" pitchFamily="34" charset="0"/>
                <a:sym typeface="Quicksand"/>
              </a:rPr>
              <a:t>Paralelizam se dodaje postupno dok se ne postignu željeni performansi.</a:t>
            </a:r>
          </a:p>
          <a:p>
            <a:pPr marL="419100" lvl="0" indent="-342900">
              <a:lnSpc>
                <a:spcPct val="150000"/>
              </a:lnSpc>
              <a:buClr>
                <a:srgbClr val="39C0BA"/>
              </a:buClr>
              <a:buSzPts val="2400"/>
              <a:buFont typeface="Arial" panose="020B0604020202020204" pitchFamily="34" charset="0"/>
              <a:buChar char="•"/>
            </a:pPr>
            <a:r>
              <a:rPr lang="hr-HR" sz="1800" b="1" dirty="0">
                <a:solidFill>
                  <a:schemeClr val="bg1"/>
                </a:solidFill>
                <a:latin typeface="Arial" panose="020B0604020202020204" pitchFamily="34" charset="0"/>
                <a:ea typeface="Quicksand"/>
                <a:cs typeface="Arial" panose="020B0604020202020204" pitchFamily="34" charset="0"/>
                <a:sym typeface="Quicksand"/>
              </a:rPr>
              <a:t>Sekvencijalni program se evoluira u paralelni.</a:t>
            </a:r>
          </a:p>
        </p:txBody>
      </p:sp>
    </p:spTree>
    <p:extLst>
      <p:ext uri="{BB962C8B-B14F-4D97-AF65-F5344CB8AC3E}">
        <p14:creationId xmlns:p14="http://schemas.microsoft.com/office/powerpoint/2010/main" val="1662482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>
          <a:extLst>
            <a:ext uri="{FF2B5EF4-FFF2-40B4-BE49-F238E27FC236}">
              <a16:creationId xmlns:a16="http://schemas.microsoft.com/office/drawing/2014/main" id="{747412E8-A266-3B3E-EFD6-09B56FD5ED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42">
            <a:extLst>
              <a:ext uri="{FF2B5EF4-FFF2-40B4-BE49-F238E27FC236}">
                <a16:creationId xmlns:a16="http://schemas.microsoft.com/office/drawing/2014/main" id="{E68A244E-57CC-EFC9-B7DC-16CE04D6635B}"/>
              </a:ext>
            </a:extLst>
          </p:cNvPr>
          <p:cNvSpPr txBox="1"/>
          <p:nvPr/>
        </p:nvSpPr>
        <p:spPr>
          <a:xfrm>
            <a:off x="1165320" y="70452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hr-HR" sz="2400" b="1" dirty="0" err="1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Fork-Join</a:t>
            </a:r>
            <a:r>
              <a:rPr lang="hr-HR" sz="2400" b="1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 model</a:t>
            </a:r>
          </a:p>
        </p:txBody>
      </p:sp>
      <p:sp>
        <p:nvSpPr>
          <p:cNvPr id="183" name="Google Shape;183;p42">
            <a:extLst>
              <a:ext uri="{FF2B5EF4-FFF2-40B4-BE49-F238E27FC236}">
                <a16:creationId xmlns:a16="http://schemas.microsoft.com/office/drawing/2014/main" id="{851E62C4-7380-A90F-5785-3EF8F891454C}"/>
              </a:ext>
            </a:extLst>
          </p:cNvPr>
          <p:cNvSpPr/>
          <p:nvPr/>
        </p:nvSpPr>
        <p:spPr>
          <a:xfrm>
            <a:off x="838210" y="1354094"/>
            <a:ext cx="7970812" cy="47993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19100" lvl="0" indent="-342900">
              <a:lnSpc>
                <a:spcPct val="150000"/>
              </a:lnSpc>
              <a:buClr>
                <a:srgbClr val="39C0BA"/>
              </a:buClr>
              <a:buSzPts val="2400"/>
              <a:buFont typeface="Arial" panose="020B0604020202020204" pitchFamily="34" charset="0"/>
              <a:buChar char="•"/>
            </a:pPr>
            <a:r>
              <a:rPr lang="hr-HR" sz="2000" b="1" dirty="0" err="1">
                <a:solidFill>
                  <a:schemeClr val="bg1"/>
                </a:solidFill>
                <a:latin typeface="Arial" panose="020B0604020202020204" pitchFamily="34" charset="0"/>
                <a:ea typeface="Quicksand"/>
                <a:cs typeface="Arial" panose="020B0604020202020204" pitchFamily="34" charset="0"/>
                <a:sym typeface="Quicksand"/>
              </a:rPr>
              <a:t>Fork-Join</a:t>
            </a:r>
            <a:r>
              <a:rPr lang="hr-HR" sz="2000" b="1" dirty="0">
                <a:solidFill>
                  <a:schemeClr val="bg1"/>
                </a:solidFill>
                <a:latin typeface="Arial" panose="020B0604020202020204" pitchFamily="34" charset="0"/>
                <a:ea typeface="Quicksand"/>
                <a:cs typeface="Arial" panose="020B0604020202020204" pitchFamily="34" charset="0"/>
                <a:sym typeface="Quicksand"/>
              </a:rPr>
              <a:t> model:</a:t>
            </a:r>
          </a:p>
          <a:p>
            <a:pPr marL="76200" lvl="3">
              <a:lnSpc>
                <a:spcPct val="150000"/>
              </a:lnSpc>
              <a:buClr>
                <a:srgbClr val="39C0BA"/>
              </a:buClr>
              <a:buSzPts val="2400"/>
            </a:pPr>
            <a:r>
              <a:rPr lang="hr-HR" sz="2000" b="1" dirty="0">
                <a:solidFill>
                  <a:schemeClr val="bg1"/>
                </a:solidFill>
                <a:latin typeface="Arial" panose="020B0604020202020204" pitchFamily="34" charset="0"/>
                <a:ea typeface="Quicksand"/>
                <a:cs typeface="Arial" panose="020B0604020202020204" pitchFamily="34" charset="0"/>
                <a:sym typeface="Quicksand"/>
              </a:rPr>
              <a:t>	- Glavna nit (master) pokreće paralelni blok.</a:t>
            </a:r>
          </a:p>
          <a:p>
            <a:pPr marL="76200" lvl="2">
              <a:lnSpc>
                <a:spcPct val="150000"/>
              </a:lnSpc>
              <a:buClr>
                <a:srgbClr val="39C0BA"/>
              </a:buClr>
              <a:buSzPts val="2400"/>
            </a:pPr>
            <a:r>
              <a:rPr lang="hr-HR" sz="2000" b="1" dirty="0">
                <a:solidFill>
                  <a:schemeClr val="bg1"/>
                </a:solidFill>
                <a:latin typeface="Arial" panose="020B0604020202020204" pitchFamily="34" charset="0"/>
                <a:ea typeface="Quicksand"/>
                <a:cs typeface="Arial" panose="020B0604020202020204" pitchFamily="34" charset="0"/>
                <a:sym typeface="Quicksand"/>
              </a:rPr>
              <a:t>	- </a:t>
            </a:r>
            <a:r>
              <a:rPr lang="hr-HR" sz="2000" b="1" dirty="0" err="1">
                <a:solidFill>
                  <a:schemeClr val="bg1"/>
                </a:solidFill>
                <a:latin typeface="Arial" panose="020B0604020202020204" pitchFamily="34" charset="0"/>
                <a:ea typeface="Quicksand"/>
                <a:cs typeface="Arial" panose="020B0604020202020204" pitchFamily="34" charset="0"/>
                <a:sym typeface="Quicksand"/>
              </a:rPr>
              <a:t>Fork</a:t>
            </a:r>
            <a:r>
              <a:rPr lang="hr-HR" sz="2000" b="1" dirty="0">
                <a:solidFill>
                  <a:schemeClr val="bg1"/>
                </a:solidFill>
                <a:latin typeface="Arial" panose="020B0604020202020204" pitchFamily="34" charset="0"/>
                <a:ea typeface="Quicksand"/>
                <a:cs typeface="Arial" panose="020B0604020202020204" pitchFamily="34" charset="0"/>
                <a:sym typeface="Quicksand"/>
              </a:rPr>
              <a:t>: kreiraju se radne niti.</a:t>
            </a:r>
          </a:p>
          <a:p>
            <a:pPr marL="76200" lvl="2">
              <a:lnSpc>
                <a:spcPct val="150000"/>
              </a:lnSpc>
              <a:buClr>
                <a:srgbClr val="39C0BA"/>
              </a:buClr>
              <a:buSzPts val="2400"/>
            </a:pPr>
            <a:r>
              <a:rPr lang="hr-HR" sz="2000" b="1" dirty="0">
                <a:solidFill>
                  <a:schemeClr val="bg1"/>
                </a:solidFill>
                <a:latin typeface="Arial" panose="020B0604020202020204" pitchFamily="34" charset="0"/>
                <a:ea typeface="Quicksand"/>
                <a:cs typeface="Arial" panose="020B0604020202020204" pitchFamily="34" charset="0"/>
                <a:sym typeface="Quicksand"/>
              </a:rPr>
              <a:t>	- </a:t>
            </a:r>
            <a:r>
              <a:rPr lang="hr-HR" sz="2000" b="1" dirty="0" err="1">
                <a:solidFill>
                  <a:schemeClr val="bg1"/>
                </a:solidFill>
                <a:latin typeface="Arial" panose="020B0604020202020204" pitchFamily="34" charset="0"/>
                <a:ea typeface="Quicksand"/>
                <a:cs typeface="Arial" panose="020B0604020202020204" pitchFamily="34" charset="0"/>
                <a:sym typeface="Quicksand"/>
              </a:rPr>
              <a:t>Join</a:t>
            </a:r>
            <a:r>
              <a:rPr lang="hr-HR" sz="2000" b="1" dirty="0">
                <a:solidFill>
                  <a:schemeClr val="bg1"/>
                </a:solidFill>
                <a:latin typeface="Arial" panose="020B0604020202020204" pitchFamily="34" charset="0"/>
                <a:ea typeface="Quicksand"/>
                <a:cs typeface="Arial" panose="020B0604020202020204" pitchFamily="34" charset="0"/>
                <a:sym typeface="Quicksand"/>
              </a:rPr>
              <a:t>: spajaju se natrag u glavnu nit.</a:t>
            </a:r>
          </a:p>
        </p:txBody>
      </p:sp>
      <p:pic>
        <p:nvPicPr>
          <p:cNvPr id="2" name="Picture 2" descr="fork-join">
            <a:extLst>
              <a:ext uri="{FF2B5EF4-FFF2-40B4-BE49-F238E27FC236}">
                <a16:creationId xmlns:a16="http://schemas.microsoft.com/office/drawing/2014/main" id="{E40F40F8-EB12-6366-283A-4915B1B087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9828" y="3753787"/>
            <a:ext cx="7620000" cy="2152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70551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>
          <a:extLst>
            <a:ext uri="{FF2B5EF4-FFF2-40B4-BE49-F238E27FC236}">
              <a16:creationId xmlns:a16="http://schemas.microsoft.com/office/drawing/2014/main" id="{CB8F650B-9C85-6A8C-781A-4172DA573F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42">
            <a:extLst>
              <a:ext uri="{FF2B5EF4-FFF2-40B4-BE49-F238E27FC236}">
                <a16:creationId xmlns:a16="http://schemas.microsoft.com/office/drawing/2014/main" id="{95576C28-DAB0-D238-4402-D7EBF352DF45}"/>
              </a:ext>
            </a:extLst>
          </p:cNvPr>
          <p:cNvSpPr txBox="1"/>
          <p:nvPr/>
        </p:nvSpPr>
        <p:spPr>
          <a:xfrm>
            <a:off x="1165320" y="70452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hr-HR" sz="2400" b="1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Opća pravila za pisanje direktive </a:t>
            </a:r>
            <a:r>
              <a:rPr lang="hr-HR" sz="2400" b="1" dirty="0" err="1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OpenMP</a:t>
            </a:r>
            <a:r>
              <a:rPr lang="hr-HR" sz="2400" b="1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-a</a:t>
            </a:r>
          </a:p>
        </p:txBody>
      </p:sp>
      <p:sp>
        <p:nvSpPr>
          <p:cNvPr id="183" name="Google Shape;183;p42">
            <a:extLst>
              <a:ext uri="{FF2B5EF4-FFF2-40B4-BE49-F238E27FC236}">
                <a16:creationId xmlns:a16="http://schemas.microsoft.com/office/drawing/2014/main" id="{812B72E9-694C-5664-DD9A-258615399898}"/>
              </a:ext>
            </a:extLst>
          </p:cNvPr>
          <p:cNvSpPr/>
          <p:nvPr/>
        </p:nvSpPr>
        <p:spPr>
          <a:xfrm>
            <a:off x="1173188" y="1511749"/>
            <a:ext cx="7970812" cy="47993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HR" altLang="en-HR" sz="2000" dirty="0">
                <a:solidFill>
                  <a:schemeClr val="bg1"/>
                </a:solidFill>
                <a:latin typeface="Arial" panose="020B0604020202020204" pitchFamily="34" charset="0"/>
              </a:rPr>
              <a:t> Case sensitive (razlikuje velika/mala slova)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HR" altLang="en-HR" sz="2000" dirty="0">
                <a:solidFill>
                  <a:schemeClr val="bg1"/>
                </a:solidFill>
                <a:latin typeface="Arial" panose="020B0604020202020204" pitchFamily="34" charset="0"/>
              </a:rPr>
              <a:t> Jedna direktiva – jedno ime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HR" altLang="en-HR" sz="2000" dirty="0">
                <a:solidFill>
                  <a:schemeClr val="bg1"/>
                </a:solidFill>
                <a:latin typeface="Arial" panose="020B0604020202020204" pitchFamily="34" charset="0"/>
              </a:rPr>
              <a:t> Direktiva vrijedi samo za </a:t>
            </a:r>
            <a:r>
              <a:rPr lang="en-HR" altLang="en-HR" sz="2000" b="1" dirty="0">
                <a:solidFill>
                  <a:schemeClr val="bg1"/>
                </a:solidFill>
                <a:latin typeface="Arial" panose="020B0604020202020204" pitchFamily="34" charset="0"/>
              </a:rPr>
              <a:t>jedan strukturirani blok</a:t>
            </a:r>
            <a:endParaRPr lang="en-HR" altLang="en-HR" sz="20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HR" altLang="en-HR" sz="2000" dirty="0">
                <a:solidFill>
                  <a:schemeClr val="bg1"/>
                </a:solidFill>
                <a:latin typeface="Arial" panose="020B0604020202020204" pitchFamily="34" charset="0"/>
              </a:rPr>
              <a:t> Dugačke direktive moguće je </a:t>
            </a:r>
            <a:r>
              <a:rPr lang="en-HR" altLang="en-HR" sz="2000" b="1" dirty="0">
                <a:solidFill>
                  <a:schemeClr val="bg1"/>
                </a:solidFill>
                <a:latin typeface="Arial" panose="020B0604020202020204" pitchFamily="34" charset="0"/>
              </a:rPr>
              <a:t>nastaviti pomoću "\"</a:t>
            </a:r>
            <a:endParaRPr lang="en-HR" altLang="en-HR" sz="20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72571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>
          <a:extLst>
            <a:ext uri="{FF2B5EF4-FFF2-40B4-BE49-F238E27FC236}">
              <a16:creationId xmlns:a16="http://schemas.microsoft.com/office/drawing/2014/main" id="{BB35D75B-238D-D8EB-8225-A61312FA1D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42">
            <a:extLst>
              <a:ext uri="{FF2B5EF4-FFF2-40B4-BE49-F238E27FC236}">
                <a16:creationId xmlns:a16="http://schemas.microsoft.com/office/drawing/2014/main" id="{D2DE7DDD-B597-3B30-7AE3-3C7B9B1DBCF6}"/>
              </a:ext>
            </a:extLst>
          </p:cNvPr>
          <p:cNvSpPr txBox="1"/>
          <p:nvPr/>
        </p:nvSpPr>
        <p:spPr>
          <a:xfrm>
            <a:off x="1165320" y="70452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hr-HR" sz="2400" b="1" dirty="0" err="1">
                <a:solidFill>
                  <a:srgbClr val="39C0BA"/>
                </a:solidFill>
              </a:rPr>
              <a:t>OpenMP</a:t>
            </a:r>
            <a:r>
              <a:rPr lang="hr-HR" sz="2400" b="1" dirty="0">
                <a:solidFill>
                  <a:srgbClr val="39C0BA"/>
                </a:solidFill>
              </a:rPr>
              <a:t> direktive paralelne regije</a:t>
            </a:r>
            <a:endParaRPr lang="en-US" sz="2400" b="1" dirty="0">
              <a:solidFill>
                <a:srgbClr val="39C0BA"/>
              </a:solidFill>
            </a:endParaRPr>
          </a:p>
        </p:txBody>
      </p:sp>
      <p:sp>
        <p:nvSpPr>
          <p:cNvPr id="183" name="Google Shape;183;p42">
            <a:extLst>
              <a:ext uri="{FF2B5EF4-FFF2-40B4-BE49-F238E27FC236}">
                <a16:creationId xmlns:a16="http://schemas.microsoft.com/office/drawing/2014/main" id="{DDF0BB7D-B13C-6C8D-82F3-823DF98F0302}"/>
              </a:ext>
            </a:extLst>
          </p:cNvPr>
          <p:cNvSpPr/>
          <p:nvPr/>
        </p:nvSpPr>
        <p:spPr>
          <a:xfrm>
            <a:off x="1173188" y="1511749"/>
            <a:ext cx="7970812" cy="47993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9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Sintaksa</a:t>
            </a:r>
            <a:r>
              <a:rPr lang="en-US" sz="1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r>
              <a:rPr lang="en-US" sz="19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#pragma </a:t>
            </a:r>
            <a:r>
              <a:rPr lang="en-US" sz="19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omp</a:t>
            </a:r>
            <a:r>
              <a:rPr lang="en-US" sz="19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parallel [</a:t>
            </a:r>
            <a:r>
              <a:rPr lang="en-US" sz="19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klauzule</a:t>
            </a:r>
            <a:r>
              <a:rPr lang="en-US" sz="19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</a:t>
            </a:r>
          </a:p>
          <a:p>
            <a:r>
              <a:rPr lang="en-US" sz="19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en-US" sz="19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/* </a:t>
            </a:r>
            <a:r>
              <a:rPr lang="en-US" sz="19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strukturirani</a:t>
            </a:r>
            <a:r>
              <a:rPr lang="en-US" sz="19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9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blok</a:t>
            </a:r>
            <a:r>
              <a:rPr lang="en-US" sz="19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9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koda</a:t>
            </a:r>
            <a:r>
              <a:rPr lang="en-US" sz="19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*/</a:t>
            </a:r>
          </a:p>
          <a:p>
            <a:r>
              <a:rPr lang="en-US" sz="19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endParaRPr lang="en-US" sz="1900" dirty="0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sz="19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Najčešće</a:t>
            </a:r>
            <a:r>
              <a:rPr lang="en-US" sz="19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9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klauzule</a:t>
            </a:r>
            <a:r>
              <a:rPr lang="en-US" sz="19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285750" indent="-285750">
              <a:lnSpc>
                <a:spcPct val="15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9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Uvjetna</a:t>
            </a:r>
            <a:r>
              <a:rPr lang="en-US" sz="1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9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paralelizacija</a:t>
            </a:r>
            <a:r>
              <a:rPr lang="en-US" sz="1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– if (scalar </a:t>
            </a:r>
            <a:r>
              <a:rPr lang="en-US" sz="19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izraz</a:t>
            </a:r>
            <a:r>
              <a:rPr lang="en-US" sz="1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lvl="1">
              <a:lnSpc>
                <a:spcPct val="150000"/>
              </a:lnSpc>
              <a:buClr>
                <a:schemeClr val="bg1"/>
              </a:buClr>
            </a:pPr>
            <a:r>
              <a:rPr lang="hr-HR" sz="1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sz="1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Određuje </a:t>
            </a:r>
            <a:r>
              <a:rPr lang="en-US" sz="19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hoće</a:t>
            </a:r>
            <a:r>
              <a:rPr lang="en-US" sz="1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li se za </a:t>
            </a:r>
            <a:r>
              <a:rPr lang="en-US" sz="19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paralelni</a:t>
            </a:r>
            <a:r>
              <a:rPr lang="en-US" sz="1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9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blok</a:t>
            </a:r>
            <a:r>
              <a:rPr lang="en-US" sz="1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9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stvoriti</a:t>
            </a:r>
            <a:r>
              <a:rPr lang="en-US" sz="1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9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niti</a:t>
            </a:r>
            <a:r>
              <a:rPr lang="en-US" sz="1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285750" indent="-285750">
              <a:lnSpc>
                <a:spcPct val="15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9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Stupanj</a:t>
            </a:r>
            <a:r>
              <a:rPr lang="en-US" sz="1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9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konkurentnosti</a:t>
            </a:r>
            <a:r>
              <a:rPr lang="en-US" sz="1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sz="19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broj</a:t>
            </a:r>
            <a:r>
              <a:rPr lang="en-US" sz="1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9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niti</a:t>
            </a:r>
            <a:r>
              <a:rPr lang="en-US" sz="1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– </a:t>
            </a:r>
            <a:r>
              <a:rPr lang="en-US" sz="19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num_threads</a:t>
            </a:r>
            <a:r>
              <a:rPr lang="en-US" sz="1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19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cjelobrojni</a:t>
            </a:r>
            <a:r>
              <a:rPr lang="en-US" sz="1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9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izraz</a:t>
            </a:r>
            <a:r>
              <a:rPr lang="en-US" sz="1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>
              <a:lnSpc>
                <a:spcPct val="150000"/>
              </a:lnSpc>
              <a:buClr>
                <a:schemeClr val="bg1"/>
              </a:buClr>
            </a:pPr>
            <a:r>
              <a:rPr lang="hr-HR" sz="1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sz="19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Broj</a:t>
            </a:r>
            <a:r>
              <a:rPr lang="en-US" sz="1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9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niti</a:t>
            </a:r>
            <a:r>
              <a:rPr lang="en-US" sz="1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9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koje</a:t>
            </a:r>
            <a:r>
              <a:rPr lang="en-US" sz="1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se </a:t>
            </a:r>
            <a:r>
              <a:rPr lang="en-US" sz="19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stvaraju</a:t>
            </a:r>
            <a:r>
              <a:rPr lang="en-US" sz="1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150224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>
          <a:extLst>
            <a:ext uri="{FF2B5EF4-FFF2-40B4-BE49-F238E27FC236}">
              <a16:creationId xmlns:a16="http://schemas.microsoft.com/office/drawing/2014/main" id="{F4869CD2-7E69-A005-EAE4-6D3F649A6E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42">
            <a:extLst>
              <a:ext uri="{FF2B5EF4-FFF2-40B4-BE49-F238E27FC236}">
                <a16:creationId xmlns:a16="http://schemas.microsoft.com/office/drawing/2014/main" id="{E02C3A04-8807-33E1-B3F3-931C73D9DA47}"/>
              </a:ext>
            </a:extLst>
          </p:cNvPr>
          <p:cNvSpPr txBox="1"/>
          <p:nvPr/>
        </p:nvSpPr>
        <p:spPr>
          <a:xfrm>
            <a:off x="1165320" y="70452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hr-HR" sz="2400" b="1" dirty="0" err="1">
                <a:solidFill>
                  <a:srgbClr val="39C0BA"/>
                </a:solidFill>
              </a:rPr>
              <a:t>OpenMP</a:t>
            </a:r>
            <a:r>
              <a:rPr lang="hr-HR" sz="2400" b="1" dirty="0">
                <a:solidFill>
                  <a:srgbClr val="39C0BA"/>
                </a:solidFill>
              </a:rPr>
              <a:t> direktive paralelne regije</a:t>
            </a:r>
            <a:endParaRPr lang="en-US" sz="2400" b="1" dirty="0">
              <a:solidFill>
                <a:srgbClr val="39C0BA"/>
              </a:solidFill>
            </a:endParaRPr>
          </a:p>
        </p:txBody>
      </p:sp>
      <p:sp>
        <p:nvSpPr>
          <p:cNvPr id="183" name="Google Shape;183;p42">
            <a:extLst>
              <a:ext uri="{FF2B5EF4-FFF2-40B4-BE49-F238E27FC236}">
                <a16:creationId xmlns:a16="http://schemas.microsoft.com/office/drawing/2014/main" id="{8CBF547D-E681-3ACF-D401-D0DDCAA1CDB0}"/>
              </a:ext>
            </a:extLst>
          </p:cNvPr>
          <p:cNvSpPr/>
          <p:nvPr/>
        </p:nvSpPr>
        <p:spPr>
          <a:xfrm>
            <a:off x="1173188" y="1511749"/>
            <a:ext cx="7970812" cy="47993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Clr>
                <a:schemeClr val="bg1"/>
              </a:buClr>
            </a:pPr>
            <a:r>
              <a:rPr lang="en-US" sz="19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Opseg</a:t>
            </a:r>
            <a:r>
              <a:rPr lang="en-US" sz="1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9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podataka</a:t>
            </a:r>
            <a:r>
              <a:rPr lang="en-US" sz="1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(Data Scoping)</a:t>
            </a:r>
          </a:p>
          <a:p>
            <a:endParaRPr lang="en-US" sz="19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3" indent="-457200">
              <a:lnSpc>
                <a:spcPct val="150000"/>
              </a:lnSpc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hr-HR" sz="19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sz="19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rivate</a:t>
            </a:r>
            <a:r>
              <a:rPr lang="hr-HR" sz="19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19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lista</a:t>
            </a:r>
            <a:r>
              <a:rPr lang="en-US" sz="1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9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varijabli</a:t>
            </a:r>
            <a:r>
              <a:rPr lang="en-US" sz="1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lang="hr-HR" sz="1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r-HR" sz="1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en-US" sz="19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Varijable</a:t>
            </a:r>
            <a:r>
              <a:rPr lang="hr-HR" sz="1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su</a:t>
            </a:r>
            <a:r>
              <a:rPr lang="en-US" sz="1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9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lokalne</a:t>
            </a:r>
            <a:r>
              <a:rPr lang="en-US" sz="1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za </a:t>
            </a:r>
            <a:r>
              <a:rPr lang="en-US" sz="19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svaku</a:t>
            </a:r>
            <a:r>
              <a:rPr lang="en-US" sz="1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nit.</a:t>
            </a:r>
            <a:endParaRPr lang="hr-HR" sz="19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3" indent="-457200">
              <a:lnSpc>
                <a:spcPct val="150000"/>
              </a:lnSpc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hr-HR" sz="19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n-US" sz="19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irstprivate</a:t>
            </a:r>
            <a:r>
              <a:rPr lang="hr-HR" sz="1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19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lista</a:t>
            </a:r>
            <a:r>
              <a:rPr lang="en-US" sz="1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9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varijabli</a:t>
            </a:r>
            <a:r>
              <a:rPr lang="en-US" sz="1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lang="hr-HR" sz="1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r-HR" sz="1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en-US" sz="19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Slično</a:t>
            </a:r>
            <a:r>
              <a:rPr lang="en-US" sz="1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9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kao</a:t>
            </a:r>
            <a:r>
              <a:rPr lang="en-US" sz="1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private, </a:t>
            </a:r>
            <a:r>
              <a:rPr lang="en-US" sz="19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ali</a:t>
            </a:r>
            <a:r>
              <a:rPr lang="en-US" sz="1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se </a:t>
            </a:r>
            <a:r>
              <a:rPr lang="en-US" sz="19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privatne</a:t>
            </a:r>
            <a:r>
              <a:rPr lang="en-US" sz="1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9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varijable</a:t>
            </a:r>
            <a:r>
              <a:rPr lang="en-US" sz="1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9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inicijaliziraju</a:t>
            </a:r>
            <a:r>
              <a:rPr lang="en-US" sz="1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9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vrijednostima</a:t>
            </a:r>
            <a:r>
              <a:rPr lang="en-US" sz="1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9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koje</a:t>
            </a:r>
            <a:r>
              <a:rPr lang="en-US" sz="1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9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</a:t>
            </a:r>
            <a:r>
              <a:rPr lang="en-US" sz="1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9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imale</a:t>
            </a:r>
            <a:r>
              <a:rPr lang="en-US" sz="1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9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prije</a:t>
            </a:r>
            <a:r>
              <a:rPr lang="en-US" sz="1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9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ulaska</a:t>
            </a:r>
            <a:r>
              <a:rPr lang="en-US" sz="1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u </a:t>
            </a:r>
            <a:r>
              <a:rPr lang="en-US" sz="19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paralelni</a:t>
            </a:r>
            <a:r>
              <a:rPr lang="en-US" sz="1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9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blok</a:t>
            </a:r>
            <a:r>
              <a:rPr lang="en-US" sz="1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hr-HR" sz="19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3" indent="-457200">
              <a:lnSpc>
                <a:spcPct val="150000"/>
              </a:lnSpc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hr-HR" sz="19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en-US" sz="19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hared</a:t>
            </a:r>
            <a:r>
              <a:rPr lang="hr-HR" sz="19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19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lista</a:t>
            </a:r>
            <a:r>
              <a:rPr lang="en-US" sz="1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9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varijabli</a:t>
            </a:r>
            <a:r>
              <a:rPr lang="en-US" sz="1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lang="hr-HR" sz="1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r-HR" sz="1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en-US" sz="19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Varijable</a:t>
            </a:r>
            <a:r>
              <a:rPr lang="en-US" sz="1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9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dijeljene</a:t>
            </a:r>
            <a:r>
              <a:rPr lang="en-US" sz="1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9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među</a:t>
            </a:r>
            <a:r>
              <a:rPr lang="en-US" sz="1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9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svim</a:t>
            </a:r>
            <a:r>
              <a:rPr lang="en-US" sz="1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9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nitima</a:t>
            </a:r>
            <a:r>
              <a:rPr lang="en-US" sz="1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457200" lvl="3" indent="-457200">
              <a:lnSpc>
                <a:spcPct val="150000"/>
              </a:lnSpc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US" sz="19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default</a:t>
            </a:r>
            <a:r>
              <a:rPr lang="en-US" sz="1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sz="19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specifikator</a:t>
            </a:r>
            <a:r>
              <a:rPr lang="en-US" sz="1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9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opsega</a:t>
            </a:r>
            <a:r>
              <a:rPr lang="en-US" sz="1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9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podataka</a:t>
            </a:r>
            <a:r>
              <a:rPr lang="en-US" sz="1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lang="hr-HR" sz="1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r-HR" sz="1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en-US" sz="19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Zadani</a:t>
            </a:r>
            <a:r>
              <a:rPr lang="en-US" sz="1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9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način</a:t>
            </a:r>
            <a:r>
              <a:rPr lang="en-US" sz="1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9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određivanja</a:t>
            </a:r>
            <a:r>
              <a:rPr lang="en-US" sz="1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9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opsega</a:t>
            </a:r>
            <a:r>
              <a:rPr lang="en-US" sz="1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9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varijable</a:t>
            </a:r>
            <a:r>
              <a:rPr lang="en-US" sz="1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9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može</a:t>
            </a:r>
            <a:r>
              <a:rPr lang="en-US" sz="1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9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biti</a:t>
            </a:r>
            <a:r>
              <a:rPr lang="en-US" sz="1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9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shared</a:t>
            </a:r>
            <a:r>
              <a:rPr lang="en-US" sz="1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9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ili</a:t>
            </a:r>
            <a:r>
              <a:rPr lang="en-US" sz="1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9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none</a:t>
            </a:r>
            <a:r>
              <a:rPr lang="en-US" sz="1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462254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>
          <a:extLst>
            <a:ext uri="{FF2B5EF4-FFF2-40B4-BE49-F238E27FC236}">
              <a16:creationId xmlns:a16="http://schemas.microsoft.com/office/drawing/2014/main" id="{4407795B-E829-4F92-C901-EA9C3ED3F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42">
            <a:extLst>
              <a:ext uri="{FF2B5EF4-FFF2-40B4-BE49-F238E27FC236}">
                <a16:creationId xmlns:a16="http://schemas.microsoft.com/office/drawing/2014/main" id="{FA35BDBA-DB01-772E-C987-10FA7D7C7590}"/>
              </a:ext>
            </a:extLst>
          </p:cNvPr>
          <p:cNvSpPr txBox="1"/>
          <p:nvPr/>
        </p:nvSpPr>
        <p:spPr>
          <a:xfrm>
            <a:off x="1165320" y="70452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hr-HR" sz="2400" b="1" dirty="0">
                <a:solidFill>
                  <a:srgbClr val="39C0BA"/>
                </a:solidFill>
              </a:rPr>
              <a:t>Primjer </a:t>
            </a:r>
            <a:r>
              <a:rPr lang="hr-HR" sz="2400" b="1" dirty="0" err="1">
                <a:solidFill>
                  <a:srgbClr val="39C0BA"/>
                </a:solidFill>
              </a:rPr>
              <a:t>OpenMP</a:t>
            </a:r>
            <a:r>
              <a:rPr lang="hr-HR" sz="2400" b="1" dirty="0">
                <a:solidFill>
                  <a:srgbClr val="39C0BA"/>
                </a:solidFill>
              </a:rPr>
              <a:t> direktive paralelne regije</a:t>
            </a:r>
            <a:endParaRPr lang="en-US" sz="2400" b="1" dirty="0">
              <a:solidFill>
                <a:srgbClr val="39C0BA"/>
              </a:solidFill>
            </a:endParaRPr>
          </a:p>
        </p:txBody>
      </p:sp>
      <p:sp>
        <p:nvSpPr>
          <p:cNvPr id="183" name="Google Shape;183;p42">
            <a:extLst>
              <a:ext uri="{FF2B5EF4-FFF2-40B4-BE49-F238E27FC236}">
                <a16:creationId xmlns:a16="http://schemas.microsoft.com/office/drawing/2014/main" id="{14C52EE9-3E1D-E5C0-2B91-EB5FC9D9C44C}"/>
              </a:ext>
            </a:extLst>
          </p:cNvPr>
          <p:cNvSpPr/>
          <p:nvPr/>
        </p:nvSpPr>
        <p:spPr>
          <a:xfrm>
            <a:off x="1071720" y="1227439"/>
            <a:ext cx="7970812" cy="17923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Clr>
                <a:schemeClr val="bg1"/>
              </a:buClr>
            </a:pP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#pragma </a:t>
            </a:r>
            <a:r>
              <a:rPr lang="en-US" sz="1800" dirty="0" err="1">
                <a:solidFill>
                  <a:schemeClr val="bg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omp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parallel if (</a:t>
            </a:r>
            <a:r>
              <a:rPr lang="en-US" sz="1800" dirty="0" err="1">
                <a:solidFill>
                  <a:schemeClr val="bg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is_parallel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== 1) </a:t>
            </a:r>
            <a:r>
              <a:rPr lang="en-US" sz="1800" dirty="0" err="1">
                <a:solidFill>
                  <a:schemeClr val="bg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num_threads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(8) shared(</a:t>
            </a:r>
            <a:r>
              <a:rPr lang="en-US" sz="1800" dirty="0" err="1">
                <a:solidFill>
                  <a:schemeClr val="bg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var_b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) </a:t>
            </a:r>
          </a:p>
          <a:p>
            <a:pPr>
              <a:buClr>
                <a:schemeClr val="bg1"/>
              </a:buClr>
            </a:pP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private(</a:t>
            </a:r>
            <a:r>
              <a:rPr lang="en-US" sz="1800" dirty="0" err="1">
                <a:solidFill>
                  <a:schemeClr val="bg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var_a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) </a:t>
            </a:r>
            <a:r>
              <a:rPr lang="en-US" sz="1800" dirty="0" err="1">
                <a:solidFill>
                  <a:schemeClr val="bg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firstprivate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(</a:t>
            </a:r>
            <a:r>
              <a:rPr lang="en-US" sz="1800" dirty="0" err="1">
                <a:solidFill>
                  <a:schemeClr val="bg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var_c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) default(none)</a:t>
            </a:r>
          </a:p>
          <a:p>
            <a:pPr>
              <a:buClr>
                <a:schemeClr val="bg1"/>
              </a:buClr>
            </a:pP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{</a:t>
            </a:r>
          </a:p>
          <a:p>
            <a:pPr>
              <a:buClr>
                <a:schemeClr val="bg1"/>
              </a:buClr>
            </a:pP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 /* </a:t>
            </a:r>
            <a:r>
              <a:rPr lang="en-US" sz="1800" dirty="0" err="1">
                <a:solidFill>
                  <a:schemeClr val="bg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strukturirani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blok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*/</a:t>
            </a:r>
          </a:p>
          <a:p>
            <a:pPr>
              <a:buClr>
                <a:schemeClr val="bg1"/>
              </a:buClr>
            </a:pP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}</a:t>
            </a:r>
          </a:p>
        </p:txBody>
      </p:sp>
      <p:sp>
        <p:nvSpPr>
          <p:cNvPr id="2" name="TekstniOkvir 1">
            <a:extLst>
              <a:ext uri="{FF2B5EF4-FFF2-40B4-BE49-F238E27FC236}">
                <a16:creationId xmlns:a16="http://schemas.microsoft.com/office/drawing/2014/main" id="{8E0672EF-3C4E-CA27-3F72-9AB70963BE53}"/>
              </a:ext>
            </a:extLst>
          </p:cNvPr>
          <p:cNvSpPr txBox="1"/>
          <p:nvPr/>
        </p:nvSpPr>
        <p:spPr>
          <a:xfrm>
            <a:off x="922086" y="3072348"/>
            <a:ext cx="8120446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sz="1600" dirty="0">
                <a:solidFill>
                  <a:schemeClr val="bg1"/>
                </a:solidFill>
              </a:rPr>
              <a:t>Objašnjenje parametara: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hr-HR" sz="1600" b="1" dirty="0" err="1">
                <a:solidFill>
                  <a:schemeClr val="bg1"/>
                </a:solidFill>
              </a:rPr>
              <a:t>if</a:t>
            </a:r>
            <a:r>
              <a:rPr lang="hr-HR" sz="1600" b="1" dirty="0">
                <a:solidFill>
                  <a:schemeClr val="bg1"/>
                </a:solidFill>
              </a:rPr>
              <a:t> (</a:t>
            </a:r>
            <a:r>
              <a:rPr lang="hr-HR" sz="1600" b="1" dirty="0" err="1">
                <a:solidFill>
                  <a:schemeClr val="bg1"/>
                </a:solidFill>
              </a:rPr>
              <a:t>is_parallel</a:t>
            </a:r>
            <a:r>
              <a:rPr lang="hr-HR" sz="1600" b="1" dirty="0">
                <a:solidFill>
                  <a:schemeClr val="bg1"/>
                </a:solidFill>
              </a:rPr>
              <a:t> == 1) </a:t>
            </a:r>
            <a:r>
              <a:rPr lang="hr-HR" sz="1600" b="1" dirty="0" err="1">
                <a:solidFill>
                  <a:schemeClr val="bg1"/>
                </a:solidFill>
              </a:rPr>
              <a:t>num_threads</a:t>
            </a:r>
            <a:r>
              <a:rPr lang="hr-HR" sz="1600" b="1" dirty="0">
                <a:solidFill>
                  <a:schemeClr val="bg1"/>
                </a:solidFill>
              </a:rPr>
              <a:t>(8)</a:t>
            </a:r>
          </a:p>
          <a:p>
            <a:r>
              <a:rPr lang="hr-HR" sz="1600" dirty="0">
                <a:solidFill>
                  <a:schemeClr val="bg1"/>
                </a:solidFill>
              </a:rPr>
              <a:t>Ako je vrijednost varijable </a:t>
            </a:r>
            <a:r>
              <a:rPr lang="hr-HR" sz="1600" dirty="0" err="1">
                <a:solidFill>
                  <a:schemeClr val="bg1"/>
                </a:solidFill>
              </a:rPr>
              <a:t>is_parallel</a:t>
            </a:r>
            <a:r>
              <a:rPr lang="hr-HR" sz="1600" dirty="0">
                <a:solidFill>
                  <a:schemeClr val="bg1"/>
                </a:solidFill>
              </a:rPr>
              <a:t> 1, kreira se 8 niti.</a:t>
            </a:r>
          </a:p>
          <a:p>
            <a:endParaRPr lang="hr-HR" sz="1600" dirty="0">
              <a:solidFill>
                <a:schemeClr val="bg1"/>
              </a:solidFill>
            </a:endParaRP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hr-HR" sz="1600" b="1" dirty="0" err="1">
                <a:solidFill>
                  <a:schemeClr val="bg1"/>
                </a:solidFill>
              </a:rPr>
              <a:t>shared</a:t>
            </a:r>
            <a:r>
              <a:rPr lang="hr-HR" sz="1600" b="1" dirty="0">
                <a:solidFill>
                  <a:schemeClr val="bg1"/>
                </a:solidFill>
              </a:rPr>
              <a:t> (</a:t>
            </a:r>
            <a:r>
              <a:rPr lang="hr-HR" sz="1600" b="1" dirty="0" err="1">
                <a:solidFill>
                  <a:schemeClr val="bg1"/>
                </a:solidFill>
              </a:rPr>
              <a:t>var_b</a:t>
            </a:r>
            <a:r>
              <a:rPr lang="hr-HR" sz="1600" b="1" dirty="0">
                <a:solidFill>
                  <a:schemeClr val="bg1"/>
                </a:solidFill>
              </a:rPr>
              <a:t>)</a:t>
            </a:r>
          </a:p>
          <a:p>
            <a:r>
              <a:rPr lang="hr-HR" sz="1600" dirty="0">
                <a:solidFill>
                  <a:schemeClr val="bg1"/>
                </a:solidFill>
              </a:rPr>
              <a:t>Sve niti dijele jednu kopiju varijable </a:t>
            </a:r>
            <a:r>
              <a:rPr lang="hr-HR" sz="1600" dirty="0" err="1">
                <a:solidFill>
                  <a:schemeClr val="bg1"/>
                </a:solidFill>
              </a:rPr>
              <a:t>var_b</a:t>
            </a:r>
            <a:r>
              <a:rPr lang="hr-HR" sz="1600" dirty="0">
                <a:solidFill>
                  <a:schemeClr val="bg1"/>
                </a:solidFill>
              </a:rPr>
              <a:t>.</a:t>
            </a:r>
          </a:p>
          <a:p>
            <a:endParaRPr lang="hr-HR" sz="1600" dirty="0">
              <a:solidFill>
                <a:schemeClr val="bg1"/>
              </a:solidFill>
            </a:endParaRP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hr-HR" sz="1600" b="1" dirty="0" err="1">
                <a:solidFill>
                  <a:schemeClr val="bg1"/>
                </a:solidFill>
              </a:rPr>
              <a:t>private</a:t>
            </a:r>
            <a:r>
              <a:rPr lang="hr-HR" sz="1600" b="1" dirty="0">
                <a:solidFill>
                  <a:schemeClr val="bg1"/>
                </a:solidFill>
              </a:rPr>
              <a:t> (</a:t>
            </a:r>
            <a:r>
              <a:rPr lang="hr-HR" sz="1600" b="1" dirty="0" err="1">
                <a:solidFill>
                  <a:schemeClr val="bg1"/>
                </a:solidFill>
              </a:rPr>
              <a:t>var_a</a:t>
            </a:r>
            <a:r>
              <a:rPr lang="hr-HR" sz="1600" b="1" dirty="0">
                <a:solidFill>
                  <a:schemeClr val="bg1"/>
                </a:solidFill>
              </a:rPr>
              <a:t>) </a:t>
            </a:r>
            <a:r>
              <a:rPr lang="hr-HR" sz="1600" b="1" dirty="0" err="1">
                <a:solidFill>
                  <a:schemeClr val="bg1"/>
                </a:solidFill>
              </a:rPr>
              <a:t>firstprivate</a:t>
            </a:r>
            <a:r>
              <a:rPr lang="hr-HR" sz="1600" b="1" dirty="0">
                <a:solidFill>
                  <a:schemeClr val="bg1"/>
                </a:solidFill>
              </a:rPr>
              <a:t>(</a:t>
            </a:r>
            <a:r>
              <a:rPr lang="hr-HR" sz="1600" b="1" dirty="0" err="1">
                <a:solidFill>
                  <a:schemeClr val="bg1"/>
                </a:solidFill>
              </a:rPr>
              <a:t>var_c</a:t>
            </a:r>
            <a:r>
              <a:rPr lang="hr-HR" sz="1600" b="1" dirty="0">
                <a:solidFill>
                  <a:schemeClr val="bg1"/>
                </a:solidFill>
              </a:rPr>
              <a:t>)</a:t>
            </a:r>
          </a:p>
          <a:p>
            <a:r>
              <a:rPr lang="hr-HR" sz="1600" dirty="0">
                <a:solidFill>
                  <a:schemeClr val="bg1"/>
                </a:solidFill>
              </a:rPr>
              <a:t>Svaka nit dobiva svoju privatnu kopiju varijabli </a:t>
            </a:r>
            <a:r>
              <a:rPr lang="hr-HR" sz="1600" dirty="0" err="1">
                <a:solidFill>
                  <a:schemeClr val="bg1"/>
                </a:solidFill>
              </a:rPr>
              <a:t>var_a</a:t>
            </a:r>
            <a:r>
              <a:rPr lang="hr-HR" sz="1600" dirty="0">
                <a:solidFill>
                  <a:schemeClr val="bg1"/>
                </a:solidFill>
              </a:rPr>
              <a:t> i </a:t>
            </a:r>
            <a:r>
              <a:rPr lang="hr-HR" sz="1600" dirty="0" err="1">
                <a:solidFill>
                  <a:schemeClr val="bg1"/>
                </a:solidFill>
              </a:rPr>
              <a:t>var_c</a:t>
            </a:r>
            <a:r>
              <a:rPr lang="hr-HR" sz="1600" dirty="0">
                <a:solidFill>
                  <a:schemeClr val="bg1"/>
                </a:solidFill>
              </a:rPr>
              <a:t>.</a:t>
            </a:r>
          </a:p>
          <a:p>
            <a:r>
              <a:rPr lang="hr-HR" sz="1600" dirty="0">
                <a:solidFill>
                  <a:schemeClr val="bg1"/>
                </a:solidFill>
              </a:rPr>
              <a:t>Privatna kopija </a:t>
            </a:r>
            <a:r>
              <a:rPr lang="hr-HR" sz="1600" dirty="0" err="1">
                <a:solidFill>
                  <a:schemeClr val="bg1"/>
                </a:solidFill>
              </a:rPr>
              <a:t>var_c</a:t>
            </a:r>
            <a:r>
              <a:rPr lang="hr-HR" sz="1600" dirty="0">
                <a:solidFill>
                  <a:schemeClr val="bg1"/>
                </a:solidFill>
              </a:rPr>
              <a:t> je inicijalizirana vrijednosti varijable </a:t>
            </a:r>
            <a:r>
              <a:rPr lang="hr-HR" sz="1600" dirty="0" err="1">
                <a:solidFill>
                  <a:schemeClr val="bg1"/>
                </a:solidFill>
              </a:rPr>
              <a:t>var_c</a:t>
            </a:r>
            <a:r>
              <a:rPr lang="hr-HR" sz="1600" dirty="0">
                <a:solidFill>
                  <a:schemeClr val="bg1"/>
                </a:solidFill>
              </a:rPr>
              <a:t> iz glavne niti pri ulasku u paralelni blok.</a:t>
            </a:r>
          </a:p>
          <a:p>
            <a:endParaRPr lang="hr-HR" sz="1600" dirty="0">
              <a:solidFill>
                <a:schemeClr val="bg1"/>
              </a:solidFill>
            </a:endParaRP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hr-HR" sz="1600" b="1" dirty="0" err="1">
                <a:solidFill>
                  <a:schemeClr val="bg1"/>
                </a:solidFill>
              </a:rPr>
              <a:t>default</a:t>
            </a:r>
            <a:r>
              <a:rPr lang="hr-HR" sz="1600" b="1" dirty="0">
                <a:solidFill>
                  <a:schemeClr val="bg1"/>
                </a:solidFill>
              </a:rPr>
              <a:t> (none)</a:t>
            </a:r>
          </a:p>
          <a:p>
            <a:r>
              <a:rPr lang="hr-HR" sz="1600" dirty="0">
                <a:solidFill>
                  <a:schemeClr val="bg1"/>
                </a:solidFill>
              </a:rPr>
              <a:t>Zadano stanje varijable je none (nije </a:t>
            </a:r>
            <a:r>
              <a:rPr lang="hr-HR" sz="1600" dirty="0" err="1">
                <a:solidFill>
                  <a:schemeClr val="bg1"/>
                </a:solidFill>
              </a:rPr>
              <a:t>shared</a:t>
            </a:r>
            <a:r>
              <a:rPr lang="hr-HR" sz="1600" dirty="0">
                <a:solidFill>
                  <a:schemeClr val="bg1"/>
                </a:solidFill>
              </a:rPr>
              <a:t>).</a:t>
            </a:r>
          </a:p>
          <a:p>
            <a:r>
              <a:rPr lang="hr-HR" sz="1600" dirty="0">
                <a:solidFill>
                  <a:schemeClr val="bg1"/>
                </a:solidFill>
              </a:rPr>
              <a:t>Ako varijabla nije eksplicitno navedena kao </a:t>
            </a:r>
            <a:r>
              <a:rPr lang="hr-HR" sz="1600" dirty="0" err="1">
                <a:solidFill>
                  <a:schemeClr val="bg1"/>
                </a:solidFill>
              </a:rPr>
              <a:t>shared</a:t>
            </a:r>
            <a:r>
              <a:rPr lang="hr-HR" sz="1600" dirty="0">
                <a:solidFill>
                  <a:schemeClr val="bg1"/>
                </a:solidFill>
              </a:rPr>
              <a:t> ili </a:t>
            </a:r>
            <a:r>
              <a:rPr lang="hr-HR" sz="1600" dirty="0" err="1">
                <a:solidFill>
                  <a:schemeClr val="bg1"/>
                </a:solidFill>
              </a:rPr>
              <a:t>private</a:t>
            </a:r>
            <a:r>
              <a:rPr lang="hr-HR" sz="1600" dirty="0">
                <a:solidFill>
                  <a:schemeClr val="bg1"/>
                </a:solidFill>
              </a:rPr>
              <a:t>, javlja se greška.</a:t>
            </a:r>
          </a:p>
        </p:txBody>
      </p:sp>
    </p:spTree>
    <p:extLst>
      <p:ext uri="{BB962C8B-B14F-4D97-AF65-F5344CB8AC3E}">
        <p14:creationId xmlns:p14="http://schemas.microsoft.com/office/powerpoint/2010/main" val="42858794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>
          <a:extLst>
            <a:ext uri="{FF2B5EF4-FFF2-40B4-BE49-F238E27FC236}">
              <a16:creationId xmlns:a16="http://schemas.microsoft.com/office/drawing/2014/main" id="{A5852CCC-624D-52D7-B903-4BBD2EF00F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42">
            <a:extLst>
              <a:ext uri="{FF2B5EF4-FFF2-40B4-BE49-F238E27FC236}">
                <a16:creationId xmlns:a16="http://schemas.microsoft.com/office/drawing/2014/main" id="{D7B7F42C-F6E3-081D-B5FB-34E9428ED20E}"/>
              </a:ext>
            </a:extLst>
          </p:cNvPr>
          <p:cNvSpPr txBox="1"/>
          <p:nvPr/>
        </p:nvSpPr>
        <p:spPr>
          <a:xfrm>
            <a:off x="1165320" y="70452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hr-HR" sz="2400" b="1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Osnovna sintaksa </a:t>
            </a:r>
            <a:r>
              <a:rPr lang="hr-HR" sz="2400" b="1" dirty="0" err="1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OpenMP</a:t>
            </a:r>
            <a:r>
              <a:rPr lang="hr-HR" sz="2400" b="1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-a</a:t>
            </a:r>
          </a:p>
        </p:txBody>
      </p:sp>
      <p:sp>
        <p:nvSpPr>
          <p:cNvPr id="183" name="Google Shape;183;p42">
            <a:extLst>
              <a:ext uri="{FF2B5EF4-FFF2-40B4-BE49-F238E27FC236}">
                <a16:creationId xmlns:a16="http://schemas.microsoft.com/office/drawing/2014/main" id="{36478996-A598-8D9C-E39C-388975427828}"/>
              </a:ext>
            </a:extLst>
          </p:cNvPr>
          <p:cNvSpPr/>
          <p:nvPr/>
        </p:nvSpPr>
        <p:spPr>
          <a:xfrm>
            <a:off x="1058927" y="1333074"/>
            <a:ext cx="7970812" cy="53515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#include &lt;</a:t>
            </a:r>
            <a:r>
              <a:rPr lang="en-US" sz="20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stdio.h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</a:p>
          <a:p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#include "</a:t>
            </a:r>
            <a:r>
              <a:rPr lang="en-US" sz="20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omp.h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</a:p>
          <a:p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</a:t>
            </a:r>
          </a:p>
          <a:p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 main() {</a:t>
            </a:r>
          </a:p>
          <a:p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#pragma </a:t>
            </a:r>
            <a:r>
              <a:rPr lang="en-US" sz="20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omp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parallel </a:t>
            </a:r>
            <a:r>
              <a:rPr lang="en-US" sz="20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num_threads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(4)</a:t>
            </a:r>
          </a:p>
          <a:p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 id = </a:t>
            </a:r>
            <a:r>
              <a:rPr lang="en-US" sz="20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omp_get_thread_num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</a:p>
          <a:p>
            <a:r>
              <a:rPr lang="en-US" sz="20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printf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("Hello from thread %d\n", id);</a:t>
            </a:r>
          </a:p>
          <a:p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endParaRPr lang="en-US" sz="2000" dirty="0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2000" b="1" dirty="0" err="1">
                <a:solidFill>
                  <a:schemeClr val="bg1"/>
                </a:solidFill>
              </a:rPr>
              <a:t>Kompajliranje</a:t>
            </a:r>
            <a:r>
              <a:rPr lang="en-US" sz="2000" b="1" dirty="0">
                <a:solidFill>
                  <a:schemeClr val="bg1"/>
                </a:solidFill>
              </a:rPr>
              <a:t>:</a:t>
            </a:r>
          </a:p>
          <a:p>
            <a:r>
              <a:rPr lang="en-US" sz="20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gcc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-</a:t>
            </a:r>
            <a:r>
              <a:rPr lang="en-US" sz="20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fopenmp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hello.c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-o hello</a:t>
            </a:r>
          </a:p>
          <a:p>
            <a:endParaRPr lang="en-US" sz="2000" dirty="0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2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Izvršavanje</a:t>
            </a:r>
            <a:r>
              <a:rPr lang="en-U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./hello</a:t>
            </a:r>
          </a:p>
        </p:txBody>
      </p:sp>
    </p:spTree>
    <p:extLst>
      <p:ext uri="{BB962C8B-B14F-4D97-AF65-F5344CB8AC3E}">
        <p14:creationId xmlns:p14="http://schemas.microsoft.com/office/powerpoint/2010/main" val="40127306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>
          <a:extLst>
            <a:ext uri="{FF2B5EF4-FFF2-40B4-BE49-F238E27FC236}">
              <a16:creationId xmlns:a16="http://schemas.microsoft.com/office/drawing/2014/main" id="{3A96AE74-07E6-9CBF-07BD-DFDA94653E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42">
            <a:extLst>
              <a:ext uri="{FF2B5EF4-FFF2-40B4-BE49-F238E27FC236}">
                <a16:creationId xmlns:a16="http://schemas.microsoft.com/office/drawing/2014/main" id="{04ED01C8-167D-34C5-132A-C8E6BBD9CE26}"/>
              </a:ext>
            </a:extLst>
          </p:cNvPr>
          <p:cNvSpPr txBox="1"/>
          <p:nvPr/>
        </p:nvSpPr>
        <p:spPr>
          <a:xfrm>
            <a:off x="1165320" y="70452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hr-HR" sz="2400" b="1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Broj niti</a:t>
            </a:r>
          </a:p>
        </p:txBody>
      </p:sp>
      <p:sp>
        <p:nvSpPr>
          <p:cNvPr id="183" name="Google Shape;183;p42">
            <a:extLst>
              <a:ext uri="{FF2B5EF4-FFF2-40B4-BE49-F238E27FC236}">
                <a16:creationId xmlns:a16="http://schemas.microsoft.com/office/drawing/2014/main" id="{67B4D8BE-0C9B-8A45-094F-B07C94EC4419}"/>
              </a:ext>
            </a:extLst>
          </p:cNvPr>
          <p:cNvSpPr/>
          <p:nvPr/>
        </p:nvSpPr>
        <p:spPr>
          <a:xfrm>
            <a:off x="1058927" y="1333074"/>
            <a:ext cx="7970812" cy="53515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 err="1">
                <a:solidFill>
                  <a:schemeClr val="bg1"/>
                </a:solidFill>
                <a:latin typeface="Quicksand" panose="020B0604020202020204" charset="0"/>
              </a:rPr>
              <a:t>Broj</a:t>
            </a:r>
            <a:r>
              <a:rPr lang="en-US" sz="2000" b="1" dirty="0">
                <a:solidFill>
                  <a:schemeClr val="bg1"/>
                </a:solidFill>
                <a:latin typeface="Quicksand" panose="020B0604020202020204" charset="0"/>
              </a:rPr>
              <a:t> </a:t>
            </a:r>
            <a:r>
              <a:rPr lang="hr-HR" sz="2000" b="1" dirty="0">
                <a:solidFill>
                  <a:schemeClr val="bg1"/>
                </a:solidFill>
                <a:latin typeface="Quicksand" panose="020B0604020202020204" charset="0"/>
              </a:rPr>
              <a:t>niti</a:t>
            </a:r>
            <a:r>
              <a:rPr lang="en-US" sz="2000" b="1" dirty="0">
                <a:solidFill>
                  <a:schemeClr val="bg1"/>
                </a:solidFill>
                <a:latin typeface="Quicksand" panose="020B0604020202020204" charset="0"/>
              </a:rPr>
              <a:t> u </a:t>
            </a:r>
            <a:r>
              <a:rPr lang="en-US" sz="2000" b="1" dirty="0" err="1">
                <a:solidFill>
                  <a:schemeClr val="bg1"/>
                </a:solidFill>
                <a:latin typeface="Quicksand" panose="020B0604020202020204" charset="0"/>
              </a:rPr>
              <a:t>paralelnom</a:t>
            </a:r>
            <a:r>
              <a:rPr lang="en-US" sz="2000" b="1" dirty="0">
                <a:solidFill>
                  <a:schemeClr val="bg1"/>
                </a:solidFill>
                <a:latin typeface="Quicksand" panose="020B0604020202020204" charset="0"/>
              </a:rPr>
              <a:t> </a:t>
            </a:r>
            <a:r>
              <a:rPr lang="en-US" sz="2000" b="1" dirty="0" err="1">
                <a:solidFill>
                  <a:schemeClr val="bg1"/>
                </a:solidFill>
                <a:latin typeface="Quicksand" panose="020B0604020202020204" charset="0"/>
              </a:rPr>
              <a:t>području</a:t>
            </a:r>
            <a:r>
              <a:rPr lang="en-US" sz="2000" b="1" dirty="0">
                <a:solidFill>
                  <a:schemeClr val="bg1"/>
                </a:solidFill>
                <a:latin typeface="Quicksand" panose="020B0604020202020204" charset="0"/>
              </a:rPr>
              <a:t> </a:t>
            </a:r>
            <a:r>
              <a:rPr lang="en-US" sz="2000" b="1" dirty="0" err="1">
                <a:solidFill>
                  <a:schemeClr val="bg1"/>
                </a:solidFill>
                <a:latin typeface="Quicksand" panose="020B0604020202020204" charset="0"/>
              </a:rPr>
              <a:t>određuje</a:t>
            </a:r>
            <a:r>
              <a:rPr lang="en-US" sz="2000" b="1" dirty="0">
                <a:solidFill>
                  <a:schemeClr val="bg1"/>
                </a:solidFill>
                <a:latin typeface="Quicksand" panose="020B0604020202020204" charset="0"/>
              </a:rPr>
              <a:t> se </a:t>
            </a:r>
            <a:r>
              <a:rPr lang="en-US" sz="2000" b="1" dirty="0" err="1">
                <a:solidFill>
                  <a:schemeClr val="bg1"/>
                </a:solidFill>
                <a:latin typeface="Quicksand" panose="020B0604020202020204" charset="0"/>
              </a:rPr>
              <a:t>prema</a:t>
            </a:r>
            <a:r>
              <a:rPr lang="en-US" sz="2000" b="1" dirty="0">
                <a:solidFill>
                  <a:schemeClr val="bg1"/>
                </a:solidFill>
                <a:latin typeface="Quicksand" panose="020B0604020202020204" charset="0"/>
              </a:rPr>
              <a:t> </a:t>
            </a:r>
            <a:r>
              <a:rPr lang="en-US" sz="2000" b="1" dirty="0" err="1">
                <a:solidFill>
                  <a:schemeClr val="bg1"/>
                </a:solidFill>
                <a:latin typeface="Quicksand" panose="020B0604020202020204" charset="0"/>
              </a:rPr>
              <a:t>sljedećim</a:t>
            </a:r>
            <a:r>
              <a:rPr lang="en-US" sz="2000" b="1" dirty="0">
                <a:solidFill>
                  <a:schemeClr val="bg1"/>
                </a:solidFill>
                <a:latin typeface="Quicksand" panose="020B0604020202020204" charset="0"/>
              </a:rPr>
              <a:t> </a:t>
            </a:r>
            <a:r>
              <a:rPr lang="en-US" sz="2000" b="1" dirty="0" err="1">
                <a:solidFill>
                  <a:schemeClr val="bg1"/>
                </a:solidFill>
                <a:latin typeface="Quicksand" panose="020B0604020202020204" charset="0"/>
              </a:rPr>
              <a:t>čimbenicima</a:t>
            </a:r>
            <a:r>
              <a:rPr lang="en-US" sz="2000" b="1" dirty="0">
                <a:solidFill>
                  <a:schemeClr val="bg1"/>
                </a:solidFill>
                <a:latin typeface="Quicksand" panose="020B0604020202020204" charset="0"/>
              </a:rPr>
              <a:t>, </a:t>
            </a:r>
            <a:r>
              <a:rPr lang="en-US" sz="2000" b="1" dirty="0" err="1">
                <a:solidFill>
                  <a:schemeClr val="bg1"/>
                </a:solidFill>
                <a:latin typeface="Quicksand" panose="020B0604020202020204" charset="0"/>
              </a:rPr>
              <a:t>redoslijedom</a:t>
            </a:r>
            <a:r>
              <a:rPr lang="en-US" sz="2000" b="1" dirty="0">
                <a:solidFill>
                  <a:schemeClr val="bg1"/>
                </a:solidFill>
                <a:latin typeface="Quicksand" panose="020B0604020202020204" charset="0"/>
              </a:rPr>
              <a:t> </a:t>
            </a:r>
            <a:r>
              <a:rPr lang="en-US" sz="2000" b="1" dirty="0" err="1">
                <a:solidFill>
                  <a:schemeClr val="bg1"/>
                </a:solidFill>
                <a:latin typeface="Quicksand" panose="020B0604020202020204" charset="0"/>
              </a:rPr>
              <a:t>važnosti</a:t>
            </a:r>
            <a:r>
              <a:rPr lang="en-US" sz="2000" b="1" dirty="0">
                <a:solidFill>
                  <a:schemeClr val="bg1"/>
                </a:solidFill>
                <a:latin typeface="Quicksand" panose="020B0604020202020204" charset="0"/>
              </a:rPr>
              <a:t>: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chemeClr val="bg1"/>
                </a:solidFill>
                <a:latin typeface="Quicksand" panose="020B0604020202020204" charset="0"/>
              </a:rPr>
              <a:t>1. </a:t>
            </a:r>
            <a:r>
              <a:rPr lang="en-US" sz="2000" b="1" dirty="0" err="1">
                <a:solidFill>
                  <a:schemeClr val="bg1"/>
                </a:solidFill>
                <a:latin typeface="Quicksand" panose="020B0604020202020204" charset="0"/>
              </a:rPr>
              <a:t>Procjena</a:t>
            </a:r>
            <a:r>
              <a:rPr lang="en-US" sz="2000" b="1" dirty="0">
                <a:solidFill>
                  <a:schemeClr val="bg1"/>
                </a:solidFill>
                <a:latin typeface="Quicksand" panose="020B0604020202020204" charset="0"/>
              </a:rPr>
              <a:t> if </a:t>
            </a:r>
            <a:r>
              <a:rPr lang="en-US" sz="2000" b="1" dirty="0" err="1">
                <a:solidFill>
                  <a:schemeClr val="bg1"/>
                </a:solidFill>
                <a:latin typeface="Quicksand" panose="020B0604020202020204" charset="0"/>
              </a:rPr>
              <a:t>izraza</a:t>
            </a:r>
            <a:endParaRPr lang="en-US" sz="2000" b="1" dirty="0">
              <a:solidFill>
                <a:schemeClr val="bg1"/>
              </a:solidFill>
              <a:latin typeface="Quicksand" panose="020B0604020202020204" charset="0"/>
            </a:endParaRPr>
          </a:p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chemeClr val="bg1"/>
                </a:solidFill>
                <a:latin typeface="Quicksand" panose="020B0604020202020204" charset="0"/>
              </a:rPr>
              <a:t>2. Postavljanje </a:t>
            </a:r>
            <a:r>
              <a:rPr lang="en-US" sz="2000" b="1" dirty="0" err="1">
                <a:solidFill>
                  <a:schemeClr val="bg1"/>
                </a:solidFill>
                <a:latin typeface="Quicksand" panose="020B0604020202020204" charset="0"/>
              </a:rPr>
              <a:t>klauzule</a:t>
            </a:r>
            <a:r>
              <a:rPr lang="en-US" sz="2000" b="1" dirty="0">
                <a:solidFill>
                  <a:schemeClr val="bg1"/>
                </a:solidFill>
                <a:latin typeface="Quicksand" panose="020B0604020202020204" charset="0"/>
              </a:rPr>
              <a:t> </a:t>
            </a:r>
            <a:r>
              <a:rPr lang="en-US" sz="2000" b="1" dirty="0" err="1">
                <a:solidFill>
                  <a:schemeClr val="bg1"/>
                </a:solidFill>
                <a:latin typeface="Quicksand" panose="020B0604020202020204" charset="0"/>
              </a:rPr>
              <a:t>num_threads</a:t>
            </a:r>
            <a:r>
              <a:rPr lang="en-US" sz="2000" b="1" dirty="0">
                <a:solidFill>
                  <a:schemeClr val="bg1"/>
                </a:solidFill>
                <a:latin typeface="Quicksand" panose="020B0604020202020204" charset="0"/>
              </a:rPr>
              <a:t>()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chemeClr val="bg1"/>
                </a:solidFill>
                <a:latin typeface="Quicksand" panose="020B0604020202020204" charset="0"/>
              </a:rPr>
              <a:t>4. </a:t>
            </a:r>
            <a:r>
              <a:rPr lang="en-US" sz="2000" b="1" dirty="0" err="1">
                <a:solidFill>
                  <a:schemeClr val="bg1"/>
                </a:solidFill>
                <a:latin typeface="Quicksand" panose="020B0604020202020204" charset="0"/>
              </a:rPr>
              <a:t>Korištenje</a:t>
            </a:r>
            <a:r>
              <a:rPr lang="en-US" sz="2000" b="1" dirty="0">
                <a:solidFill>
                  <a:schemeClr val="bg1"/>
                </a:solidFill>
                <a:latin typeface="Quicksand" panose="020B0604020202020204" charset="0"/>
              </a:rPr>
              <a:t> </a:t>
            </a:r>
            <a:r>
              <a:rPr lang="en-US" sz="2000" b="1" dirty="0" err="1">
                <a:solidFill>
                  <a:schemeClr val="bg1"/>
                </a:solidFill>
                <a:latin typeface="Quicksand" panose="020B0604020202020204" charset="0"/>
              </a:rPr>
              <a:t>bibliotečne</a:t>
            </a:r>
            <a:r>
              <a:rPr lang="en-US" sz="2000" b="1" dirty="0">
                <a:solidFill>
                  <a:schemeClr val="bg1"/>
                </a:solidFill>
                <a:latin typeface="Quicksand" panose="020B0604020202020204" charset="0"/>
              </a:rPr>
              <a:t> </a:t>
            </a:r>
            <a:r>
              <a:rPr lang="en-US" sz="2000" b="1" dirty="0" err="1">
                <a:solidFill>
                  <a:schemeClr val="bg1"/>
                </a:solidFill>
                <a:latin typeface="Quicksand" panose="020B0604020202020204" charset="0"/>
              </a:rPr>
              <a:t>funkcije</a:t>
            </a:r>
            <a:r>
              <a:rPr lang="en-US" sz="2000" b="1" dirty="0">
                <a:solidFill>
                  <a:schemeClr val="bg1"/>
                </a:solidFill>
                <a:latin typeface="Quicksand" panose="020B0604020202020204" charset="0"/>
              </a:rPr>
              <a:t> </a:t>
            </a:r>
            <a:r>
              <a:rPr lang="en-US" sz="2000" b="1" dirty="0" err="1">
                <a:solidFill>
                  <a:schemeClr val="bg1"/>
                </a:solidFill>
                <a:latin typeface="Quicksand" panose="020B0604020202020204" charset="0"/>
              </a:rPr>
              <a:t>omp_set_num_threads</a:t>
            </a:r>
            <a:r>
              <a:rPr lang="en-US" sz="2000" b="1" dirty="0">
                <a:solidFill>
                  <a:schemeClr val="bg1"/>
                </a:solidFill>
                <a:latin typeface="Quicksand" panose="020B0604020202020204" charset="0"/>
              </a:rPr>
              <a:t>()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chemeClr val="bg1"/>
                </a:solidFill>
                <a:latin typeface="Quicksand" panose="020B0604020202020204" charset="0"/>
              </a:rPr>
              <a:t>5. Postavljanje </a:t>
            </a:r>
            <a:r>
              <a:rPr lang="en-US" sz="2000" b="1" dirty="0" err="1">
                <a:solidFill>
                  <a:schemeClr val="bg1"/>
                </a:solidFill>
                <a:latin typeface="Quicksand" panose="020B0604020202020204" charset="0"/>
              </a:rPr>
              <a:t>varijable</a:t>
            </a:r>
            <a:r>
              <a:rPr lang="en-US" sz="2000" b="1" dirty="0">
                <a:solidFill>
                  <a:schemeClr val="bg1"/>
                </a:solidFill>
                <a:latin typeface="Quicksand" panose="020B0604020202020204" charset="0"/>
              </a:rPr>
              <a:t> </a:t>
            </a:r>
            <a:r>
              <a:rPr lang="en-US" sz="2000" b="1" dirty="0" err="1">
                <a:solidFill>
                  <a:schemeClr val="bg1"/>
                </a:solidFill>
                <a:latin typeface="Quicksand" panose="020B0604020202020204" charset="0"/>
              </a:rPr>
              <a:t>okoline</a:t>
            </a:r>
            <a:r>
              <a:rPr lang="en-US" sz="2000" b="1" dirty="0">
                <a:solidFill>
                  <a:schemeClr val="bg1"/>
                </a:solidFill>
                <a:latin typeface="Quicksand" panose="020B0604020202020204" charset="0"/>
              </a:rPr>
              <a:t> OMP_NUM_THREADS</a:t>
            </a:r>
          </a:p>
          <a:p>
            <a:pPr>
              <a:lnSpc>
                <a:spcPct val="150000"/>
              </a:lnSpc>
            </a:pPr>
            <a:r>
              <a:rPr lang="en-US" sz="2000" b="1" dirty="0" err="1">
                <a:solidFill>
                  <a:schemeClr val="bg1"/>
                </a:solidFill>
                <a:latin typeface="Quicksand" panose="020B0604020202020204" charset="0"/>
              </a:rPr>
              <a:t>Zadana</a:t>
            </a:r>
            <a:r>
              <a:rPr lang="en-US" sz="2000" b="1" dirty="0">
                <a:solidFill>
                  <a:schemeClr val="bg1"/>
                </a:solidFill>
                <a:latin typeface="Quicksand" panose="020B0604020202020204" charset="0"/>
              </a:rPr>
              <a:t> </a:t>
            </a:r>
            <a:r>
              <a:rPr lang="en-US" sz="2000" b="1" dirty="0" err="1">
                <a:solidFill>
                  <a:schemeClr val="bg1"/>
                </a:solidFill>
                <a:latin typeface="Quicksand" panose="020B0604020202020204" charset="0"/>
              </a:rPr>
              <a:t>postavka</a:t>
            </a:r>
            <a:r>
              <a:rPr lang="en-US" sz="2000" b="1" dirty="0">
                <a:solidFill>
                  <a:schemeClr val="bg1"/>
                </a:solidFill>
                <a:latin typeface="Quicksand" panose="020B0604020202020204" charset="0"/>
              </a:rPr>
              <a:t> </a:t>
            </a:r>
            <a:r>
              <a:rPr lang="en-US" sz="2000" b="1" dirty="0" err="1">
                <a:solidFill>
                  <a:schemeClr val="bg1"/>
                </a:solidFill>
                <a:latin typeface="Quicksand" panose="020B0604020202020204" charset="0"/>
              </a:rPr>
              <a:t>implementacije</a:t>
            </a:r>
            <a:r>
              <a:rPr lang="en-US" sz="2000" b="1" dirty="0">
                <a:solidFill>
                  <a:schemeClr val="bg1"/>
                </a:solidFill>
                <a:latin typeface="Quicksand" panose="020B0604020202020204" charset="0"/>
              </a:rPr>
              <a:t> – </a:t>
            </a:r>
            <a:r>
              <a:rPr lang="en-US" sz="2000" b="1" dirty="0" err="1">
                <a:solidFill>
                  <a:schemeClr val="bg1"/>
                </a:solidFill>
                <a:latin typeface="Quicksand" panose="020B0604020202020204" charset="0"/>
              </a:rPr>
              <a:t>obično</a:t>
            </a:r>
            <a:r>
              <a:rPr lang="en-US" sz="2000" b="1" dirty="0">
                <a:solidFill>
                  <a:schemeClr val="bg1"/>
                </a:solidFill>
                <a:latin typeface="Quicksand" panose="020B0604020202020204" charset="0"/>
              </a:rPr>
              <a:t> </a:t>
            </a:r>
            <a:r>
              <a:rPr lang="en-US" sz="2000" b="1" dirty="0" err="1">
                <a:solidFill>
                  <a:schemeClr val="bg1"/>
                </a:solidFill>
                <a:latin typeface="Quicksand" panose="020B0604020202020204" charset="0"/>
              </a:rPr>
              <a:t>broj</a:t>
            </a:r>
            <a:r>
              <a:rPr lang="en-US" sz="2000" b="1" dirty="0">
                <a:solidFill>
                  <a:schemeClr val="bg1"/>
                </a:solidFill>
                <a:latin typeface="Quicksand" panose="020B0604020202020204" charset="0"/>
              </a:rPr>
              <a:t> </a:t>
            </a:r>
            <a:r>
              <a:rPr lang="en-US" sz="2000" b="1" dirty="0" err="1">
                <a:solidFill>
                  <a:schemeClr val="bg1"/>
                </a:solidFill>
                <a:latin typeface="Quicksand" panose="020B0604020202020204" charset="0"/>
              </a:rPr>
              <a:t>jezgri</a:t>
            </a:r>
            <a:r>
              <a:rPr lang="en-US" sz="2000" b="1" dirty="0">
                <a:solidFill>
                  <a:schemeClr val="bg1"/>
                </a:solidFill>
                <a:latin typeface="Quicksand" panose="020B0604020202020204" charset="0"/>
              </a:rPr>
              <a:t> </a:t>
            </a:r>
            <a:r>
              <a:rPr lang="en-US" sz="2000" b="1" dirty="0" err="1">
                <a:solidFill>
                  <a:schemeClr val="bg1"/>
                </a:solidFill>
                <a:latin typeface="Quicksand" panose="020B0604020202020204" charset="0"/>
              </a:rPr>
              <a:t>na</a:t>
            </a:r>
            <a:r>
              <a:rPr lang="en-US" sz="2000" b="1" dirty="0">
                <a:solidFill>
                  <a:schemeClr val="bg1"/>
                </a:solidFill>
                <a:latin typeface="Quicksand" panose="020B0604020202020204" charset="0"/>
              </a:rPr>
              <a:t> </a:t>
            </a:r>
            <a:r>
              <a:rPr lang="en-US" sz="2000" b="1" dirty="0" err="1">
                <a:solidFill>
                  <a:schemeClr val="bg1"/>
                </a:solidFill>
                <a:latin typeface="Quicksand" panose="020B0604020202020204" charset="0"/>
              </a:rPr>
              <a:t>čvoru</a:t>
            </a:r>
            <a:endParaRPr lang="en-US" sz="2000" b="1" dirty="0">
              <a:solidFill>
                <a:schemeClr val="bg1"/>
              </a:solidFill>
              <a:latin typeface="Quicksand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18332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>
          <a:extLst>
            <a:ext uri="{FF2B5EF4-FFF2-40B4-BE49-F238E27FC236}">
              <a16:creationId xmlns:a16="http://schemas.microsoft.com/office/drawing/2014/main" id="{9D24A8F9-B8D8-1521-5704-6D70B90A54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42">
            <a:extLst>
              <a:ext uri="{FF2B5EF4-FFF2-40B4-BE49-F238E27FC236}">
                <a16:creationId xmlns:a16="http://schemas.microsoft.com/office/drawing/2014/main" id="{B6149C22-A9F8-0936-2EE1-B26B0B8D1ACC}"/>
              </a:ext>
            </a:extLst>
          </p:cNvPr>
          <p:cNvSpPr txBox="1"/>
          <p:nvPr/>
        </p:nvSpPr>
        <p:spPr>
          <a:xfrm>
            <a:off x="1165320" y="70452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hr-HR" sz="2400" b="1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Kreiranje niti: paralelne regije</a:t>
            </a:r>
          </a:p>
        </p:txBody>
      </p:sp>
      <p:sp>
        <p:nvSpPr>
          <p:cNvPr id="183" name="Google Shape;183;p42">
            <a:extLst>
              <a:ext uri="{FF2B5EF4-FFF2-40B4-BE49-F238E27FC236}">
                <a16:creationId xmlns:a16="http://schemas.microsoft.com/office/drawing/2014/main" id="{907CB1AF-7424-A21D-321F-484F239D345E}"/>
              </a:ext>
            </a:extLst>
          </p:cNvPr>
          <p:cNvSpPr/>
          <p:nvPr/>
        </p:nvSpPr>
        <p:spPr>
          <a:xfrm>
            <a:off x="1058927" y="1333074"/>
            <a:ext cx="7970812" cy="956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lnSpc>
                <a:spcPct val="15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hr-HR" sz="1800" b="1" dirty="0">
                <a:solidFill>
                  <a:schemeClr val="bg1"/>
                </a:solidFill>
                <a:latin typeface="Quicksand" panose="020B0604020202020204" charset="0"/>
              </a:rPr>
              <a:t>Niti se u </a:t>
            </a:r>
            <a:r>
              <a:rPr lang="hr-HR" sz="1800" b="1" dirty="0" err="1">
                <a:solidFill>
                  <a:schemeClr val="bg1"/>
                </a:solidFill>
                <a:latin typeface="Quicksand" panose="020B0604020202020204" charset="0"/>
              </a:rPr>
              <a:t>OpenMP</a:t>
            </a:r>
            <a:r>
              <a:rPr lang="hr-HR" sz="1800" b="1" dirty="0">
                <a:solidFill>
                  <a:schemeClr val="bg1"/>
                </a:solidFill>
                <a:latin typeface="Quicksand" panose="020B0604020202020204" charset="0"/>
              </a:rPr>
              <a:t>-u kreiraju pomoću </a:t>
            </a:r>
            <a:r>
              <a:rPr lang="hr-HR" sz="1800" b="1" dirty="0" err="1">
                <a:solidFill>
                  <a:srgbClr val="39C0BA"/>
                </a:solidFill>
                <a:latin typeface="Quicksand" panose="020B0604020202020204" charset="0"/>
              </a:rPr>
              <a:t>parallel</a:t>
            </a:r>
            <a:r>
              <a:rPr lang="hr-HR" sz="1800" b="1" dirty="0">
                <a:solidFill>
                  <a:schemeClr val="bg1"/>
                </a:solidFill>
                <a:latin typeface="Quicksand" panose="020B0604020202020204" charset="0"/>
              </a:rPr>
              <a:t> konstruktora.</a:t>
            </a:r>
          </a:p>
          <a:p>
            <a:pPr marL="285750" indent="-285750">
              <a:lnSpc>
                <a:spcPct val="15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hr-HR" sz="1800" b="1" dirty="0">
                <a:solidFill>
                  <a:schemeClr val="bg1"/>
                </a:solidFill>
                <a:latin typeface="Quicksand" panose="020B0604020202020204" charset="0"/>
              </a:rPr>
              <a:t>Primjer kreiranja paralelne regije s 4 niti:</a:t>
            </a:r>
          </a:p>
        </p:txBody>
      </p:sp>
      <p:sp>
        <p:nvSpPr>
          <p:cNvPr id="2" name="TekstniOkvir 1">
            <a:extLst>
              <a:ext uri="{FF2B5EF4-FFF2-40B4-BE49-F238E27FC236}">
                <a16:creationId xmlns:a16="http://schemas.microsoft.com/office/drawing/2014/main" id="{E3B9F071-3C5E-1524-C6E1-109C64F80B93}"/>
              </a:ext>
            </a:extLst>
          </p:cNvPr>
          <p:cNvSpPr txBox="1"/>
          <p:nvPr/>
        </p:nvSpPr>
        <p:spPr>
          <a:xfrm>
            <a:off x="2328262" y="2850776"/>
            <a:ext cx="4474302" cy="29238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1600" dirty="0">
                <a:solidFill>
                  <a:schemeClr val="bg1"/>
                </a:solidFill>
                <a:latin typeface="Consolas" panose="020B0609020204030204" pitchFamily="49" charset="0"/>
              </a:rPr>
              <a:t>double A[1000];</a:t>
            </a:r>
          </a:p>
          <a:p>
            <a:pPr>
              <a:lnSpc>
                <a:spcPct val="150000"/>
              </a:lnSpc>
            </a:pPr>
            <a:r>
              <a:rPr lang="en-GB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omp_set_num_threads</a:t>
            </a:r>
            <a:r>
              <a:rPr lang="en-GB" sz="1600" dirty="0">
                <a:solidFill>
                  <a:schemeClr val="bg1"/>
                </a:solidFill>
                <a:latin typeface="Consolas" panose="020B0609020204030204" pitchFamily="49" charset="0"/>
              </a:rPr>
              <a:t>(4);</a:t>
            </a:r>
          </a:p>
          <a:p>
            <a:pPr>
              <a:lnSpc>
                <a:spcPct val="150000"/>
              </a:lnSpc>
            </a:pPr>
            <a:r>
              <a:rPr lang="en-GB" sz="1600" dirty="0">
                <a:solidFill>
                  <a:schemeClr val="bg1"/>
                </a:solidFill>
                <a:latin typeface="Consolas" panose="020B0609020204030204" pitchFamily="49" charset="0"/>
              </a:rPr>
              <a:t>#pragma </a:t>
            </a:r>
            <a:r>
              <a:rPr lang="en-GB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omp</a:t>
            </a:r>
            <a:r>
              <a:rPr lang="en-GB" sz="1600" dirty="0">
                <a:solidFill>
                  <a:schemeClr val="bg1"/>
                </a:solidFill>
                <a:latin typeface="Consolas" panose="020B0609020204030204" pitchFamily="49" charset="0"/>
              </a:rPr>
              <a:t> parallel</a:t>
            </a:r>
          </a:p>
          <a:p>
            <a:pPr>
              <a:lnSpc>
                <a:spcPct val="150000"/>
              </a:lnSpc>
            </a:pPr>
            <a:r>
              <a:rPr lang="en-GB" sz="1600" dirty="0">
                <a:solidFill>
                  <a:schemeClr val="bg1"/>
                </a:solidFill>
                <a:latin typeface="Consolas" panose="020B0609020204030204" pitchFamily="49" charset="0"/>
              </a:rPr>
              <a:t>{</a:t>
            </a:r>
          </a:p>
          <a:p>
            <a:pPr lvl="2">
              <a:lnSpc>
                <a:spcPct val="150000"/>
              </a:lnSpc>
            </a:pPr>
            <a:r>
              <a:rPr lang="hr-HR" sz="1600" dirty="0">
                <a:solidFill>
                  <a:schemeClr val="bg1"/>
                </a:solidFill>
                <a:latin typeface="Consolas" panose="020B0609020204030204" pitchFamily="49" charset="0"/>
              </a:rPr>
              <a:t>	</a:t>
            </a:r>
            <a:r>
              <a:rPr lang="en-GB" sz="1600" dirty="0">
                <a:solidFill>
                  <a:schemeClr val="bg1"/>
                </a:solidFill>
                <a:latin typeface="Consolas" panose="020B0609020204030204" pitchFamily="49" charset="0"/>
              </a:rPr>
              <a:t>int ID = </a:t>
            </a:r>
            <a:r>
              <a:rPr lang="en-GB" sz="1600" u="sng" dirty="0" err="1">
                <a:solidFill>
                  <a:schemeClr val="bg1"/>
                </a:solidFill>
                <a:latin typeface="Consolas" panose="020B0609020204030204" pitchFamily="49" charset="0"/>
              </a:rPr>
              <a:t>omp_get_thread_num</a:t>
            </a:r>
            <a:r>
              <a:rPr lang="en-GB" sz="1600" u="sng" dirty="0">
                <a:solidFill>
                  <a:schemeClr val="bg1"/>
                </a:solidFill>
                <a:latin typeface="Consolas" panose="020B0609020204030204" pitchFamily="49" charset="0"/>
              </a:rPr>
              <a:t>();</a:t>
            </a:r>
          </a:p>
          <a:p>
            <a:pPr lvl="2">
              <a:lnSpc>
                <a:spcPct val="150000"/>
              </a:lnSpc>
            </a:pPr>
            <a:r>
              <a:rPr lang="hr-HR" sz="1600" dirty="0">
                <a:solidFill>
                  <a:schemeClr val="bg1"/>
                </a:solidFill>
                <a:latin typeface="Consolas" panose="020B0609020204030204" pitchFamily="49" charset="0"/>
              </a:rPr>
              <a:t>	</a:t>
            </a:r>
            <a:r>
              <a:rPr lang="en-GB" sz="1600" dirty="0">
                <a:solidFill>
                  <a:schemeClr val="bg1"/>
                </a:solidFill>
                <a:latin typeface="Consolas" panose="020B0609020204030204" pitchFamily="49" charset="0"/>
              </a:rPr>
              <a:t>pooh(ID,A);</a:t>
            </a:r>
          </a:p>
          <a:p>
            <a:pPr>
              <a:lnSpc>
                <a:spcPct val="150000"/>
              </a:lnSpc>
            </a:pPr>
            <a:r>
              <a:rPr lang="en-GB" sz="1600" dirty="0">
                <a:solidFill>
                  <a:schemeClr val="bg1"/>
                </a:solidFill>
                <a:latin typeface="Consolas" panose="020B0609020204030204" pitchFamily="49" charset="0"/>
              </a:rPr>
              <a:t>}</a:t>
            </a:r>
            <a:endParaRPr lang="en-US" sz="1600" b="1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endParaRPr lang="hr-HR" sz="1600" dirty="0"/>
          </a:p>
        </p:txBody>
      </p:sp>
      <p:sp>
        <p:nvSpPr>
          <p:cNvPr id="3" name="Pravokutnik 2">
            <a:extLst>
              <a:ext uri="{FF2B5EF4-FFF2-40B4-BE49-F238E27FC236}">
                <a16:creationId xmlns:a16="http://schemas.microsoft.com/office/drawing/2014/main" id="{C3E6B6DD-D307-B1B3-7D4D-8F62D57218C5}"/>
              </a:ext>
            </a:extLst>
          </p:cNvPr>
          <p:cNvSpPr/>
          <p:nvPr/>
        </p:nvSpPr>
        <p:spPr>
          <a:xfrm>
            <a:off x="489079" y="3732621"/>
            <a:ext cx="1605963" cy="202858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r-HR" sz="1600" dirty="0"/>
              <a:t>Svaka nit izvršava kopiju koda unutar strukturiranog bloka</a:t>
            </a:r>
          </a:p>
        </p:txBody>
      </p:sp>
      <p:sp>
        <p:nvSpPr>
          <p:cNvPr id="4" name="Pravokutnik 3">
            <a:extLst>
              <a:ext uri="{FF2B5EF4-FFF2-40B4-BE49-F238E27FC236}">
                <a16:creationId xmlns:a16="http://schemas.microsoft.com/office/drawing/2014/main" id="{0B7E4B59-0E7E-EEB0-8795-614D25F5AD77}"/>
              </a:ext>
            </a:extLst>
          </p:cNvPr>
          <p:cNvSpPr/>
          <p:nvPr/>
        </p:nvSpPr>
        <p:spPr>
          <a:xfrm>
            <a:off x="5663041" y="4977974"/>
            <a:ext cx="2635716" cy="95676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r-HR" sz="1600" dirty="0" err="1"/>
              <a:t>Runtime</a:t>
            </a:r>
            <a:r>
              <a:rPr lang="hr-HR" sz="1600" dirty="0"/>
              <a:t> funkcija koja vraća ID niti</a:t>
            </a:r>
          </a:p>
        </p:txBody>
      </p:sp>
      <p:cxnSp>
        <p:nvCxnSpPr>
          <p:cNvPr id="6" name="Ravni poveznik sa strelicom 5">
            <a:extLst>
              <a:ext uri="{FF2B5EF4-FFF2-40B4-BE49-F238E27FC236}">
                <a16:creationId xmlns:a16="http://schemas.microsoft.com/office/drawing/2014/main" id="{BEBEBF5E-AE4A-F2BF-2340-AC2938E9289B}"/>
              </a:ext>
            </a:extLst>
          </p:cNvPr>
          <p:cNvCxnSpPr>
            <a:cxnSpLocks/>
            <a:stCxn id="4" idx="1"/>
          </p:cNvCxnSpPr>
          <p:nvPr/>
        </p:nvCxnSpPr>
        <p:spPr>
          <a:xfrm flipH="1" flipV="1">
            <a:off x="5044333" y="4764101"/>
            <a:ext cx="618708" cy="692258"/>
          </a:xfrm>
          <a:prstGeom prst="straightConnector1">
            <a:avLst/>
          </a:prstGeom>
          <a:ln w="19050">
            <a:solidFill>
              <a:schemeClr val="bg1">
                <a:lumMod val="9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Pravokutnik 7">
            <a:extLst>
              <a:ext uri="{FF2B5EF4-FFF2-40B4-BE49-F238E27FC236}">
                <a16:creationId xmlns:a16="http://schemas.microsoft.com/office/drawing/2014/main" id="{AEA16081-71F9-BCF4-4BCB-73F171F55692}"/>
              </a:ext>
            </a:extLst>
          </p:cNvPr>
          <p:cNvSpPr/>
          <p:nvPr/>
        </p:nvSpPr>
        <p:spPr>
          <a:xfrm>
            <a:off x="5663041" y="2599180"/>
            <a:ext cx="2635716" cy="95676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r-HR" sz="1600" dirty="0" err="1"/>
              <a:t>Runtime</a:t>
            </a:r>
            <a:r>
              <a:rPr lang="hr-HR" sz="1600" dirty="0"/>
              <a:t> funkcija za </a:t>
            </a:r>
            <a:r>
              <a:rPr lang="hr-HR" sz="1600" dirty="0" err="1"/>
              <a:t>zahtjevanje</a:t>
            </a:r>
            <a:r>
              <a:rPr lang="hr-HR" sz="1600" dirty="0"/>
              <a:t> određenog broja niti</a:t>
            </a:r>
          </a:p>
        </p:txBody>
      </p:sp>
      <p:cxnSp>
        <p:nvCxnSpPr>
          <p:cNvPr id="9" name="Ravni poveznik sa strelicom 8">
            <a:extLst>
              <a:ext uri="{FF2B5EF4-FFF2-40B4-BE49-F238E27FC236}">
                <a16:creationId xmlns:a16="http://schemas.microsoft.com/office/drawing/2014/main" id="{AB2D26EE-0F9D-D200-898F-CFAC4B3BCDFC}"/>
              </a:ext>
            </a:extLst>
          </p:cNvPr>
          <p:cNvCxnSpPr>
            <a:cxnSpLocks/>
            <a:stCxn id="8" idx="1"/>
          </p:cNvCxnSpPr>
          <p:nvPr/>
        </p:nvCxnSpPr>
        <p:spPr>
          <a:xfrm flipH="1">
            <a:off x="4464424" y="3077565"/>
            <a:ext cx="1198617" cy="218351"/>
          </a:xfrm>
          <a:prstGeom prst="straightConnector1">
            <a:avLst/>
          </a:prstGeom>
          <a:ln w="19050">
            <a:solidFill>
              <a:schemeClr val="bg1">
                <a:lumMod val="9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Google Shape;183;p42">
            <a:extLst>
              <a:ext uri="{FF2B5EF4-FFF2-40B4-BE49-F238E27FC236}">
                <a16:creationId xmlns:a16="http://schemas.microsoft.com/office/drawing/2014/main" id="{C03DC4C5-DFF5-DC6D-B7E4-15E66C72598F}"/>
              </a:ext>
            </a:extLst>
          </p:cNvPr>
          <p:cNvSpPr/>
          <p:nvPr/>
        </p:nvSpPr>
        <p:spPr>
          <a:xfrm>
            <a:off x="1058927" y="6151285"/>
            <a:ext cx="7970812" cy="535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lnSpc>
                <a:spcPct val="15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hr-HR" sz="1800" b="1" dirty="0">
                <a:solidFill>
                  <a:schemeClr val="bg1"/>
                </a:solidFill>
                <a:latin typeface="Quicksand" panose="020B0604020202020204" charset="0"/>
              </a:rPr>
              <a:t>Svaka nit poziva </a:t>
            </a:r>
            <a:r>
              <a:rPr lang="hr-HR" sz="1800" b="1" dirty="0" err="1">
                <a:solidFill>
                  <a:schemeClr val="bg1"/>
                </a:solidFill>
                <a:latin typeface="Quicksand" panose="020B0604020202020204" charset="0"/>
              </a:rPr>
              <a:t>pooh</a:t>
            </a:r>
            <a:r>
              <a:rPr lang="hr-HR" sz="1800" b="1" dirty="0">
                <a:solidFill>
                  <a:schemeClr val="bg1"/>
                </a:solidFill>
                <a:latin typeface="Quicksand" panose="020B0604020202020204" charset="0"/>
              </a:rPr>
              <a:t>(ID,A) za ID = 0 do 3</a:t>
            </a:r>
          </a:p>
        </p:txBody>
      </p:sp>
      <p:sp>
        <p:nvSpPr>
          <p:cNvPr id="13" name="Lijeva vitičasta zagrada 12">
            <a:extLst>
              <a:ext uri="{FF2B5EF4-FFF2-40B4-BE49-F238E27FC236}">
                <a16:creationId xmlns:a16="http://schemas.microsoft.com/office/drawing/2014/main" id="{B378692A-313B-5EB5-F1CE-D69E184E0424}"/>
              </a:ext>
            </a:extLst>
          </p:cNvPr>
          <p:cNvSpPr/>
          <p:nvPr/>
        </p:nvSpPr>
        <p:spPr>
          <a:xfrm>
            <a:off x="2097741" y="4049485"/>
            <a:ext cx="230521" cy="1406873"/>
          </a:xfrm>
          <a:prstGeom prst="leftBrac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6427420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animBg="1"/>
      <p:bldP spid="4" grpId="0" animBg="1"/>
      <p:bldP spid="8" grpId="0" animBg="1"/>
      <p:bldP spid="12" grpId="0"/>
      <p:bldP spid="13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>
          <a:extLst>
            <a:ext uri="{FF2B5EF4-FFF2-40B4-BE49-F238E27FC236}">
              <a16:creationId xmlns:a16="http://schemas.microsoft.com/office/drawing/2014/main" id="{CE6E44E4-63D2-21DC-1435-0D14C10B3A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42">
            <a:extLst>
              <a:ext uri="{FF2B5EF4-FFF2-40B4-BE49-F238E27FC236}">
                <a16:creationId xmlns:a16="http://schemas.microsoft.com/office/drawing/2014/main" id="{6AC910F0-0066-6388-73D2-404AAAF87CF6}"/>
              </a:ext>
            </a:extLst>
          </p:cNvPr>
          <p:cNvSpPr txBox="1"/>
          <p:nvPr/>
        </p:nvSpPr>
        <p:spPr>
          <a:xfrm>
            <a:off x="1165320" y="70452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hr-HR" sz="2400" b="1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Kreiranje niti: paralelne regije</a:t>
            </a:r>
          </a:p>
        </p:txBody>
      </p:sp>
      <p:sp>
        <p:nvSpPr>
          <p:cNvPr id="183" name="Google Shape;183;p42">
            <a:extLst>
              <a:ext uri="{FF2B5EF4-FFF2-40B4-BE49-F238E27FC236}">
                <a16:creationId xmlns:a16="http://schemas.microsoft.com/office/drawing/2014/main" id="{450A95C7-6B57-E532-280B-74E941259ACA}"/>
              </a:ext>
            </a:extLst>
          </p:cNvPr>
          <p:cNvSpPr/>
          <p:nvPr/>
        </p:nvSpPr>
        <p:spPr>
          <a:xfrm>
            <a:off x="1058927" y="1333074"/>
            <a:ext cx="7970812" cy="956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lnSpc>
                <a:spcPct val="15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hr-HR" sz="1800" b="1" dirty="0">
                <a:solidFill>
                  <a:schemeClr val="bg1"/>
                </a:solidFill>
                <a:latin typeface="Quicksand" panose="020B0604020202020204" charset="0"/>
              </a:rPr>
              <a:t>Niti se u </a:t>
            </a:r>
            <a:r>
              <a:rPr lang="hr-HR" sz="1800" b="1" dirty="0" err="1">
                <a:solidFill>
                  <a:schemeClr val="bg1"/>
                </a:solidFill>
                <a:latin typeface="Quicksand" panose="020B0604020202020204" charset="0"/>
              </a:rPr>
              <a:t>OpenMP</a:t>
            </a:r>
            <a:r>
              <a:rPr lang="hr-HR" sz="1800" b="1" dirty="0">
                <a:solidFill>
                  <a:schemeClr val="bg1"/>
                </a:solidFill>
                <a:latin typeface="Quicksand" panose="020B0604020202020204" charset="0"/>
              </a:rPr>
              <a:t>-u kreiraju pomoću </a:t>
            </a:r>
            <a:r>
              <a:rPr lang="hr-HR" sz="1800" b="1" dirty="0" err="1">
                <a:solidFill>
                  <a:srgbClr val="39C0BA"/>
                </a:solidFill>
                <a:latin typeface="Quicksand" panose="020B0604020202020204" charset="0"/>
              </a:rPr>
              <a:t>parallel</a:t>
            </a:r>
            <a:r>
              <a:rPr lang="hr-HR" sz="1800" b="1" dirty="0">
                <a:solidFill>
                  <a:schemeClr val="bg1"/>
                </a:solidFill>
                <a:latin typeface="Quicksand" panose="020B0604020202020204" charset="0"/>
              </a:rPr>
              <a:t> konstruktora.</a:t>
            </a:r>
          </a:p>
          <a:p>
            <a:pPr marL="285750" indent="-285750">
              <a:lnSpc>
                <a:spcPct val="15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hr-HR" sz="1800" b="1" dirty="0">
                <a:solidFill>
                  <a:schemeClr val="bg1"/>
                </a:solidFill>
                <a:latin typeface="Quicksand" panose="020B0604020202020204" charset="0"/>
              </a:rPr>
              <a:t>Primjer kreiranja paralelne regije s 4 niti:</a:t>
            </a:r>
          </a:p>
        </p:txBody>
      </p:sp>
      <p:sp>
        <p:nvSpPr>
          <p:cNvPr id="2" name="TekstniOkvir 1">
            <a:extLst>
              <a:ext uri="{FF2B5EF4-FFF2-40B4-BE49-F238E27FC236}">
                <a16:creationId xmlns:a16="http://schemas.microsoft.com/office/drawing/2014/main" id="{CE23EA0C-C0F7-FDF1-AF03-EE4E234E529E}"/>
              </a:ext>
            </a:extLst>
          </p:cNvPr>
          <p:cNvSpPr txBox="1"/>
          <p:nvPr/>
        </p:nvSpPr>
        <p:spPr>
          <a:xfrm>
            <a:off x="2328262" y="2850776"/>
            <a:ext cx="4474302" cy="29238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1600" dirty="0">
                <a:solidFill>
                  <a:schemeClr val="bg1"/>
                </a:solidFill>
                <a:latin typeface="Consolas" panose="020B0609020204030204" pitchFamily="49" charset="0"/>
              </a:rPr>
              <a:t>double A[1000];</a:t>
            </a:r>
          </a:p>
          <a:p>
            <a:pPr>
              <a:lnSpc>
                <a:spcPct val="150000"/>
              </a:lnSpc>
            </a:pPr>
            <a:endParaRPr lang="en-GB" sz="16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GB" sz="1600" dirty="0">
                <a:solidFill>
                  <a:schemeClr val="bg1"/>
                </a:solidFill>
                <a:latin typeface="Consolas" panose="020B0609020204030204" pitchFamily="49" charset="0"/>
              </a:rPr>
              <a:t>#pragma </a:t>
            </a:r>
            <a:r>
              <a:rPr lang="en-GB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omp</a:t>
            </a:r>
            <a:r>
              <a:rPr lang="en-GB" sz="1600" dirty="0">
                <a:solidFill>
                  <a:schemeClr val="bg1"/>
                </a:solidFill>
                <a:latin typeface="Consolas" panose="020B0609020204030204" pitchFamily="49" charset="0"/>
              </a:rPr>
              <a:t> parallel</a:t>
            </a:r>
            <a:r>
              <a:rPr lang="hr-HR" sz="16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hr-HR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num_threads</a:t>
            </a:r>
            <a:r>
              <a:rPr lang="hr-HR" sz="1600" dirty="0">
                <a:solidFill>
                  <a:schemeClr val="bg1"/>
                </a:solidFill>
                <a:latin typeface="Consolas" panose="020B0609020204030204" pitchFamily="49" charset="0"/>
              </a:rPr>
              <a:t>(4)</a:t>
            </a:r>
            <a:endParaRPr lang="en-GB" sz="16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GB" sz="1600" dirty="0">
                <a:solidFill>
                  <a:schemeClr val="bg1"/>
                </a:solidFill>
                <a:latin typeface="Consolas" panose="020B0609020204030204" pitchFamily="49" charset="0"/>
              </a:rPr>
              <a:t>{</a:t>
            </a:r>
          </a:p>
          <a:p>
            <a:pPr lvl="2">
              <a:lnSpc>
                <a:spcPct val="150000"/>
              </a:lnSpc>
            </a:pPr>
            <a:r>
              <a:rPr lang="hr-HR" sz="1600" dirty="0">
                <a:solidFill>
                  <a:schemeClr val="bg1"/>
                </a:solidFill>
                <a:latin typeface="Consolas" panose="020B0609020204030204" pitchFamily="49" charset="0"/>
              </a:rPr>
              <a:t>	</a:t>
            </a:r>
            <a:r>
              <a:rPr lang="en-GB" sz="1600" dirty="0">
                <a:solidFill>
                  <a:schemeClr val="bg1"/>
                </a:solidFill>
                <a:latin typeface="Consolas" panose="020B0609020204030204" pitchFamily="49" charset="0"/>
              </a:rPr>
              <a:t>int ID = </a:t>
            </a:r>
            <a:r>
              <a:rPr lang="en-GB" sz="1600" u="sng" dirty="0" err="1">
                <a:solidFill>
                  <a:schemeClr val="bg1"/>
                </a:solidFill>
                <a:latin typeface="Consolas" panose="020B0609020204030204" pitchFamily="49" charset="0"/>
              </a:rPr>
              <a:t>omp_get_thread_num</a:t>
            </a:r>
            <a:r>
              <a:rPr lang="en-GB" sz="1600" u="sng" dirty="0">
                <a:solidFill>
                  <a:schemeClr val="bg1"/>
                </a:solidFill>
                <a:latin typeface="Consolas" panose="020B0609020204030204" pitchFamily="49" charset="0"/>
              </a:rPr>
              <a:t>();</a:t>
            </a:r>
          </a:p>
          <a:p>
            <a:pPr lvl="2">
              <a:lnSpc>
                <a:spcPct val="150000"/>
              </a:lnSpc>
            </a:pPr>
            <a:r>
              <a:rPr lang="hr-HR" sz="1600" dirty="0">
                <a:solidFill>
                  <a:schemeClr val="bg1"/>
                </a:solidFill>
                <a:latin typeface="Consolas" panose="020B0609020204030204" pitchFamily="49" charset="0"/>
              </a:rPr>
              <a:t>	</a:t>
            </a:r>
            <a:r>
              <a:rPr lang="en-GB" sz="1600" dirty="0">
                <a:solidFill>
                  <a:schemeClr val="bg1"/>
                </a:solidFill>
                <a:latin typeface="Consolas" panose="020B0609020204030204" pitchFamily="49" charset="0"/>
              </a:rPr>
              <a:t>pooh(ID,A);</a:t>
            </a:r>
          </a:p>
          <a:p>
            <a:pPr>
              <a:lnSpc>
                <a:spcPct val="150000"/>
              </a:lnSpc>
            </a:pPr>
            <a:r>
              <a:rPr lang="en-GB" sz="1600" dirty="0">
                <a:solidFill>
                  <a:schemeClr val="bg1"/>
                </a:solidFill>
                <a:latin typeface="Consolas" panose="020B0609020204030204" pitchFamily="49" charset="0"/>
              </a:rPr>
              <a:t>}</a:t>
            </a:r>
            <a:endParaRPr lang="en-US" sz="1600" b="1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endParaRPr lang="hr-HR" sz="1600" dirty="0"/>
          </a:p>
        </p:txBody>
      </p:sp>
      <p:sp>
        <p:nvSpPr>
          <p:cNvPr id="3" name="Pravokutnik 2">
            <a:extLst>
              <a:ext uri="{FF2B5EF4-FFF2-40B4-BE49-F238E27FC236}">
                <a16:creationId xmlns:a16="http://schemas.microsoft.com/office/drawing/2014/main" id="{47BFC511-7A5A-BB48-14B4-A11ECB9191DF}"/>
              </a:ext>
            </a:extLst>
          </p:cNvPr>
          <p:cNvSpPr/>
          <p:nvPr/>
        </p:nvSpPr>
        <p:spPr>
          <a:xfrm>
            <a:off x="489079" y="3732621"/>
            <a:ext cx="1605963" cy="202858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r-HR" sz="1600" dirty="0"/>
              <a:t>Svaka nit izvršava kopiju koda unutar strukturiranog bloka</a:t>
            </a:r>
          </a:p>
        </p:txBody>
      </p:sp>
      <p:sp>
        <p:nvSpPr>
          <p:cNvPr id="4" name="Pravokutnik 3">
            <a:extLst>
              <a:ext uri="{FF2B5EF4-FFF2-40B4-BE49-F238E27FC236}">
                <a16:creationId xmlns:a16="http://schemas.microsoft.com/office/drawing/2014/main" id="{7855383D-B907-EF2B-8ADD-14609515DC67}"/>
              </a:ext>
            </a:extLst>
          </p:cNvPr>
          <p:cNvSpPr/>
          <p:nvPr/>
        </p:nvSpPr>
        <p:spPr>
          <a:xfrm>
            <a:off x="5663041" y="4977974"/>
            <a:ext cx="2635716" cy="95676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r-HR" sz="1600" dirty="0" err="1"/>
              <a:t>Runtime</a:t>
            </a:r>
            <a:r>
              <a:rPr lang="hr-HR" sz="1600" dirty="0"/>
              <a:t> funkcija koja vraća ID niti</a:t>
            </a:r>
          </a:p>
        </p:txBody>
      </p:sp>
      <p:cxnSp>
        <p:nvCxnSpPr>
          <p:cNvPr id="6" name="Ravni poveznik sa strelicom 5">
            <a:extLst>
              <a:ext uri="{FF2B5EF4-FFF2-40B4-BE49-F238E27FC236}">
                <a16:creationId xmlns:a16="http://schemas.microsoft.com/office/drawing/2014/main" id="{CB92E997-4446-BAA3-74BD-0108E7F84344}"/>
              </a:ext>
            </a:extLst>
          </p:cNvPr>
          <p:cNvCxnSpPr>
            <a:cxnSpLocks/>
            <a:stCxn id="4" idx="1"/>
          </p:cNvCxnSpPr>
          <p:nvPr/>
        </p:nvCxnSpPr>
        <p:spPr>
          <a:xfrm flipH="1" flipV="1">
            <a:off x="5044333" y="4764101"/>
            <a:ext cx="618708" cy="692258"/>
          </a:xfrm>
          <a:prstGeom prst="straightConnector1">
            <a:avLst/>
          </a:prstGeom>
          <a:ln w="19050">
            <a:solidFill>
              <a:schemeClr val="bg1">
                <a:lumMod val="9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Pravokutnik 7">
            <a:extLst>
              <a:ext uri="{FF2B5EF4-FFF2-40B4-BE49-F238E27FC236}">
                <a16:creationId xmlns:a16="http://schemas.microsoft.com/office/drawing/2014/main" id="{F4A70088-5122-F168-77FD-47B499F9643B}"/>
              </a:ext>
            </a:extLst>
          </p:cNvPr>
          <p:cNvSpPr/>
          <p:nvPr/>
        </p:nvSpPr>
        <p:spPr>
          <a:xfrm>
            <a:off x="6242950" y="2289842"/>
            <a:ext cx="2635716" cy="95676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r-HR" sz="1600" dirty="0"/>
              <a:t>Klauzula za zahtjev određenog broja niti</a:t>
            </a:r>
          </a:p>
        </p:txBody>
      </p:sp>
      <p:cxnSp>
        <p:nvCxnSpPr>
          <p:cNvPr id="9" name="Ravni poveznik sa strelicom 8">
            <a:extLst>
              <a:ext uri="{FF2B5EF4-FFF2-40B4-BE49-F238E27FC236}">
                <a16:creationId xmlns:a16="http://schemas.microsoft.com/office/drawing/2014/main" id="{315AB08B-36BE-F61F-F442-7813E7B9DBFA}"/>
              </a:ext>
            </a:extLst>
          </p:cNvPr>
          <p:cNvCxnSpPr>
            <a:cxnSpLocks/>
            <a:stCxn id="8" idx="1"/>
          </p:cNvCxnSpPr>
          <p:nvPr/>
        </p:nvCxnSpPr>
        <p:spPr>
          <a:xfrm flipH="1">
            <a:off x="5271247" y="2768227"/>
            <a:ext cx="971703" cy="964394"/>
          </a:xfrm>
          <a:prstGeom prst="straightConnector1">
            <a:avLst/>
          </a:prstGeom>
          <a:ln w="19050">
            <a:solidFill>
              <a:schemeClr val="bg1">
                <a:lumMod val="9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Google Shape;183;p42">
            <a:extLst>
              <a:ext uri="{FF2B5EF4-FFF2-40B4-BE49-F238E27FC236}">
                <a16:creationId xmlns:a16="http://schemas.microsoft.com/office/drawing/2014/main" id="{79200D73-DFA8-8D8A-03B1-6F042F614157}"/>
              </a:ext>
            </a:extLst>
          </p:cNvPr>
          <p:cNvSpPr/>
          <p:nvPr/>
        </p:nvSpPr>
        <p:spPr>
          <a:xfrm>
            <a:off x="1058927" y="6151285"/>
            <a:ext cx="7970812" cy="535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lnSpc>
                <a:spcPct val="15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hr-HR" sz="1800" b="1" dirty="0">
                <a:solidFill>
                  <a:schemeClr val="bg1"/>
                </a:solidFill>
                <a:latin typeface="Quicksand" panose="020B0604020202020204" charset="0"/>
              </a:rPr>
              <a:t>Svaka nit poziva </a:t>
            </a:r>
            <a:r>
              <a:rPr lang="hr-HR" sz="1800" b="1" dirty="0" err="1">
                <a:solidFill>
                  <a:schemeClr val="bg1"/>
                </a:solidFill>
                <a:latin typeface="Quicksand" panose="020B0604020202020204" charset="0"/>
              </a:rPr>
              <a:t>pooh</a:t>
            </a:r>
            <a:r>
              <a:rPr lang="hr-HR" sz="1800" b="1" dirty="0">
                <a:solidFill>
                  <a:schemeClr val="bg1"/>
                </a:solidFill>
                <a:latin typeface="Quicksand" panose="020B0604020202020204" charset="0"/>
              </a:rPr>
              <a:t>(ID,A) za ID = 0 do 3</a:t>
            </a:r>
          </a:p>
        </p:txBody>
      </p:sp>
      <p:sp>
        <p:nvSpPr>
          <p:cNvPr id="13" name="Lijeva vitičasta zagrada 12">
            <a:extLst>
              <a:ext uri="{FF2B5EF4-FFF2-40B4-BE49-F238E27FC236}">
                <a16:creationId xmlns:a16="http://schemas.microsoft.com/office/drawing/2014/main" id="{BAA25A55-29EB-C7C2-8BE8-AF55D2E0DD36}"/>
              </a:ext>
            </a:extLst>
          </p:cNvPr>
          <p:cNvSpPr/>
          <p:nvPr/>
        </p:nvSpPr>
        <p:spPr>
          <a:xfrm>
            <a:off x="2097741" y="4049485"/>
            <a:ext cx="230521" cy="1406873"/>
          </a:xfrm>
          <a:prstGeom prst="leftBrac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8232717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animBg="1"/>
      <p:bldP spid="4" grpId="0" animBg="1"/>
      <p:bldP spid="8" grpId="0" animBg="1"/>
      <p:bldP spid="13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>
          <a:extLst>
            <a:ext uri="{FF2B5EF4-FFF2-40B4-BE49-F238E27FC236}">
              <a16:creationId xmlns:a16="http://schemas.microsoft.com/office/drawing/2014/main" id="{7A28770E-0099-F7FB-B382-F71435B043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42">
            <a:extLst>
              <a:ext uri="{FF2B5EF4-FFF2-40B4-BE49-F238E27FC236}">
                <a16:creationId xmlns:a16="http://schemas.microsoft.com/office/drawing/2014/main" id="{BBA5B7AD-B858-3AD7-97F3-4173A3DC2FD4}"/>
              </a:ext>
            </a:extLst>
          </p:cNvPr>
          <p:cNvSpPr txBox="1"/>
          <p:nvPr/>
        </p:nvSpPr>
        <p:spPr>
          <a:xfrm>
            <a:off x="1165320" y="70452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hr-HR" sz="2400" b="1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Kreiranje niti: paralelne regije</a:t>
            </a:r>
          </a:p>
        </p:txBody>
      </p:sp>
      <p:sp>
        <p:nvSpPr>
          <p:cNvPr id="183" name="Google Shape;183;p42">
            <a:extLst>
              <a:ext uri="{FF2B5EF4-FFF2-40B4-BE49-F238E27FC236}">
                <a16:creationId xmlns:a16="http://schemas.microsoft.com/office/drawing/2014/main" id="{F677E75B-5CB5-8D7A-01C1-12DF67312A89}"/>
              </a:ext>
            </a:extLst>
          </p:cNvPr>
          <p:cNvSpPr/>
          <p:nvPr/>
        </p:nvSpPr>
        <p:spPr>
          <a:xfrm>
            <a:off x="1058927" y="1333074"/>
            <a:ext cx="7970812" cy="956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lnSpc>
                <a:spcPct val="15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hr-HR" sz="1800" b="1" dirty="0">
                <a:solidFill>
                  <a:schemeClr val="bg1"/>
                </a:solidFill>
                <a:latin typeface="Quicksand" panose="020B0604020202020204" charset="0"/>
              </a:rPr>
              <a:t>Svaka nit izvršava isti kod – </a:t>
            </a:r>
            <a:r>
              <a:rPr lang="hr-HR" sz="1800" b="1" dirty="0" err="1">
                <a:solidFill>
                  <a:schemeClr val="bg1"/>
                </a:solidFill>
                <a:latin typeface="Quicksand" panose="020B0604020202020204" charset="0"/>
              </a:rPr>
              <a:t>redudantno</a:t>
            </a:r>
            <a:r>
              <a:rPr lang="hr-HR" sz="1800" b="1" dirty="0">
                <a:solidFill>
                  <a:schemeClr val="bg1"/>
                </a:solidFill>
                <a:latin typeface="Quicksand" panose="020B0604020202020204" charset="0"/>
              </a:rPr>
              <a:t>.</a:t>
            </a:r>
          </a:p>
        </p:txBody>
      </p:sp>
      <p:sp>
        <p:nvSpPr>
          <p:cNvPr id="2" name="TekstniOkvir 1">
            <a:extLst>
              <a:ext uri="{FF2B5EF4-FFF2-40B4-BE49-F238E27FC236}">
                <a16:creationId xmlns:a16="http://schemas.microsoft.com/office/drawing/2014/main" id="{ED80A62A-B867-3B7E-C490-7D234CD9A48C}"/>
              </a:ext>
            </a:extLst>
          </p:cNvPr>
          <p:cNvSpPr txBox="1"/>
          <p:nvPr/>
        </p:nvSpPr>
        <p:spPr>
          <a:xfrm>
            <a:off x="5033554" y="1737715"/>
            <a:ext cx="4110446" cy="19967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dirty="0">
                <a:solidFill>
                  <a:schemeClr val="bg1"/>
                </a:solidFill>
                <a:latin typeface="Consolas" panose="020B0609020204030204" pitchFamily="49" charset="0"/>
              </a:rPr>
              <a:t>double A[1000];</a:t>
            </a:r>
          </a:p>
          <a:p>
            <a:pPr>
              <a:lnSpc>
                <a:spcPct val="150000"/>
              </a:lnSpc>
            </a:pPr>
            <a:r>
              <a:rPr lang="en-GB" dirty="0">
                <a:solidFill>
                  <a:schemeClr val="bg1"/>
                </a:solidFill>
                <a:latin typeface="Consolas" panose="020B0609020204030204" pitchFamily="49" charset="0"/>
              </a:rPr>
              <a:t>#pragma </a:t>
            </a:r>
            <a:r>
              <a:rPr lang="en-GB" dirty="0" err="1">
                <a:solidFill>
                  <a:schemeClr val="bg1"/>
                </a:solidFill>
                <a:latin typeface="Consolas" panose="020B0609020204030204" pitchFamily="49" charset="0"/>
              </a:rPr>
              <a:t>omp</a:t>
            </a:r>
            <a:r>
              <a:rPr lang="en-GB" dirty="0">
                <a:solidFill>
                  <a:schemeClr val="bg1"/>
                </a:solidFill>
                <a:latin typeface="Consolas" panose="020B0609020204030204" pitchFamily="49" charset="0"/>
              </a:rPr>
              <a:t> parallel</a:t>
            </a:r>
            <a:r>
              <a:rPr lang="hr-HR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hr-HR" dirty="0" err="1">
                <a:solidFill>
                  <a:schemeClr val="bg1"/>
                </a:solidFill>
                <a:latin typeface="Consolas" panose="020B0609020204030204" pitchFamily="49" charset="0"/>
              </a:rPr>
              <a:t>num_threads</a:t>
            </a:r>
            <a:r>
              <a:rPr lang="hr-HR" dirty="0">
                <a:solidFill>
                  <a:schemeClr val="bg1"/>
                </a:solidFill>
                <a:latin typeface="Consolas" panose="020B0609020204030204" pitchFamily="49" charset="0"/>
              </a:rPr>
              <a:t>(4)</a:t>
            </a:r>
            <a:endParaRPr lang="en-GB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GB" dirty="0">
                <a:solidFill>
                  <a:schemeClr val="bg1"/>
                </a:solidFill>
                <a:latin typeface="Consolas" panose="020B0609020204030204" pitchFamily="49" charset="0"/>
              </a:rPr>
              <a:t>{</a:t>
            </a:r>
          </a:p>
          <a:p>
            <a:pPr lvl="2">
              <a:lnSpc>
                <a:spcPct val="150000"/>
              </a:lnSpc>
            </a:pPr>
            <a:r>
              <a:rPr lang="hr-HR" dirty="0">
                <a:solidFill>
                  <a:schemeClr val="bg1"/>
                </a:solidFill>
                <a:latin typeface="Consolas" panose="020B0609020204030204" pitchFamily="49" charset="0"/>
              </a:rPr>
              <a:t>	</a:t>
            </a:r>
            <a:r>
              <a:rPr lang="en-GB" dirty="0">
                <a:solidFill>
                  <a:schemeClr val="bg1"/>
                </a:solidFill>
                <a:latin typeface="Consolas" panose="020B0609020204030204" pitchFamily="49" charset="0"/>
              </a:rPr>
              <a:t>int ID = </a:t>
            </a:r>
            <a:r>
              <a:rPr lang="en-GB" dirty="0" err="1">
                <a:solidFill>
                  <a:schemeClr val="bg1"/>
                </a:solidFill>
                <a:latin typeface="Consolas" panose="020B0609020204030204" pitchFamily="49" charset="0"/>
              </a:rPr>
              <a:t>omp_get_thread_num</a:t>
            </a:r>
            <a:r>
              <a:rPr lang="en-GB" dirty="0">
                <a:solidFill>
                  <a:schemeClr val="bg1"/>
                </a:solidFill>
                <a:latin typeface="Consolas" panose="020B0609020204030204" pitchFamily="49" charset="0"/>
              </a:rPr>
              <a:t>();</a:t>
            </a:r>
          </a:p>
          <a:p>
            <a:pPr lvl="2">
              <a:lnSpc>
                <a:spcPct val="150000"/>
              </a:lnSpc>
            </a:pPr>
            <a:r>
              <a:rPr lang="hr-HR" dirty="0">
                <a:solidFill>
                  <a:schemeClr val="bg1"/>
                </a:solidFill>
                <a:latin typeface="Consolas" panose="020B0609020204030204" pitchFamily="49" charset="0"/>
              </a:rPr>
              <a:t>	</a:t>
            </a:r>
            <a:r>
              <a:rPr lang="en-GB" dirty="0">
                <a:solidFill>
                  <a:schemeClr val="bg1"/>
                </a:solidFill>
                <a:latin typeface="Consolas" panose="020B0609020204030204" pitchFamily="49" charset="0"/>
              </a:rPr>
              <a:t>pooh(ID,A);</a:t>
            </a:r>
          </a:p>
          <a:p>
            <a:pPr>
              <a:lnSpc>
                <a:spcPct val="150000"/>
              </a:lnSpc>
            </a:pPr>
            <a:r>
              <a:rPr lang="en-GB" dirty="0">
                <a:solidFill>
                  <a:schemeClr val="bg1"/>
                </a:solidFill>
                <a:latin typeface="Consolas" panose="020B0609020204030204" pitchFamily="49" charset="0"/>
              </a:rPr>
              <a:t>}</a:t>
            </a:r>
            <a:endParaRPr lang="en-US" b="1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TekstniOkvir 6">
            <a:extLst>
              <a:ext uri="{FF2B5EF4-FFF2-40B4-BE49-F238E27FC236}">
                <a16:creationId xmlns:a16="http://schemas.microsoft.com/office/drawing/2014/main" id="{292D41E1-FD5C-2D0D-5A52-AD8F231AE5C8}"/>
              </a:ext>
            </a:extLst>
          </p:cNvPr>
          <p:cNvSpPr txBox="1"/>
          <p:nvPr/>
        </p:nvSpPr>
        <p:spPr>
          <a:xfrm>
            <a:off x="2022983" y="3275111"/>
            <a:ext cx="154577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r-HR" dirty="0" err="1">
                <a:solidFill>
                  <a:schemeClr val="bg1"/>
                </a:solidFill>
              </a:rPr>
              <a:t>double</a:t>
            </a:r>
            <a:r>
              <a:rPr lang="hr-HR" dirty="0">
                <a:solidFill>
                  <a:schemeClr val="bg1"/>
                </a:solidFill>
              </a:rPr>
              <a:t> A[1000];</a:t>
            </a:r>
          </a:p>
        </p:txBody>
      </p:sp>
      <p:sp>
        <p:nvSpPr>
          <p:cNvPr id="11" name="TekstniOkvir 10">
            <a:extLst>
              <a:ext uri="{FF2B5EF4-FFF2-40B4-BE49-F238E27FC236}">
                <a16:creationId xmlns:a16="http://schemas.microsoft.com/office/drawing/2014/main" id="{33D9FFC1-8C6C-F573-AD24-23CC6CCBDB7A}"/>
              </a:ext>
            </a:extLst>
          </p:cNvPr>
          <p:cNvSpPr txBox="1"/>
          <p:nvPr/>
        </p:nvSpPr>
        <p:spPr>
          <a:xfrm>
            <a:off x="1687702" y="3812379"/>
            <a:ext cx="221633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 err="1">
                <a:solidFill>
                  <a:schemeClr val="bg1"/>
                </a:solidFill>
              </a:rPr>
              <a:t>omp_set_num_threads</a:t>
            </a:r>
            <a:r>
              <a:rPr lang="en-GB" dirty="0">
                <a:solidFill>
                  <a:schemeClr val="bg1"/>
                </a:solidFill>
              </a:rPr>
              <a:t>(4)</a:t>
            </a:r>
            <a:endParaRPr lang="hr-HR" dirty="0">
              <a:solidFill>
                <a:schemeClr val="bg1"/>
              </a:solidFill>
            </a:endParaRPr>
          </a:p>
        </p:txBody>
      </p:sp>
      <p:sp>
        <p:nvSpPr>
          <p:cNvPr id="15" name="TekstniOkvir 14">
            <a:extLst>
              <a:ext uri="{FF2B5EF4-FFF2-40B4-BE49-F238E27FC236}">
                <a16:creationId xmlns:a16="http://schemas.microsoft.com/office/drawing/2014/main" id="{F81FD273-AD8A-82D6-D166-2A06B0D83E21}"/>
              </a:ext>
            </a:extLst>
          </p:cNvPr>
          <p:cNvSpPr txBox="1"/>
          <p:nvPr/>
        </p:nvSpPr>
        <p:spPr>
          <a:xfrm>
            <a:off x="2195392" y="4349647"/>
            <a:ext cx="108421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r-HR" dirty="0" err="1">
                <a:solidFill>
                  <a:schemeClr val="bg1"/>
                </a:solidFill>
              </a:rPr>
              <a:t>pooh</a:t>
            </a:r>
            <a:r>
              <a:rPr lang="hr-HR" dirty="0">
                <a:solidFill>
                  <a:schemeClr val="bg1"/>
                </a:solidFill>
              </a:rPr>
              <a:t>(0,A)</a:t>
            </a:r>
          </a:p>
        </p:txBody>
      </p:sp>
      <p:sp>
        <p:nvSpPr>
          <p:cNvPr id="17" name="TekstniOkvir 16">
            <a:extLst>
              <a:ext uri="{FF2B5EF4-FFF2-40B4-BE49-F238E27FC236}">
                <a16:creationId xmlns:a16="http://schemas.microsoft.com/office/drawing/2014/main" id="{AF437C53-0113-9A0A-F2A0-27F9586515B9}"/>
              </a:ext>
            </a:extLst>
          </p:cNvPr>
          <p:cNvSpPr txBox="1"/>
          <p:nvPr/>
        </p:nvSpPr>
        <p:spPr>
          <a:xfrm>
            <a:off x="3576999" y="4357266"/>
            <a:ext cx="10842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r-HR" dirty="0" err="1">
                <a:solidFill>
                  <a:schemeClr val="bg1"/>
                </a:solidFill>
              </a:rPr>
              <a:t>pooh</a:t>
            </a:r>
            <a:r>
              <a:rPr lang="hr-HR" dirty="0">
                <a:solidFill>
                  <a:schemeClr val="bg1"/>
                </a:solidFill>
              </a:rPr>
              <a:t>(1,A) </a:t>
            </a:r>
          </a:p>
        </p:txBody>
      </p:sp>
      <p:sp>
        <p:nvSpPr>
          <p:cNvPr id="19" name="TekstniOkvir 18">
            <a:extLst>
              <a:ext uri="{FF2B5EF4-FFF2-40B4-BE49-F238E27FC236}">
                <a16:creationId xmlns:a16="http://schemas.microsoft.com/office/drawing/2014/main" id="{FD030DE1-A5D8-E6C1-F638-2A58206CB4BA}"/>
              </a:ext>
            </a:extLst>
          </p:cNvPr>
          <p:cNvSpPr txBox="1"/>
          <p:nvPr/>
        </p:nvSpPr>
        <p:spPr>
          <a:xfrm>
            <a:off x="4958605" y="4357266"/>
            <a:ext cx="99713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r-HR" dirty="0" err="1">
                <a:solidFill>
                  <a:schemeClr val="bg1"/>
                </a:solidFill>
              </a:rPr>
              <a:t>pooh</a:t>
            </a:r>
            <a:r>
              <a:rPr lang="hr-HR" dirty="0">
                <a:solidFill>
                  <a:schemeClr val="bg1"/>
                </a:solidFill>
              </a:rPr>
              <a:t>(2,A)</a:t>
            </a:r>
          </a:p>
        </p:txBody>
      </p:sp>
      <p:sp>
        <p:nvSpPr>
          <p:cNvPr id="21" name="TekstniOkvir 20">
            <a:extLst>
              <a:ext uri="{FF2B5EF4-FFF2-40B4-BE49-F238E27FC236}">
                <a16:creationId xmlns:a16="http://schemas.microsoft.com/office/drawing/2014/main" id="{4A2F5C83-0C97-BE91-A7BD-286F191298E4}"/>
              </a:ext>
            </a:extLst>
          </p:cNvPr>
          <p:cNvSpPr txBox="1"/>
          <p:nvPr/>
        </p:nvSpPr>
        <p:spPr>
          <a:xfrm>
            <a:off x="1880794" y="5020231"/>
            <a:ext cx="17134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hr-HR" dirty="0" err="1">
                <a:solidFill>
                  <a:schemeClr val="bg1"/>
                </a:solidFill>
              </a:rPr>
              <a:t>printf</a:t>
            </a:r>
            <a:r>
              <a:rPr lang="hr-HR" dirty="0">
                <a:solidFill>
                  <a:schemeClr val="bg1"/>
                </a:solidFill>
              </a:rPr>
              <a:t>(“</a:t>
            </a:r>
            <a:r>
              <a:rPr lang="hr-HR" dirty="0" err="1">
                <a:solidFill>
                  <a:schemeClr val="bg1"/>
                </a:solidFill>
              </a:rPr>
              <a:t>all</a:t>
            </a:r>
            <a:r>
              <a:rPr lang="hr-HR" dirty="0">
                <a:solidFill>
                  <a:schemeClr val="bg1"/>
                </a:solidFill>
              </a:rPr>
              <a:t> </a:t>
            </a:r>
            <a:r>
              <a:rPr lang="hr-HR" dirty="0" err="1">
                <a:solidFill>
                  <a:schemeClr val="bg1"/>
                </a:solidFill>
              </a:rPr>
              <a:t>done</a:t>
            </a:r>
            <a:r>
              <a:rPr lang="hr-HR" dirty="0">
                <a:solidFill>
                  <a:schemeClr val="bg1"/>
                </a:solidFill>
              </a:rPr>
              <a:t>\n”);</a:t>
            </a:r>
          </a:p>
        </p:txBody>
      </p:sp>
      <p:cxnSp>
        <p:nvCxnSpPr>
          <p:cNvPr id="23" name="Ravni poveznik 22">
            <a:extLst>
              <a:ext uri="{FF2B5EF4-FFF2-40B4-BE49-F238E27FC236}">
                <a16:creationId xmlns:a16="http://schemas.microsoft.com/office/drawing/2014/main" id="{8529A8FC-2F87-1241-5FDF-57F220ACF6B4}"/>
              </a:ext>
            </a:extLst>
          </p:cNvPr>
          <p:cNvCxnSpPr>
            <a:cxnSpLocks/>
            <a:stCxn id="7" idx="0"/>
          </p:cNvCxnSpPr>
          <p:nvPr/>
        </p:nvCxnSpPr>
        <p:spPr>
          <a:xfrm flipH="1" flipV="1">
            <a:off x="2795867" y="2828888"/>
            <a:ext cx="2" cy="446223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Ravni poveznik 24">
            <a:extLst>
              <a:ext uri="{FF2B5EF4-FFF2-40B4-BE49-F238E27FC236}">
                <a16:creationId xmlns:a16="http://schemas.microsoft.com/office/drawing/2014/main" id="{B083F027-C18D-75B4-6F6A-2E36C05295CF}"/>
              </a:ext>
            </a:extLst>
          </p:cNvPr>
          <p:cNvCxnSpPr>
            <a:cxnSpLocks/>
          </p:cNvCxnSpPr>
          <p:nvPr/>
        </p:nvCxnSpPr>
        <p:spPr>
          <a:xfrm flipH="1" flipV="1">
            <a:off x="2796283" y="3559836"/>
            <a:ext cx="1" cy="30034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Ravni poveznik 26">
            <a:extLst>
              <a:ext uri="{FF2B5EF4-FFF2-40B4-BE49-F238E27FC236}">
                <a16:creationId xmlns:a16="http://schemas.microsoft.com/office/drawing/2014/main" id="{5C9EB6BC-DA97-D337-22A0-6BF81489CD24}"/>
              </a:ext>
            </a:extLst>
          </p:cNvPr>
          <p:cNvCxnSpPr>
            <a:cxnSpLocks/>
          </p:cNvCxnSpPr>
          <p:nvPr/>
        </p:nvCxnSpPr>
        <p:spPr>
          <a:xfrm flipH="1" flipV="1">
            <a:off x="2795866" y="4121954"/>
            <a:ext cx="1" cy="30034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Ravni poveznik 27">
            <a:extLst>
              <a:ext uri="{FF2B5EF4-FFF2-40B4-BE49-F238E27FC236}">
                <a16:creationId xmlns:a16="http://schemas.microsoft.com/office/drawing/2014/main" id="{C9AE9D77-29D5-89BC-9EBB-BC0F9C58D235}"/>
              </a:ext>
            </a:extLst>
          </p:cNvPr>
          <p:cNvCxnSpPr>
            <a:cxnSpLocks/>
          </p:cNvCxnSpPr>
          <p:nvPr/>
        </p:nvCxnSpPr>
        <p:spPr>
          <a:xfrm flipH="1" flipV="1">
            <a:off x="2795866" y="4734943"/>
            <a:ext cx="1" cy="30034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Ravni poveznik 28">
            <a:extLst>
              <a:ext uri="{FF2B5EF4-FFF2-40B4-BE49-F238E27FC236}">
                <a16:creationId xmlns:a16="http://schemas.microsoft.com/office/drawing/2014/main" id="{BC35870A-8206-8224-F219-3956A716AC99}"/>
              </a:ext>
            </a:extLst>
          </p:cNvPr>
          <p:cNvCxnSpPr>
            <a:cxnSpLocks/>
          </p:cNvCxnSpPr>
          <p:nvPr/>
        </p:nvCxnSpPr>
        <p:spPr>
          <a:xfrm flipH="1">
            <a:off x="2795866" y="4898042"/>
            <a:ext cx="2812453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Ravni poveznik 31">
            <a:extLst>
              <a:ext uri="{FF2B5EF4-FFF2-40B4-BE49-F238E27FC236}">
                <a16:creationId xmlns:a16="http://schemas.microsoft.com/office/drawing/2014/main" id="{AB7AE6CD-3B89-CBE6-35A2-A934779A547B}"/>
              </a:ext>
            </a:extLst>
          </p:cNvPr>
          <p:cNvCxnSpPr>
            <a:cxnSpLocks/>
          </p:cNvCxnSpPr>
          <p:nvPr/>
        </p:nvCxnSpPr>
        <p:spPr>
          <a:xfrm flipH="1">
            <a:off x="2795866" y="4272127"/>
            <a:ext cx="2751493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Ravni poveznik 34">
            <a:extLst>
              <a:ext uri="{FF2B5EF4-FFF2-40B4-BE49-F238E27FC236}">
                <a16:creationId xmlns:a16="http://schemas.microsoft.com/office/drawing/2014/main" id="{00ABA560-59CC-6DFC-8402-B98FCECA6F0A}"/>
              </a:ext>
            </a:extLst>
          </p:cNvPr>
          <p:cNvCxnSpPr>
            <a:cxnSpLocks/>
          </p:cNvCxnSpPr>
          <p:nvPr/>
        </p:nvCxnSpPr>
        <p:spPr>
          <a:xfrm flipH="1" flipV="1">
            <a:off x="5457169" y="4158987"/>
            <a:ext cx="1" cy="30034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Ravni poveznik 35">
            <a:extLst>
              <a:ext uri="{FF2B5EF4-FFF2-40B4-BE49-F238E27FC236}">
                <a16:creationId xmlns:a16="http://schemas.microsoft.com/office/drawing/2014/main" id="{CFE503F1-23AD-83D6-5790-AC43EB6971B4}"/>
              </a:ext>
            </a:extLst>
          </p:cNvPr>
          <p:cNvCxnSpPr>
            <a:cxnSpLocks/>
          </p:cNvCxnSpPr>
          <p:nvPr/>
        </p:nvCxnSpPr>
        <p:spPr>
          <a:xfrm flipH="1" flipV="1">
            <a:off x="4126516" y="4134565"/>
            <a:ext cx="1" cy="30034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Ravni poveznik 36">
            <a:extLst>
              <a:ext uri="{FF2B5EF4-FFF2-40B4-BE49-F238E27FC236}">
                <a16:creationId xmlns:a16="http://schemas.microsoft.com/office/drawing/2014/main" id="{82EFE6FC-0D27-819D-1392-35A87E7F06D1}"/>
              </a:ext>
            </a:extLst>
          </p:cNvPr>
          <p:cNvCxnSpPr>
            <a:cxnSpLocks/>
          </p:cNvCxnSpPr>
          <p:nvPr/>
        </p:nvCxnSpPr>
        <p:spPr>
          <a:xfrm flipH="1" flipV="1">
            <a:off x="5457169" y="4710086"/>
            <a:ext cx="1" cy="30034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Ravni poveznik 37">
            <a:extLst>
              <a:ext uri="{FF2B5EF4-FFF2-40B4-BE49-F238E27FC236}">
                <a16:creationId xmlns:a16="http://schemas.microsoft.com/office/drawing/2014/main" id="{3E92269C-5906-7DD2-C364-D950E50EF243}"/>
              </a:ext>
            </a:extLst>
          </p:cNvPr>
          <p:cNvCxnSpPr>
            <a:cxnSpLocks/>
          </p:cNvCxnSpPr>
          <p:nvPr/>
        </p:nvCxnSpPr>
        <p:spPr>
          <a:xfrm flipH="1" flipV="1">
            <a:off x="4119106" y="4695840"/>
            <a:ext cx="1" cy="30034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Pravokutnik 41">
            <a:extLst>
              <a:ext uri="{FF2B5EF4-FFF2-40B4-BE49-F238E27FC236}">
                <a16:creationId xmlns:a16="http://schemas.microsoft.com/office/drawing/2014/main" id="{A1269B48-3546-6C24-46F2-57ED6A3C1B26}"/>
              </a:ext>
            </a:extLst>
          </p:cNvPr>
          <p:cNvSpPr/>
          <p:nvPr/>
        </p:nvSpPr>
        <p:spPr>
          <a:xfrm>
            <a:off x="5302592" y="5570762"/>
            <a:ext cx="2204195" cy="8708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r-HR" dirty="0"/>
              <a:t>Niti čekaju ovdje da sve niti završe prije nego što nastave (tzv. barijera)</a:t>
            </a:r>
          </a:p>
        </p:txBody>
      </p:sp>
      <p:cxnSp>
        <p:nvCxnSpPr>
          <p:cNvPr id="44" name="Ravni poveznik sa strelicom 43">
            <a:extLst>
              <a:ext uri="{FF2B5EF4-FFF2-40B4-BE49-F238E27FC236}">
                <a16:creationId xmlns:a16="http://schemas.microsoft.com/office/drawing/2014/main" id="{EA5AF198-0226-75C3-C121-F930BEEF1132}"/>
              </a:ext>
            </a:extLst>
          </p:cNvPr>
          <p:cNvCxnSpPr>
            <a:cxnSpLocks/>
            <a:stCxn id="42" idx="1"/>
          </p:cNvCxnSpPr>
          <p:nvPr/>
        </p:nvCxnSpPr>
        <p:spPr>
          <a:xfrm flipH="1" flipV="1">
            <a:off x="2934789" y="4996187"/>
            <a:ext cx="2367803" cy="1010004"/>
          </a:xfrm>
          <a:prstGeom prst="straightConnector1">
            <a:avLst/>
          </a:prstGeom>
          <a:ln w="190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Pravokutnik 46">
            <a:extLst>
              <a:ext uri="{FF2B5EF4-FFF2-40B4-BE49-F238E27FC236}">
                <a16:creationId xmlns:a16="http://schemas.microsoft.com/office/drawing/2014/main" id="{6F7262DB-238F-D7F1-D0CE-0BE6E0D2377E}"/>
              </a:ext>
            </a:extLst>
          </p:cNvPr>
          <p:cNvSpPr/>
          <p:nvPr/>
        </p:nvSpPr>
        <p:spPr>
          <a:xfrm>
            <a:off x="25868" y="4227168"/>
            <a:ext cx="1854926" cy="6504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r-HR" dirty="0"/>
              <a:t>Jedna kopija niza A dijeli se između svih niti﻿!</a:t>
            </a:r>
          </a:p>
        </p:txBody>
      </p:sp>
    </p:spTree>
    <p:extLst>
      <p:ext uri="{BB962C8B-B14F-4D97-AF65-F5344CB8AC3E}">
        <p14:creationId xmlns:p14="http://schemas.microsoft.com/office/powerpoint/2010/main" val="20691645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/>
      <p:bldP spid="11" grpId="0"/>
      <p:bldP spid="15" grpId="0"/>
      <p:bldP spid="17" grpId="0"/>
      <p:bldP spid="19" grpId="0"/>
      <p:bldP spid="21" grpId="0"/>
      <p:bldP spid="42" grpId="0" animBg="1"/>
      <p:bldP spid="47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>
          <a:extLst>
            <a:ext uri="{FF2B5EF4-FFF2-40B4-BE49-F238E27FC236}">
              <a16:creationId xmlns:a16="http://schemas.microsoft.com/office/drawing/2014/main" id="{F89667C8-CE02-5966-5FB2-5F8FB42B74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42">
            <a:extLst>
              <a:ext uri="{FF2B5EF4-FFF2-40B4-BE49-F238E27FC236}">
                <a16:creationId xmlns:a16="http://schemas.microsoft.com/office/drawing/2014/main" id="{EB782A5F-3B7C-ECE7-C47A-EF9D44BFC886}"/>
              </a:ext>
            </a:extLst>
          </p:cNvPr>
          <p:cNvSpPr txBox="1"/>
          <p:nvPr/>
        </p:nvSpPr>
        <p:spPr>
          <a:xfrm>
            <a:off x="1165320" y="70452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hr-HR" sz="2400" b="1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SPMD vs. </a:t>
            </a:r>
            <a:r>
              <a:rPr lang="hr-HR" sz="2400" b="1" dirty="0" err="1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Work-Sharing</a:t>
            </a:r>
            <a:endParaRPr lang="hr-HR" sz="2400" b="1" dirty="0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183" name="Google Shape;183;p42">
            <a:extLst>
              <a:ext uri="{FF2B5EF4-FFF2-40B4-BE49-F238E27FC236}">
                <a16:creationId xmlns:a16="http://schemas.microsoft.com/office/drawing/2014/main" id="{D71D5A95-A59E-DB65-CF84-B401CF140B8D}"/>
              </a:ext>
            </a:extLst>
          </p:cNvPr>
          <p:cNvSpPr/>
          <p:nvPr/>
        </p:nvSpPr>
        <p:spPr>
          <a:xfrm>
            <a:off x="1058927" y="1333074"/>
            <a:ext cx="7970812" cy="473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sr-Latn-RS" altLang="sr-Latn-RS" sz="1800" b="1" dirty="0" err="1">
                <a:solidFill>
                  <a:schemeClr val="bg1"/>
                </a:solidFill>
                <a:latin typeface="Arial" panose="020B0604020202020204" pitchFamily="34" charset="0"/>
              </a:rPr>
              <a:t>Parallel</a:t>
            </a:r>
            <a:r>
              <a:rPr lang="sr-Latn-RS" altLang="sr-Latn-RS" sz="1800" dirty="0">
                <a:solidFill>
                  <a:schemeClr val="bg1"/>
                </a:solidFill>
                <a:latin typeface="Arial" panose="020B0604020202020204" pitchFamily="34" charset="0"/>
              </a:rPr>
              <a:t> konstrukt sam za sebe stvara "jedan program više podataka" program, odnosno svaka nit izvršava isti kod. 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sr-Latn-RS" altLang="sr-Latn-RS" sz="1800" b="1" dirty="0" err="1">
                <a:solidFill>
                  <a:schemeClr val="bg1"/>
                </a:solidFill>
                <a:latin typeface="Arial" panose="020B0604020202020204" pitchFamily="34" charset="0"/>
              </a:rPr>
              <a:t>Work-sharing</a:t>
            </a:r>
            <a:r>
              <a:rPr lang="sr-Latn-RS" altLang="sr-Latn-RS" sz="1800" dirty="0">
                <a:solidFill>
                  <a:schemeClr val="bg1"/>
                </a:solidFill>
                <a:latin typeface="Arial" panose="020B0604020202020204" pitchFamily="34" charset="0"/>
              </a:rPr>
              <a:t> (</a:t>
            </a:r>
            <a:r>
              <a:rPr lang="sr-Latn-RS" altLang="sr-Latn-RS" sz="1800" dirty="0" err="1">
                <a:solidFill>
                  <a:schemeClr val="bg1"/>
                </a:solidFill>
                <a:latin typeface="Arial" panose="020B0604020202020204" pitchFamily="34" charset="0"/>
              </a:rPr>
              <a:t>dijeljenje</a:t>
            </a:r>
            <a:r>
              <a:rPr lang="sr-Latn-RS" altLang="sr-Latn-RS" sz="1800" dirty="0">
                <a:solidFill>
                  <a:schemeClr val="bg1"/>
                </a:solidFill>
                <a:latin typeface="Arial" panose="020B0604020202020204" pitchFamily="34" charset="0"/>
              </a:rPr>
              <a:t> posla) služi za </a:t>
            </a:r>
            <a:r>
              <a:rPr lang="sr-Latn-RS" altLang="sr-Latn-RS" sz="1800" dirty="0" err="1">
                <a:solidFill>
                  <a:schemeClr val="bg1"/>
                </a:solidFill>
                <a:latin typeface="Arial" panose="020B0604020202020204" pitchFamily="34" charset="0"/>
              </a:rPr>
              <a:t>podjelu</a:t>
            </a:r>
            <a:r>
              <a:rPr lang="sr-Latn-RS" altLang="sr-Latn-RS" sz="1800" dirty="0">
                <a:solidFill>
                  <a:schemeClr val="bg1"/>
                </a:solidFill>
                <a:latin typeface="Arial" panose="020B0604020202020204" pitchFamily="34" charset="0"/>
              </a:rPr>
              <a:t> putanja izvršavanja koda među nitima unutar tima. 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sr-Latn-RS" altLang="sr-Latn-RS" sz="1800" dirty="0">
                <a:solidFill>
                  <a:schemeClr val="bg1"/>
                </a:solidFill>
                <a:latin typeface="Arial" panose="020B0604020202020204" pitchFamily="34" charset="0"/>
              </a:rPr>
              <a:t>Najčešći: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sr-Latn-RS" altLang="sr-Latn-RS" sz="1800" dirty="0">
                <a:solidFill>
                  <a:schemeClr val="bg1"/>
                </a:solidFill>
                <a:latin typeface="Arial" panose="020B0604020202020204" pitchFamily="34" charset="0"/>
              </a:rPr>
              <a:t>   – </a:t>
            </a:r>
            <a:r>
              <a:rPr lang="sr-Latn-RS" altLang="sr-Latn-RS" sz="1800" dirty="0" err="1">
                <a:solidFill>
                  <a:schemeClr val="bg1"/>
                </a:solidFill>
                <a:latin typeface="Arial" panose="020B0604020202020204" pitchFamily="34" charset="0"/>
              </a:rPr>
              <a:t>for</a:t>
            </a:r>
            <a:r>
              <a:rPr lang="sr-Latn-RS" altLang="sr-Latn-RS" sz="1800" dirty="0">
                <a:solidFill>
                  <a:schemeClr val="bg1"/>
                </a:solidFill>
                <a:latin typeface="Arial" panose="020B0604020202020204" pitchFamily="34" charset="0"/>
              </a:rPr>
              <a:t> / do: </a:t>
            </a:r>
            <a:r>
              <a:rPr lang="sr-Latn-RS" altLang="sr-Latn-RS" sz="1800" dirty="0" err="1">
                <a:solidFill>
                  <a:schemeClr val="bg1"/>
                </a:solidFill>
                <a:latin typeface="Arial" panose="020B0604020202020204" pitchFamily="34" charset="0"/>
              </a:rPr>
              <a:t>paralelizacija</a:t>
            </a:r>
            <a:r>
              <a:rPr lang="sr-Latn-RS" altLang="sr-Latn-RS" sz="1800" dirty="0">
                <a:solidFill>
                  <a:schemeClr val="bg1"/>
                </a:solidFill>
                <a:latin typeface="Arial" panose="020B0604020202020204" pitchFamily="34" charset="0"/>
              </a:rPr>
              <a:t> petlji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sr-Latn-RS" altLang="sr-Latn-RS" sz="1800" dirty="0">
                <a:solidFill>
                  <a:schemeClr val="bg1"/>
                </a:solidFill>
                <a:latin typeface="Arial" panose="020B0604020202020204" pitchFamily="34" charset="0"/>
              </a:rPr>
              <a:t>   – </a:t>
            </a:r>
            <a:r>
              <a:rPr lang="sr-Latn-RS" altLang="sr-Latn-RS" sz="1800" dirty="0" err="1">
                <a:solidFill>
                  <a:schemeClr val="bg1"/>
                </a:solidFill>
                <a:latin typeface="Arial" panose="020B0604020202020204" pitchFamily="34" charset="0"/>
              </a:rPr>
              <a:t>sections</a:t>
            </a:r>
            <a:r>
              <a:rPr lang="sr-Latn-RS" altLang="sr-Latn-RS" sz="1800" dirty="0">
                <a:solidFill>
                  <a:schemeClr val="bg1"/>
                </a:solidFill>
                <a:latin typeface="Arial" panose="020B0604020202020204" pitchFamily="34" charset="0"/>
              </a:rPr>
              <a:t> / </a:t>
            </a:r>
            <a:r>
              <a:rPr lang="sr-Latn-RS" altLang="sr-Latn-RS" sz="1800" dirty="0" err="1">
                <a:solidFill>
                  <a:schemeClr val="bg1"/>
                </a:solidFill>
                <a:latin typeface="Arial" panose="020B0604020202020204" pitchFamily="34" charset="0"/>
              </a:rPr>
              <a:t>section</a:t>
            </a:r>
            <a:r>
              <a:rPr lang="sr-Latn-RS" altLang="sr-Latn-RS" sz="1800" dirty="0">
                <a:solidFill>
                  <a:schemeClr val="bg1"/>
                </a:solidFill>
                <a:latin typeface="Arial" panose="020B0604020202020204" pitchFamily="34" charset="0"/>
              </a:rPr>
              <a:t>: različiti zadaci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sr-Latn-RS" altLang="sr-Latn-RS" sz="1800" dirty="0">
                <a:solidFill>
                  <a:schemeClr val="bg1"/>
                </a:solidFill>
                <a:latin typeface="Arial" panose="020B0604020202020204" pitchFamily="34" charset="0"/>
              </a:rPr>
              <a:t>   – single: izvršava samo jedna nit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sr-Latn-RS" altLang="sr-Latn-RS" sz="1800" dirty="0">
                <a:solidFill>
                  <a:schemeClr val="bg1"/>
                </a:solidFill>
                <a:latin typeface="Arial" panose="020B0604020202020204" pitchFamily="34" charset="0"/>
              </a:rPr>
              <a:t>• Ne stvaraju nove niti – koriste postojeće.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sr-Latn-RS" altLang="sr-Latn-RS" sz="18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hr-HR" sz="1800" b="1" dirty="0">
              <a:solidFill>
                <a:schemeClr val="bg1"/>
              </a:solidFill>
              <a:latin typeface="Quicksand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332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>
          <a:extLst>
            <a:ext uri="{FF2B5EF4-FFF2-40B4-BE49-F238E27FC236}">
              <a16:creationId xmlns:a16="http://schemas.microsoft.com/office/drawing/2014/main" id="{DC18BC35-B826-B675-5177-1D4D05B5AE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42">
            <a:extLst>
              <a:ext uri="{FF2B5EF4-FFF2-40B4-BE49-F238E27FC236}">
                <a16:creationId xmlns:a16="http://schemas.microsoft.com/office/drawing/2014/main" id="{D67683A6-0290-7BD9-4E61-642EA279F0F1}"/>
              </a:ext>
            </a:extLst>
          </p:cNvPr>
          <p:cNvSpPr txBox="1"/>
          <p:nvPr/>
        </p:nvSpPr>
        <p:spPr>
          <a:xfrm>
            <a:off x="1165320" y="70452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hr-HR" sz="2400" b="1" dirty="0" err="1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Paralelizacija</a:t>
            </a:r>
            <a:r>
              <a:rPr lang="hr-HR" sz="2400" b="1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 petlji – primjer </a:t>
            </a:r>
            <a:r>
              <a:rPr lang="hr-HR" sz="2400" b="1" dirty="0" err="1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work-sharing</a:t>
            </a:r>
            <a:endParaRPr lang="hr-HR" sz="2400" b="1" dirty="0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183" name="Google Shape;183;p42">
            <a:extLst>
              <a:ext uri="{FF2B5EF4-FFF2-40B4-BE49-F238E27FC236}">
                <a16:creationId xmlns:a16="http://schemas.microsoft.com/office/drawing/2014/main" id="{B784EFCF-8C27-3855-1118-A9599BD93594}"/>
              </a:ext>
            </a:extLst>
          </p:cNvPr>
          <p:cNvSpPr/>
          <p:nvPr/>
        </p:nvSpPr>
        <p:spPr>
          <a:xfrm>
            <a:off x="1058927" y="1333074"/>
            <a:ext cx="7970812" cy="473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nn-NO" sz="1800" dirty="0">
                <a:solidFill>
                  <a:schemeClr val="bg1"/>
                </a:solidFill>
                <a:latin typeface="Consolas" panose="020B0609020204030204" pitchFamily="49" charset="0"/>
              </a:rPr>
              <a:t>#pragma omp parallel for</a:t>
            </a:r>
          </a:p>
          <a:p>
            <a:r>
              <a:rPr lang="nn-NO" sz="1800" dirty="0">
                <a:solidFill>
                  <a:schemeClr val="bg1"/>
                </a:solidFill>
                <a:latin typeface="Consolas" panose="020B0609020204030204" pitchFamily="49" charset="0"/>
              </a:rPr>
              <a:t>for (int i = 0; i &lt; N; i++) {</a:t>
            </a:r>
          </a:p>
          <a:p>
            <a:r>
              <a:rPr lang="nn-NO" sz="1800" dirty="0">
                <a:solidFill>
                  <a:schemeClr val="bg1"/>
                </a:solidFill>
                <a:latin typeface="Consolas" panose="020B0609020204030204" pitchFamily="49" charset="0"/>
              </a:rPr>
              <a:t>    C[i] = A[i] + B[i];</a:t>
            </a:r>
          </a:p>
          <a:p>
            <a:r>
              <a:rPr lang="nn-NO" sz="1800" dirty="0">
                <a:solidFill>
                  <a:schemeClr val="bg1"/>
                </a:solidFill>
                <a:latin typeface="Consolas" panose="020B0609020204030204" pitchFamily="49" charset="0"/>
              </a:rPr>
              <a:t>}</a:t>
            </a:r>
            <a:endParaRPr lang="hr-HR" sz="18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endParaRPr lang="hr-HR" sz="18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endParaRPr lang="hr-HR" sz="18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nn-NO" sz="1800" b="1" dirty="0">
                <a:solidFill>
                  <a:schemeClr val="bg1"/>
                </a:solidFill>
                <a:latin typeface="Quicksand" panose="020B0604020202020204" charset="0"/>
              </a:rPr>
              <a:t>Ova direktiva je zapravo kombinacija dva koncepta:</a:t>
            </a:r>
            <a:endParaRPr lang="hr-HR" sz="1800" b="1" dirty="0">
              <a:solidFill>
                <a:schemeClr val="bg1"/>
              </a:solidFill>
              <a:latin typeface="Quicksand" panose="020B0604020202020204" charset="0"/>
            </a:endParaRP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nn-NO" sz="1800" b="1" dirty="0">
                <a:solidFill>
                  <a:schemeClr val="bg1"/>
                </a:solidFill>
                <a:latin typeface="Quicksand" panose="020B0604020202020204" charset="0"/>
              </a:rPr>
              <a:t>parallel - kreira tim niti (SPMD dio)</a:t>
            </a:r>
            <a:endParaRPr lang="hr-HR" sz="1800" b="1" dirty="0">
              <a:solidFill>
                <a:schemeClr val="bg1"/>
              </a:solidFill>
              <a:latin typeface="Quicksand" panose="020B0604020202020204" charset="0"/>
            </a:endParaRP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nn-NO" sz="1800" b="1" dirty="0">
                <a:solidFill>
                  <a:schemeClr val="bg1"/>
                </a:solidFill>
                <a:latin typeface="Quicksand" panose="020B0604020202020204" charset="0"/>
              </a:rPr>
              <a:t>for - work-sharing konstrukt koji dijeli iteracije petlje između niti</a:t>
            </a:r>
            <a:endParaRPr lang="hr-HR" sz="1800" b="1" dirty="0">
              <a:solidFill>
                <a:schemeClr val="bg1"/>
              </a:solidFill>
              <a:latin typeface="Quicksand" panose="020B0604020202020204" charset="0"/>
            </a:endParaRP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hr-HR" sz="1800" b="1" dirty="0">
              <a:solidFill>
                <a:schemeClr val="bg1"/>
              </a:solidFill>
              <a:latin typeface="Quicksand" panose="020B0604020202020204" charset="0"/>
            </a:endParaRPr>
          </a:p>
          <a:p>
            <a:pPr>
              <a:buClr>
                <a:schemeClr val="bg1"/>
              </a:buClr>
            </a:pPr>
            <a:r>
              <a:rPr lang="en-GB" sz="1800" b="1" dirty="0" err="1">
                <a:solidFill>
                  <a:schemeClr val="bg1"/>
                </a:solidFill>
                <a:latin typeface="Quicksand" panose="020B0604020202020204" charset="0"/>
              </a:rPr>
              <a:t>Primjer</a:t>
            </a:r>
            <a:r>
              <a:rPr lang="en-GB" sz="1800" b="1" dirty="0">
                <a:solidFill>
                  <a:schemeClr val="bg1"/>
                </a:solidFill>
                <a:latin typeface="Quicksand" panose="020B0604020202020204" charset="0"/>
              </a:rPr>
              <a:t> s 4 </a:t>
            </a:r>
            <a:r>
              <a:rPr lang="en-GB" sz="1800" b="1" dirty="0" err="1">
                <a:solidFill>
                  <a:schemeClr val="bg1"/>
                </a:solidFill>
                <a:latin typeface="Quicksand" panose="020B0604020202020204" charset="0"/>
              </a:rPr>
              <a:t>niti</a:t>
            </a:r>
            <a:r>
              <a:rPr lang="en-GB" sz="1800" b="1" dirty="0">
                <a:solidFill>
                  <a:schemeClr val="bg1"/>
                </a:solidFill>
                <a:latin typeface="Quicksand" panose="020B0604020202020204" charset="0"/>
              </a:rPr>
              <a:t> </a:t>
            </a:r>
            <a:r>
              <a:rPr lang="en-GB" sz="1800" b="1" dirty="0" err="1">
                <a:solidFill>
                  <a:schemeClr val="bg1"/>
                </a:solidFill>
                <a:latin typeface="Quicksand" panose="020B0604020202020204" charset="0"/>
              </a:rPr>
              <a:t>i</a:t>
            </a:r>
            <a:r>
              <a:rPr lang="en-GB" sz="1800" b="1" dirty="0">
                <a:solidFill>
                  <a:schemeClr val="bg1"/>
                </a:solidFill>
                <a:latin typeface="Quicksand" panose="020B0604020202020204" charset="0"/>
              </a:rPr>
              <a:t> N=16:</a:t>
            </a:r>
            <a:endParaRPr lang="hr-HR" sz="1800" b="1" dirty="0">
              <a:solidFill>
                <a:schemeClr val="bg1"/>
              </a:solidFill>
              <a:latin typeface="Quicksand" panose="020B0604020202020204" charset="0"/>
            </a:endParaRPr>
          </a:p>
          <a:p>
            <a:pPr>
              <a:buClr>
                <a:schemeClr val="bg1"/>
              </a:buClr>
            </a:pPr>
            <a:r>
              <a:rPr lang="en-GB" sz="1800" b="1" dirty="0">
                <a:solidFill>
                  <a:schemeClr val="bg1"/>
                </a:solidFill>
                <a:latin typeface="Quicksand" panose="020B0604020202020204" charset="0"/>
              </a:rPr>
              <a:t>Thread 0: </a:t>
            </a:r>
            <a:r>
              <a:rPr lang="en-GB" sz="1800" b="1" dirty="0" err="1">
                <a:solidFill>
                  <a:schemeClr val="bg1"/>
                </a:solidFill>
                <a:latin typeface="Quicksand" panose="020B0604020202020204" charset="0"/>
              </a:rPr>
              <a:t>i</a:t>
            </a:r>
            <a:r>
              <a:rPr lang="en-GB" sz="1800" b="1" dirty="0">
                <a:solidFill>
                  <a:schemeClr val="bg1"/>
                </a:solidFill>
                <a:latin typeface="Quicksand" panose="020B0604020202020204" charset="0"/>
              </a:rPr>
              <a:t> = 0, 1, 2, 3</a:t>
            </a:r>
            <a:endParaRPr lang="hr-HR" sz="1800" b="1" dirty="0">
              <a:solidFill>
                <a:schemeClr val="bg1"/>
              </a:solidFill>
              <a:latin typeface="Quicksand" panose="020B0604020202020204" charset="0"/>
            </a:endParaRPr>
          </a:p>
          <a:p>
            <a:pPr>
              <a:buClr>
                <a:schemeClr val="bg1"/>
              </a:buClr>
            </a:pPr>
            <a:r>
              <a:rPr lang="en-GB" sz="1800" b="1" dirty="0">
                <a:solidFill>
                  <a:schemeClr val="bg1"/>
                </a:solidFill>
                <a:latin typeface="Quicksand" panose="020B0604020202020204" charset="0"/>
              </a:rPr>
              <a:t>Thread 1: </a:t>
            </a:r>
            <a:r>
              <a:rPr lang="en-GB" sz="1800" b="1" dirty="0" err="1">
                <a:solidFill>
                  <a:schemeClr val="bg1"/>
                </a:solidFill>
                <a:latin typeface="Quicksand" panose="020B0604020202020204" charset="0"/>
              </a:rPr>
              <a:t>i</a:t>
            </a:r>
            <a:r>
              <a:rPr lang="en-GB" sz="1800" b="1" dirty="0">
                <a:solidFill>
                  <a:schemeClr val="bg1"/>
                </a:solidFill>
                <a:latin typeface="Quicksand" panose="020B0604020202020204" charset="0"/>
              </a:rPr>
              <a:t> = 4, 5, 6, 7</a:t>
            </a:r>
            <a:endParaRPr lang="hr-HR" sz="1800" b="1" dirty="0">
              <a:solidFill>
                <a:schemeClr val="bg1"/>
              </a:solidFill>
              <a:latin typeface="Quicksand" panose="020B0604020202020204" charset="0"/>
            </a:endParaRPr>
          </a:p>
          <a:p>
            <a:pPr>
              <a:buClr>
                <a:schemeClr val="bg1"/>
              </a:buClr>
            </a:pPr>
            <a:r>
              <a:rPr lang="en-GB" sz="1800" b="1" dirty="0">
                <a:solidFill>
                  <a:schemeClr val="bg1"/>
                </a:solidFill>
                <a:latin typeface="Quicksand" panose="020B0604020202020204" charset="0"/>
              </a:rPr>
              <a:t>Thread 2: </a:t>
            </a:r>
            <a:r>
              <a:rPr lang="en-GB" sz="1800" b="1" dirty="0" err="1">
                <a:solidFill>
                  <a:schemeClr val="bg1"/>
                </a:solidFill>
                <a:latin typeface="Quicksand" panose="020B0604020202020204" charset="0"/>
              </a:rPr>
              <a:t>i</a:t>
            </a:r>
            <a:r>
              <a:rPr lang="en-GB" sz="1800" b="1" dirty="0">
                <a:solidFill>
                  <a:schemeClr val="bg1"/>
                </a:solidFill>
                <a:latin typeface="Quicksand" panose="020B0604020202020204" charset="0"/>
              </a:rPr>
              <a:t> = 8, 9, 10, 11</a:t>
            </a:r>
            <a:endParaRPr lang="hr-HR" sz="1800" b="1" dirty="0">
              <a:solidFill>
                <a:schemeClr val="bg1"/>
              </a:solidFill>
              <a:latin typeface="Quicksand" panose="020B0604020202020204" charset="0"/>
            </a:endParaRPr>
          </a:p>
          <a:p>
            <a:pPr>
              <a:buClr>
                <a:schemeClr val="bg1"/>
              </a:buClr>
            </a:pPr>
            <a:r>
              <a:rPr lang="en-GB" sz="1800" b="1" dirty="0">
                <a:solidFill>
                  <a:schemeClr val="bg1"/>
                </a:solidFill>
                <a:latin typeface="Quicksand" panose="020B0604020202020204" charset="0"/>
              </a:rPr>
              <a:t>Thread 3: </a:t>
            </a:r>
            <a:r>
              <a:rPr lang="en-GB" sz="1800" b="1" dirty="0" err="1">
                <a:solidFill>
                  <a:schemeClr val="bg1"/>
                </a:solidFill>
                <a:latin typeface="Quicksand" panose="020B0604020202020204" charset="0"/>
              </a:rPr>
              <a:t>i</a:t>
            </a:r>
            <a:r>
              <a:rPr lang="en-GB" sz="1800" b="1" dirty="0">
                <a:solidFill>
                  <a:schemeClr val="bg1"/>
                </a:solidFill>
                <a:latin typeface="Quicksand" panose="020B0604020202020204" charset="0"/>
              </a:rPr>
              <a:t> = 12, 13, 14, 15</a:t>
            </a:r>
            <a:endParaRPr lang="hr-HR" sz="1800" b="1" dirty="0">
              <a:solidFill>
                <a:schemeClr val="bg1"/>
              </a:solidFill>
              <a:latin typeface="Quicksand" panose="020B0604020202020204" charset="0"/>
            </a:endParaRPr>
          </a:p>
          <a:p>
            <a:pPr>
              <a:buClr>
                <a:schemeClr val="bg1"/>
              </a:buClr>
            </a:pPr>
            <a:endParaRPr lang="hr-HR" sz="1800" b="1" dirty="0">
              <a:solidFill>
                <a:schemeClr val="bg1"/>
              </a:solidFill>
              <a:latin typeface="Quicksand" panose="020B0604020202020204" charset="0"/>
            </a:endParaRPr>
          </a:p>
          <a:p>
            <a:pPr>
              <a:buClr>
                <a:schemeClr val="bg1"/>
              </a:buClr>
            </a:pPr>
            <a:endParaRPr lang="nn-NO" sz="1800" b="1" dirty="0">
              <a:solidFill>
                <a:schemeClr val="bg1"/>
              </a:solidFill>
              <a:latin typeface="Quicksand" panose="020B0604020202020204" charset="0"/>
            </a:endParaRPr>
          </a:p>
        </p:txBody>
      </p:sp>
      <p:sp>
        <p:nvSpPr>
          <p:cNvPr id="3" name="TekstniOkvir 2">
            <a:extLst>
              <a:ext uri="{FF2B5EF4-FFF2-40B4-BE49-F238E27FC236}">
                <a16:creationId xmlns:a16="http://schemas.microsoft.com/office/drawing/2014/main" id="{BC3DEFC3-99D8-ECC2-89AD-62B324BBDEE6}"/>
              </a:ext>
            </a:extLst>
          </p:cNvPr>
          <p:cNvSpPr txBox="1"/>
          <p:nvPr/>
        </p:nvSpPr>
        <p:spPr>
          <a:xfrm>
            <a:off x="5329645" y="1042320"/>
            <a:ext cx="3700094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n-NO" sz="1600" dirty="0">
                <a:solidFill>
                  <a:schemeClr val="bg1"/>
                </a:solidFill>
                <a:latin typeface="Consolas" panose="020B0609020204030204" pitchFamily="49" charset="0"/>
              </a:rPr>
              <a:t>#pragma omp parallel </a:t>
            </a:r>
            <a:endParaRPr lang="hr-HR" sz="16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hr-HR" sz="1600" dirty="0">
                <a:solidFill>
                  <a:schemeClr val="bg1"/>
                </a:solidFill>
                <a:latin typeface="Consolas" panose="020B0609020204030204" pitchFamily="49" charset="0"/>
              </a:rPr>
              <a:t>{</a:t>
            </a:r>
          </a:p>
          <a:p>
            <a:pPr lvl="1"/>
            <a:r>
              <a:rPr lang="hr-HR" sz="1600" dirty="0">
                <a:solidFill>
                  <a:schemeClr val="bg1"/>
                </a:solidFill>
                <a:latin typeface="Consolas" panose="020B0609020204030204" pitchFamily="49" charset="0"/>
              </a:rPr>
              <a:t>  #pragma </a:t>
            </a:r>
            <a:r>
              <a:rPr lang="hr-HR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omp</a:t>
            </a:r>
            <a:r>
              <a:rPr lang="hr-HR" sz="16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nn-NO" sz="1600" dirty="0">
                <a:solidFill>
                  <a:schemeClr val="bg1"/>
                </a:solidFill>
                <a:latin typeface="Consolas" panose="020B0609020204030204" pitchFamily="49" charset="0"/>
              </a:rPr>
              <a:t>for</a:t>
            </a:r>
          </a:p>
          <a:p>
            <a:pPr lvl="1"/>
            <a:r>
              <a:rPr lang="hr-HR" sz="1600" dirty="0">
                <a:solidFill>
                  <a:schemeClr val="bg1"/>
                </a:solidFill>
                <a:latin typeface="Consolas" panose="020B0609020204030204" pitchFamily="49" charset="0"/>
              </a:rPr>
              <a:t>  </a:t>
            </a:r>
            <a:r>
              <a:rPr lang="nn-NO" sz="1600" dirty="0">
                <a:solidFill>
                  <a:schemeClr val="bg1"/>
                </a:solidFill>
                <a:latin typeface="Consolas" panose="020B0609020204030204" pitchFamily="49" charset="0"/>
              </a:rPr>
              <a:t>for (int i = 0; i &lt; N; i++) {</a:t>
            </a:r>
          </a:p>
          <a:p>
            <a:pPr lvl="1"/>
            <a:r>
              <a:rPr lang="nn-NO" sz="16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hr-HR" sz="1600" dirty="0">
                <a:solidFill>
                  <a:schemeClr val="bg1"/>
                </a:solidFill>
                <a:latin typeface="Consolas" panose="020B0609020204030204" pitchFamily="49" charset="0"/>
              </a:rPr>
              <a:t>  </a:t>
            </a:r>
            <a:r>
              <a:rPr lang="nn-NO" sz="1600" dirty="0">
                <a:solidFill>
                  <a:schemeClr val="bg1"/>
                </a:solidFill>
                <a:latin typeface="Consolas" panose="020B0609020204030204" pitchFamily="49" charset="0"/>
              </a:rPr>
              <a:t>C[i] = A[i] + B[i];</a:t>
            </a:r>
          </a:p>
          <a:p>
            <a:pPr lvl="1"/>
            <a:r>
              <a:rPr lang="hr-HR" sz="1600" dirty="0">
                <a:solidFill>
                  <a:schemeClr val="bg1"/>
                </a:solidFill>
                <a:latin typeface="Consolas" panose="020B0609020204030204" pitchFamily="49" charset="0"/>
              </a:rPr>
              <a:t>  </a:t>
            </a:r>
            <a:r>
              <a:rPr lang="nn-NO" sz="1600" dirty="0">
                <a:solidFill>
                  <a:schemeClr val="bg1"/>
                </a:solidFill>
                <a:latin typeface="Consolas" panose="020B0609020204030204" pitchFamily="49" charset="0"/>
              </a:rPr>
              <a:t>}</a:t>
            </a:r>
            <a:endParaRPr lang="hr-HR" sz="16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hr-HR" sz="1600" dirty="0">
                <a:solidFill>
                  <a:schemeClr val="bg1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4" name="TekstniOkvir 3">
            <a:extLst>
              <a:ext uri="{FF2B5EF4-FFF2-40B4-BE49-F238E27FC236}">
                <a16:creationId xmlns:a16="http://schemas.microsoft.com/office/drawing/2014/main" id="{AE0F9DE4-F764-42C7-1F57-C9C6BA1FC88E}"/>
              </a:ext>
            </a:extLst>
          </p:cNvPr>
          <p:cNvSpPr txBox="1"/>
          <p:nvPr/>
        </p:nvSpPr>
        <p:spPr>
          <a:xfrm>
            <a:off x="4877460" y="1750206"/>
            <a:ext cx="3337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r-HR" sz="2000" b="1" dirty="0">
                <a:solidFill>
                  <a:schemeClr val="bg1"/>
                </a:solidFill>
              </a:rPr>
              <a:t>=</a:t>
            </a:r>
          </a:p>
        </p:txBody>
      </p:sp>
      <p:sp>
        <p:nvSpPr>
          <p:cNvPr id="6" name="TekstniOkvir 5">
            <a:extLst>
              <a:ext uri="{FF2B5EF4-FFF2-40B4-BE49-F238E27FC236}">
                <a16:creationId xmlns:a16="http://schemas.microsoft.com/office/drawing/2014/main" id="{52E9A2B8-9F9C-AE03-ABE8-55EE760147E5}"/>
              </a:ext>
            </a:extLst>
          </p:cNvPr>
          <p:cNvSpPr txBox="1"/>
          <p:nvPr/>
        </p:nvSpPr>
        <p:spPr>
          <a:xfrm>
            <a:off x="4219303" y="4139931"/>
            <a:ext cx="4572000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r-HR" sz="1600" b="1" dirty="0">
                <a:solidFill>
                  <a:schemeClr val="bg1"/>
                </a:solidFill>
              </a:rPr>
              <a:t>Osnovni pristup za rad s petljama:</a:t>
            </a:r>
            <a:endParaRPr lang="hr-HR" sz="1600" dirty="0">
              <a:solidFill>
                <a:schemeClr val="bg1"/>
              </a:solidFill>
            </a:endParaRP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hr-HR" sz="1600" dirty="0">
                <a:solidFill>
                  <a:schemeClr val="bg1"/>
                </a:solidFill>
              </a:rPr>
              <a:t>Pronađite računski zahtjevne petlje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hr-HR" sz="1600" dirty="0">
                <a:solidFill>
                  <a:schemeClr val="bg1"/>
                </a:solidFill>
              </a:rPr>
              <a:t>Učinite iteracije petlje neovisnim... tako da se mogu sigurno izvršavati bilo kojim redoslijedom bez međuovisnosti između iteracija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hr-HR" sz="1600" dirty="0">
                <a:solidFill>
                  <a:schemeClr val="bg1"/>
                </a:solidFill>
              </a:rPr>
              <a:t>Postavite odgovarajuću </a:t>
            </a:r>
            <a:r>
              <a:rPr lang="hr-HR" sz="1600" dirty="0" err="1">
                <a:solidFill>
                  <a:schemeClr val="bg1"/>
                </a:solidFill>
              </a:rPr>
              <a:t>OpenMP</a:t>
            </a:r>
            <a:r>
              <a:rPr lang="hr-HR" sz="1600" dirty="0">
                <a:solidFill>
                  <a:schemeClr val="bg1"/>
                </a:solidFill>
              </a:rPr>
              <a:t> direktivu i testirajte</a:t>
            </a:r>
          </a:p>
        </p:txBody>
      </p:sp>
    </p:spTree>
    <p:extLst>
      <p:ext uri="{BB962C8B-B14F-4D97-AF65-F5344CB8AC3E}">
        <p14:creationId xmlns:p14="http://schemas.microsoft.com/office/powerpoint/2010/main" val="27619405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>
          <a:extLst>
            <a:ext uri="{FF2B5EF4-FFF2-40B4-BE49-F238E27FC236}">
              <a16:creationId xmlns:a16="http://schemas.microsoft.com/office/drawing/2014/main" id="{829645F5-C706-7E3C-7235-503504FEF0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42">
            <a:extLst>
              <a:ext uri="{FF2B5EF4-FFF2-40B4-BE49-F238E27FC236}">
                <a16:creationId xmlns:a16="http://schemas.microsoft.com/office/drawing/2014/main" id="{14A684E3-5895-DFCB-E653-E49B5F04E4C2}"/>
              </a:ext>
            </a:extLst>
          </p:cNvPr>
          <p:cNvSpPr txBox="1"/>
          <p:nvPr/>
        </p:nvSpPr>
        <p:spPr>
          <a:xfrm>
            <a:off x="1165320" y="70452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hr-HR" sz="2400" b="1" dirty="0" err="1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Reduction</a:t>
            </a:r>
            <a:endParaRPr lang="hr-HR" sz="2400" b="1" dirty="0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183" name="Google Shape;183;p42">
            <a:extLst>
              <a:ext uri="{FF2B5EF4-FFF2-40B4-BE49-F238E27FC236}">
                <a16:creationId xmlns:a16="http://schemas.microsoft.com/office/drawing/2014/main" id="{D88C1E8C-75E4-68CA-93D1-4FF9269512B7}"/>
              </a:ext>
            </a:extLst>
          </p:cNvPr>
          <p:cNvSpPr/>
          <p:nvPr/>
        </p:nvSpPr>
        <p:spPr>
          <a:xfrm>
            <a:off x="1058927" y="1333074"/>
            <a:ext cx="7970812" cy="473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hr-HR" sz="1800" b="1" dirty="0" err="1">
                <a:solidFill>
                  <a:schemeClr val="bg1"/>
                </a:solidFill>
                <a:latin typeface="Quicksand" panose="020B0604020202020204" charset="0"/>
              </a:rPr>
              <a:t>Reduction</a:t>
            </a:r>
            <a:r>
              <a:rPr lang="hr-HR" sz="1800" b="1" dirty="0">
                <a:solidFill>
                  <a:schemeClr val="bg1"/>
                </a:solidFill>
                <a:latin typeface="Quicksand" panose="020B0604020202020204" charset="0"/>
              </a:rPr>
              <a:t> je operacija gdje se vrijednosti iz više izvora kombiniraju u jedan rezultat korištenjem asocijativne operacije (npr. +, *, min, </a:t>
            </a:r>
            <a:r>
              <a:rPr lang="hr-HR" sz="1800" b="1" dirty="0" err="1">
                <a:solidFill>
                  <a:schemeClr val="bg1"/>
                </a:solidFill>
                <a:latin typeface="Quicksand" panose="020B0604020202020204" charset="0"/>
              </a:rPr>
              <a:t>max</a:t>
            </a:r>
            <a:r>
              <a:rPr lang="hr-HR" sz="1800" b="1" dirty="0">
                <a:solidFill>
                  <a:schemeClr val="bg1"/>
                </a:solidFill>
                <a:latin typeface="Quicksand" panose="020B0604020202020204" charset="0"/>
              </a:rPr>
              <a:t>).</a:t>
            </a:r>
          </a:p>
          <a:p>
            <a:endParaRPr lang="hr-HR" sz="1800" b="1" dirty="0">
              <a:solidFill>
                <a:schemeClr val="bg1"/>
              </a:solidFill>
              <a:latin typeface="Quicksand" panose="020B0604020202020204" charset="0"/>
            </a:endParaRPr>
          </a:p>
          <a:p>
            <a:endParaRPr lang="hr-HR" sz="1800" b="1" dirty="0">
              <a:solidFill>
                <a:schemeClr val="bg1"/>
              </a:solidFill>
              <a:latin typeface="Quicksand" panose="020B0604020202020204" charset="0"/>
            </a:endParaRPr>
          </a:p>
          <a:p>
            <a:r>
              <a:rPr lang="nn-NO" sz="1800" b="1" dirty="0">
                <a:solidFill>
                  <a:schemeClr val="bg1"/>
                </a:solidFill>
                <a:latin typeface="Quicksand" panose="020B0604020202020204" charset="0"/>
              </a:rPr>
              <a:t>Kako riješiti ovaj slučaj?</a:t>
            </a:r>
            <a:endParaRPr lang="hr-HR" sz="1800" b="1" dirty="0">
              <a:solidFill>
                <a:schemeClr val="bg1"/>
              </a:solidFill>
              <a:latin typeface="Quicksand" panose="020B0604020202020204" charset="0"/>
            </a:endParaRPr>
          </a:p>
          <a:p>
            <a:r>
              <a:rPr lang="en-GB" sz="1800" dirty="0">
                <a:solidFill>
                  <a:schemeClr val="bg1"/>
                </a:solidFill>
                <a:latin typeface="Consolas" panose="020B0609020204030204" pitchFamily="49" charset="0"/>
              </a:rPr>
              <a:t>double sum = 0.0;</a:t>
            </a:r>
          </a:p>
          <a:p>
            <a:r>
              <a:rPr lang="en-GB" sz="1800" dirty="0">
                <a:solidFill>
                  <a:schemeClr val="bg1"/>
                </a:solidFill>
                <a:latin typeface="Consolas" panose="020B0609020204030204" pitchFamily="49" charset="0"/>
              </a:rPr>
              <a:t>#pragma </a:t>
            </a:r>
            <a:r>
              <a:rPr lang="en-GB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omp</a:t>
            </a:r>
            <a:r>
              <a:rPr lang="en-GB" sz="1800" dirty="0">
                <a:solidFill>
                  <a:schemeClr val="bg1"/>
                </a:solidFill>
                <a:latin typeface="Consolas" panose="020B0609020204030204" pitchFamily="49" charset="0"/>
              </a:rPr>
              <a:t> parallel for</a:t>
            </a:r>
          </a:p>
          <a:p>
            <a:r>
              <a:rPr lang="en-GB" sz="1800" dirty="0">
                <a:solidFill>
                  <a:schemeClr val="bg1"/>
                </a:solidFill>
                <a:latin typeface="Consolas" panose="020B0609020204030204" pitchFamily="49" charset="0"/>
              </a:rPr>
              <a:t>for(int </a:t>
            </a:r>
            <a:r>
              <a:rPr lang="en-GB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i</a:t>
            </a:r>
            <a:r>
              <a:rPr lang="en-GB" sz="1800" dirty="0">
                <a:solidFill>
                  <a:schemeClr val="bg1"/>
                </a:solidFill>
                <a:latin typeface="Consolas" panose="020B0609020204030204" pitchFamily="49" charset="0"/>
              </a:rPr>
              <a:t> = 0; </a:t>
            </a:r>
            <a:r>
              <a:rPr lang="en-GB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i</a:t>
            </a:r>
            <a:r>
              <a:rPr lang="en-GB" sz="1800" dirty="0">
                <a:solidFill>
                  <a:schemeClr val="bg1"/>
                </a:solidFill>
                <a:latin typeface="Consolas" panose="020B0609020204030204" pitchFamily="49" charset="0"/>
              </a:rPr>
              <a:t> &lt; N; </a:t>
            </a:r>
            <a:r>
              <a:rPr lang="en-GB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i</a:t>
            </a:r>
            <a:r>
              <a:rPr lang="en-GB" sz="1800" dirty="0">
                <a:solidFill>
                  <a:schemeClr val="bg1"/>
                </a:solidFill>
                <a:latin typeface="Consolas" panose="020B0609020204030204" pitchFamily="49" charset="0"/>
              </a:rPr>
              <a:t>++) {</a:t>
            </a:r>
          </a:p>
          <a:p>
            <a:r>
              <a:rPr lang="en-GB" sz="1800" dirty="0">
                <a:solidFill>
                  <a:schemeClr val="bg1"/>
                </a:solidFill>
                <a:latin typeface="Consolas" panose="020B0609020204030204" pitchFamily="49" charset="0"/>
              </a:rPr>
              <a:t>    sum += A[</a:t>
            </a:r>
            <a:r>
              <a:rPr lang="en-GB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i</a:t>
            </a:r>
            <a:r>
              <a:rPr lang="en-GB" sz="1800" dirty="0">
                <a:solidFill>
                  <a:schemeClr val="bg1"/>
                </a:solidFill>
                <a:latin typeface="Consolas" panose="020B0609020204030204" pitchFamily="49" charset="0"/>
              </a:rPr>
              <a:t>];  // PROBLEM! Race condition</a:t>
            </a:r>
          </a:p>
          <a:p>
            <a:r>
              <a:rPr lang="en-GB" sz="1800" dirty="0">
                <a:solidFill>
                  <a:schemeClr val="bg1"/>
                </a:solidFill>
                <a:latin typeface="Consolas" panose="020B0609020204030204" pitchFamily="49" charset="0"/>
              </a:rPr>
              <a:t>}</a:t>
            </a:r>
            <a:endParaRPr lang="hr-HR" sz="1800" b="1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hr-HR" sz="1800" b="1" dirty="0">
              <a:solidFill>
                <a:schemeClr val="bg1"/>
              </a:solidFill>
              <a:latin typeface="Quicksand" panose="020B0604020202020204" charset="0"/>
            </a:endParaRPr>
          </a:p>
          <a:p>
            <a:r>
              <a:rPr lang="hr-HR" sz="1800" b="1" dirty="0">
                <a:solidFill>
                  <a:schemeClr val="bg1"/>
                </a:solidFill>
              </a:rPr>
              <a:t>Što se dešava:</a:t>
            </a:r>
            <a:endParaRPr lang="hr-HR" sz="1800" dirty="0">
              <a:solidFill>
                <a:schemeClr val="bg1"/>
              </a:solidFill>
            </a:endParaRPr>
          </a:p>
          <a:p>
            <a:r>
              <a:rPr lang="hr-HR" sz="1800" dirty="0">
                <a:solidFill>
                  <a:schemeClr val="bg1"/>
                </a:solidFill>
              </a:rPr>
              <a:t>Sve niti pokušavaju pristupiti i modificirati istu varijablu </a:t>
            </a:r>
            <a:r>
              <a:rPr lang="hr-HR" dirty="0" err="1">
                <a:solidFill>
                  <a:schemeClr val="bg1"/>
                </a:solidFill>
              </a:rPr>
              <a:t>sum</a:t>
            </a:r>
            <a:r>
              <a:rPr lang="hr-HR" sz="1800" dirty="0">
                <a:solidFill>
                  <a:schemeClr val="bg1"/>
                </a:solidFill>
              </a:rPr>
              <a:t> </a:t>
            </a:r>
            <a:r>
              <a:rPr lang="hr-HR" sz="1800" b="1" dirty="0">
                <a:solidFill>
                  <a:schemeClr val="bg1"/>
                </a:solidFill>
              </a:rPr>
              <a:t>istovremeno</a:t>
            </a:r>
            <a:endParaRPr lang="hr-HR" sz="1800" dirty="0">
              <a:solidFill>
                <a:schemeClr val="bg1"/>
              </a:solidFill>
            </a:endParaRPr>
          </a:p>
          <a:p>
            <a:r>
              <a:rPr lang="hr-HR" sz="1800" b="1" dirty="0">
                <a:solidFill>
                  <a:schemeClr val="bg1"/>
                </a:solidFill>
              </a:rPr>
              <a:t>Race </a:t>
            </a:r>
            <a:r>
              <a:rPr lang="hr-HR" sz="1800" b="1" dirty="0" err="1">
                <a:solidFill>
                  <a:schemeClr val="bg1"/>
                </a:solidFill>
              </a:rPr>
              <a:t>condition</a:t>
            </a:r>
            <a:r>
              <a:rPr lang="hr-HR" sz="1800" dirty="0">
                <a:solidFill>
                  <a:schemeClr val="bg1"/>
                </a:solidFill>
              </a:rPr>
              <a:t> - rezultat ovisi o tome koja nit prva dođe do varijable</a:t>
            </a:r>
          </a:p>
          <a:p>
            <a:r>
              <a:rPr lang="hr-HR" sz="1800" dirty="0">
                <a:solidFill>
                  <a:schemeClr val="bg1"/>
                </a:solidFill>
              </a:rPr>
              <a:t>Rezultat je </a:t>
            </a:r>
            <a:r>
              <a:rPr lang="hr-HR" sz="1800" b="1" dirty="0">
                <a:solidFill>
                  <a:schemeClr val="bg1"/>
                </a:solidFill>
              </a:rPr>
              <a:t>nedeterministički i pogrešan</a:t>
            </a:r>
            <a:endParaRPr lang="hr-HR" sz="1800" dirty="0">
              <a:solidFill>
                <a:schemeClr val="bg1"/>
              </a:solidFill>
            </a:endParaRP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hr-HR" sz="1800" b="1" dirty="0">
              <a:solidFill>
                <a:schemeClr val="bg1"/>
              </a:solidFill>
              <a:latin typeface="Quicksand" panose="020B0604020202020204" charset="0"/>
            </a:endParaRP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hr-HR" sz="18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endParaRPr lang="hr-HR" sz="18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>
              <a:buClr>
                <a:schemeClr val="bg1"/>
              </a:buClr>
            </a:pPr>
            <a:endParaRPr lang="hr-HR" sz="1800" b="1" dirty="0">
              <a:solidFill>
                <a:schemeClr val="bg1"/>
              </a:solidFill>
              <a:latin typeface="Quicksand" panose="020B0604020202020204" charset="0"/>
            </a:endParaRPr>
          </a:p>
          <a:p>
            <a:pPr>
              <a:buClr>
                <a:schemeClr val="bg1"/>
              </a:buClr>
            </a:pPr>
            <a:endParaRPr lang="nn-NO" sz="1800" b="1" dirty="0">
              <a:solidFill>
                <a:schemeClr val="bg1"/>
              </a:solidFill>
              <a:latin typeface="Quicksand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595150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>
          <a:extLst>
            <a:ext uri="{FF2B5EF4-FFF2-40B4-BE49-F238E27FC236}">
              <a16:creationId xmlns:a16="http://schemas.microsoft.com/office/drawing/2014/main" id="{00B2DE54-07A9-071F-AE6D-755F7DA48F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42">
            <a:extLst>
              <a:ext uri="{FF2B5EF4-FFF2-40B4-BE49-F238E27FC236}">
                <a16:creationId xmlns:a16="http://schemas.microsoft.com/office/drawing/2014/main" id="{1A4C461B-0B90-A739-1421-989D1F934344}"/>
              </a:ext>
            </a:extLst>
          </p:cNvPr>
          <p:cNvSpPr txBox="1"/>
          <p:nvPr/>
        </p:nvSpPr>
        <p:spPr>
          <a:xfrm>
            <a:off x="1165320" y="70452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hr-HR" sz="2400" b="1" dirty="0" err="1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Reduction</a:t>
            </a:r>
            <a:endParaRPr lang="hr-HR" sz="2400" b="1" dirty="0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183" name="Google Shape;183;p42">
            <a:extLst>
              <a:ext uri="{FF2B5EF4-FFF2-40B4-BE49-F238E27FC236}">
                <a16:creationId xmlns:a16="http://schemas.microsoft.com/office/drawing/2014/main" id="{691A038A-3F23-A40A-9AA1-1FAFE051382B}"/>
              </a:ext>
            </a:extLst>
          </p:cNvPr>
          <p:cNvSpPr/>
          <p:nvPr/>
        </p:nvSpPr>
        <p:spPr>
          <a:xfrm>
            <a:off x="1058927" y="1333074"/>
            <a:ext cx="7970812" cy="473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nn-NO" sz="1800" b="1" dirty="0">
                <a:solidFill>
                  <a:schemeClr val="bg1"/>
                </a:solidFill>
                <a:latin typeface="Quicksand" panose="020B0604020202020204" charset="0"/>
              </a:rPr>
              <a:t>double sum = 0.0;</a:t>
            </a:r>
            <a:endParaRPr lang="hr-HR" sz="1800" b="1" dirty="0">
              <a:solidFill>
                <a:schemeClr val="bg1"/>
              </a:solidFill>
              <a:latin typeface="Quicksand" panose="020B0604020202020204" charset="0"/>
            </a:endParaRPr>
          </a:p>
          <a:p>
            <a:r>
              <a:rPr lang="nn-NO" sz="1800" b="1" dirty="0">
                <a:solidFill>
                  <a:schemeClr val="bg1"/>
                </a:solidFill>
                <a:latin typeface="Quicksand" panose="020B0604020202020204" charset="0"/>
              </a:rPr>
              <a:t>#pragma omp parallel for reduction(+:sum)</a:t>
            </a:r>
            <a:endParaRPr lang="hr-HR" sz="1800" b="1" dirty="0">
              <a:solidFill>
                <a:schemeClr val="bg1"/>
              </a:solidFill>
              <a:latin typeface="Quicksand" panose="020B0604020202020204" charset="0"/>
            </a:endParaRPr>
          </a:p>
          <a:p>
            <a:r>
              <a:rPr lang="nn-NO" sz="1800" b="1" dirty="0">
                <a:solidFill>
                  <a:schemeClr val="bg1"/>
                </a:solidFill>
                <a:latin typeface="Quicksand" panose="020B0604020202020204" charset="0"/>
              </a:rPr>
              <a:t>for(int i = 0; i &lt; N; i++) {    </a:t>
            </a:r>
            <a:endParaRPr lang="hr-HR" sz="1800" b="1" dirty="0">
              <a:solidFill>
                <a:schemeClr val="bg1"/>
              </a:solidFill>
              <a:latin typeface="Quicksand" panose="020B0604020202020204" charset="0"/>
            </a:endParaRPr>
          </a:p>
          <a:p>
            <a:r>
              <a:rPr lang="hr-HR" sz="1800" b="1" dirty="0">
                <a:solidFill>
                  <a:schemeClr val="bg1"/>
                </a:solidFill>
                <a:latin typeface="Quicksand" panose="020B0604020202020204" charset="0"/>
              </a:rPr>
              <a:t>	</a:t>
            </a:r>
            <a:r>
              <a:rPr lang="nn-NO" sz="1800" b="1" dirty="0">
                <a:solidFill>
                  <a:schemeClr val="bg1"/>
                </a:solidFill>
                <a:latin typeface="Quicksand" panose="020B0604020202020204" charset="0"/>
              </a:rPr>
              <a:t>sum += A[i];  </a:t>
            </a:r>
            <a:r>
              <a:rPr lang="hr-HR" sz="1800" b="1" dirty="0">
                <a:solidFill>
                  <a:schemeClr val="bg1"/>
                </a:solidFill>
                <a:latin typeface="Quicksand" panose="020B0604020202020204" charset="0"/>
              </a:rPr>
              <a:t> </a:t>
            </a:r>
            <a:r>
              <a:rPr lang="nn-NO" sz="1800" b="1" dirty="0">
                <a:solidFill>
                  <a:schemeClr val="bg1"/>
                </a:solidFill>
                <a:latin typeface="Quicksand" panose="020B0604020202020204" charset="0"/>
              </a:rPr>
              <a:t>// </a:t>
            </a:r>
            <a:r>
              <a:rPr lang="nn-NO" sz="1800" b="1" dirty="0">
                <a:solidFill>
                  <a:srgbClr val="92D050"/>
                </a:solidFill>
                <a:latin typeface="Quicksand" panose="020B0604020202020204" charset="0"/>
              </a:rPr>
              <a:t>Sigurno!</a:t>
            </a:r>
            <a:endParaRPr lang="hr-HR" sz="1800" b="1" dirty="0">
              <a:solidFill>
                <a:srgbClr val="92D050"/>
              </a:solidFill>
              <a:latin typeface="Quicksand" panose="020B0604020202020204" charset="0"/>
            </a:endParaRPr>
          </a:p>
          <a:p>
            <a:r>
              <a:rPr lang="nn-NO" sz="1800" b="1" dirty="0">
                <a:solidFill>
                  <a:schemeClr val="bg1"/>
                </a:solidFill>
                <a:latin typeface="Quicksand" panose="020B0604020202020204" charset="0"/>
              </a:rPr>
              <a:t>}</a:t>
            </a:r>
            <a:endParaRPr lang="hr-HR" sz="18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endParaRPr lang="hr-HR" sz="18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endParaRPr lang="hr-HR" sz="18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endParaRPr lang="hr-HR" sz="1800" b="1" dirty="0">
              <a:solidFill>
                <a:schemeClr val="bg1"/>
              </a:solidFill>
              <a:latin typeface="Quicksand" panose="020B0604020202020204" charset="0"/>
            </a:endParaRPr>
          </a:p>
          <a:p>
            <a:endParaRPr lang="hr-HR" sz="1800" b="1" dirty="0">
              <a:solidFill>
                <a:schemeClr val="bg1"/>
              </a:solidFill>
              <a:latin typeface="Quicksand" panose="020B0604020202020204" charset="0"/>
            </a:endParaRPr>
          </a:p>
          <a:p>
            <a:r>
              <a:rPr lang="hr-HR" sz="1800" b="1" dirty="0">
                <a:solidFill>
                  <a:schemeClr val="bg1"/>
                </a:solidFill>
                <a:latin typeface="Quicksand" panose="020B0604020202020204" charset="0"/>
              </a:rPr>
              <a:t>Što </a:t>
            </a:r>
            <a:r>
              <a:rPr lang="hr-HR" sz="1800" b="1" dirty="0" err="1">
                <a:solidFill>
                  <a:schemeClr val="bg1"/>
                </a:solidFill>
                <a:latin typeface="Quicksand" panose="020B0604020202020204" charset="0"/>
              </a:rPr>
              <a:t>OpenMP</a:t>
            </a:r>
            <a:r>
              <a:rPr lang="hr-HR" sz="1800" b="1" dirty="0">
                <a:solidFill>
                  <a:schemeClr val="bg1"/>
                </a:solidFill>
                <a:latin typeface="Quicksand" panose="020B0604020202020204" charset="0"/>
              </a:rPr>
              <a:t> automatski radi: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hr-HR" sz="1800" b="1" dirty="0">
                <a:solidFill>
                  <a:schemeClr val="bg1"/>
                </a:solidFill>
                <a:latin typeface="Quicksand" panose="020B0604020202020204" charset="0"/>
              </a:rPr>
              <a:t>Kreira privatnu kopiju varijable </a:t>
            </a:r>
            <a:r>
              <a:rPr lang="hr-HR" sz="1800" b="1" dirty="0" err="1">
                <a:solidFill>
                  <a:schemeClr val="bg1"/>
                </a:solidFill>
                <a:latin typeface="Quicksand" panose="020B0604020202020204" charset="0"/>
              </a:rPr>
              <a:t>sum</a:t>
            </a:r>
            <a:r>
              <a:rPr lang="hr-HR" sz="1800" b="1" dirty="0">
                <a:solidFill>
                  <a:schemeClr val="bg1"/>
                </a:solidFill>
                <a:latin typeface="Quicksand" panose="020B0604020202020204" charset="0"/>
              </a:rPr>
              <a:t> za svaku nit 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hr-HR" sz="1800" b="1" dirty="0">
                <a:solidFill>
                  <a:schemeClr val="bg1"/>
                </a:solidFill>
                <a:latin typeface="Quicksand" panose="020B0604020202020204" charset="0"/>
              </a:rPr>
              <a:t>Inicijalizira svaku kopiju na neutralnu vrijednost operatora (za + je to 0) 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hr-HR" sz="1800" b="1" dirty="0">
                <a:solidFill>
                  <a:schemeClr val="bg1"/>
                </a:solidFill>
                <a:latin typeface="Quicksand" panose="020B0604020202020204" charset="0"/>
              </a:rPr>
              <a:t>Svaka nit radi na svojoj lokalnoj kopiji (nema konflikta) 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hr-HR" sz="1800" b="1" dirty="0">
                <a:solidFill>
                  <a:schemeClr val="bg1"/>
                </a:solidFill>
                <a:latin typeface="Quicksand" panose="020B0604020202020204" charset="0"/>
              </a:rPr>
              <a:t>Na kraju paralelne regije, sve lokalne kopije se kombiniraju u originalnu varijablu </a:t>
            </a:r>
          </a:p>
          <a:p>
            <a:endParaRPr lang="hr-HR" sz="18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endParaRPr lang="hr-HR" sz="18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>
              <a:buClr>
                <a:schemeClr val="bg1"/>
              </a:buClr>
            </a:pPr>
            <a:endParaRPr lang="hr-HR" sz="1800" b="1" dirty="0">
              <a:solidFill>
                <a:schemeClr val="bg1"/>
              </a:solidFill>
              <a:latin typeface="Quicksand" panose="020B0604020202020204" charset="0"/>
            </a:endParaRPr>
          </a:p>
          <a:p>
            <a:pPr>
              <a:buClr>
                <a:schemeClr val="bg1"/>
              </a:buClr>
            </a:pPr>
            <a:endParaRPr lang="nn-NO" sz="1800" b="1" dirty="0">
              <a:solidFill>
                <a:schemeClr val="bg1"/>
              </a:solidFill>
              <a:latin typeface="Quicksand" panose="020B0604020202020204" charset="0"/>
            </a:endParaRPr>
          </a:p>
        </p:txBody>
      </p:sp>
      <p:sp>
        <p:nvSpPr>
          <p:cNvPr id="4" name="TekstniOkvir 3">
            <a:extLst>
              <a:ext uri="{FF2B5EF4-FFF2-40B4-BE49-F238E27FC236}">
                <a16:creationId xmlns:a16="http://schemas.microsoft.com/office/drawing/2014/main" id="{42C7AD2B-BCAD-426A-DFB2-E3DE4583B1A3}"/>
              </a:ext>
            </a:extLst>
          </p:cNvPr>
          <p:cNvSpPr txBox="1"/>
          <p:nvPr/>
        </p:nvSpPr>
        <p:spPr>
          <a:xfrm>
            <a:off x="1058927" y="2830993"/>
            <a:ext cx="572588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>
                <a:solidFill>
                  <a:schemeClr val="bg1"/>
                </a:solidFill>
              </a:rPr>
              <a:t>Thread </a:t>
            </a:r>
            <a:r>
              <a:rPr lang="en-GB" b="1" dirty="0">
                <a:solidFill>
                  <a:schemeClr val="bg1"/>
                </a:solidFill>
                <a:effectLst/>
              </a:rPr>
              <a:t>0:</a:t>
            </a:r>
            <a:r>
              <a:rPr lang="en-GB" b="1" dirty="0">
                <a:solidFill>
                  <a:schemeClr val="bg1"/>
                </a:solidFill>
              </a:rPr>
              <a:t> </a:t>
            </a:r>
            <a:r>
              <a:rPr lang="en-GB" dirty="0" err="1">
                <a:solidFill>
                  <a:schemeClr val="bg1"/>
                </a:solidFill>
              </a:rPr>
              <a:t>local_sum</a:t>
            </a:r>
            <a:r>
              <a:rPr lang="en-GB" dirty="0">
                <a:solidFill>
                  <a:schemeClr val="bg1"/>
                </a:solidFill>
              </a:rPr>
              <a:t> </a:t>
            </a:r>
            <a:r>
              <a:rPr lang="en-GB" dirty="0">
                <a:solidFill>
                  <a:schemeClr val="bg1"/>
                </a:solidFill>
                <a:effectLst/>
              </a:rPr>
              <a:t>=</a:t>
            </a:r>
            <a:r>
              <a:rPr lang="en-GB" dirty="0">
                <a:solidFill>
                  <a:schemeClr val="bg1"/>
                </a:solidFill>
              </a:rPr>
              <a:t> </a:t>
            </a:r>
            <a:r>
              <a:rPr lang="en-GB" dirty="0">
                <a:solidFill>
                  <a:schemeClr val="bg1"/>
                </a:solidFill>
                <a:effectLst/>
              </a:rPr>
              <a:t>0</a:t>
            </a:r>
            <a:r>
              <a:rPr lang="en-GB" dirty="0">
                <a:solidFill>
                  <a:schemeClr val="bg1"/>
                </a:solidFill>
              </a:rPr>
              <a:t> → </a:t>
            </a:r>
            <a:r>
              <a:rPr lang="en-GB" dirty="0">
                <a:solidFill>
                  <a:schemeClr val="bg1"/>
                </a:solidFill>
                <a:effectLst/>
              </a:rPr>
              <a:t>+=</a:t>
            </a:r>
            <a:r>
              <a:rPr lang="en-GB" dirty="0">
                <a:solidFill>
                  <a:schemeClr val="bg1"/>
                </a:solidFill>
              </a:rPr>
              <a:t> A</a:t>
            </a:r>
            <a:r>
              <a:rPr lang="en-GB" dirty="0">
                <a:solidFill>
                  <a:schemeClr val="bg1"/>
                </a:solidFill>
                <a:effectLst/>
              </a:rPr>
              <a:t>[0],</a:t>
            </a:r>
            <a:r>
              <a:rPr lang="en-GB" dirty="0">
                <a:solidFill>
                  <a:schemeClr val="bg1"/>
                </a:solidFill>
              </a:rPr>
              <a:t> A</a:t>
            </a:r>
            <a:r>
              <a:rPr lang="en-GB" dirty="0">
                <a:solidFill>
                  <a:schemeClr val="bg1"/>
                </a:solidFill>
                <a:effectLst/>
              </a:rPr>
              <a:t>[1],</a:t>
            </a:r>
            <a:r>
              <a:rPr lang="en-GB" dirty="0">
                <a:solidFill>
                  <a:schemeClr val="bg1"/>
                </a:solidFill>
              </a:rPr>
              <a:t> A</a:t>
            </a:r>
            <a:r>
              <a:rPr lang="en-GB" dirty="0">
                <a:solidFill>
                  <a:schemeClr val="bg1"/>
                </a:solidFill>
                <a:effectLst/>
              </a:rPr>
              <a:t>[2]</a:t>
            </a:r>
            <a:r>
              <a:rPr lang="en-GB" dirty="0">
                <a:solidFill>
                  <a:schemeClr val="bg1"/>
                </a:solidFill>
              </a:rPr>
              <a:t> → </a:t>
            </a:r>
            <a:r>
              <a:rPr lang="en-GB" dirty="0" err="1">
                <a:solidFill>
                  <a:schemeClr val="bg1"/>
                </a:solidFill>
              </a:rPr>
              <a:t>local_sum</a:t>
            </a:r>
            <a:r>
              <a:rPr lang="en-GB" dirty="0">
                <a:solidFill>
                  <a:schemeClr val="bg1"/>
                </a:solidFill>
              </a:rPr>
              <a:t> </a:t>
            </a:r>
            <a:r>
              <a:rPr lang="en-GB" dirty="0">
                <a:solidFill>
                  <a:schemeClr val="bg1"/>
                </a:solidFill>
                <a:effectLst/>
              </a:rPr>
              <a:t>=</a:t>
            </a:r>
            <a:r>
              <a:rPr lang="en-GB" dirty="0">
                <a:solidFill>
                  <a:schemeClr val="bg1"/>
                </a:solidFill>
              </a:rPr>
              <a:t> </a:t>
            </a:r>
            <a:r>
              <a:rPr lang="en-GB" dirty="0">
                <a:solidFill>
                  <a:schemeClr val="bg1"/>
                </a:solidFill>
                <a:effectLst/>
              </a:rPr>
              <a:t>15</a:t>
            </a:r>
            <a:r>
              <a:rPr lang="en-GB" dirty="0">
                <a:solidFill>
                  <a:schemeClr val="bg1"/>
                </a:solidFill>
              </a:rPr>
              <a:t> </a:t>
            </a:r>
            <a:r>
              <a:rPr lang="en-GB" b="1" dirty="0">
                <a:solidFill>
                  <a:schemeClr val="bg1"/>
                </a:solidFill>
              </a:rPr>
              <a:t>Thread </a:t>
            </a:r>
            <a:r>
              <a:rPr lang="en-GB" b="1" dirty="0">
                <a:solidFill>
                  <a:schemeClr val="bg1"/>
                </a:solidFill>
                <a:effectLst/>
              </a:rPr>
              <a:t>1:</a:t>
            </a:r>
            <a:r>
              <a:rPr lang="en-GB" b="1" dirty="0">
                <a:solidFill>
                  <a:schemeClr val="bg1"/>
                </a:solidFill>
              </a:rPr>
              <a:t> </a:t>
            </a:r>
            <a:r>
              <a:rPr lang="en-GB" dirty="0" err="1">
                <a:solidFill>
                  <a:schemeClr val="bg1"/>
                </a:solidFill>
              </a:rPr>
              <a:t>local_sum</a:t>
            </a:r>
            <a:r>
              <a:rPr lang="en-GB" dirty="0">
                <a:solidFill>
                  <a:schemeClr val="bg1"/>
                </a:solidFill>
              </a:rPr>
              <a:t> </a:t>
            </a:r>
            <a:r>
              <a:rPr lang="en-GB" dirty="0">
                <a:solidFill>
                  <a:schemeClr val="bg1"/>
                </a:solidFill>
                <a:effectLst/>
              </a:rPr>
              <a:t>=</a:t>
            </a:r>
            <a:r>
              <a:rPr lang="en-GB" dirty="0">
                <a:solidFill>
                  <a:schemeClr val="bg1"/>
                </a:solidFill>
              </a:rPr>
              <a:t> </a:t>
            </a:r>
            <a:r>
              <a:rPr lang="en-GB" dirty="0">
                <a:solidFill>
                  <a:schemeClr val="bg1"/>
                </a:solidFill>
                <a:effectLst/>
              </a:rPr>
              <a:t>0</a:t>
            </a:r>
            <a:r>
              <a:rPr lang="en-GB" dirty="0">
                <a:solidFill>
                  <a:schemeClr val="bg1"/>
                </a:solidFill>
              </a:rPr>
              <a:t> → </a:t>
            </a:r>
            <a:r>
              <a:rPr lang="en-GB" dirty="0">
                <a:solidFill>
                  <a:schemeClr val="bg1"/>
                </a:solidFill>
                <a:effectLst/>
              </a:rPr>
              <a:t>+=</a:t>
            </a:r>
            <a:r>
              <a:rPr lang="en-GB" dirty="0">
                <a:solidFill>
                  <a:schemeClr val="bg1"/>
                </a:solidFill>
              </a:rPr>
              <a:t> A</a:t>
            </a:r>
            <a:r>
              <a:rPr lang="en-GB" dirty="0">
                <a:solidFill>
                  <a:schemeClr val="bg1"/>
                </a:solidFill>
                <a:effectLst/>
              </a:rPr>
              <a:t>[3],</a:t>
            </a:r>
            <a:r>
              <a:rPr lang="en-GB" dirty="0">
                <a:solidFill>
                  <a:schemeClr val="bg1"/>
                </a:solidFill>
              </a:rPr>
              <a:t> A</a:t>
            </a:r>
            <a:r>
              <a:rPr lang="en-GB" dirty="0">
                <a:solidFill>
                  <a:schemeClr val="bg1"/>
                </a:solidFill>
                <a:effectLst/>
              </a:rPr>
              <a:t>[4],</a:t>
            </a:r>
            <a:r>
              <a:rPr lang="en-GB" dirty="0">
                <a:solidFill>
                  <a:schemeClr val="bg1"/>
                </a:solidFill>
              </a:rPr>
              <a:t> A</a:t>
            </a:r>
            <a:r>
              <a:rPr lang="en-GB" dirty="0">
                <a:solidFill>
                  <a:schemeClr val="bg1"/>
                </a:solidFill>
                <a:effectLst/>
              </a:rPr>
              <a:t>[5]</a:t>
            </a:r>
            <a:r>
              <a:rPr lang="en-GB" dirty="0">
                <a:solidFill>
                  <a:schemeClr val="bg1"/>
                </a:solidFill>
              </a:rPr>
              <a:t> → </a:t>
            </a:r>
            <a:r>
              <a:rPr lang="en-GB" dirty="0" err="1">
                <a:solidFill>
                  <a:schemeClr val="bg1"/>
                </a:solidFill>
              </a:rPr>
              <a:t>local_sum</a:t>
            </a:r>
            <a:r>
              <a:rPr lang="en-GB" dirty="0">
                <a:solidFill>
                  <a:schemeClr val="bg1"/>
                </a:solidFill>
              </a:rPr>
              <a:t> </a:t>
            </a:r>
            <a:r>
              <a:rPr lang="en-GB" dirty="0">
                <a:solidFill>
                  <a:schemeClr val="bg1"/>
                </a:solidFill>
                <a:effectLst/>
              </a:rPr>
              <a:t>=</a:t>
            </a:r>
            <a:r>
              <a:rPr lang="en-GB" dirty="0">
                <a:solidFill>
                  <a:schemeClr val="bg1"/>
                </a:solidFill>
              </a:rPr>
              <a:t> </a:t>
            </a:r>
            <a:r>
              <a:rPr lang="en-GB" dirty="0">
                <a:solidFill>
                  <a:schemeClr val="bg1"/>
                </a:solidFill>
                <a:effectLst/>
              </a:rPr>
              <a:t>18</a:t>
            </a:r>
            <a:r>
              <a:rPr lang="en-GB" dirty="0">
                <a:solidFill>
                  <a:schemeClr val="bg1"/>
                </a:solidFill>
              </a:rPr>
              <a:t> </a:t>
            </a:r>
            <a:r>
              <a:rPr lang="en-GB" b="1" dirty="0">
                <a:solidFill>
                  <a:schemeClr val="bg1"/>
                </a:solidFill>
              </a:rPr>
              <a:t>Thread </a:t>
            </a:r>
            <a:r>
              <a:rPr lang="en-GB" b="1" dirty="0">
                <a:solidFill>
                  <a:schemeClr val="bg1"/>
                </a:solidFill>
                <a:effectLst/>
              </a:rPr>
              <a:t>2:</a:t>
            </a:r>
            <a:r>
              <a:rPr lang="en-GB" b="1" dirty="0">
                <a:solidFill>
                  <a:schemeClr val="bg1"/>
                </a:solidFill>
              </a:rPr>
              <a:t> </a:t>
            </a:r>
            <a:r>
              <a:rPr lang="en-GB" dirty="0" err="1">
                <a:solidFill>
                  <a:schemeClr val="bg1"/>
                </a:solidFill>
              </a:rPr>
              <a:t>local_sum</a:t>
            </a:r>
            <a:r>
              <a:rPr lang="en-GB" dirty="0">
                <a:solidFill>
                  <a:schemeClr val="bg1"/>
                </a:solidFill>
              </a:rPr>
              <a:t> </a:t>
            </a:r>
            <a:r>
              <a:rPr lang="en-GB" dirty="0">
                <a:solidFill>
                  <a:schemeClr val="bg1"/>
                </a:solidFill>
                <a:effectLst/>
              </a:rPr>
              <a:t>=</a:t>
            </a:r>
            <a:r>
              <a:rPr lang="en-GB" dirty="0">
                <a:solidFill>
                  <a:schemeClr val="bg1"/>
                </a:solidFill>
              </a:rPr>
              <a:t> </a:t>
            </a:r>
            <a:r>
              <a:rPr lang="en-GB" dirty="0">
                <a:solidFill>
                  <a:schemeClr val="bg1"/>
                </a:solidFill>
                <a:effectLst/>
              </a:rPr>
              <a:t>0</a:t>
            </a:r>
            <a:r>
              <a:rPr lang="en-GB" dirty="0">
                <a:solidFill>
                  <a:schemeClr val="bg1"/>
                </a:solidFill>
              </a:rPr>
              <a:t> → </a:t>
            </a:r>
            <a:r>
              <a:rPr lang="en-GB" dirty="0">
                <a:solidFill>
                  <a:schemeClr val="bg1"/>
                </a:solidFill>
                <a:effectLst/>
              </a:rPr>
              <a:t>+=</a:t>
            </a:r>
            <a:r>
              <a:rPr lang="en-GB" dirty="0">
                <a:solidFill>
                  <a:schemeClr val="bg1"/>
                </a:solidFill>
              </a:rPr>
              <a:t> A</a:t>
            </a:r>
            <a:r>
              <a:rPr lang="en-GB" dirty="0">
                <a:solidFill>
                  <a:schemeClr val="bg1"/>
                </a:solidFill>
                <a:effectLst/>
              </a:rPr>
              <a:t>[6],</a:t>
            </a:r>
            <a:r>
              <a:rPr lang="en-GB" dirty="0">
                <a:solidFill>
                  <a:schemeClr val="bg1"/>
                </a:solidFill>
              </a:rPr>
              <a:t> A</a:t>
            </a:r>
            <a:r>
              <a:rPr lang="en-GB" dirty="0">
                <a:solidFill>
                  <a:schemeClr val="bg1"/>
                </a:solidFill>
                <a:effectLst/>
              </a:rPr>
              <a:t>[7],</a:t>
            </a:r>
            <a:r>
              <a:rPr lang="en-GB" dirty="0">
                <a:solidFill>
                  <a:schemeClr val="bg1"/>
                </a:solidFill>
              </a:rPr>
              <a:t> A</a:t>
            </a:r>
            <a:r>
              <a:rPr lang="en-GB" dirty="0">
                <a:solidFill>
                  <a:schemeClr val="bg1"/>
                </a:solidFill>
                <a:effectLst/>
              </a:rPr>
              <a:t>[8]</a:t>
            </a:r>
            <a:r>
              <a:rPr lang="en-GB" dirty="0">
                <a:solidFill>
                  <a:schemeClr val="bg1"/>
                </a:solidFill>
              </a:rPr>
              <a:t> → </a:t>
            </a:r>
            <a:r>
              <a:rPr lang="en-GB" dirty="0" err="1">
                <a:solidFill>
                  <a:schemeClr val="bg1"/>
                </a:solidFill>
              </a:rPr>
              <a:t>local_sum</a:t>
            </a:r>
            <a:r>
              <a:rPr lang="en-GB" dirty="0">
                <a:solidFill>
                  <a:schemeClr val="bg1"/>
                </a:solidFill>
              </a:rPr>
              <a:t> </a:t>
            </a:r>
            <a:r>
              <a:rPr lang="en-GB" dirty="0">
                <a:solidFill>
                  <a:schemeClr val="bg1"/>
                </a:solidFill>
                <a:effectLst/>
              </a:rPr>
              <a:t>=</a:t>
            </a:r>
            <a:r>
              <a:rPr lang="en-GB" dirty="0">
                <a:solidFill>
                  <a:schemeClr val="bg1"/>
                </a:solidFill>
              </a:rPr>
              <a:t> </a:t>
            </a:r>
            <a:r>
              <a:rPr lang="en-GB" dirty="0">
                <a:solidFill>
                  <a:schemeClr val="bg1"/>
                </a:solidFill>
                <a:effectLst/>
              </a:rPr>
              <a:t>12</a:t>
            </a:r>
            <a:r>
              <a:rPr lang="en-GB" dirty="0">
                <a:solidFill>
                  <a:schemeClr val="bg1"/>
                </a:solidFill>
              </a:rPr>
              <a:t> </a:t>
            </a:r>
            <a:r>
              <a:rPr lang="en-GB" b="1" dirty="0">
                <a:solidFill>
                  <a:schemeClr val="bg1"/>
                </a:solidFill>
              </a:rPr>
              <a:t>Thread </a:t>
            </a:r>
            <a:r>
              <a:rPr lang="en-GB" b="1" dirty="0">
                <a:solidFill>
                  <a:schemeClr val="bg1"/>
                </a:solidFill>
                <a:effectLst/>
              </a:rPr>
              <a:t>3:</a:t>
            </a:r>
            <a:r>
              <a:rPr lang="en-GB" b="1" dirty="0">
                <a:solidFill>
                  <a:schemeClr val="bg1"/>
                </a:solidFill>
              </a:rPr>
              <a:t> </a:t>
            </a:r>
            <a:r>
              <a:rPr lang="en-GB" dirty="0" err="1">
                <a:solidFill>
                  <a:schemeClr val="bg1"/>
                </a:solidFill>
              </a:rPr>
              <a:t>local_sum</a:t>
            </a:r>
            <a:r>
              <a:rPr lang="en-GB" dirty="0">
                <a:solidFill>
                  <a:schemeClr val="bg1"/>
                </a:solidFill>
              </a:rPr>
              <a:t> </a:t>
            </a:r>
            <a:r>
              <a:rPr lang="en-GB" dirty="0">
                <a:solidFill>
                  <a:schemeClr val="bg1"/>
                </a:solidFill>
                <a:effectLst/>
              </a:rPr>
              <a:t>=</a:t>
            </a:r>
            <a:r>
              <a:rPr lang="en-GB" dirty="0">
                <a:solidFill>
                  <a:schemeClr val="bg1"/>
                </a:solidFill>
              </a:rPr>
              <a:t> </a:t>
            </a:r>
            <a:r>
              <a:rPr lang="en-GB" dirty="0">
                <a:solidFill>
                  <a:schemeClr val="bg1"/>
                </a:solidFill>
                <a:effectLst/>
              </a:rPr>
              <a:t>0</a:t>
            </a:r>
            <a:r>
              <a:rPr lang="en-GB" dirty="0">
                <a:solidFill>
                  <a:schemeClr val="bg1"/>
                </a:solidFill>
              </a:rPr>
              <a:t> → </a:t>
            </a:r>
            <a:r>
              <a:rPr lang="en-GB" dirty="0">
                <a:solidFill>
                  <a:schemeClr val="bg1"/>
                </a:solidFill>
                <a:effectLst/>
              </a:rPr>
              <a:t>+=</a:t>
            </a:r>
            <a:r>
              <a:rPr lang="en-GB" dirty="0">
                <a:solidFill>
                  <a:schemeClr val="bg1"/>
                </a:solidFill>
              </a:rPr>
              <a:t> A</a:t>
            </a:r>
            <a:r>
              <a:rPr lang="en-GB" dirty="0">
                <a:solidFill>
                  <a:schemeClr val="bg1"/>
                </a:solidFill>
                <a:effectLst/>
              </a:rPr>
              <a:t>[9],</a:t>
            </a:r>
            <a:r>
              <a:rPr lang="en-GB" dirty="0">
                <a:solidFill>
                  <a:schemeClr val="bg1"/>
                </a:solidFill>
              </a:rPr>
              <a:t> A</a:t>
            </a:r>
            <a:r>
              <a:rPr lang="en-GB" dirty="0">
                <a:solidFill>
                  <a:schemeClr val="bg1"/>
                </a:solidFill>
                <a:effectLst/>
              </a:rPr>
              <a:t>[10],</a:t>
            </a:r>
            <a:r>
              <a:rPr lang="en-GB" dirty="0">
                <a:solidFill>
                  <a:schemeClr val="bg1"/>
                </a:solidFill>
              </a:rPr>
              <a:t> A</a:t>
            </a:r>
            <a:r>
              <a:rPr lang="en-GB" dirty="0">
                <a:solidFill>
                  <a:schemeClr val="bg1"/>
                </a:solidFill>
                <a:effectLst/>
              </a:rPr>
              <a:t>[11]</a:t>
            </a:r>
            <a:r>
              <a:rPr lang="en-GB" dirty="0">
                <a:solidFill>
                  <a:schemeClr val="bg1"/>
                </a:solidFill>
              </a:rPr>
              <a:t> → </a:t>
            </a:r>
            <a:r>
              <a:rPr lang="en-GB" dirty="0" err="1">
                <a:solidFill>
                  <a:schemeClr val="bg1"/>
                </a:solidFill>
              </a:rPr>
              <a:t>local_sum</a:t>
            </a:r>
            <a:r>
              <a:rPr lang="en-GB" dirty="0">
                <a:solidFill>
                  <a:schemeClr val="bg1"/>
                </a:solidFill>
              </a:rPr>
              <a:t> </a:t>
            </a:r>
            <a:r>
              <a:rPr lang="en-GB" dirty="0">
                <a:solidFill>
                  <a:schemeClr val="bg1"/>
                </a:solidFill>
                <a:effectLst/>
              </a:rPr>
              <a:t>=</a:t>
            </a:r>
            <a:r>
              <a:rPr lang="en-GB" dirty="0">
                <a:solidFill>
                  <a:schemeClr val="bg1"/>
                </a:solidFill>
              </a:rPr>
              <a:t> </a:t>
            </a:r>
            <a:r>
              <a:rPr lang="en-GB" dirty="0">
                <a:solidFill>
                  <a:schemeClr val="bg1"/>
                </a:solidFill>
                <a:effectLst/>
              </a:rPr>
              <a:t>20</a:t>
            </a:r>
            <a:endParaRPr lang="hr-HR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810319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>
          <a:extLst>
            <a:ext uri="{FF2B5EF4-FFF2-40B4-BE49-F238E27FC236}">
              <a16:creationId xmlns:a16="http://schemas.microsoft.com/office/drawing/2014/main" id="{27F2F541-6A56-073F-B068-426D11AEB2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42">
            <a:extLst>
              <a:ext uri="{FF2B5EF4-FFF2-40B4-BE49-F238E27FC236}">
                <a16:creationId xmlns:a16="http://schemas.microsoft.com/office/drawing/2014/main" id="{6F383974-1DD0-3D87-7C61-A7852FD43C3F}"/>
              </a:ext>
            </a:extLst>
          </p:cNvPr>
          <p:cNvSpPr txBox="1"/>
          <p:nvPr/>
        </p:nvSpPr>
        <p:spPr>
          <a:xfrm>
            <a:off x="1165320" y="70452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hr-HR" sz="2400" b="1" dirty="0" err="1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Reduction</a:t>
            </a:r>
            <a:r>
              <a:rPr lang="hr-HR" sz="2400" b="1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 – Inicijalne vrijednosti operatora</a:t>
            </a:r>
          </a:p>
        </p:txBody>
      </p:sp>
      <p:sp>
        <p:nvSpPr>
          <p:cNvPr id="183" name="Google Shape;183;p42">
            <a:extLst>
              <a:ext uri="{FF2B5EF4-FFF2-40B4-BE49-F238E27FC236}">
                <a16:creationId xmlns:a16="http://schemas.microsoft.com/office/drawing/2014/main" id="{615C8D4D-0143-FD4C-25B1-4A3D638A9993}"/>
              </a:ext>
            </a:extLst>
          </p:cNvPr>
          <p:cNvSpPr/>
          <p:nvPr/>
        </p:nvSpPr>
        <p:spPr>
          <a:xfrm>
            <a:off x="1058927" y="1333074"/>
            <a:ext cx="7970812" cy="473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hr-HR" sz="1800" b="1" dirty="0">
                <a:solidFill>
                  <a:schemeClr val="bg1"/>
                </a:solidFill>
                <a:latin typeface="Quicksand" panose="020B0604020202020204" charset="0"/>
              </a:rPr>
              <a:t>C/C++</a:t>
            </a:r>
            <a:endParaRPr lang="nn-NO" sz="1800" b="1" dirty="0">
              <a:solidFill>
                <a:schemeClr val="bg1"/>
              </a:solidFill>
              <a:latin typeface="Quicksand" panose="020B0604020202020204" charset="0"/>
            </a:endParaRPr>
          </a:p>
        </p:txBody>
      </p:sp>
      <p:pic>
        <p:nvPicPr>
          <p:cNvPr id="3" name="Slika 2">
            <a:extLst>
              <a:ext uri="{FF2B5EF4-FFF2-40B4-BE49-F238E27FC236}">
                <a16:creationId xmlns:a16="http://schemas.microsoft.com/office/drawing/2014/main" id="{9760CD19-9AE9-1445-7E4F-C8D4E785E2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9429" y="1820091"/>
            <a:ext cx="3205141" cy="4584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079360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>
          <a:extLst>
            <a:ext uri="{FF2B5EF4-FFF2-40B4-BE49-F238E27FC236}">
              <a16:creationId xmlns:a16="http://schemas.microsoft.com/office/drawing/2014/main" id="{017D8C1B-5C71-E3AE-D304-B3A3069633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42">
            <a:extLst>
              <a:ext uri="{FF2B5EF4-FFF2-40B4-BE49-F238E27FC236}">
                <a16:creationId xmlns:a16="http://schemas.microsoft.com/office/drawing/2014/main" id="{F9262656-F13C-9B7C-ED96-3F645C877E2F}"/>
              </a:ext>
            </a:extLst>
          </p:cNvPr>
          <p:cNvSpPr txBox="1"/>
          <p:nvPr/>
        </p:nvSpPr>
        <p:spPr>
          <a:xfrm>
            <a:off x="1165320" y="70452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hr-HR" sz="2400" b="1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Sinkronizacija</a:t>
            </a:r>
          </a:p>
        </p:txBody>
      </p:sp>
      <p:sp>
        <p:nvSpPr>
          <p:cNvPr id="183" name="Google Shape;183;p42">
            <a:extLst>
              <a:ext uri="{FF2B5EF4-FFF2-40B4-BE49-F238E27FC236}">
                <a16:creationId xmlns:a16="http://schemas.microsoft.com/office/drawing/2014/main" id="{5AECDD55-6C66-EBAE-00EA-46B0F0EEC2A0}"/>
              </a:ext>
            </a:extLst>
          </p:cNvPr>
          <p:cNvSpPr/>
          <p:nvPr/>
        </p:nvSpPr>
        <p:spPr>
          <a:xfrm>
            <a:off x="1058927" y="1333074"/>
            <a:ext cx="7970812" cy="473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hr-HR" sz="1800" b="1" dirty="0">
                <a:solidFill>
                  <a:schemeClr val="bg1"/>
                </a:solidFill>
                <a:latin typeface="Quicksand" panose="020B0604020202020204" charset="0"/>
              </a:rPr>
              <a:t>Sinkronizacija visoke razine: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hr-HR" sz="1800" b="1" dirty="0" err="1">
                <a:solidFill>
                  <a:schemeClr val="bg1"/>
                </a:solidFill>
                <a:latin typeface="Quicksand" panose="020B0604020202020204" charset="0"/>
              </a:rPr>
              <a:t>critical</a:t>
            </a:r>
            <a:endParaRPr lang="hr-HR" sz="1800" b="1" dirty="0">
              <a:solidFill>
                <a:schemeClr val="bg1"/>
              </a:solidFill>
              <a:latin typeface="Quicksand" panose="020B0604020202020204" charset="0"/>
            </a:endParaRP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hr-HR" sz="1800" b="1" dirty="0" err="1">
                <a:solidFill>
                  <a:schemeClr val="bg1"/>
                </a:solidFill>
                <a:latin typeface="Quicksand" panose="020B0604020202020204" charset="0"/>
              </a:rPr>
              <a:t>atomic</a:t>
            </a:r>
            <a:endParaRPr lang="hr-HR" sz="1800" b="1" dirty="0">
              <a:solidFill>
                <a:schemeClr val="bg1"/>
              </a:solidFill>
              <a:latin typeface="Quicksand" panose="020B0604020202020204" charset="0"/>
            </a:endParaRP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hr-HR" sz="1800" b="1" dirty="0" err="1">
                <a:solidFill>
                  <a:schemeClr val="bg1"/>
                </a:solidFill>
                <a:latin typeface="Quicksand" panose="020B0604020202020204" charset="0"/>
              </a:rPr>
              <a:t>barrier</a:t>
            </a:r>
            <a:endParaRPr lang="hr-HR" sz="1800" b="1" dirty="0">
              <a:solidFill>
                <a:schemeClr val="bg1"/>
              </a:solidFill>
              <a:latin typeface="Quicksand" panose="020B0604020202020204" charset="0"/>
            </a:endParaRP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hr-HR" sz="1800" b="1" dirty="0" err="1">
                <a:solidFill>
                  <a:schemeClr val="bg1"/>
                </a:solidFill>
                <a:latin typeface="Quicksand" panose="020B0604020202020204" charset="0"/>
              </a:rPr>
              <a:t>ordered</a:t>
            </a:r>
            <a:endParaRPr lang="hr-HR" sz="1800" b="1" dirty="0">
              <a:solidFill>
                <a:schemeClr val="bg1"/>
              </a:solidFill>
              <a:latin typeface="Quicksand" panose="020B0604020202020204" charset="0"/>
            </a:endParaRPr>
          </a:p>
          <a:p>
            <a:endParaRPr lang="hr-HR" sz="1800" b="1" dirty="0">
              <a:solidFill>
                <a:schemeClr val="bg1"/>
              </a:solidFill>
              <a:latin typeface="Quicksand" panose="020B0604020202020204" charset="0"/>
            </a:endParaRPr>
          </a:p>
          <a:p>
            <a:r>
              <a:rPr lang="hr-HR" sz="1800" b="1" dirty="0">
                <a:solidFill>
                  <a:schemeClr val="bg1"/>
                </a:solidFill>
                <a:latin typeface="Quicksand" panose="020B0604020202020204" charset="0"/>
              </a:rPr>
              <a:t>Sinkronizacija niske razine: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hr-HR" sz="1800" b="1" dirty="0" err="1">
                <a:solidFill>
                  <a:schemeClr val="bg1"/>
                </a:solidFill>
                <a:latin typeface="Quicksand" panose="020B0604020202020204" charset="0"/>
              </a:rPr>
              <a:t>flush</a:t>
            </a:r>
            <a:r>
              <a:rPr lang="hr-HR" sz="1800" b="1" dirty="0">
                <a:solidFill>
                  <a:schemeClr val="bg1"/>
                </a:solidFill>
                <a:latin typeface="Quicksand" panose="020B0604020202020204" charset="0"/>
              </a:rPr>
              <a:t> (pražnjenje </a:t>
            </a:r>
            <a:r>
              <a:rPr lang="hr-HR" sz="1800" b="1" dirty="0" err="1">
                <a:solidFill>
                  <a:schemeClr val="bg1"/>
                </a:solidFill>
                <a:latin typeface="Quicksand" panose="020B0604020202020204" charset="0"/>
              </a:rPr>
              <a:t>cache</a:t>
            </a:r>
            <a:r>
              <a:rPr lang="hr-HR" sz="1800" b="1" dirty="0">
                <a:solidFill>
                  <a:schemeClr val="bg1"/>
                </a:solidFill>
                <a:latin typeface="Quicksand" panose="020B0604020202020204" charset="0"/>
              </a:rPr>
              <a:t> memorije)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hr-HR" sz="1800" b="1" dirty="0" err="1">
                <a:solidFill>
                  <a:schemeClr val="bg1"/>
                </a:solidFill>
                <a:latin typeface="Quicksand" panose="020B0604020202020204" charset="0"/>
              </a:rPr>
              <a:t>locks</a:t>
            </a:r>
            <a:r>
              <a:rPr lang="hr-HR" sz="1800" b="1" dirty="0">
                <a:solidFill>
                  <a:schemeClr val="bg1"/>
                </a:solidFill>
                <a:latin typeface="Quicksand" panose="020B0604020202020204" charset="0"/>
              </a:rPr>
              <a:t> (i jednostavni i ugniježđeni)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hr-HR" sz="1800" b="1" dirty="0">
              <a:solidFill>
                <a:schemeClr val="bg1"/>
              </a:solidFill>
              <a:latin typeface="Quicksand" panose="020B0604020202020204" charset="0"/>
            </a:endParaRPr>
          </a:p>
          <a:p>
            <a:pPr>
              <a:buClr>
                <a:schemeClr val="bg1"/>
              </a:buClr>
            </a:pPr>
            <a:endParaRPr lang="hr-HR" sz="1800" b="1" dirty="0">
              <a:solidFill>
                <a:schemeClr val="bg1"/>
              </a:solidFill>
              <a:latin typeface="Quicksand" panose="020B0604020202020204" charset="0"/>
            </a:endParaRPr>
          </a:p>
          <a:p>
            <a:pPr>
              <a:buClr>
                <a:schemeClr val="bg1"/>
              </a:buClr>
            </a:pPr>
            <a:r>
              <a:rPr lang="nn-NO" sz="1800" b="1" dirty="0">
                <a:solidFill>
                  <a:schemeClr val="bg1"/>
                </a:solidFill>
                <a:latin typeface="Quicksand" panose="020B0604020202020204" charset="0"/>
              </a:rPr>
              <a:t>Sinkronizacija se koristi kako bi se nametnuo redoslijed izvršavanja i zaštitio pristup dijeljenim podacima</a:t>
            </a:r>
          </a:p>
        </p:txBody>
      </p:sp>
    </p:spTree>
    <p:extLst>
      <p:ext uri="{BB962C8B-B14F-4D97-AF65-F5344CB8AC3E}">
        <p14:creationId xmlns:p14="http://schemas.microsoft.com/office/powerpoint/2010/main" val="180348440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>
          <a:extLst>
            <a:ext uri="{FF2B5EF4-FFF2-40B4-BE49-F238E27FC236}">
              <a16:creationId xmlns:a16="http://schemas.microsoft.com/office/drawing/2014/main" id="{DA584566-EC48-C3EF-49F8-D3D3E26FD2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42">
            <a:extLst>
              <a:ext uri="{FF2B5EF4-FFF2-40B4-BE49-F238E27FC236}">
                <a16:creationId xmlns:a16="http://schemas.microsoft.com/office/drawing/2014/main" id="{68278BB2-0616-369C-3B79-ED898F403313}"/>
              </a:ext>
            </a:extLst>
          </p:cNvPr>
          <p:cNvSpPr txBox="1"/>
          <p:nvPr/>
        </p:nvSpPr>
        <p:spPr>
          <a:xfrm>
            <a:off x="1165320" y="70452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hr-HR" sz="2400" b="1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Sinkronizacija: </a:t>
            </a:r>
            <a:r>
              <a:rPr lang="hr-HR" sz="2400" b="1" dirty="0" err="1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critical</a:t>
            </a:r>
            <a:endParaRPr lang="hr-HR" sz="2400" b="1" dirty="0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183" name="Google Shape;183;p42">
            <a:extLst>
              <a:ext uri="{FF2B5EF4-FFF2-40B4-BE49-F238E27FC236}">
                <a16:creationId xmlns:a16="http://schemas.microsoft.com/office/drawing/2014/main" id="{F387E9A2-FD52-9480-0185-CAF7423AD223}"/>
              </a:ext>
            </a:extLst>
          </p:cNvPr>
          <p:cNvSpPr/>
          <p:nvPr/>
        </p:nvSpPr>
        <p:spPr>
          <a:xfrm>
            <a:off x="1058927" y="1333074"/>
            <a:ext cx="7970812" cy="473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GB" sz="1800" b="1" dirty="0">
                <a:solidFill>
                  <a:schemeClr val="bg1"/>
                </a:solidFill>
                <a:latin typeface="Quicksand" panose="020B0604020202020204" charset="0"/>
              </a:rPr>
              <a:t>Mutual exclusion: Only one thread at a time</a:t>
            </a:r>
            <a:r>
              <a:rPr lang="hr-HR" sz="1800" b="1" dirty="0">
                <a:solidFill>
                  <a:schemeClr val="bg1"/>
                </a:solidFill>
                <a:latin typeface="Quicksand" panose="020B0604020202020204" charset="0"/>
              </a:rPr>
              <a:t> </a:t>
            </a:r>
            <a:r>
              <a:rPr lang="en-GB" sz="1800" b="1" dirty="0">
                <a:solidFill>
                  <a:schemeClr val="bg1"/>
                </a:solidFill>
                <a:latin typeface="Quicksand" panose="020B0604020202020204" charset="0"/>
              </a:rPr>
              <a:t>can enter a critical region.</a:t>
            </a:r>
            <a:endParaRPr lang="hr-HR" sz="1800" b="1" dirty="0">
              <a:solidFill>
                <a:schemeClr val="bg1"/>
              </a:solidFill>
              <a:latin typeface="Quicksand" panose="020B0604020202020204" charset="0"/>
            </a:endParaRP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hr-HR" sz="1800" b="1" dirty="0">
              <a:solidFill>
                <a:schemeClr val="bg1"/>
              </a:solidFill>
              <a:latin typeface="Quicksand" panose="020B0604020202020204" charset="0"/>
            </a:endParaRPr>
          </a:p>
          <a:p>
            <a:pPr>
              <a:buClr>
                <a:schemeClr val="bg1"/>
              </a:buClr>
            </a:pPr>
            <a:endParaRPr lang="hr-HR" sz="1800" b="1" dirty="0">
              <a:solidFill>
                <a:schemeClr val="bg1"/>
              </a:solidFill>
              <a:latin typeface="Quicksand" panose="020B0604020202020204" charset="0"/>
            </a:endParaRPr>
          </a:p>
          <a:p>
            <a:pPr>
              <a:buClr>
                <a:schemeClr val="bg1"/>
              </a:buClr>
            </a:pPr>
            <a:r>
              <a:rPr lang="nn-NO" sz="1800" b="1" dirty="0">
                <a:solidFill>
                  <a:schemeClr val="bg1"/>
                </a:solidFill>
                <a:latin typeface="Consolas" panose="020B0609020204030204" pitchFamily="49" charset="0"/>
              </a:rPr>
              <a:t>float res;</a:t>
            </a:r>
          </a:p>
          <a:p>
            <a:pPr>
              <a:buClr>
                <a:schemeClr val="bg1"/>
              </a:buClr>
            </a:pPr>
            <a:r>
              <a:rPr lang="nn-NO" sz="1800" b="1" dirty="0">
                <a:solidFill>
                  <a:schemeClr val="bg1"/>
                </a:solidFill>
                <a:latin typeface="Consolas" panose="020B0609020204030204" pitchFamily="49" charset="0"/>
              </a:rPr>
              <a:t>#pragma omp parallel</a:t>
            </a:r>
          </a:p>
          <a:p>
            <a:pPr>
              <a:buClr>
                <a:schemeClr val="bg1"/>
              </a:buClr>
            </a:pPr>
            <a:r>
              <a:rPr lang="nn-NO" sz="1800" b="1" dirty="0">
                <a:solidFill>
                  <a:schemeClr val="bg1"/>
                </a:solidFill>
                <a:latin typeface="Consolas" panose="020B0609020204030204" pitchFamily="49" charset="0"/>
              </a:rPr>
              <a:t>{ </a:t>
            </a:r>
            <a:r>
              <a:rPr lang="hr-HR" sz="1800" b="1" dirty="0">
                <a:solidFill>
                  <a:schemeClr val="bg1"/>
                </a:solidFill>
                <a:latin typeface="Consolas" panose="020B0609020204030204" pitchFamily="49" charset="0"/>
              </a:rPr>
              <a:t>	</a:t>
            </a:r>
            <a:r>
              <a:rPr lang="nn-NO" sz="1800" b="1" dirty="0">
                <a:solidFill>
                  <a:schemeClr val="bg1"/>
                </a:solidFill>
                <a:latin typeface="Consolas" panose="020B0609020204030204" pitchFamily="49" charset="0"/>
              </a:rPr>
              <a:t>float B; int i, id, nthrds;</a:t>
            </a:r>
          </a:p>
          <a:p>
            <a:pPr>
              <a:buClr>
                <a:schemeClr val="bg1"/>
              </a:buClr>
            </a:pPr>
            <a:r>
              <a:rPr lang="hr-HR" sz="1800" b="1" dirty="0">
                <a:solidFill>
                  <a:schemeClr val="bg1"/>
                </a:solidFill>
                <a:latin typeface="Consolas" panose="020B0609020204030204" pitchFamily="49" charset="0"/>
              </a:rPr>
              <a:t>	</a:t>
            </a:r>
            <a:r>
              <a:rPr lang="nn-NO" sz="1800" b="1" dirty="0">
                <a:solidFill>
                  <a:schemeClr val="bg1"/>
                </a:solidFill>
                <a:latin typeface="Consolas" panose="020B0609020204030204" pitchFamily="49" charset="0"/>
              </a:rPr>
              <a:t>id = omp_get_thread_num();</a:t>
            </a:r>
          </a:p>
          <a:p>
            <a:pPr>
              <a:buClr>
                <a:schemeClr val="bg1"/>
              </a:buClr>
            </a:pPr>
            <a:r>
              <a:rPr lang="hr-HR" sz="1800" b="1" dirty="0">
                <a:solidFill>
                  <a:schemeClr val="bg1"/>
                </a:solidFill>
                <a:latin typeface="Consolas" panose="020B0609020204030204" pitchFamily="49" charset="0"/>
              </a:rPr>
              <a:t>	</a:t>
            </a:r>
            <a:r>
              <a:rPr lang="nn-NO" sz="1800" b="1" dirty="0">
                <a:solidFill>
                  <a:schemeClr val="bg1"/>
                </a:solidFill>
                <a:latin typeface="Consolas" panose="020B0609020204030204" pitchFamily="49" charset="0"/>
              </a:rPr>
              <a:t>nthrds = omp_get_num_threads();</a:t>
            </a:r>
          </a:p>
          <a:p>
            <a:pPr>
              <a:buClr>
                <a:schemeClr val="bg1"/>
              </a:buClr>
            </a:pPr>
            <a:r>
              <a:rPr lang="hr-HR" sz="1800" b="1" dirty="0">
                <a:solidFill>
                  <a:schemeClr val="bg1"/>
                </a:solidFill>
                <a:latin typeface="Consolas" panose="020B0609020204030204" pitchFamily="49" charset="0"/>
              </a:rPr>
              <a:t>	</a:t>
            </a:r>
            <a:r>
              <a:rPr lang="nn-NO" sz="1800" b="1" dirty="0">
                <a:solidFill>
                  <a:schemeClr val="bg1"/>
                </a:solidFill>
                <a:latin typeface="Consolas" panose="020B0609020204030204" pitchFamily="49" charset="0"/>
              </a:rPr>
              <a:t>for(i=id;i&lt;niters;i+nthrds){</a:t>
            </a:r>
          </a:p>
          <a:p>
            <a:pPr>
              <a:buClr>
                <a:schemeClr val="bg1"/>
              </a:buClr>
            </a:pPr>
            <a:r>
              <a:rPr lang="hr-HR" sz="1800" b="1" dirty="0">
                <a:solidFill>
                  <a:schemeClr val="bg1"/>
                </a:solidFill>
                <a:latin typeface="Consolas" panose="020B0609020204030204" pitchFamily="49" charset="0"/>
              </a:rPr>
              <a:t>	</a:t>
            </a:r>
            <a:r>
              <a:rPr lang="nn-NO" sz="1800" b="1" dirty="0">
                <a:solidFill>
                  <a:schemeClr val="bg1"/>
                </a:solidFill>
                <a:latin typeface="Consolas" panose="020B0609020204030204" pitchFamily="49" charset="0"/>
              </a:rPr>
              <a:t>B = big_job(i);</a:t>
            </a:r>
          </a:p>
          <a:p>
            <a:pPr>
              <a:buClr>
                <a:schemeClr val="bg1"/>
              </a:buClr>
            </a:pPr>
            <a:r>
              <a:rPr lang="nn-NO" sz="1800" b="1" dirty="0">
                <a:solidFill>
                  <a:schemeClr val="bg1"/>
                </a:solidFill>
                <a:latin typeface="Consolas" panose="020B0609020204030204" pitchFamily="49" charset="0"/>
              </a:rPr>
              <a:t>#pragma omp critical</a:t>
            </a:r>
            <a:r>
              <a:rPr lang="hr-HR" sz="1800" b="1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</a:p>
          <a:p>
            <a:pPr>
              <a:buClr>
                <a:schemeClr val="bg1"/>
              </a:buClr>
            </a:pPr>
            <a:r>
              <a:rPr lang="hr-HR" sz="1800" b="1" dirty="0">
                <a:solidFill>
                  <a:schemeClr val="bg1"/>
                </a:solidFill>
                <a:latin typeface="Consolas" panose="020B0609020204030204" pitchFamily="49" charset="0"/>
              </a:rPr>
              <a:t>{</a:t>
            </a:r>
            <a:endParaRPr lang="nn-NO" sz="1800" b="1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>
              <a:buClr>
                <a:schemeClr val="bg1"/>
              </a:buClr>
            </a:pPr>
            <a:r>
              <a:rPr lang="hr-HR" sz="1800" b="1" dirty="0">
                <a:solidFill>
                  <a:schemeClr val="bg1"/>
                </a:solidFill>
                <a:latin typeface="Consolas" panose="020B0609020204030204" pitchFamily="49" charset="0"/>
              </a:rPr>
              <a:t>	</a:t>
            </a:r>
            <a:r>
              <a:rPr lang="nn-NO" sz="1800" b="1" dirty="0">
                <a:solidFill>
                  <a:schemeClr val="bg1"/>
                </a:solidFill>
                <a:latin typeface="Consolas" panose="020B0609020204030204" pitchFamily="49" charset="0"/>
              </a:rPr>
              <a:t>consume (B, res);</a:t>
            </a:r>
            <a:endParaRPr lang="hr-HR" sz="1800" b="1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>
              <a:buClr>
                <a:schemeClr val="bg1"/>
              </a:buClr>
            </a:pPr>
            <a:r>
              <a:rPr lang="nn-NO" sz="1800" b="1" dirty="0">
                <a:solidFill>
                  <a:schemeClr val="bg1"/>
                </a:solidFill>
                <a:latin typeface="Consolas" panose="020B0609020204030204" pitchFamily="49" charset="0"/>
              </a:rPr>
              <a:t>}</a:t>
            </a:r>
          </a:p>
          <a:p>
            <a:pPr>
              <a:buClr>
                <a:schemeClr val="bg1"/>
              </a:buClr>
            </a:pPr>
            <a:r>
              <a:rPr lang="nn-NO" sz="1800" b="1" dirty="0">
                <a:solidFill>
                  <a:schemeClr val="bg1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2" name="Pravokutnik 1">
            <a:extLst>
              <a:ext uri="{FF2B5EF4-FFF2-40B4-BE49-F238E27FC236}">
                <a16:creationId xmlns:a16="http://schemas.microsoft.com/office/drawing/2014/main" id="{CA435C2B-26AF-6F36-2888-64A15DDC9388}"/>
              </a:ext>
            </a:extLst>
          </p:cNvPr>
          <p:cNvSpPr/>
          <p:nvPr/>
        </p:nvSpPr>
        <p:spPr>
          <a:xfrm>
            <a:off x="5155474" y="4572001"/>
            <a:ext cx="2786743" cy="108857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r-HR" dirty="0"/>
              <a:t>Niti čekaju na svoj red – samo jedna nit u jednom trenutku može pozvati </a:t>
            </a:r>
            <a:r>
              <a:rPr lang="hr-HR" b="1" dirty="0" err="1"/>
              <a:t>consume</a:t>
            </a:r>
            <a:r>
              <a:rPr lang="hr-HR" b="1" dirty="0"/>
              <a:t>()</a:t>
            </a:r>
          </a:p>
        </p:txBody>
      </p:sp>
      <p:cxnSp>
        <p:nvCxnSpPr>
          <p:cNvPr id="4" name="Ravni poveznik sa strelicom 3">
            <a:extLst>
              <a:ext uri="{FF2B5EF4-FFF2-40B4-BE49-F238E27FC236}">
                <a16:creationId xmlns:a16="http://schemas.microsoft.com/office/drawing/2014/main" id="{34982564-88D6-3A32-0865-7EADA98F4A8E}"/>
              </a:ext>
            </a:extLst>
          </p:cNvPr>
          <p:cNvCxnSpPr>
            <a:cxnSpLocks/>
          </p:cNvCxnSpPr>
          <p:nvPr/>
        </p:nvCxnSpPr>
        <p:spPr>
          <a:xfrm flipH="1" flipV="1">
            <a:off x="3709851" y="4685211"/>
            <a:ext cx="1410789" cy="435429"/>
          </a:xfrm>
          <a:prstGeom prst="straightConnector1">
            <a:avLst/>
          </a:prstGeom>
          <a:ln w="190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29247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>
          <a:extLst>
            <a:ext uri="{FF2B5EF4-FFF2-40B4-BE49-F238E27FC236}">
              <a16:creationId xmlns:a16="http://schemas.microsoft.com/office/drawing/2014/main" id="{9604DC9E-6A14-BA31-4F1E-379B374699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42">
            <a:extLst>
              <a:ext uri="{FF2B5EF4-FFF2-40B4-BE49-F238E27FC236}">
                <a16:creationId xmlns:a16="http://schemas.microsoft.com/office/drawing/2014/main" id="{60D0E63F-4BAB-5C05-B51A-C7729CF85CE7}"/>
              </a:ext>
            </a:extLst>
          </p:cNvPr>
          <p:cNvSpPr txBox="1"/>
          <p:nvPr/>
        </p:nvSpPr>
        <p:spPr>
          <a:xfrm>
            <a:off x="1165320" y="70452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hr-HR" sz="2400" b="1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Sinkronizacija: </a:t>
            </a:r>
            <a:r>
              <a:rPr lang="hr-HR" sz="2400" b="1" dirty="0" err="1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atomic</a:t>
            </a:r>
            <a:endParaRPr lang="hr-HR" sz="2400" b="1" dirty="0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183" name="Google Shape;183;p42">
            <a:extLst>
              <a:ext uri="{FF2B5EF4-FFF2-40B4-BE49-F238E27FC236}">
                <a16:creationId xmlns:a16="http://schemas.microsoft.com/office/drawing/2014/main" id="{4378B987-9F70-5DB4-B875-1DCA65BF68A0}"/>
              </a:ext>
            </a:extLst>
          </p:cNvPr>
          <p:cNvSpPr/>
          <p:nvPr/>
        </p:nvSpPr>
        <p:spPr>
          <a:xfrm>
            <a:off x="1058927" y="1333074"/>
            <a:ext cx="7970812" cy="540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GB" sz="1800" b="1" dirty="0" err="1">
                <a:solidFill>
                  <a:schemeClr val="bg1"/>
                </a:solidFill>
                <a:latin typeface="Quicksand" panose="020B0604020202020204" charset="0"/>
              </a:rPr>
              <a:t>Atomska</a:t>
            </a:r>
            <a:r>
              <a:rPr lang="en-GB" sz="1800" b="1" dirty="0">
                <a:solidFill>
                  <a:schemeClr val="bg1"/>
                </a:solidFill>
                <a:latin typeface="Quicksand" panose="020B0604020202020204" charset="0"/>
              </a:rPr>
              <a:t> </a:t>
            </a:r>
            <a:r>
              <a:rPr lang="en-GB" sz="1800" b="1" dirty="0" err="1">
                <a:solidFill>
                  <a:schemeClr val="bg1"/>
                </a:solidFill>
                <a:latin typeface="Quicksand" panose="020B0604020202020204" charset="0"/>
              </a:rPr>
              <a:t>operacija</a:t>
            </a:r>
            <a:r>
              <a:rPr lang="en-GB" sz="1800" b="1" dirty="0">
                <a:solidFill>
                  <a:schemeClr val="bg1"/>
                </a:solidFill>
                <a:latin typeface="Quicksand" panose="020B0604020202020204" charset="0"/>
              </a:rPr>
              <a:t> </a:t>
            </a:r>
            <a:r>
              <a:rPr lang="en-GB" sz="1800" b="1" dirty="0" err="1">
                <a:solidFill>
                  <a:schemeClr val="bg1"/>
                </a:solidFill>
                <a:latin typeface="Quicksand" panose="020B0604020202020204" charset="0"/>
              </a:rPr>
              <a:t>omogućuje</a:t>
            </a:r>
            <a:r>
              <a:rPr lang="en-GB" sz="1800" b="1" dirty="0">
                <a:solidFill>
                  <a:schemeClr val="bg1"/>
                </a:solidFill>
                <a:latin typeface="Quicksand" panose="020B0604020202020204" charset="0"/>
              </a:rPr>
              <a:t> </a:t>
            </a:r>
            <a:r>
              <a:rPr lang="en-GB" sz="1800" b="1" dirty="0" err="1">
                <a:solidFill>
                  <a:schemeClr val="bg1"/>
                </a:solidFill>
                <a:latin typeface="Quicksand" panose="020B0604020202020204" charset="0"/>
              </a:rPr>
              <a:t>međusobnu</a:t>
            </a:r>
            <a:r>
              <a:rPr lang="en-GB" sz="1800" b="1" dirty="0">
                <a:solidFill>
                  <a:schemeClr val="bg1"/>
                </a:solidFill>
                <a:latin typeface="Quicksand" panose="020B0604020202020204" charset="0"/>
              </a:rPr>
              <a:t> </a:t>
            </a:r>
            <a:r>
              <a:rPr lang="en-GB" sz="1800" b="1" dirty="0" err="1">
                <a:solidFill>
                  <a:schemeClr val="bg1"/>
                </a:solidFill>
                <a:latin typeface="Quicksand" panose="020B0604020202020204" charset="0"/>
              </a:rPr>
              <a:t>isključivost</a:t>
            </a:r>
            <a:r>
              <a:rPr lang="en-GB" sz="1800" b="1" dirty="0">
                <a:solidFill>
                  <a:schemeClr val="bg1"/>
                </a:solidFill>
                <a:latin typeface="Quicksand" panose="020B0604020202020204" charset="0"/>
              </a:rPr>
              <a:t>, </a:t>
            </a:r>
            <a:r>
              <a:rPr lang="en-GB" sz="1800" b="1" dirty="0" err="1">
                <a:solidFill>
                  <a:schemeClr val="bg1"/>
                </a:solidFill>
                <a:latin typeface="Quicksand" panose="020B0604020202020204" charset="0"/>
              </a:rPr>
              <a:t>ali</a:t>
            </a:r>
            <a:r>
              <a:rPr lang="en-GB" sz="1800" b="1" dirty="0">
                <a:solidFill>
                  <a:schemeClr val="bg1"/>
                </a:solidFill>
                <a:latin typeface="Quicksand" panose="020B0604020202020204" charset="0"/>
              </a:rPr>
              <a:t> se </a:t>
            </a:r>
            <a:r>
              <a:rPr lang="en-GB" sz="1800" b="1" dirty="0" err="1">
                <a:solidFill>
                  <a:schemeClr val="bg1"/>
                </a:solidFill>
                <a:latin typeface="Quicksand" panose="020B0604020202020204" charset="0"/>
              </a:rPr>
              <a:t>odnosi</a:t>
            </a:r>
            <a:r>
              <a:rPr lang="en-GB" sz="1800" b="1" dirty="0">
                <a:solidFill>
                  <a:schemeClr val="bg1"/>
                </a:solidFill>
                <a:latin typeface="Quicksand" panose="020B0604020202020204" charset="0"/>
              </a:rPr>
              <a:t> </a:t>
            </a:r>
            <a:r>
              <a:rPr lang="en-GB" sz="1800" b="1" dirty="0" err="1">
                <a:solidFill>
                  <a:schemeClr val="bg1"/>
                </a:solidFill>
                <a:latin typeface="Quicksand" panose="020B0604020202020204" charset="0"/>
              </a:rPr>
              <a:t>samo</a:t>
            </a:r>
            <a:r>
              <a:rPr lang="en-GB" sz="1800" b="1" dirty="0">
                <a:solidFill>
                  <a:schemeClr val="bg1"/>
                </a:solidFill>
                <a:latin typeface="Quicksand" panose="020B0604020202020204" charset="0"/>
              </a:rPr>
              <a:t> </a:t>
            </a:r>
            <a:r>
              <a:rPr lang="en-GB" sz="1800" b="1" dirty="0" err="1">
                <a:solidFill>
                  <a:schemeClr val="bg1"/>
                </a:solidFill>
                <a:latin typeface="Quicksand" panose="020B0604020202020204" charset="0"/>
              </a:rPr>
              <a:t>na</a:t>
            </a:r>
            <a:r>
              <a:rPr lang="en-GB" sz="1800" b="1" dirty="0">
                <a:solidFill>
                  <a:schemeClr val="bg1"/>
                </a:solidFill>
                <a:latin typeface="Quicksand" panose="020B0604020202020204" charset="0"/>
              </a:rPr>
              <a:t> </a:t>
            </a:r>
            <a:r>
              <a:rPr lang="en-GB" sz="1800" b="1" dirty="0" err="1">
                <a:solidFill>
                  <a:schemeClr val="bg1"/>
                </a:solidFill>
                <a:latin typeface="Quicksand" panose="020B0604020202020204" charset="0"/>
              </a:rPr>
              <a:t>ažuriranje</a:t>
            </a:r>
            <a:r>
              <a:rPr lang="en-GB" sz="1800" b="1" dirty="0">
                <a:solidFill>
                  <a:schemeClr val="bg1"/>
                </a:solidFill>
                <a:latin typeface="Quicksand" panose="020B0604020202020204" charset="0"/>
              </a:rPr>
              <a:t> </a:t>
            </a:r>
            <a:r>
              <a:rPr lang="en-GB" sz="1800" b="1" dirty="0" err="1">
                <a:solidFill>
                  <a:schemeClr val="bg1"/>
                </a:solidFill>
                <a:latin typeface="Quicksand" panose="020B0604020202020204" charset="0"/>
              </a:rPr>
              <a:t>jedne</a:t>
            </a:r>
            <a:r>
              <a:rPr lang="en-GB" sz="1800" b="1" dirty="0">
                <a:solidFill>
                  <a:schemeClr val="bg1"/>
                </a:solidFill>
                <a:latin typeface="Quicksand" panose="020B0604020202020204" charset="0"/>
              </a:rPr>
              <a:t> </a:t>
            </a:r>
            <a:r>
              <a:rPr lang="en-GB" sz="1800" b="1" dirty="0" err="1">
                <a:solidFill>
                  <a:schemeClr val="bg1"/>
                </a:solidFill>
                <a:latin typeface="Quicksand" panose="020B0604020202020204" charset="0"/>
              </a:rPr>
              <a:t>memorijske</a:t>
            </a:r>
            <a:r>
              <a:rPr lang="en-GB" sz="1800" b="1" dirty="0">
                <a:solidFill>
                  <a:schemeClr val="bg1"/>
                </a:solidFill>
                <a:latin typeface="Quicksand" panose="020B0604020202020204" charset="0"/>
              </a:rPr>
              <a:t> </a:t>
            </a:r>
            <a:r>
              <a:rPr lang="en-GB" sz="1800" b="1" dirty="0" err="1">
                <a:solidFill>
                  <a:schemeClr val="bg1"/>
                </a:solidFill>
                <a:latin typeface="Quicksand" panose="020B0604020202020204" charset="0"/>
              </a:rPr>
              <a:t>lokacije</a:t>
            </a:r>
            <a:r>
              <a:rPr lang="en-GB" sz="1800" b="1" dirty="0">
                <a:solidFill>
                  <a:schemeClr val="bg1"/>
                </a:solidFill>
                <a:latin typeface="Quicksand" panose="020B0604020202020204" charset="0"/>
              </a:rPr>
              <a:t> (</a:t>
            </a:r>
            <a:r>
              <a:rPr lang="en-GB" sz="1800" b="1" dirty="0" err="1">
                <a:solidFill>
                  <a:schemeClr val="bg1"/>
                </a:solidFill>
                <a:latin typeface="Quicksand" panose="020B0604020202020204" charset="0"/>
              </a:rPr>
              <a:t>ažuriranje</a:t>
            </a:r>
            <a:r>
              <a:rPr lang="en-GB" sz="1800" b="1" dirty="0">
                <a:solidFill>
                  <a:schemeClr val="bg1"/>
                </a:solidFill>
                <a:latin typeface="Quicksand" panose="020B0604020202020204" charset="0"/>
              </a:rPr>
              <a:t> X</a:t>
            </a:r>
            <a:r>
              <a:rPr lang="hr-HR" sz="1800" b="1" dirty="0">
                <a:solidFill>
                  <a:schemeClr val="bg1"/>
                </a:solidFill>
                <a:latin typeface="Quicksand" panose="020B0604020202020204" charset="0"/>
              </a:rPr>
              <a:t>-a</a:t>
            </a:r>
            <a:r>
              <a:rPr lang="en-GB" sz="1800" b="1" dirty="0">
                <a:solidFill>
                  <a:schemeClr val="bg1"/>
                </a:solidFill>
                <a:latin typeface="Quicksand" panose="020B0604020202020204" charset="0"/>
              </a:rPr>
              <a:t> u </a:t>
            </a:r>
            <a:r>
              <a:rPr lang="en-GB" sz="1800" b="1" dirty="0" err="1">
                <a:solidFill>
                  <a:schemeClr val="bg1"/>
                </a:solidFill>
                <a:latin typeface="Quicksand" panose="020B0604020202020204" charset="0"/>
              </a:rPr>
              <a:t>sljedećem</a:t>
            </a:r>
            <a:r>
              <a:rPr lang="en-GB" sz="1800" b="1" dirty="0">
                <a:solidFill>
                  <a:schemeClr val="bg1"/>
                </a:solidFill>
                <a:latin typeface="Quicksand" panose="020B0604020202020204" charset="0"/>
              </a:rPr>
              <a:t> </a:t>
            </a:r>
            <a:r>
              <a:rPr lang="en-GB" sz="1800" b="1" dirty="0" err="1">
                <a:solidFill>
                  <a:schemeClr val="bg1"/>
                </a:solidFill>
                <a:latin typeface="Quicksand" panose="020B0604020202020204" charset="0"/>
              </a:rPr>
              <a:t>primjeru</a:t>
            </a:r>
            <a:r>
              <a:rPr lang="en-GB" sz="1800" b="1" dirty="0">
                <a:solidFill>
                  <a:schemeClr val="bg1"/>
                </a:solidFill>
                <a:latin typeface="Quicksand" panose="020B0604020202020204" charset="0"/>
              </a:rPr>
              <a:t>).</a:t>
            </a:r>
            <a:endParaRPr lang="hr-HR" sz="1800" b="1" dirty="0">
              <a:solidFill>
                <a:schemeClr val="bg1"/>
              </a:solidFill>
              <a:latin typeface="Quicksand" panose="020B0604020202020204" charset="0"/>
            </a:endParaRPr>
          </a:p>
          <a:p>
            <a:pPr>
              <a:buClr>
                <a:schemeClr val="bg1"/>
              </a:buClr>
            </a:pPr>
            <a:endParaRPr lang="hr-HR" sz="1800" b="1" dirty="0">
              <a:solidFill>
                <a:schemeClr val="bg1"/>
              </a:solidFill>
              <a:latin typeface="Quicksand" panose="020B0604020202020204" charset="0"/>
            </a:endParaRPr>
          </a:p>
          <a:p>
            <a:pPr>
              <a:buClr>
                <a:schemeClr val="bg1"/>
              </a:buClr>
            </a:pPr>
            <a:r>
              <a:rPr lang="nn-NO" sz="1800" b="1" dirty="0">
                <a:solidFill>
                  <a:schemeClr val="bg1"/>
                </a:solidFill>
                <a:latin typeface="Consolas" panose="020B0609020204030204" pitchFamily="49" charset="0"/>
              </a:rPr>
              <a:t>#pragma omp parallel</a:t>
            </a:r>
          </a:p>
          <a:p>
            <a:pPr>
              <a:buClr>
                <a:schemeClr val="bg1"/>
              </a:buClr>
            </a:pPr>
            <a:r>
              <a:rPr lang="nn-NO" sz="1800" b="1" dirty="0">
                <a:solidFill>
                  <a:schemeClr val="bg1"/>
                </a:solidFill>
                <a:latin typeface="Consolas" panose="020B0609020204030204" pitchFamily="49" charset="0"/>
              </a:rPr>
              <a:t>{</a:t>
            </a:r>
          </a:p>
          <a:p>
            <a:pPr>
              <a:buClr>
                <a:schemeClr val="bg1"/>
              </a:buClr>
            </a:pPr>
            <a:r>
              <a:rPr lang="hr-HR" sz="1800" b="1" dirty="0">
                <a:solidFill>
                  <a:schemeClr val="bg1"/>
                </a:solidFill>
                <a:latin typeface="Consolas" panose="020B0609020204030204" pitchFamily="49" charset="0"/>
              </a:rPr>
              <a:t>	</a:t>
            </a:r>
            <a:r>
              <a:rPr lang="nn-NO" sz="1800" b="1" dirty="0">
                <a:solidFill>
                  <a:schemeClr val="bg1"/>
                </a:solidFill>
                <a:latin typeface="Consolas" panose="020B0609020204030204" pitchFamily="49" charset="0"/>
              </a:rPr>
              <a:t>double tmp, B;</a:t>
            </a:r>
          </a:p>
          <a:p>
            <a:pPr>
              <a:buClr>
                <a:schemeClr val="bg1"/>
              </a:buClr>
            </a:pPr>
            <a:r>
              <a:rPr lang="hr-HR" sz="1800" b="1" dirty="0">
                <a:solidFill>
                  <a:schemeClr val="bg1"/>
                </a:solidFill>
                <a:latin typeface="Consolas" panose="020B0609020204030204" pitchFamily="49" charset="0"/>
              </a:rPr>
              <a:t>	</a:t>
            </a:r>
            <a:r>
              <a:rPr lang="nn-NO" sz="1800" b="1" dirty="0">
                <a:solidFill>
                  <a:schemeClr val="bg1"/>
                </a:solidFill>
                <a:latin typeface="Consolas" panose="020B0609020204030204" pitchFamily="49" charset="0"/>
              </a:rPr>
              <a:t>B = DOIT();</a:t>
            </a:r>
            <a:endParaRPr lang="hr-HR" sz="1800" b="1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>
              <a:buClr>
                <a:schemeClr val="bg1"/>
              </a:buClr>
            </a:pPr>
            <a:r>
              <a:rPr lang="hr-HR" sz="1800" b="1" dirty="0">
                <a:solidFill>
                  <a:schemeClr val="bg1"/>
                </a:solidFill>
                <a:latin typeface="Consolas" panose="020B0609020204030204" pitchFamily="49" charset="0"/>
              </a:rPr>
              <a:t>	</a:t>
            </a:r>
            <a:r>
              <a:rPr lang="hr-HR" sz="1800" b="1" dirty="0" err="1">
                <a:solidFill>
                  <a:schemeClr val="bg1"/>
                </a:solidFill>
                <a:latin typeface="Consolas" panose="020B0609020204030204" pitchFamily="49" charset="0"/>
              </a:rPr>
              <a:t>tmp</a:t>
            </a:r>
            <a:r>
              <a:rPr lang="hr-HR" sz="1800" b="1" dirty="0">
                <a:solidFill>
                  <a:schemeClr val="bg1"/>
                </a:solidFill>
                <a:latin typeface="Consolas" panose="020B0609020204030204" pitchFamily="49" charset="0"/>
              </a:rPr>
              <a:t> = </a:t>
            </a:r>
            <a:r>
              <a:rPr lang="hr-HR" sz="1800" b="1" dirty="0" err="1">
                <a:solidFill>
                  <a:schemeClr val="bg1"/>
                </a:solidFill>
                <a:latin typeface="Consolas" panose="020B0609020204030204" pitchFamily="49" charset="0"/>
              </a:rPr>
              <a:t>big_ugly</a:t>
            </a:r>
            <a:r>
              <a:rPr lang="hr-HR" sz="1800" b="1" dirty="0">
                <a:solidFill>
                  <a:schemeClr val="bg1"/>
                </a:solidFill>
                <a:latin typeface="Consolas" panose="020B0609020204030204" pitchFamily="49" charset="0"/>
              </a:rPr>
              <a:t>(B);</a:t>
            </a:r>
            <a:endParaRPr lang="nn-NO" sz="1800" b="1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>
              <a:buClr>
                <a:schemeClr val="bg1"/>
              </a:buClr>
            </a:pPr>
            <a:r>
              <a:rPr lang="nn-NO" sz="1800" b="1" dirty="0">
                <a:solidFill>
                  <a:schemeClr val="bg1"/>
                </a:solidFill>
                <a:latin typeface="Consolas" panose="020B0609020204030204" pitchFamily="49" charset="0"/>
              </a:rPr>
              <a:t>#pragma omp atomic</a:t>
            </a:r>
          </a:p>
          <a:p>
            <a:pPr>
              <a:buClr>
                <a:schemeClr val="bg1"/>
              </a:buClr>
            </a:pPr>
            <a:r>
              <a:rPr lang="hr-HR" sz="1800" b="1" dirty="0">
                <a:solidFill>
                  <a:schemeClr val="bg1"/>
                </a:solidFill>
                <a:latin typeface="Consolas" panose="020B0609020204030204" pitchFamily="49" charset="0"/>
              </a:rPr>
              <a:t>	</a:t>
            </a:r>
            <a:r>
              <a:rPr lang="nn-NO" sz="1800" b="1" dirty="0">
                <a:solidFill>
                  <a:schemeClr val="bg1"/>
                </a:solidFill>
                <a:latin typeface="Consolas" panose="020B0609020204030204" pitchFamily="49" charset="0"/>
              </a:rPr>
              <a:t>X += big_ugly(B);</a:t>
            </a:r>
          </a:p>
          <a:p>
            <a:pPr>
              <a:buClr>
                <a:schemeClr val="bg1"/>
              </a:buClr>
            </a:pPr>
            <a:r>
              <a:rPr lang="nn-NO" sz="1800" b="1" dirty="0">
                <a:solidFill>
                  <a:schemeClr val="bg1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2" name="TekstniOkvir 1">
            <a:extLst>
              <a:ext uri="{FF2B5EF4-FFF2-40B4-BE49-F238E27FC236}">
                <a16:creationId xmlns:a16="http://schemas.microsoft.com/office/drawing/2014/main" id="{1F378DCF-A143-D521-6E52-E6FDD3835482}"/>
              </a:ext>
            </a:extLst>
          </p:cNvPr>
          <p:cNvSpPr txBox="1"/>
          <p:nvPr/>
        </p:nvSpPr>
        <p:spPr>
          <a:xfrm>
            <a:off x="4902670" y="4023307"/>
            <a:ext cx="2744224" cy="52322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hr-HR" b="1" dirty="0">
                <a:solidFill>
                  <a:schemeClr val="tx1"/>
                </a:solidFill>
              </a:rPr>
              <a:t>Atomska operacija štiti samo čitanje i ažuriranje varijable X</a:t>
            </a:r>
            <a:endParaRPr lang="hr-HR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861594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>
          <a:extLst>
            <a:ext uri="{FF2B5EF4-FFF2-40B4-BE49-F238E27FC236}">
              <a16:creationId xmlns:a16="http://schemas.microsoft.com/office/drawing/2014/main" id="{26775671-C993-5A5F-D655-027BEC572F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42">
            <a:extLst>
              <a:ext uri="{FF2B5EF4-FFF2-40B4-BE49-F238E27FC236}">
                <a16:creationId xmlns:a16="http://schemas.microsoft.com/office/drawing/2014/main" id="{4381E6DF-FB4F-F396-F416-30A1763F7B9C}"/>
              </a:ext>
            </a:extLst>
          </p:cNvPr>
          <p:cNvSpPr txBox="1"/>
          <p:nvPr/>
        </p:nvSpPr>
        <p:spPr>
          <a:xfrm>
            <a:off x="1165320" y="70452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hr-HR" sz="2400" b="1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Sinkronizacija: </a:t>
            </a:r>
            <a:r>
              <a:rPr lang="hr-HR" sz="2400" b="1" dirty="0" err="1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barrier</a:t>
            </a:r>
            <a:endParaRPr lang="hr-HR" sz="2400" b="1" dirty="0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183" name="Google Shape;183;p42">
            <a:extLst>
              <a:ext uri="{FF2B5EF4-FFF2-40B4-BE49-F238E27FC236}">
                <a16:creationId xmlns:a16="http://schemas.microsoft.com/office/drawing/2014/main" id="{D565D0FE-B387-9231-AFBD-7FEC156D8F61}"/>
              </a:ext>
            </a:extLst>
          </p:cNvPr>
          <p:cNvSpPr/>
          <p:nvPr/>
        </p:nvSpPr>
        <p:spPr>
          <a:xfrm>
            <a:off x="1058927" y="1164240"/>
            <a:ext cx="7970812" cy="55761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hr-HR" sz="1800" b="1" dirty="0" err="1">
                <a:solidFill>
                  <a:schemeClr val="bg1"/>
                </a:solidFill>
                <a:latin typeface="Quicksand" panose="020B0604020202020204" charset="0"/>
              </a:rPr>
              <a:t>Barrier</a:t>
            </a:r>
            <a:r>
              <a:rPr lang="hr-HR" sz="1800" b="1" dirty="0">
                <a:solidFill>
                  <a:schemeClr val="bg1"/>
                </a:solidFill>
                <a:latin typeface="Quicksand" panose="020B0604020202020204" charset="0"/>
              </a:rPr>
              <a:t>: </a:t>
            </a:r>
            <a:r>
              <a:rPr lang="en-GB" sz="1800" b="1" dirty="0" err="1">
                <a:solidFill>
                  <a:schemeClr val="bg1"/>
                </a:solidFill>
                <a:latin typeface="Quicksand" panose="020B0604020202020204" charset="0"/>
              </a:rPr>
              <a:t>Svaka</a:t>
            </a:r>
            <a:r>
              <a:rPr lang="en-GB" sz="1800" b="1" dirty="0">
                <a:solidFill>
                  <a:schemeClr val="bg1"/>
                </a:solidFill>
                <a:latin typeface="Quicksand" panose="020B0604020202020204" charset="0"/>
              </a:rPr>
              <a:t> nit </a:t>
            </a:r>
            <a:r>
              <a:rPr lang="en-GB" sz="1800" b="1" dirty="0" err="1">
                <a:solidFill>
                  <a:schemeClr val="bg1"/>
                </a:solidFill>
                <a:latin typeface="Quicksand" panose="020B0604020202020204" charset="0"/>
              </a:rPr>
              <a:t>čeka</a:t>
            </a:r>
            <a:r>
              <a:rPr lang="en-GB" sz="1800" b="1" dirty="0">
                <a:solidFill>
                  <a:schemeClr val="bg1"/>
                </a:solidFill>
                <a:latin typeface="Quicksand" panose="020B0604020202020204" charset="0"/>
              </a:rPr>
              <a:t> </a:t>
            </a:r>
            <a:r>
              <a:rPr lang="en-GB" sz="1800" b="1" dirty="0" err="1">
                <a:solidFill>
                  <a:schemeClr val="bg1"/>
                </a:solidFill>
                <a:latin typeface="Quicksand" panose="020B0604020202020204" charset="0"/>
              </a:rPr>
              <a:t>dok</a:t>
            </a:r>
            <a:r>
              <a:rPr lang="en-GB" sz="1800" b="1" dirty="0">
                <a:solidFill>
                  <a:schemeClr val="bg1"/>
                </a:solidFill>
                <a:latin typeface="Quicksand" panose="020B0604020202020204" charset="0"/>
              </a:rPr>
              <a:t> </a:t>
            </a:r>
            <a:r>
              <a:rPr lang="en-GB" sz="1800" b="1" dirty="0" err="1">
                <a:solidFill>
                  <a:schemeClr val="bg1"/>
                </a:solidFill>
                <a:latin typeface="Quicksand" panose="020B0604020202020204" charset="0"/>
              </a:rPr>
              <a:t>sve</a:t>
            </a:r>
            <a:r>
              <a:rPr lang="en-GB" sz="1800" b="1" dirty="0">
                <a:solidFill>
                  <a:schemeClr val="bg1"/>
                </a:solidFill>
                <a:latin typeface="Quicksand" panose="020B0604020202020204" charset="0"/>
              </a:rPr>
              <a:t> </a:t>
            </a:r>
            <a:r>
              <a:rPr lang="en-GB" sz="1800" b="1" dirty="0" err="1">
                <a:solidFill>
                  <a:schemeClr val="bg1"/>
                </a:solidFill>
                <a:latin typeface="Quicksand" panose="020B0604020202020204" charset="0"/>
              </a:rPr>
              <a:t>niti</a:t>
            </a:r>
            <a:r>
              <a:rPr lang="en-GB" sz="1800" b="1" dirty="0">
                <a:solidFill>
                  <a:schemeClr val="bg1"/>
                </a:solidFill>
                <a:latin typeface="Quicksand" panose="020B0604020202020204" charset="0"/>
              </a:rPr>
              <a:t> ne </a:t>
            </a:r>
            <a:r>
              <a:rPr lang="en-GB" sz="1800" b="1" dirty="0" err="1">
                <a:solidFill>
                  <a:schemeClr val="bg1"/>
                </a:solidFill>
                <a:latin typeface="Quicksand" panose="020B0604020202020204" charset="0"/>
              </a:rPr>
              <a:t>stignu</a:t>
            </a:r>
            <a:r>
              <a:rPr lang="en-GB" sz="1800" b="1" dirty="0">
                <a:solidFill>
                  <a:schemeClr val="bg1"/>
                </a:solidFill>
                <a:latin typeface="Quicksand" panose="020B0604020202020204" charset="0"/>
              </a:rPr>
              <a:t>.﻿</a:t>
            </a:r>
            <a:endParaRPr lang="hr-HR" sz="1800" b="1" dirty="0">
              <a:solidFill>
                <a:schemeClr val="bg1"/>
              </a:solidFill>
              <a:latin typeface="Quicksand" panose="020B0604020202020204" charset="0"/>
            </a:endParaRP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hr-HR" sz="1800" b="1" dirty="0">
              <a:solidFill>
                <a:schemeClr val="bg1"/>
              </a:solidFill>
              <a:latin typeface="Quicksand" panose="020B0604020202020204" charset="0"/>
            </a:endParaRPr>
          </a:p>
          <a:p>
            <a:pPr>
              <a:buClr>
                <a:schemeClr val="bg1"/>
              </a:buClr>
            </a:pPr>
            <a:r>
              <a:rPr lang="nn-NO" sz="1800" b="1" dirty="0">
                <a:solidFill>
                  <a:schemeClr val="bg1"/>
                </a:solidFill>
                <a:latin typeface="Consolas" panose="020B0609020204030204" pitchFamily="49" charset="0"/>
              </a:rPr>
              <a:t>#pragma omp parallel shared (A, B, C) private(id)</a:t>
            </a:r>
          </a:p>
          <a:p>
            <a:pPr>
              <a:buClr>
                <a:schemeClr val="bg1"/>
              </a:buClr>
            </a:pPr>
            <a:r>
              <a:rPr lang="nn-NO" sz="1800" b="1" dirty="0">
                <a:solidFill>
                  <a:schemeClr val="bg1"/>
                </a:solidFill>
                <a:latin typeface="Consolas" panose="020B0609020204030204" pitchFamily="49" charset="0"/>
              </a:rPr>
              <a:t>{</a:t>
            </a:r>
          </a:p>
          <a:p>
            <a:pPr>
              <a:buClr>
                <a:schemeClr val="bg1"/>
              </a:buClr>
            </a:pPr>
            <a:r>
              <a:rPr lang="hr-HR" sz="1800" b="1" dirty="0">
                <a:solidFill>
                  <a:schemeClr val="bg1"/>
                </a:solidFill>
                <a:latin typeface="Consolas" panose="020B0609020204030204" pitchFamily="49" charset="0"/>
              </a:rPr>
              <a:t>	</a:t>
            </a:r>
            <a:r>
              <a:rPr lang="nn-NO" sz="1800" b="1" dirty="0">
                <a:solidFill>
                  <a:schemeClr val="bg1"/>
                </a:solidFill>
                <a:latin typeface="Consolas" panose="020B0609020204030204" pitchFamily="49" charset="0"/>
              </a:rPr>
              <a:t>id=omp_get_thread_num();</a:t>
            </a:r>
          </a:p>
          <a:p>
            <a:pPr>
              <a:buClr>
                <a:schemeClr val="bg1"/>
              </a:buClr>
            </a:pPr>
            <a:r>
              <a:rPr lang="hr-HR" sz="1800" b="1" dirty="0">
                <a:solidFill>
                  <a:schemeClr val="bg1"/>
                </a:solidFill>
                <a:latin typeface="Consolas" panose="020B0609020204030204" pitchFamily="49" charset="0"/>
              </a:rPr>
              <a:t>	</a:t>
            </a:r>
            <a:r>
              <a:rPr lang="nn-NO" sz="1800" b="1" dirty="0">
                <a:solidFill>
                  <a:schemeClr val="bg1"/>
                </a:solidFill>
                <a:latin typeface="Consolas" panose="020B0609020204030204" pitchFamily="49" charset="0"/>
              </a:rPr>
              <a:t>A[id] = big_calc1(id);</a:t>
            </a:r>
          </a:p>
          <a:p>
            <a:pPr>
              <a:buClr>
                <a:schemeClr val="bg1"/>
              </a:buClr>
            </a:pPr>
            <a:r>
              <a:rPr lang="nn-NO" sz="1800" b="1" dirty="0">
                <a:solidFill>
                  <a:srgbClr val="FFFF00"/>
                </a:solidFill>
                <a:latin typeface="Consolas" panose="020B0609020204030204" pitchFamily="49" charset="0"/>
              </a:rPr>
              <a:t>#pragma omp barrier</a:t>
            </a:r>
          </a:p>
          <a:p>
            <a:pPr>
              <a:buClr>
                <a:schemeClr val="bg1"/>
              </a:buClr>
            </a:pPr>
            <a:r>
              <a:rPr lang="nn-NO" sz="1800" b="1" dirty="0">
                <a:solidFill>
                  <a:schemeClr val="bg1"/>
                </a:solidFill>
                <a:latin typeface="Consolas" panose="020B0609020204030204" pitchFamily="49" charset="0"/>
              </a:rPr>
              <a:t>#pragma omp for</a:t>
            </a:r>
          </a:p>
          <a:p>
            <a:pPr>
              <a:buClr>
                <a:schemeClr val="bg1"/>
              </a:buClr>
            </a:pPr>
            <a:r>
              <a:rPr lang="hr-HR" sz="1800" b="1" dirty="0">
                <a:solidFill>
                  <a:schemeClr val="bg1"/>
                </a:solidFill>
                <a:latin typeface="Consolas" panose="020B0609020204030204" pitchFamily="49" charset="0"/>
              </a:rPr>
              <a:t>	</a:t>
            </a:r>
            <a:r>
              <a:rPr lang="nn-NO" sz="1800" b="1" dirty="0">
                <a:solidFill>
                  <a:schemeClr val="bg1"/>
                </a:solidFill>
                <a:latin typeface="Consolas" panose="020B0609020204030204" pitchFamily="49" charset="0"/>
              </a:rPr>
              <a:t>for(i=0;i&lt;N;i++){C[i]=big_calc3(i,A);}</a:t>
            </a:r>
          </a:p>
          <a:p>
            <a:pPr>
              <a:buClr>
                <a:schemeClr val="bg1"/>
              </a:buClr>
            </a:pPr>
            <a:r>
              <a:rPr lang="nn-NO" sz="1800" b="1" dirty="0">
                <a:solidFill>
                  <a:schemeClr val="bg1"/>
                </a:solidFill>
                <a:latin typeface="Consolas" panose="020B0609020204030204" pitchFamily="49" charset="0"/>
              </a:rPr>
              <a:t>#pragma omp for </a:t>
            </a:r>
            <a:r>
              <a:rPr lang="nn-NO" sz="1800" b="1" dirty="0">
                <a:solidFill>
                  <a:srgbClr val="FFFF00"/>
                </a:solidFill>
                <a:latin typeface="Consolas" panose="020B0609020204030204" pitchFamily="49" charset="0"/>
              </a:rPr>
              <a:t>nowait</a:t>
            </a:r>
          </a:p>
          <a:p>
            <a:pPr>
              <a:buClr>
                <a:schemeClr val="bg1"/>
              </a:buClr>
            </a:pPr>
            <a:r>
              <a:rPr lang="hr-HR" sz="1800" b="1" dirty="0">
                <a:solidFill>
                  <a:schemeClr val="bg1"/>
                </a:solidFill>
                <a:latin typeface="Consolas" panose="020B0609020204030204" pitchFamily="49" charset="0"/>
              </a:rPr>
              <a:t>	</a:t>
            </a:r>
            <a:r>
              <a:rPr lang="nn-NO" sz="1800" b="1" dirty="0">
                <a:solidFill>
                  <a:schemeClr val="bg1"/>
                </a:solidFill>
                <a:latin typeface="Consolas" panose="020B0609020204030204" pitchFamily="49" charset="0"/>
              </a:rPr>
              <a:t>for(i=0;i&lt;N;i++){ B[i]=big_calc2(C, i); }</a:t>
            </a:r>
          </a:p>
          <a:p>
            <a:pPr>
              <a:buClr>
                <a:schemeClr val="bg1"/>
              </a:buClr>
            </a:pPr>
            <a:r>
              <a:rPr lang="hr-HR" sz="1800" b="1" dirty="0">
                <a:solidFill>
                  <a:schemeClr val="bg1"/>
                </a:solidFill>
                <a:latin typeface="Consolas" panose="020B0609020204030204" pitchFamily="49" charset="0"/>
              </a:rPr>
              <a:t>	</a:t>
            </a:r>
            <a:r>
              <a:rPr lang="nn-NO" sz="1800" b="1" dirty="0">
                <a:solidFill>
                  <a:schemeClr val="bg1"/>
                </a:solidFill>
                <a:latin typeface="Consolas" panose="020B0609020204030204" pitchFamily="49" charset="0"/>
              </a:rPr>
              <a:t>A[id] = big_calc4(id);</a:t>
            </a:r>
          </a:p>
          <a:p>
            <a:pPr>
              <a:buClr>
                <a:schemeClr val="bg1"/>
              </a:buClr>
            </a:pPr>
            <a:r>
              <a:rPr lang="nn-NO" sz="1800" b="1" dirty="0">
                <a:solidFill>
                  <a:schemeClr val="bg1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2" name="TekstniOkvir 1">
            <a:extLst>
              <a:ext uri="{FF2B5EF4-FFF2-40B4-BE49-F238E27FC236}">
                <a16:creationId xmlns:a16="http://schemas.microsoft.com/office/drawing/2014/main" id="{FED9E7E6-44A7-F7F7-7B8A-2DE77F805174}"/>
              </a:ext>
            </a:extLst>
          </p:cNvPr>
          <p:cNvSpPr txBox="1"/>
          <p:nvPr/>
        </p:nvSpPr>
        <p:spPr>
          <a:xfrm>
            <a:off x="6175659" y="2544130"/>
            <a:ext cx="2744224" cy="52322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hr-HR" b="1" dirty="0">
                <a:solidFill>
                  <a:schemeClr val="tx1"/>
                </a:solidFill>
              </a:rPr>
              <a:t>Implicitna barijera na kraju </a:t>
            </a:r>
            <a:r>
              <a:rPr lang="hr-HR" b="1" i="1" dirty="0">
                <a:solidFill>
                  <a:schemeClr val="tx1"/>
                </a:solidFill>
              </a:rPr>
              <a:t>for </a:t>
            </a:r>
            <a:r>
              <a:rPr lang="hr-HR" b="1" i="1" dirty="0" err="1">
                <a:solidFill>
                  <a:schemeClr val="tx1"/>
                </a:solidFill>
              </a:rPr>
              <a:t>work-sharing</a:t>
            </a:r>
            <a:r>
              <a:rPr lang="hr-HR" b="1" dirty="0">
                <a:solidFill>
                  <a:schemeClr val="tx1"/>
                </a:solidFill>
              </a:rPr>
              <a:t> konstrukta</a:t>
            </a:r>
            <a:endParaRPr lang="hr-HR" dirty="0">
              <a:solidFill>
                <a:schemeClr val="tx1"/>
              </a:solidFill>
            </a:endParaRPr>
          </a:p>
        </p:txBody>
      </p:sp>
      <p:sp>
        <p:nvSpPr>
          <p:cNvPr id="3" name="TekstniOkvir 2">
            <a:extLst>
              <a:ext uri="{FF2B5EF4-FFF2-40B4-BE49-F238E27FC236}">
                <a16:creationId xmlns:a16="http://schemas.microsoft.com/office/drawing/2014/main" id="{1A8B218F-733F-8644-8C79-134FB47D7331}"/>
              </a:ext>
            </a:extLst>
          </p:cNvPr>
          <p:cNvSpPr txBox="1"/>
          <p:nvPr/>
        </p:nvSpPr>
        <p:spPr>
          <a:xfrm>
            <a:off x="6094977" y="4721699"/>
            <a:ext cx="2744224" cy="52322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hr-HR" b="1" dirty="0">
                <a:solidFill>
                  <a:schemeClr val="tx1"/>
                </a:solidFill>
              </a:rPr>
              <a:t>Nema implicitne barijere zbog </a:t>
            </a:r>
            <a:r>
              <a:rPr lang="hr-HR" b="1" dirty="0" err="1">
                <a:solidFill>
                  <a:schemeClr val="tx1"/>
                </a:solidFill>
              </a:rPr>
              <a:t>nowait</a:t>
            </a:r>
            <a:endParaRPr lang="hr-HR" dirty="0">
              <a:solidFill>
                <a:schemeClr val="tx1"/>
              </a:solidFill>
            </a:endParaRPr>
          </a:p>
        </p:txBody>
      </p:sp>
      <p:sp>
        <p:nvSpPr>
          <p:cNvPr id="4" name="TekstniOkvir 3">
            <a:extLst>
              <a:ext uri="{FF2B5EF4-FFF2-40B4-BE49-F238E27FC236}">
                <a16:creationId xmlns:a16="http://schemas.microsoft.com/office/drawing/2014/main" id="{9A776210-3DCF-3FDA-779C-1F8932889B47}"/>
              </a:ext>
            </a:extLst>
          </p:cNvPr>
          <p:cNvSpPr txBox="1"/>
          <p:nvPr/>
        </p:nvSpPr>
        <p:spPr>
          <a:xfrm>
            <a:off x="1558837" y="5263316"/>
            <a:ext cx="2744224" cy="52322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l-PL" b="1" dirty="0">
                <a:solidFill>
                  <a:schemeClr val="tx1"/>
                </a:solidFill>
              </a:rPr>
              <a:t>Implicitna barijera na kraju paralelne regije</a:t>
            </a:r>
            <a:endParaRPr lang="hr-HR" dirty="0">
              <a:solidFill>
                <a:schemeClr val="tx1"/>
              </a:solidFill>
            </a:endParaRPr>
          </a:p>
        </p:txBody>
      </p:sp>
      <p:cxnSp>
        <p:nvCxnSpPr>
          <p:cNvPr id="6" name="Ravni poveznik sa strelicom 5">
            <a:extLst>
              <a:ext uri="{FF2B5EF4-FFF2-40B4-BE49-F238E27FC236}">
                <a16:creationId xmlns:a16="http://schemas.microsoft.com/office/drawing/2014/main" id="{79D404AB-09EF-088A-831E-C77A20B80556}"/>
              </a:ext>
            </a:extLst>
          </p:cNvPr>
          <p:cNvCxnSpPr>
            <a:cxnSpLocks/>
            <a:stCxn id="4" idx="1"/>
          </p:cNvCxnSpPr>
          <p:nvPr/>
        </p:nvCxnSpPr>
        <p:spPr>
          <a:xfrm flipH="1" flipV="1">
            <a:off x="1255058" y="4721699"/>
            <a:ext cx="303779" cy="803227"/>
          </a:xfrm>
          <a:prstGeom prst="straightConnector1">
            <a:avLst/>
          </a:prstGeom>
          <a:ln w="190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Ravni poveznik sa strelicom 7">
            <a:extLst>
              <a:ext uri="{FF2B5EF4-FFF2-40B4-BE49-F238E27FC236}">
                <a16:creationId xmlns:a16="http://schemas.microsoft.com/office/drawing/2014/main" id="{DBD4D37E-33DF-A06A-9AB4-DE4A774A201B}"/>
              </a:ext>
            </a:extLst>
          </p:cNvPr>
          <p:cNvCxnSpPr>
            <a:cxnSpLocks/>
          </p:cNvCxnSpPr>
          <p:nvPr/>
        </p:nvCxnSpPr>
        <p:spPr>
          <a:xfrm flipH="1" flipV="1">
            <a:off x="7243992" y="4036754"/>
            <a:ext cx="303779" cy="803227"/>
          </a:xfrm>
          <a:prstGeom prst="straightConnector1">
            <a:avLst/>
          </a:prstGeom>
          <a:ln w="190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Ravni poveznik sa strelicom 8">
            <a:extLst>
              <a:ext uri="{FF2B5EF4-FFF2-40B4-BE49-F238E27FC236}">
                <a16:creationId xmlns:a16="http://schemas.microsoft.com/office/drawing/2014/main" id="{5D15DEF5-52B0-3E1B-F18E-DE3518B52021}"/>
              </a:ext>
            </a:extLst>
          </p:cNvPr>
          <p:cNvCxnSpPr>
            <a:cxnSpLocks/>
            <a:stCxn id="2" idx="2"/>
          </p:cNvCxnSpPr>
          <p:nvPr/>
        </p:nvCxnSpPr>
        <p:spPr>
          <a:xfrm flipH="1">
            <a:off x="6893859" y="3067350"/>
            <a:ext cx="653912" cy="428885"/>
          </a:xfrm>
          <a:prstGeom prst="straightConnector1">
            <a:avLst/>
          </a:prstGeom>
          <a:ln w="190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20437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>
          <a:extLst>
            <a:ext uri="{FF2B5EF4-FFF2-40B4-BE49-F238E27FC236}">
              <a16:creationId xmlns:a16="http://schemas.microsoft.com/office/drawing/2014/main" id="{67B0D0CC-E527-2BFF-97BC-5E35B24358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42">
            <a:extLst>
              <a:ext uri="{FF2B5EF4-FFF2-40B4-BE49-F238E27FC236}">
                <a16:creationId xmlns:a16="http://schemas.microsoft.com/office/drawing/2014/main" id="{9C122596-E024-90C1-9B5C-9A5C2AA042FB}"/>
              </a:ext>
            </a:extLst>
          </p:cNvPr>
          <p:cNvSpPr txBox="1"/>
          <p:nvPr/>
        </p:nvSpPr>
        <p:spPr>
          <a:xfrm>
            <a:off x="1165320" y="70452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hr-HR" sz="2400" b="1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Sinkronizacija: </a:t>
            </a:r>
            <a:r>
              <a:rPr lang="hr-HR" sz="2400" b="1" dirty="0" err="1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ordered</a:t>
            </a:r>
            <a:endParaRPr lang="hr-HR" sz="2400" b="1" dirty="0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183" name="Google Shape;183;p42">
            <a:extLst>
              <a:ext uri="{FF2B5EF4-FFF2-40B4-BE49-F238E27FC236}">
                <a16:creationId xmlns:a16="http://schemas.microsoft.com/office/drawing/2014/main" id="{6BCE9A61-C545-33EE-E5A9-CA2BA3F00FFB}"/>
              </a:ext>
            </a:extLst>
          </p:cNvPr>
          <p:cNvSpPr/>
          <p:nvPr/>
        </p:nvSpPr>
        <p:spPr>
          <a:xfrm>
            <a:off x="1058927" y="1164240"/>
            <a:ext cx="7970812" cy="55761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hr-HR" sz="1800" b="1" dirty="0" err="1">
                <a:solidFill>
                  <a:schemeClr val="bg1"/>
                </a:solidFill>
                <a:latin typeface="Quicksand" panose="020B0604020202020204" charset="0"/>
              </a:rPr>
              <a:t>Barrier</a:t>
            </a:r>
            <a:r>
              <a:rPr lang="hr-HR" sz="1800" b="1" dirty="0">
                <a:solidFill>
                  <a:schemeClr val="bg1"/>
                </a:solidFill>
                <a:latin typeface="Quicksand" panose="020B0604020202020204" charset="0"/>
              </a:rPr>
              <a:t>: </a:t>
            </a:r>
            <a:r>
              <a:rPr lang="en-GB" sz="1800" b="1" dirty="0" err="1">
                <a:solidFill>
                  <a:schemeClr val="bg1"/>
                </a:solidFill>
                <a:latin typeface="Quicksand" panose="020B0604020202020204" charset="0"/>
              </a:rPr>
              <a:t>Svaka</a:t>
            </a:r>
            <a:r>
              <a:rPr lang="en-GB" sz="1800" b="1" dirty="0">
                <a:solidFill>
                  <a:schemeClr val="bg1"/>
                </a:solidFill>
                <a:latin typeface="Quicksand" panose="020B0604020202020204" charset="0"/>
              </a:rPr>
              <a:t> nit </a:t>
            </a:r>
            <a:r>
              <a:rPr lang="en-GB" sz="1800" b="1" dirty="0" err="1">
                <a:solidFill>
                  <a:schemeClr val="bg1"/>
                </a:solidFill>
                <a:latin typeface="Quicksand" panose="020B0604020202020204" charset="0"/>
              </a:rPr>
              <a:t>čeka</a:t>
            </a:r>
            <a:r>
              <a:rPr lang="en-GB" sz="1800" b="1" dirty="0">
                <a:solidFill>
                  <a:schemeClr val="bg1"/>
                </a:solidFill>
                <a:latin typeface="Quicksand" panose="020B0604020202020204" charset="0"/>
              </a:rPr>
              <a:t> </a:t>
            </a:r>
            <a:r>
              <a:rPr lang="en-GB" sz="1800" b="1" dirty="0" err="1">
                <a:solidFill>
                  <a:schemeClr val="bg1"/>
                </a:solidFill>
                <a:latin typeface="Quicksand" panose="020B0604020202020204" charset="0"/>
              </a:rPr>
              <a:t>dok</a:t>
            </a:r>
            <a:r>
              <a:rPr lang="en-GB" sz="1800" b="1" dirty="0">
                <a:solidFill>
                  <a:schemeClr val="bg1"/>
                </a:solidFill>
                <a:latin typeface="Quicksand" panose="020B0604020202020204" charset="0"/>
              </a:rPr>
              <a:t> </a:t>
            </a:r>
            <a:r>
              <a:rPr lang="en-GB" sz="1800" b="1" dirty="0" err="1">
                <a:solidFill>
                  <a:schemeClr val="bg1"/>
                </a:solidFill>
                <a:latin typeface="Quicksand" panose="020B0604020202020204" charset="0"/>
              </a:rPr>
              <a:t>sve</a:t>
            </a:r>
            <a:r>
              <a:rPr lang="en-GB" sz="1800" b="1" dirty="0">
                <a:solidFill>
                  <a:schemeClr val="bg1"/>
                </a:solidFill>
                <a:latin typeface="Quicksand" panose="020B0604020202020204" charset="0"/>
              </a:rPr>
              <a:t> </a:t>
            </a:r>
            <a:r>
              <a:rPr lang="en-GB" sz="1800" b="1" dirty="0" err="1">
                <a:solidFill>
                  <a:schemeClr val="bg1"/>
                </a:solidFill>
                <a:latin typeface="Quicksand" panose="020B0604020202020204" charset="0"/>
              </a:rPr>
              <a:t>niti</a:t>
            </a:r>
            <a:r>
              <a:rPr lang="en-GB" sz="1800" b="1" dirty="0">
                <a:solidFill>
                  <a:schemeClr val="bg1"/>
                </a:solidFill>
                <a:latin typeface="Quicksand" panose="020B0604020202020204" charset="0"/>
              </a:rPr>
              <a:t> ne </a:t>
            </a:r>
            <a:r>
              <a:rPr lang="en-GB" sz="1800" b="1" dirty="0" err="1">
                <a:solidFill>
                  <a:schemeClr val="bg1"/>
                </a:solidFill>
                <a:latin typeface="Quicksand" panose="020B0604020202020204" charset="0"/>
              </a:rPr>
              <a:t>stignu</a:t>
            </a:r>
            <a:r>
              <a:rPr lang="en-GB" sz="1800" b="1" dirty="0">
                <a:solidFill>
                  <a:schemeClr val="bg1"/>
                </a:solidFill>
                <a:latin typeface="Quicksand" panose="020B0604020202020204" charset="0"/>
              </a:rPr>
              <a:t>.﻿</a:t>
            </a:r>
            <a:endParaRPr lang="hr-HR" sz="1800" b="1" dirty="0">
              <a:solidFill>
                <a:schemeClr val="bg1"/>
              </a:solidFill>
              <a:latin typeface="Quicksand" panose="020B0604020202020204" charset="0"/>
            </a:endParaRP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hr-HR" sz="1800" b="1" dirty="0">
              <a:solidFill>
                <a:schemeClr val="bg1"/>
              </a:solidFill>
              <a:latin typeface="Quicksand" panose="020B0604020202020204" charset="0"/>
            </a:endParaRPr>
          </a:p>
          <a:p>
            <a:pPr>
              <a:buClr>
                <a:schemeClr val="bg1"/>
              </a:buClr>
            </a:pPr>
            <a:r>
              <a:rPr lang="nn-NO" sz="1800" b="1" dirty="0">
                <a:solidFill>
                  <a:schemeClr val="bg1"/>
                </a:solidFill>
                <a:latin typeface="Consolas" panose="020B0609020204030204" pitchFamily="49" charset="0"/>
              </a:rPr>
              <a:t>#pragma omp parallel private (tmp)</a:t>
            </a:r>
          </a:p>
          <a:p>
            <a:pPr>
              <a:buClr>
                <a:schemeClr val="bg1"/>
              </a:buClr>
            </a:pPr>
            <a:r>
              <a:rPr lang="nn-NO" sz="1800" b="1" dirty="0">
                <a:solidFill>
                  <a:schemeClr val="bg1"/>
                </a:solidFill>
                <a:latin typeface="Consolas" panose="020B0609020204030204" pitchFamily="49" charset="0"/>
              </a:rPr>
              <a:t>#pragma omp for </a:t>
            </a:r>
            <a:r>
              <a:rPr lang="nn-NO" sz="1800" b="1" dirty="0">
                <a:solidFill>
                  <a:srgbClr val="FFFF00"/>
                </a:solidFill>
                <a:latin typeface="Consolas" panose="020B0609020204030204" pitchFamily="49" charset="0"/>
              </a:rPr>
              <a:t>ordered</a:t>
            </a:r>
            <a:r>
              <a:rPr lang="nn-NO" sz="1800" b="1" dirty="0">
                <a:solidFill>
                  <a:schemeClr val="bg1"/>
                </a:solidFill>
                <a:latin typeface="Consolas" panose="020B0609020204030204" pitchFamily="49" charset="0"/>
              </a:rPr>
              <a:t> reduction(+:res)</a:t>
            </a:r>
          </a:p>
          <a:p>
            <a:pPr>
              <a:buClr>
                <a:schemeClr val="bg1"/>
              </a:buClr>
            </a:pPr>
            <a:r>
              <a:rPr lang="hr-HR" sz="1800" b="1" dirty="0">
                <a:solidFill>
                  <a:schemeClr val="bg1"/>
                </a:solidFill>
                <a:latin typeface="Consolas" panose="020B0609020204030204" pitchFamily="49" charset="0"/>
              </a:rPr>
              <a:t>	</a:t>
            </a:r>
            <a:r>
              <a:rPr lang="nn-NO" sz="1800" b="1" dirty="0">
                <a:solidFill>
                  <a:schemeClr val="bg1"/>
                </a:solidFill>
                <a:latin typeface="Consolas" panose="020B0609020204030204" pitchFamily="49" charset="0"/>
              </a:rPr>
              <a:t>for (I=0;I&lt;N;I++){</a:t>
            </a:r>
          </a:p>
          <a:p>
            <a:pPr>
              <a:buClr>
                <a:schemeClr val="bg1"/>
              </a:buClr>
            </a:pPr>
            <a:r>
              <a:rPr lang="hr-HR" sz="1800" b="1" dirty="0">
                <a:solidFill>
                  <a:schemeClr val="bg1"/>
                </a:solidFill>
                <a:latin typeface="Consolas" panose="020B0609020204030204" pitchFamily="49" charset="0"/>
              </a:rPr>
              <a:t>		</a:t>
            </a:r>
            <a:r>
              <a:rPr lang="nn-NO" sz="1800" b="1" dirty="0">
                <a:solidFill>
                  <a:schemeClr val="bg1"/>
                </a:solidFill>
                <a:latin typeface="Consolas" panose="020B0609020204030204" pitchFamily="49" charset="0"/>
              </a:rPr>
              <a:t>tmp = NEAT_STUFF(I);</a:t>
            </a:r>
          </a:p>
          <a:p>
            <a:pPr>
              <a:buClr>
                <a:schemeClr val="bg1"/>
              </a:buClr>
            </a:pPr>
            <a:r>
              <a:rPr lang="nn-NO" sz="1800" b="1" dirty="0">
                <a:solidFill>
                  <a:srgbClr val="FFFF00"/>
                </a:solidFill>
                <a:latin typeface="Consolas" panose="020B0609020204030204" pitchFamily="49" charset="0"/>
              </a:rPr>
              <a:t>#pragma ordered</a:t>
            </a:r>
          </a:p>
          <a:p>
            <a:pPr>
              <a:buClr>
                <a:schemeClr val="bg1"/>
              </a:buClr>
            </a:pPr>
            <a:r>
              <a:rPr lang="hr-HR" sz="1800" b="1" dirty="0">
                <a:solidFill>
                  <a:schemeClr val="bg1"/>
                </a:solidFill>
                <a:latin typeface="Consolas" panose="020B0609020204030204" pitchFamily="49" charset="0"/>
              </a:rPr>
              <a:t>	</a:t>
            </a:r>
            <a:r>
              <a:rPr lang="nn-NO" sz="1800" b="1" dirty="0">
                <a:solidFill>
                  <a:schemeClr val="bg1"/>
                </a:solidFill>
                <a:latin typeface="Consolas" panose="020B0609020204030204" pitchFamily="49" charset="0"/>
              </a:rPr>
              <a:t>res += consum(tmp);</a:t>
            </a:r>
          </a:p>
          <a:p>
            <a:pPr>
              <a:buClr>
                <a:schemeClr val="bg1"/>
              </a:buClr>
            </a:pPr>
            <a:r>
              <a:rPr lang="nn-NO" sz="1800" b="1" dirty="0">
                <a:solidFill>
                  <a:schemeClr val="bg1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2" name="TekstniOkvir 1">
            <a:extLst>
              <a:ext uri="{FF2B5EF4-FFF2-40B4-BE49-F238E27FC236}">
                <a16:creationId xmlns:a16="http://schemas.microsoft.com/office/drawing/2014/main" id="{CB96A9E3-5B51-3747-7932-A51F8F54530D}"/>
              </a:ext>
            </a:extLst>
          </p:cNvPr>
          <p:cNvSpPr txBox="1"/>
          <p:nvPr/>
        </p:nvSpPr>
        <p:spPr>
          <a:xfrm>
            <a:off x="5209007" y="3069232"/>
            <a:ext cx="2744224" cy="52322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hr-HR" b="1" dirty="0">
                <a:solidFill>
                  <a:schemeClr val="tx1"/>
                </a:solidFill>
              </a:rPr>
              <a:t>// Sekvencijalno - po redu: 0,1,2,3...</a:t>
            </a:r>
            <a:endParaRPr lang="hr-HR" dirty="0">
              <a:solidFill>
                <a:schemeClr val="tx1"/>
              </a:solidFill>
            </a:endParaRPr>
          </a:p>
        </p:txBody>
      </p:sp>
      <p:cxnSp>
        <p:nvCxnSpPr>
          <p:cNvPr id="9" name="Ravni poveznik sa strelicom 8">
            <a:extLst>
              <a:ext uri="{FF2B5EF4-FFF2-40B4-BE49-F238E27FC236}">
                <a16:creationId xmlns:a16="http://schemas.microsoft.com/office/drawing/2014/main" id="{14BB5183-F858-622E-D34C-30C8C7E45004}"/>
              </a:ext>
            </a:extLst>
          </p:cNvPr>
          <p:cNvCxnSpPr>
            <a:cxnSpLocks/>
            <a:stCxn id="2" idx="1"/>
          </p:cNvCxnSpPr>
          <p:nvPr/>
        </p:nvCxnSpPr>
        <p:spPr>
          <a:xfrm flipH="1">
            <a:off x="4572000" y="3330842"/>
            <a:ext cx="637007" cy="0"/>
          </a:xfrm>
          <a:prstGeom prst="straightConnector1">
            <a:avLst/>
          </a:prstGeom>
          <a:ln w="190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8782487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>
          <a:extLst>
            <a:ext uri="{FF2B5EF4-FFF2-40B4-BE49-F238E27FC236}">
              <a16:creationId xmlns:a16="http://schemas.microsoft.com/office/drawing/2014/main" id="{0BDCF9F4-0012-62FF-7747-EF906FABA3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42">
            <a:extLst>
              <a:ext uri="{FF2B5EF4-FFF2-40B4-BE49-F238E27FC236}">
                <a16:creationId xmlns:a16="http://schemas.microsoft.com/office/drawing/2014/main" id="{2013033C-38D4-7484-DFAC-58CB35C71013}"/>
              </a:ext>
            </a:extLst>
          </p:cNvPr>
          <p:cNvSpPr txBox="1"/>
          <p:nvPr/>
        </p:nvSpPr>
        <p:spPr>
          <a:xfrm>
            <a:off x="1165320" y="70452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hr-HR" sz="2400" b="1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Sinkronizacija: </a:t>
            </a:r>
            <a:r>
              <a:rPr lang="hr-HR" sz="2400" b="1" dirty="0" err="1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simple</a:t>
            </a:r>
            <a:r>
              <a:rPr lang="hr-HR" sz="2400" b="1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 </a:t>
            </a:r>
            <a:r>
              <a:rPr lang="hr-HR" sz="2400" b="1" dirty="0" err="1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locks</a:t>
            </a:r>
            <a:endParaRPr lang="hr-HR" sz="2400" b="1" dirty="0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183" name="Google Shape;183;p42">
            <a:extLst>
              <a:ext uri="{FF2B5EF4-FFF2-40B4-BE49-F238E27FC236}">
                <a16:creationId xmlns:a16="http://schemas.microsoft.com/office/drawing/2014/main" id="{81114DCD-7677-D1DA-D928-05E5C5D8CEE6}"/>
              </a:ext>
            </a:extLst>
          </p:cNvPr>
          <p:cNvSpPr/>
          <p:nvPr/>
        </p:nvSpPr>
        <p:spPr>
          <a:xfrm>
            <a:off x="1058927" y="1164240"/>
            <a:ext cx="7970812" cy="55761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hr-HR" sz="1800" b="1" dirty="0" err="1">
                <a:solidFill>
                  <a:schemeClr val="bg1"/>
                </a:solidFill>
                <a:latin typeface="Quicksand" panose="020B0604020202020204" charset="0"/>
              </a:rPr>
              <a:t>Simple</a:t>
            </a:r>
            <a:r>
              <a:rPr lang="hr-HR" sz="1800" b="1" dirty="0">
                <a:solidFill>
                  <a:schemeClr val="bg1"/>
                </a:solidFill>
                <a:latin typeface="Quicksand" panose="020B0604020202020204" charset="0"/>
              </a:rPr>
              <a:t> </a:t>
            </a:r>
            <a:r>
              <a:rPr lang="hr-HR" sz="1800" b="1" dirty="0" err="1">
                <a:solidFill>
                  <a:schemeClr val="bg1"/>
                </a:solidFill>
                <a:latin typeface="Quicksand" panose="020B0604020202020204" charset="0"/>
              </a:rPr>
              <a:t>locks</a:t>
            </a:r>
            <a:r>
              <a:rPr lang="hr-HR" sz="1800" b="1" dirty="0">
                <a:solidFill>
                  <a:schemeClr val="bg1"/>
                </a:solidFill>
                <a:latin typeface="Quicksand" panose="020B0604020202020204" charset="0"/>
              </a:rPr>
              <a:t>: </a:t>
            </a:r>
            <a:r>
              <a:rPr lang="en-GB" sz="1800" b="1" dirty="0" err="1">
                <a:solidFill>
                  <a:schemeClr val="bg1"/>
                </a:solidFill>
                <a:latin typeface="Quicksand" panose="020B0604020202020204" charset="0"/>
              </a:rPr>
              <a:t>Zaštititi</a:t>
            </a:r>
            <a:r>
              <a:rPr lang="en-GB" sz="1800" b="1" dirty="0">
                <a:solidFill>
                  <a:schemeClr val="bg1"/>
                </a:solidFill>
                <a:latin typeface="Quicksand" panose="020B0604020202020204" charset="0"/>
              </a:rPr>
              <a:t> </a:t>
            </a:r>
            <a:r>
              <a:rPr lang="en-GB" sz="1800" b="1" dirty="0" err="1">
                <a:solidFill>
                  <a:schemeClr val="bg1"/>
                </a:solidFill>
                <a:latin typeface="Quicksand" panose="020B0604020202020204" charset="0"/>
              </a:rPr>
              <a:t>resurse</a:t>
            </a:r>
            <a:r>
              <a:rPr lang="en-GB" sz="1800" b="1" dirty="0">
                <a:solidFill>
                  <a:schemeClr val="bg1"/>
                </a:solidFill>
                <a:latin typeface="Quicksand" panose="020B0604020202020204" charset="0"/>
              </a:rPr>
              <a:t> </a:t>
            </a:r>
            <a:r>
              <a:rPr lang="en-GB" sz="1800" b="1" dirty="0" err="1">
                <a:solidFill>
                  <a:schemeClr val="bg1"/>
                </a:solidFill>
                <a:latin typeface="Quicksand" panose="020B0604020202020204" charset="0"/>
              </a:rPr>
              <a:t>pomoću</a:t>
            </a:r>
            <a:r>
              <a:rPr lang="en-GB" sz="1800" b="1" dirty="0">
                <a:solidFill>
                  <a:schemeClr val="bg1"/>
                </a:solidFill>
                <a:latin typeface="Quicksand" panose="020B0604020202020204" charset="0"/>
              </a:rPr>
              <a:t> </a:t>
            </a:r>
            <a:r>
              <a:rPr lang="hr-HR" sz="1800" b="1" dirty="0">
                <a:solidFill>
                  <a:schemeClr val="bg1"/>
                </a:solidFill>
                <a:latin typeface="Quicksand" panose="020B0604020202020204" charset="0"/>
              </a:rPr>
              <a:t>„</a:t>
            </a:r>
            <a:r>
              <a:rPr lang="en-GB" sz="1800" b="1" dirty="0" err="1">
                <a:solidFill>
                  <a:schemeClr val="bg1"/>
                </a:solidFill>
                <a:latin typeface="Quicksand" panose="020B0604020202020204" charset="0"/>
              </a:rPr>
              <a:t>zaključavanja</a:t>
            </a:r>
            <a:r>
              <a:rPr lang="hr-HR" sz="1800" b="1" dirty="0">
                <a:solidFill>
                  <a:schemeClr val="bg1"/>
                </a:solidFill>
                <a:latin typeface="Quicksand" panose="020B0604020202020204" charset="0"/>
              </a:rPr>
              <a:t>” dijelova koda</a:t>
            </a:r>
            <a:r>
              <a:rPr lang="en-GB" sz="1800" b="1" dirty="0">
                <a:solidFill>
                  <a:schemeClr val="bg1"/>
                </a:solidFill>
                <a:latin typeface="Quicksand" panose="020B0604020202020204" charset="0"/>
              </a:rPr>
              <a:t>﻿</a:t>
            </a:r>
            <a:endParaRPr lang="hr-HR" sz="1800" b="1" dirty="0">
              <a:solidFill>
                <a:schemeClr val="bg1"/>
              </a:solidFill>
              <a:latin typeface="Quicksand" panose="020B0604020202020204" charset="0"/>
            </a:endParaRPr>
          </a:p>
          <a:p>
            <a:pPr>
              <a:buClr>
                <a:schemeClr val="bg1"/>
              </a:buClr>
            </a:pPr>
            <a:endParaRPr lang="hr-HR" sz="1800" b="1" dirty="0">
              <a:solidFill>
                <a:schemeClr val="bg1"/>
              </a:solidFill>
              <a:latin typeface="Quicksand" panose="020B0604020202020204" charset="0"/>
            </a:endParaRPr>
          </a:p>
          <a:p>
            <a:pPr>
              <a:buClr>
                <a:schemeClr val="bg1"/>
              </a:buClr>
            </a:pPr>
            <a:r>
              <a:rPr lang="nn-NO" sz="1800" b="1" dirty="0">
                <a:solidFill>
                  <a:schemeClr val="bg1"/>
                </a:solidFill>
                <a:latin typeface="Consolas" panose="020B0609020204030204" pitchFamily="49" charset="0"/>
              </a:rPr>
              <a:t>omp_lock_t lck;</a:t>
            </a:r>
          </a:p>
          <a:p>
            <a:pPr>
              <a:buClr>
                <a:schemeClr val="bg1"/>
              </a:buClr>
            </a:pPr>
            <a:r>
              <a:rPr lang="nn-NO" sz="1800" b="1" dirty="0">
                <a:solidFill>
                  <a:schemeClr val="bg1"/>
                </a:solidFill>
                <a:latin typeface="Consolas" panose="020B0609020204030204" pitchFamily="49" charset="0"/>
              </a:rPr>
              <a:t>omp_init_lock(&amp;lck);</a:t>
            </a:r>
          </a:p>
          <a:p>
            <a:pPr>
              <a:buClr>
                <a:schemeClr val="bg1"/>
              </a:buClr>
            </a:pPr>
            <a:r>
              <a:rPr lang="nn-NO" sz="1800" b="1" dirty="0">
                <a:solidFill>
                  <a:schemeClr val="bg1"/>
                </a:solidFill>
                <a:latin typeface="Consolas" panose="020B0609020204030204" pitchFamily="49" charset="0"/>
              </a:rPr>
              <a:t>#pragma omp parallel private (tmp, id)</a:t>
            </a:r>
          </a:p>
          <a:p>
            <a:pPr>
              <a:buClr>
                <a:schemeClr val="bg1"/>
              </a:buClr>
            </a:pPr>
            <a:r>
              <a:rPr lang="nn-NO" sz="1800" b="1" dirty="0">
                <a:solidFill>
                  <a:schemeClr val="bg1"/>
                </a:solidFill>
                <a:latin typeface="Consolas" panose="020B0609020204030204" pitchFamily="49" charset="0"/>
              </a:rPr>
              <a:t>{</a:t>
            </a:r>
          </a:p>
          <a:p>
            <a:pPr>
              <a:buClr>
                <a:schemeClr val="bg1"/>
              </a:buClr>
            </a:pPr>
            <a:r>
              <a:rPr lang="hr-HR" sz="1800" b="1" dirty="0">
                <a:solidFill>
                  <a:schemeClr val="bg1"/>
                </a:solidFill>
                <a:latin typeface="Consolas" panose="020B0609020204030204" pitchFamily="49" charset="0"/>
              </a:rPr>
              <a:t>	</a:t>
            </a:r>
            <a:r>
              <a:rPr lang="nn-NO" sz="1800" b="1" dirty="0">
                <a:solidFill>
                  <a:schemeClr val="bg1"/>
                </a:solidFill>
                <a:latin typeface="Consolas" panose="020B0609020204030204" pitchFamily="49" charset="0"/>
              </a:rPr>
              <a:t>id = omp_get_thread_num();</a:t>
            </a:r>
          </a:p>
          <a:p>
            <a:pPr>
              <a:buClr>
                <a:schemeClr val="bg1"/>
              </a:buClr>
            </a:pPr>
            <a:r>
              <a:rPr lang="hr-HR" sz="1800" b="1" dirty="0">
                <a:solidFill>
                  <a:schemeClr val="bg1"/>
                </a:solidFill>
                <a:latin typeface="Consolas" panose="020B0609020204030204" pitchFamily="49" charset="0"/>
              </a:rPr>
              <a:t>	</a:t>
            </a:r>
            <a:r>
              <a:rPr lang="nn-NO" sz="1800" b="1" dirty="0">
                <a:solidFill>
                  <a:schemeClr val="bg1"/>
                </a:solidFill>
                <a:latin typeface="Consolas" panose="020B0609020204030204" pitchFamily="49" charset="0"/>
              </a:rPr>
              <a:t>tmp = do_lots_of_work(id);</a:t>
            </a:r>
          </a:p>
          <a:p>
            <a:pPr>
              <a:buClr>
                <a:schemeClr val="bg1"/>
              </a:buClr>
            </a:pPr>
            <a:r>
              <a:rPr lang="hr-HR" sz="1800" b="1" dirty="0">
                <a:solidFill>
                  <a:schemeClr val="bg1"/>
                </a:solidFill>
                <a:latin typeface="Consolas" panose="020B0609020204030204" pitchFamily="49" charset="0"/>
              </a:rPr>
              <a:t>	</a:t>
            </a:r>
            <a:r>
              <a:rPr lang="nn-NO" sz="1800" b="1" dirty="0">
                <a:solidFill>
                  <a:srgbClr val="FFFF00"/>
                </a:solidFill>
                <a:latin typeface="Consolas" panose="020B0609020204030204" pitchFamily="49" charset="0"/>
              </a:rPr>
              <a:t>omp_set_lock(&amp;lck);</a:t>
            </a:r>
          </a:p>
          <a:p>
            <a:pPr>
              <a:buClr>
                <a:schemeClr val="bg1"/>
              </a:buClr>
            </a:pPr>
            <a:r>
              <a:rPr lang="hr-HR" sz="1800" b="1" dirty="0">
                <a:solidFill>
                  <a:schemeClr val="bg1"/>
                </a:solidFill>
                <a:latin typeface="Consolas" panose="020B0609020204030204" pitchFamily="49" charset="0"/>
              </a:rPr>
              <a:t>	</a:t>
            </a:r>
            <a:r>
              <a:rPr lang="nn-NO" sz="1800" b="1" dirty="0">
                <a:solidFill>
                  <a:schemeClr val="bg1"/>
                </a:solidFill>
                <a:latin typeface="Consolas" panose="020B0609020204030204" pitchFamily="49" charset="0"/>
              </a:rPr>
              <a:t>printf(“%d %d”, id, tmp);</a:t>
            </a:r>
          </a:p>
          <a:p>
            <a:pPr>
              <a:buClr>
                <a:schemeClr val="bg1"/>
              </a:buClr>
            </a:pPr>
            <a:r>
              <a:rPr lang="hr-HR" sz="1800" b="1" dirty="0">
                <a:solidFill>
                  <a:schemeClr val="bg1"/>
                </a:solidFill>
                <a:latin typeface="Consolas" panose="020B0609020204030204" pitchFamily="49" charset="0"/>
              </a:rPr>
              <a:t>	</a:t>
            </a:r>
            <a:r>
              <a:rPr lang="nn-NO" sz="1800" b="1" dirty="0">
                <a:solidFill>
                  <a:srgbClr val="FFFF00"/>
                </a:solidFill>
                <a:latin typeface="Consolas" panose="020B0609020204030204" pitchFamily="49" charset="0"/>
              </a:rPr>
              <a:t>omp_unset_lock(&amp;lck);</a:t>
            </a:r>
          </a:p>
          <a:p>
            <a:pPr>
              <a:buClr>
                <a:schemeClr val="bg1"/>
              </a:buClr>
            </a:pPr>
            <a:r>
              <a:rPr lang="nn-NO" sz="1800" b="1" dirty="0">
                <a:solidFill>
                  <a:schemeClr val="bg1"/>
                </a:solidFill>
                <a:latin typeface="Consolas" panose="020B0609020204030204" pitchFamily="49" charset="0"/>
              </a:rPr>
              <a:t>}</a:t>
            </a:r>
          </a:p>
          <a:p>
            <a:pPr>
              <a:buClr>
                <a:schemeClr val="bg1"/>
              </a:buClr>
            </a:pPr>
            <a:r>
              <a:rPr lang="nn-NO" sz="1800" b="1" dirty="0">
                <a:solidFill>
                  <a:schemeClr val="bg1"/>
                </a:solidFill>
                <a:latin typeface="Consolas" panose="020B0609020204030204" pitchFamily="49" charset="0"/>
              </a:rPr>
              <a:t>omp_destroy_lock(&amp;lck)</a:t>
            </a:r>
          </a:p>
        </p:txBody>
      </p:sp>
      <p:sp>
        <p:nvSpPr>
          <p:cNvPr id="2" name="TekstniOkvir 1">
            <a:extLst>
              <a:ext uri="{FF2B5EF4-FFF2-40B4-BE49-F238E27FC236}">
                <a16:creationId xmlns:a16="http://schemas.microsoft.com/office/drawing/2014/main" id="{5D6DD332-70C4-2BD9-518A-4AA1F4E71C6D}"/>
              </a:ext>
            </a:extLst>
          </p:cNvPr>
          <p:cNvSpPr txBox="1"/>
          <p:nvPr/>
        </p:nvSpPr>
        <p:spPr>
          <a:xfrm>
            <a:off x="6111343" y="3196734"/>
            <a:ext cx="2744224" cy="30777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hr-HR" b="1" dirty="0">
                <a:solidFill>
                  <a:schemeClr val="tx1"/>
                </a:solidFill>
              </a:rPr>
              <a:t>Čekanje na red.</a:t>
            </a:r>
            <a:endParaRPr lang="hr-HR" dirty="0">
              <a:solidFill>
                <a:schemeClr val="tx1"/>
              </a:solidFill>
            </a:endParaRPr>
          </a:p>
        </p:txBody>
      </p:sp>
      <p:cxnSp>
        <p:nvCxnSpPr>
          <p:cNvPr id="9" name="Ravni poveznik sa strelicom 8">
            <a:extLst>
              <a:ext uri="{FF2B5EF4-FFF2-40B4-BE49-F238E27FC236}">
                <a16:creationId xmlns:a16="http://schemas.microsoft.com/office/drawing/2014/main" id="{C5AD6F1C-4643-88D0-BE52-D695B8DDC36F}"/>
              </a:ext>
            </a:extLst>
          </p:cNvPr>
          <p:cNvCxnSpPr>
            <a:cxnSpLocks/>
            <a:stCxn id="2" idx="1"/>
          </p:cNvCxnSpPr>
          <p:nvPr/>
        </p:nvCxnSpPr>
        <p:spPr>
          <a:xfrm flipH="1">
            <a:off x="4789714" y="3350623"/>
            <a:ext cx="1321629" cy="504148"/>
          </a:xfrm>
          <a:prstGeom prst="straightConnector1">
            <a:avLst/>
          </a:prstGeom>
          <a:ln w="190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kstniOkvir 3">
            <a:extLst>
              <a:ext uri="{FF2B5EF4-FFF2-40B4-BE49-F238E27FC236}">
                <a16:creationId xmlns:a16="http://schemas.microsoft.com/office/drawing/2014/main" id="{40025FBA-8E6F-25EF-66EF-C58E9D71E37F}"/>
              </a:ext>
            </a:extLst>
          </p:cNvPr>
          <p:cNvSpPr txBox="1"/>
          <p:nvPr/>
        </p:nvSpPr>
        <p:spPr>
          <a:xfrm>
            <a:off x="6111343" y="4639565"/>
            <a:ext cx="2744224" cy="52322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hr-HR" b="1" dirty="0"/>
              <a:t>Oslobodi </a:t>
            </a:r>
            <a:r>
              <a:rPr lang="hr-HR" b="1" dirty="0" err="1"/>
              <a:t>lock</a:t>
            </a:r>
            <a:r>
              <a:rPr lang="hr-HR" b="1" dirty="0"/>
              <a:t> tako da sljedeća nit dobije svoj red.</a:t>
            </a:r>
            <a:endParaRPr lang="hr-HR" b="1" dirty="0">
              <a:solidFill>
                <a:schemeClr val="tx1"/>
              </a:solidFill>
            </a:endParaRPr>
          </a:p>
        </p:txBody>
      </p:sp>
      <p:cxnSp>
        <p:nvCxnSpPr>
          <p:cNvPr id="5" name="Ravni poveznik sa strelicom 4">
            <a:extLst>
              <a:ext uri="{FF2B5EF4-FFF2-40B4-BE49-F238E27FC236}">
                <a16:creationId xmlns:a16="http://schemas.microsoft.com/office/drawing/2014/main" id="{98D9964A-EC06-3EEE-0078-021B659305DE}"/>
              </a:ext>
            </a:extLst>
          </p:cNvPr>
          <p:cNvCxnSpPr>
            <a:cxnSpLocks/>
            <a:stCxn id="4" idx="1"/>
          </p:cNvCxnSpPr>
          <p:nvPr/>
        </p:nvCxnSpPr>
        <p:spPr>
          <a:xfrm flipH="1" flipV="1">
            <a:off x="4850674" y="4432663"/>
            <a:ext cx="1260669" cy="468512"/>
          </a:xfrm>
          <a:prstGeom prst="straightConnector1">
            <a:avLst/>
          </a:prstGeom>
          <a:ln w="190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kstniOkvir 7">
            <a:extLst>
              <a:ext uri="{FF2B5EF4-FFF2-40B4-BE49-F238E27FC236}">
                <a16:creationId xmlns:a16="http://schemas.microsoft.com/office/drawing/2014/main" id="{E336D14D-C958-650A-FB16-B2AF1BF7FD25}"/>
              </a:ext>
            </a:extLst>
          </p:cNvPr>
          <p:cNvSpPr txBox="1"/>
          <p:nvPr/>
        </p:nvSpPr>
        <p:spPr>
          <a:xfrm>
            <a:off x="3199887" y="5517934"/>
            <a:ext cx="3122535" cy="30777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hr-HR" b="1" dirty="0"/>
              <a:t>Oslobodi memoriju kad završiš.</a:t>
            </a:r>
            <a:endParaRPr lang="hr-HR" b="1" dirty="0">
              <a:solidFill>
                <a:schemeClr val="tx1"/>
              </a:solidFill>
            </a:endParaRPr>
          </a:p>
        </p:txBody>
      </p:sp>
      <p:cxnSp>
        <p:nvCxnSpPr>
          <p:cNvPr id="10" name="Ravni poveznik sa strelicom 9">
            <a:extLst>
              <a:ext uri="{FF2B5EF4-FFF2-40B4-BE49-F238E27FC236}">
                <a16:creationId xmlns:a16="http://schemas.microsoft.com/office/drawing/2014/main" id="{10CBF818-B368-14C7-6AAD-0B291B4C643C}"/>
              </a:ext>
            </a:extLst>
          </p:cNvPr>
          <p:cNvCxnSpPr>
            <a:cxnSpLocks/>
          </p:cNvCxnSpPr>
          <p:nvPr/>
        </p:nvCxnSpPr>
        <p:spPr>
          <a:xfrm flipH="1" flipV="1">
            <a:off x="2712720" y="5049422"/>
            <a:ext cx="1260669" cy="468512"/>
          </a:xfrm>
          <a:prstGeom prst="straightConnector1">
            <a:avLst/>
          </a:prstGeom>
          <a:ln w="190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11665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2345</Words>
  <Application>Microsoft Office PowerPoint</Application>
  <PresentationFormat>Prikaz na zaslonu (4:3)</PresentationFormat>
  <Paragraphs>320</Paragraphs>
  <Slides>29</Slides>
  <Notes>29</Notes>
  <HiddenSlides>0</HiddenSlides>
  <MMClips>0</MMClips>
  <ScaleCrop>false</ScaleCrop>
  <HeadingPairs>
    <vt:vector size="6" baseType="variant">
      <vt:variant>
        <vt:lpstr>Korišteni fontovi</vt:lpstr>
      </vt:variant>
      <vt:variant>
        <vt:i4>5</vt:i4>
      </vt:variant>
      <vt:variant>
        <vt:lpstr>Tema</vt:lpstr>
      </vt:variant>
      <vt:variant>
        <vt:i4>3</vt:i4>
      </vt:variant>
      <vt:variant>
        <vt:lpstr>Naslovi slajdova</vt:lpstr>
      </vt:variant>
      <vt:variant>
        <vt:i4>29</vt:i4>
      </vt:variant>
    </vt:vector>
  </HeadingPairs>
  <TitlesOfParts>
    <vt:vector size="37" baseType="lpstr">
      <vt:lpstr>Cambria</vt:lpstr>
      <vt:lpstr>Quicksand</vt:lpstr>
      <vt:lpstr>Consolas</vt:lpstr>
      <vt:lpstr>Wingdings</vt:lpstr>
      <vt:lpstr>Arial</vt:lpstr>
      <vt:lpstr>Office Theme</vt:lpstr>
      <vt:lpstr>Office Theme</vt:lpstr>
      <vt:lpstr>Office Theme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cp:lastModifiedBy/>
  <cp:revision>1</cp:revision>
  <dcterms:modified xsi:type="dcterms:W3CDTF">2025-11-06T09:43:26Z</dcterms:modified>
</cp:coreProperties>
</file>